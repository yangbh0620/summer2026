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181486eefe4236" /><Relationship Type="http://schemas.openxmlformats.org/officeDocument/2006/relationships/extended-properties" Target="/docProps/app.xml" Id="R1144fffd86a94da4" /><Relationship Type="http://schemas.openxmlformats.org/officeDocument/2006/relationships/officeDocument" Target="/ppt/presentation.xml" Id="Rb3f60cfe5dc74576" /></Relationships>
</file>

<file path=ppt/presentation.xml><?xml version="1.0" encoding="utf-8"?>
<p:presentation xmlns:p="http://schemas.openxmlformats.org/presentationml/2006/main">
  <p:sldMasterIdLst>
    <p:sldMasterId xmlns:r="http://schemas.openxmlformats.org/officeDocument/2006/relationships" id="2147483648" r:id="R130847c3a1cb4b04"/>
  </p:sldMasterIdLst>
  <p:notesMasterIdLst>
    <p:notesMasterId xmlns:r="http://schemas.openxmlformats.org/officeDocument/2006/relationships" r:id="R0bb73dfab99848b4"/>
  </p:notesMasterIdLst>
  <p:sldIdLst>
    <p:sldId xmlns:r="http://schemas.openxmlformats.org/officeDocument/2006/relationships" id="256" r:id="Re707c8c5a1a8470b"/>
    <p:sldId xmlns:r="http://schemas.openxmlformats.org/officeDocument/2006/relationships" id="257" r:id="Refaadd5470e845f4"/>
    <p:sldId xmlns:r="http://schemas.openxmlformats.org/officeDocument/2006/relationships" id="258" r:id="Rbfd94f4c0d504685"/>
    <p:sldId xmlns:r="http://schemas.openxmlformats.org/officeDocument/2006/relationships" id="259" r:id="R6d66768414bf4c58"/>
    <p:sldId xmlns:r="http://schemas.openxmlformats.org/officeDocument/2006/relationships" id="260" r:id="Re62498cfb16a47fd"/>
    <p:sldId xmlns:r="http://schemas.openxmlformats.org/officeDocument/2006/relationships" id="261" r:id="R7069e8ad76544159"/>
    <p:sldId xmlns:r="http://schemas.openxmlformats.org/officeDocument/2006/relationships" id="262" r:id="R3c71441514fa4d77"/>
    <p:sldId xmlns:r="http://schemas.openxmlformats.org/officeDocument/2006/relationships" id="263" r:id="R01a1ad60937746c5"/>
    <p:sldId xmlns:r="http://schemas.openxmlformats.org/officeDocument/2006/relationships" id="264" r:id="R77abe7a76773451b"/>
    <p:sldId xmlns:r="http://schemas.openxmlformats.org/officeDocument/2006/relationships" id="265" r:id="R8e7db5acb00149f0"/>
    <p:sldId xmlns:r="http://schemas.openxmlformats.org/officeDocument/2006/relationships" id="266" r:id="R3cd2962606a748dd"/>
    <p:sldId xmlns:r="http://schemas.openxmlformats.org/officeDocument/2006/relationships" id="267" r:id="R683726a9f4b24fde"/>
    <p:sldId xmlns:r="http://schemas.openxmlformats.org/officeDocument/2006/relationships" id="268" r:id="R4c99d49c01a1451c"/>
    <p:sldId xmlns:r="http://schemas.openxmlformats.org/officeDocument/2006/relationships" id="269" r:id="R184313a0e4bc4b71"/>
    <p:sldId xmlns:r="http://schemas.openxmlformats.org/officeDocument/2006/relationships" id="270" r:id="R927d4d58952949aa"/>
    <p:sldId xmlns:r="http://schemas.openxmlformats.org/officeDocument/2006/relationships" id="271" r:id="R2a9474954abd40de"/>
    <p:sldId xmlns:r="http://schemas.openxmlformats.org/officeDocument/2006/relationships" id="272" r:id="R96c018c2ae4546e6"/>
    <p:sldId xmlns:r="http://schemas.openxmlformats.org/officeDocument/2006/relationships" id="273" r:id="R485025b3ae8646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5ca72b075c451e" /><Relationship Type="http://schemas.openxmlformats.org/officeDocument/2006/relationships/slideMaster" Target="/ppt/slideMasters/slideMaster1.xml" Id="R130847c3a1cb4b04" /><Relationship Type="http://schemas.openxmlformats.org/officeDocument/2006/relationships/notesMaster" Target="/ppt/notesMasters/notesMaster1.xml" Id="R0bb73dfab99848b4" /><Relationship Type="http://schemas.openxmlformats.org/officeDocument/2006/relationships/presProps" Target="/ppt/presProps.xml" Id="Rc35dfdd0da0946f8" /><Relationship Type="http://schemas.openxmlformats.org/officeDocument/2006/relationships/tableStyles" Target="/ppt/tableStyles.xml" Id="Re00e5796ee9b4440" /><Relationship Type="http://schemas.openxmlformats.org/officeDocument/2006/relationships/slide" Target="/ppt/slides/slide1.xml" Id="Re707c8c5a1a8470b" /><Relationship Type="http://schemas.openxmlformats.org/officeDocument/2006/relationships/slide" Target="/ppt/slides/slide2.xml" Id="Refaadd5470e845f4" /><Relationship Type="http://schemas.openxmlformats.org/officeDocument/2006/relationships/slide" Target="/ppt/slides/slide3.xml" Id="Rbfd94f4c0d504685" /><Relationship Type="http://schemas.openxmlformats.org/officeDocument/2006/relationships/slide" Target="/ppt/slides/slide4.xml" Id="R6d66768414bf4c58" /><Relationship Type="http://schemas.openxmlformats.org/officeDocument/2006/relationships/slide" Target="/ppt/slides/slide5.xml" Id="Re62498cfb16a47fd" /><Relationship Type="http://schemas.openxmlformats.org/officeDocument/2006/relationships/slide" Target="/ppt/slides/slide6.xml" Id="R7069e8ad76544159" /><Relationship Type="http://schemas.openxmlformats.org/officeDocument/2006/relationships/slide" Target="/ppt/slides/slide7.xml" Id="R3c71441514fa4d77" /><Relationship Type="http://schemas.openxmlformats.org/officeDocument/2006/relationships/slide" Target="/ppt/slides/slide8.xml" Id="R01a1ad60937746c5" /><Relationship Type="http://schemas.openxmlformats.org/officeDocument/2006/relationships/slide" Target="/ppt/slides/slide9.xml" Id="R77abe7a76773451b" /><Relationship Type="http://schemas.openxmlformats.org/officeDocument/2006/relationships/slide" Target="/ppt/slides/slide10.xml" Id="R8e7db5acb00149f0" /><Relationship Type="http://schemas.openxmlformats.org/officeDocument/2006/relationships/slide" Target="/ppt/slides/slide11.xml" Id="R3cd2962606a748dd" /><Relationship Type="http://schemas.openxmlformats.org/officeDocument/2006/relationships/slide" Target="/ppt/slides/slide12.xml" Id="R683726a9f4b24fde" /><Relationship Type="http://schemas.openxmlformats.org/officeDocument/2006/relationships/slide" Target="/ppt/slides/slide13.xml" Id="R4c99d49c01a1451c" /><Relationship Type="http://schemas.openxmlformats.org/officeDocument/2006/relationships/slide" Target="/ppt/slides/slide14.xml" Id="R184313a0e4bc4b71" /><Relationship Type="http://schemas.openxmlformats.org/officeDocument/2006/relationships/slide" Target="/ppt/slides/slide15.xml" Id="R927d4d58952949aa" /><Relationship Type="http://schemas.openxmlformats.org/officeDocument/2006/relationships/slide" Target="/ppt/slides/slide16.xml" Id="R2a9474954abd40de" /><Relationship Type="http://schemas.openxmlformats.org/officeDocument/2006/relationships/slide" Target="/ppt/slides/slide17.xml" Id="R96c018c2ae4546e6" /><Relationship Type="http://schemas.openxmlformats.org/officeDocument/2006/relationships/slide" Target="/ppt/slides/slide18.xml" Id="R485025b3ae8646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927f3622a84f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ff8283d6e4d25" /><Relationship Type="http://schemas.openxmlformats.org/officeDocument/2006/relationships/notesMaster" Target="/ppt/notesMasters/notesMaster1.xml" Id="R753f0b237a3b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657810f19c48e9" /><Relationship Type="http://schemas.openxmlformats.org/officeDocument/2006/relationships/notesMaster" Target="/ppt/notesMasters/notesMaster1.xml" Id="R1b5a27c9e57641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645951355c4ccb" /><Relationship Type="http://schemas.openxmlformats.org/officeDocument/2006/relationships/notesMaster" Target="/ppt/notesMasters/notesMaster1.xml" Id="Rd6889ddaa6e743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439fd36d85484c" /><Relationship Type="http://schemas.openxmlformats.org/officeDocument/2006/relationships/notesMaster" Target="/ppt/notesMasters/notesMaster1.xml" Id="R59f35fa6477448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d964a402f94501" /><Relationship Type="http://schemas.openxmlformats.org/officeDocument/2006/relationships/notesMaster" Target="/ppt/notesMasters/notesMaster1.xml" Id="R9e648be934cf42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7a045e67ae4921" /><Relationship Type="http://schemas.openxmlformats.org/officeDocument/2006/relationships/notesMaster" Target="/ppt/notesMasters/notesMaster1.xml" Id="R0ca30e1e3e964b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055e367f8a43a2" /><Relationship Type="http://schemas.openxmlformats.org/officeDocument/2006/relationships/notesMaster" Target="/ppt/notesMasters/notesMaster1.xml" Id="Rb58ff4cdcf4b43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2434cc302f4698" /><Relationship Type="http://schemas.openxmlformats.org/officeDocument/2006/relationships/notesMaster" Target="/ppt/notesMasters/notesMaster1.xml" Id="R64c4771c9a9248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e576ebb8c14f7b" /><Relationship Type="http://schemas.openxmlformats.org/officeDocument/2006/relationships/notesMaster" Target="/ppt/notesMasters/notesMaster1.xml" Id="Re23288f1195c4f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d9b416a8be450f" /><Relationship Type="http://schemas.openxmlformats.org/officeDocument/2006/relationships/notesMaster" Target="/ppt/notesMasters/notesMaster1.xml" Id="R805126b7cb3b45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b32b7930fa481e" /><Relationship Type="http://schemas.openxmlformats.org/officeDocument/2006/relationships/notesMaster" Target="/ppt/notesMasters/notesMaster1.xml" Id="Re98e1f89669444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d1c6e87415465a" /><Relationship Type="http://schemas.openxmlformats.org/officeDocument/2006/relationships/notesMaster" Target="/ppt/notesMasters/notesMaster1.xml" Id="R3903bfdabb3742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10211411a74999" /><Relationship Type="http://schemas.openxmlformats.org/officeDocument/2006/relationships/notesMaster" Target="/ppt/notesMasters/notesMaster1.xml" Id="Rf31f5d79ef6d43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269115cf174f9c" /><Relationship Type="http://schemas.openxmlformats.org/officeDocument/2006/relationships/notesMaster" Target="/ppt/notesMasters/notesMaster1.xml" Id="R9c658ae7704a4c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d995ff0d494342" /><Relationship Type="http://schemas.openxmlformats.org/officeDocument/2006/relationships/notesMaster" Target="/ppt/notesMasters/notesMaster1.xml" Id="R9fc50643e01249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979ac50a4e4c7a" /><Relationship Type="http://schemas.openxmlformats.org/officeDocument/2006/relationships/notesMaster" Target="/ppt/notesMasters/notesMaster1.xml" Id="R85f7ae6aacdd41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e9d30bee134a24" /><Relationship Type="http://schemas.openxmlformats.org/officeDocument/2006/relationships/notesMaster" Target="/ppt/notesMasters/notesMaster1.xml" Id="R0fe2204f40e448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84d97b3b9a4f52" /><Relationship Type="http://schemas.openxmlformats.org/officeDocument/2006/relationships/notesMaster" Target="/ppt/notesMasters/notesMaster1.xml" Id="Rc9376867fb3e4e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heuristic estimates remaining cost and changes which frontier node is examined next. The quality and mathematical properties of that estimate determine efficiency and optimality.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Define heuristic, admissibility, consistency, and dominance. 2) Trace Greedy Best-First Search and A-star using g, h, and f. 3) Sketch A-star's optimality argument under admissible or consistent h. 4) Derive heuristics from relaxed problems. 5) Verify Manhattan-distance consistency on four-neighbor grids. 6) Implement deterministic A-star with correct cost updates.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heuristic h(n) estimates the cheapest remaining cost from node n to a goal. The supporting details make the claim operational. 1) h uses state information unavailable to uninformed ordering. 2) h is not the cost already paid. 3) A heuristic can be informative, weak, or unsafe. The highlighted idea, Estimate, is the part to retain when the surrounding notation changes. Useful estimates reduce irrelevant expansion while respecting the model's cost units.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Greedy: f(n) = h(n)        A-star: f(n) = g(n) + h(n). The symbols mean the following. 1) g(n) is exact accumulated cost. 2) h(n) estimates remaining optimal cost h*(n). 3) Greedy ignores paid cost. 4) A-star balances paid and estimated cost. The engineering implication is Priority and duplicate-update logic must use the same numeric cost model.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Greedy Best-First: Priority is h only. Can reach a goal quickly. Can follow a deceptive heuristic. Not generally optimal. On the right, A-star: Priority is g+h. Reduces to UCS when h=0. Optimal under stated h conditions. Needs cheaper-path updates.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Model: State the original constraints and cost. 2) Relax: Remove constraints, never add them. 3) Solve: Compute the relaxed optimal cost. 4) Verify: Check goal value and edge inequalities. 5) Measure: Compare expansion and runtime empirically. The emphasized stage deserves extra attention because defects introduced there propagate to every later result. A relaxed optimum is a principled lower bound on the original optimum.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Store best g by state. Skip stale queue entries. Use h(goal)=0. Break ties deterministically.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S reaches A with g=2,h=3 and B with g=1,h=5; A reaches G with cost 3. Work through it in the displayed order. 1) Insert A with f=5 and B with f=6. 2) Remove A because f is smaller. 3) Generate G with g=5,h=0,f=5. 4) Remove G before B and return S-A-G. The resulting conclusion is A-star returns cost 5; the frontier still contains B with f=6.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Admissible: 0 &lt;= h(n) &lt;= h*(n). Never overestimates. Supports A-star tree-search proof. h(goal)=0 follows. In contrast, Consistent: h(n) &lt;= c(n,n')+h(n'). Triangle inequality. Implies admissibility. f does not decrease along paths. In contrast, Dominant: h2(n) &gt;= h1(n). Both remain admissible. h2 is at least as informed. May reduce expansion.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For an edge A to B with cost 2, h(A)=5 and h(B)=2. Is the heuristic consistent on this edge? Use the prompts to structure the response. 1) Write the consistency inequality. 2) Substitute the three values. 3) State whether admissibility alone can be inferred. The expected reasoning is No, because 5 &lt;= 2+2 is false. One violated edge proves inconsistency. This local result alone does not establish whether the heuristic is globally admissible.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Manhattan distance: |dx|+|dy|. Exact without obstacles on four-neighbor unit grids. Consistent for unit orthogonal moves. Can overestimate if diagonal moves cost 1. On the right, Euclidean distance: sqrt(dx^2+dy^2). Straight-line relaxed path. Fits continuous or geometric motion. Often weaker on four-neighbor grids.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For optimal path node n: f(n)=g(n)+h(n) &lt;= g(n)+h*(n)=C*. The symbols mean the following. 1) C* is optimal solution cost. 2) Admissibility supplies h(n) &lt;= h*(n). 3) A suboptimal goal G has f(G)=g(G)&gt;C*. 4) Minimum-f removal selects an optimal-path node first. The engineering implication is A suboptimal goal cannot be removed while an optimal-path frontier node remains.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legal grid move changes exactly one coordinate by one and costs 1. Work through it in the displayed order. 1) Let h be Manhattan distance to the goal. 2) One move changes h by at most 1. 3) Therefore h(s) &lt;= 1+h(s'). 4) The edge consistency inequality holds. The resulting conclusion is Manhattan distance is consistent and therefore admissible for this movement model.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Overestimate: Can lose optimality. Often caused by wrong move costs. Goal value may be nonzero. Counterexample needed. In contrast, Too weak: Behaves like UCS. Optimal but expands more. Relaxation removed too much. Measure expansion. In contrast, Inconsistent: Graph search may reopen states. Stale entries appear. Local edge test detects it. Correctness policy must match.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grid permits eight directions; orthogonal moves cost 1 and diagonal moves cost sqrt(2). Is Manhattan distance admissible? Use the prompts to structure the response. 1) Compare one diagonal displacement. 2) Compute Manhattan and true relaxed cost. 3) Name a better geometric heuristic. The expected reasoning is No. For a one-by-one diagonal displacement, Manhattan returns 2 while the legal diagonal costs sqrt(2). Octile distance or Euclidean distance respects the movement model.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Validate mathematical safety separately from empirical usefulness. The supporting details make the claim operational. 1) Unit-test h(goal)=0 and sampled edge consistency. 2) Compare solution cost against UCS on small instances. 3) Report expansions, maximum frontier, and wall-clock time. The highlighted idea, Evidence, is the part to retain when the surrounding notation changes. A proof supports optimality; benchmarks support efficiency claims.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Greedy orders by h; A-star orders by g+h. 2) Admissibility is a global lower bound; consistency is an edge inequality. 3) Relaxed problems provide principled heuristics. 4) Correct A-star needs best-g updates and deterministic queue behavior. These are connected: the formal model supplies the algorithm, the algorithm's invariant supports its guarantee, and the implementation contract makes that guarantee testable. The next topic is Week 3 replaces a passive environment with an optimizing opponent and introduces minimax.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Trace A-star on a five-node weighted graph. 2) Give an admissible but inconsistent heuristic. 3) Prove Manhattan consistency for one grid edge. 4) Explain heuristic dominance. 5) Design tests for an A-star implementation.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week_02/Week_2_Lesson_2_Informed_Search_and_Heuristics.md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ca22b4f3048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8418c36133417f" /><Relationship Type="http://schemas.openxmlformats.org/officeDocument/2006/relationships/slideLayout" Target="/ppt/slideLayouts/slideLayout1.xml" Id="Rd715b9b966024a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15b9b966024a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e225ba0cd149a1" /><Relationship Type="http://schemas.openxmlformats.org/officeDocument/2006/relationships/notesSlide" Target="/ppt/notesSlides/notesSlide1.xml" Id="R2c04e1d316c243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6547a129a74472" /><Relationship Type="http://schemas.openxmlformats.org/officeDocument/2006/relationships/notesSlide" Target="/ppt/notesSlides/notesSlide2.xml" Id="Rf8bea8ff067b4f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3679b2bee44d17" /><Relationship Type="http://schemas.openxmlformats.org/officeDocument/2006/relationships/notesSlide" Target="/ppt/notesSlides/notesSlide3.xml" Id="Rdf39650ff8fe4a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c2f0f5ce8a47cc" /><Relationship Type="http://schemas.openxmlformats.org/officeDocument/2006/relationships/notesSlide" Target="/ppt/notesSlides/notesSlide4.xml" Id="R276c64f30b8940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64aa05eea84b2b" /><Relationship Type="http://schemas.openxmlformats.org/officeDocument/2006/relationships/notesSlide" Target="/ppt/notesSlides/notesSlide5.xml" Id="R939ffd8c84bb45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f2380c65bb4c43" /><Relationship Type="http://schemas.openxmlformats.org/officeDocument/2006/relationships/notesSlide" Target="/ppt/notesSlides/notesSlide6.xml" Id="R4b78d8ff867e42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bff057555d4b08" /><Relationship Type="http://schemas.openxmlformats.org/officeDocument/2006/relationships/notesSlide" Target="/ppt/notesSlides/notesSlide7.xml" Id="R4d1b50cae4a148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c6ef7cef664d76" /><Relationship Type="http://schemas.openxmlformats.org/officeDocument/2006/relationships/notesSlide" Target="/ppt/notesSlides/notesSlide8.xml" Id="R767ea7d9210744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a3164f4fc5464b" /><Relationship Type="http://schemas.openxmlformats.org/officeDocument/2006/relationships/notesSlide" Target="/ppt/notesSlides/notesSlide9.xml" Id="R300c77dbea9949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3f13afc4a54d8e" /><Relationship Type="http://schemas.openxmlformats.org/officeDocument/2006/relationships/notesSlide" Target="/ppt/notesSlides/notesSlide10.xml" Id="R4dfce3587c8847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9941c75f004c36" /><Relationship Type="http://schemas.openxmlformats.org/officeDocument/2006/relationships/notesSlide" Target="/ppt/notesSlides/notesSlide11.xml" Id="R5254483a91f44e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6b4d7bc6f14fe8" /><Relationship Type="http://schemas.openxmlformats.org/officeDocument/2006/relationships/notesSlide" Target="/ppt/notesSlides/notesSlide12.xml" Id="Ra8b683ee5cb543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7c333f43a44e64" /><Relationship Type="http://schemas.openxmlformats.org/officeDocument/2006/relationships/notesSlide" Target="/ppt/notesSlides/notesSlide13.xml" Id="R81dd6daa788344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ab7b2ab513454a" /><Relationship Type="http://schemas.openxmlformats.org/officeDocument/2006/relationships/notesSlide" Target="/ppt/notesSlides/notesSlide14.xml" Id="R3a8360c36cc243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084a795499444e" /><Relationship Type="http://schemas.openxmlformats.org/officeDocument/2006/relationships/notesSlide" Target="/ppt/notesSlides/notesSlide15.xml" Id="Rd1a605ce640f46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9994417ed6747d9" /><Relationship Type="http://schemas.openxmlformats.org/officeDocument/2006/relationships/notesSlide" Target="/ppt/notesSlides/notesSlide16.xml" Id="R827ea0919a6241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d31c50e25464375" /><Relationship Type="http://schemas.openxmlformats.org/officeDocument/2006/relationships/notesSlide" Target="/ppt/notesSlides/notesSlide17.xml" Id="R7d99500d09084e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626d9d2837435a" /><Relationship Type="http://schemas.openxmlformats.org/officeDocument/2006/relationships/notesSlide" Target="/ppt/notesSlides/notesSlide18.xml" Id="R648e3e0c1e16466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DF7A45B1-50E6-4BA6-8320-6D432038DDF7}"/>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02  |  LESSON 2</a:t>
            </a:r>
          </a:p>
        </p:txBody>
      </p:sp>
      <p:sp>
        <p:nvSpPr>
          <p:cNvPr id="2" name="title-accent-field">
            <a:extLst xmlns:a="http://schemas.openxmlformats.org/drawingml/2006/main">
              <a:ext uri="{FF2B5EF4-FFF2-40B4-BE49-F238E27FC236}">
                <a16:creationId xmlns:a16="http://schemas.microsoft.com/office/drawing/2014/main" id="{F77B214D-15B5-4DF6-91AF-0E6C0B7BFDCE}"/>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A2D7BF3D-F3EE-4C14-853E-74B87744657E}"/>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Informed Search: Greedy, A-star, and Heuristic Design</a:t>
            </a:r>
          </a:p>
        </p:txBody>
      </p:sp>
      <p:sp>
        <p:nvSpPr>
          <p:cNvPr id="4" name="deck-subtitle">
            <a:extLst xmlns:a="http://schemas.openxmlformats.org/drawingml/2006/main">
              <a:ext uri="{FF2B5EF4-FFF2-40B4-BE49-F238E27FC236}">
                <a16:creationId xmlns:a16="http://schemas.microsoft.com/office/drawing/2014/main" id="{33E69529-D403-441C-AD9B-0984B65547C5}"/>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Using problem structure without sacrificing justified guarantees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C300F02A-E88E-4E4D-8FCC-2948AB7A9916}"/>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5E09BF6E-6AA3-4486-B8FC-391231E93087}"/>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798814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3BC43F82-0785-4AC3-A940-5BF7D3A99EA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EB10E542-0121-4F37-BD8F-519F44696A8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20177C85-1406-430B-BADF-FAE4D2922EC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2">
            <a:extLst xmlns:a="http://schemas.openxmlformats.org/drawingml/2006/main">
              <a:ext uri="{FF2B5EF4-FFF2-40B4-BE49-F238E27FC236}">
                <a16:creationId xmlns:a16="http://schemas.microsoft.com/office/drawing/2014/main" id="{D886E8E0-96FF-4B78-B27A-24E57035EA2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AC359506-B502-4198-94D0-0A5F60D318CB}"/>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BE6F3495-C410-48EF-88C0-8998331A565C}"/>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A5B852BA-40A0-4013-B862-03F534FA3803}"/>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heuristic, admissibility, consistency, and dominance.</a:t>
            </a:r>
          </a:p>
        </p:txBody>
      </p:sp>
      <p:sp>
        <p:nvSpPr>
          <p:cNvPr id="10" name="objective-number-2">
            <a:extLst xmlns:a="http://schemas.openxmlformats.org/drawingml/2006/main">
              <a:ext uri="{FF2B5EF4-FFF2-40B4-BE49-F238E27FC236}">
                <a16:creationId xmlns:a16="http://schemas.microsoft.com/office/drawing/2014/main" id="{F696F11B-8BA1-4864-873E-1FB5EFD73962}"/>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34CAB50B-228E-423C-8D29-4E4962394537}"/>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Greedy Best-First Search and A-star using g, h, and f.</a:t>
            </a:r>
          </a:p>
        </p:txBody>
      </p:sp>
      <p:sp>
        <p:nvSpPr>
          <p:cNvPr id="13" name="objective-number-3">
            <a:extLst xmlns:a="http://schemas.openxmlformats.org/drawingml/2006/main">
              <a:ext uri="{FF2B5EF4-FFF2-40B4-BE49-F238E27FC236}">
                <a16:creationId xmlns:a16="http://schemas.microsoft.com/office/drawing/2014/main" id="{E3EEDFB5-EB4C-4E85-A19F-0ABAB15ED863}"/>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4C229436-1CF1-48CF-A17E-ABDDBAC979C2}"/>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Sketch A-star's optimality argument under admissible or consistent h.</a:t>
            </a:r>
          </a:p>
        </p:txBody>
      </p:sp>
      <p:sp>
        <p:nvSpPr>
          <p:cNvPr id="16" name="objective-number-4">
            <a:extLst xmlns:a="http://schemas.openxmlformats.org/drawingml/2006/main">
              <a:ext uri="{FF2B5EF4-FFF2-40B4-BE49-F238E27FC236}">
                <a16:creationId xmlns:a16="http://schemas.microsoft.com/office/drawing/2014/main" id="{93695579-29EA-4225-9763-2B5F199EE897}"/>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520BBA5F-8A3D-4AA6-A6C0-74A6CB2DD927}"/>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heuristics from relaxed problems.</a:t>
            </a:r>
          </a:p>
        </p:txBody>
      </p:sp>
      <p:sp>
        <p:nvSpPr>
          <p:cNvPr id="19" name="objective-number-5">
            <a:extLst xmlns:a="http://schemas.openxmlformats.org/drawingml/2006/main">
              <a:ext uri="{FF2B5EF4-FFF2-40B4-BE49-F238E27FC236}">
                <a16:creationId xmlns:a16="http://schemas.microsoft.com/office/drawing/2014/main" id="{0AB31E1C-45A8-4086-BF7C-C5AE9FD118CA}"/>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6FA5FA9C-DA11-4D76-A393-D1EF4B414744}"/>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Verify Manhattan-distance consistency on four-neighbor grids.</a:t>
            </a:r>
          </a:p>
        </p:txBody>
      </p:sp>
      <p:sp>
        <p:nvSpPr>
          <p:cNvPr id="22" name="objective-number-6">
            <a:extLst xmlns:a="http://schemas.openxmlformats.org/drawingml/2006/main">
              <a:ext uri="{FF2B5EF4-FFF2-40B4-BE49-F238E27FC236}">
                <a16:creationId xmlns:a16="http://schemas.microsoft.com/office/drawing/2014/main" id="{3DDA18DC-2B15-448C-9277-9A0362DD93DD}"/>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F2D12206-1543-44E5-86EF-B12EB8116BD2}"/>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Implement deterministic A-star with correct cost updates.</a:t>
            </a:r>
          </a:p>
        </p:txBody>
      </p:sp>
    </p:spTree>
    <p:extLst>
      <p:ext uri="{BB962C8B-B14F-4D97-AF65-F5344CB8AC3E}">
        <p14:creationId xmlns:p14="http://schemas.microsoft.com/office/powerpoint/2010/main" val="3329910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A78DB6B9-0F12-4B6F-8ADB-88C7F8B618A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heuristic injects domain knowledge into ordering</a:t>
            </a:r>
          </a:p>
        </p:txBody>
      </p:sp>
      <p:sp>
        <p:nvSpPr>
          <p:cNvPr id="2" name="title-accent-3">
            <a:extLst xmlns:a="http://schemas.openxmlformats.org/drawingml/2006/main">
              <a:ext uri="{FF2B5EF4-FFF2-40B4-BE49-F238E27FC236}">
                <a16:creationId xmlns:a16="http://schemas.microsoft.com/office/drawing/2014/main" id="{EB149825-42AE-4012-AA59-DA2F9A68E74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2606D075-CFE8-42E8-8D72-58C2BD8188F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3">
            <a:extLst xmlns:a="http://schemas.openxmlformats.org/drawingml/2006/main">
              <a:ext uri="{FF2B5EF4-FFF2-40B4-BE49-F238E27FC236}">
                <a16:creationId xmlns:a16="http://schemas.microsoft.com/office/drawing/2014/main" id="{6D463080-1F26-4664-ABF9-B226E4B6117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893FD2AE-0602-4EB7-BF1F-331D144F28E4}"/>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heuristic h(n) estimates the cheapest remaining cost from node n to a goal.</a:t>
            </a:r>
          </a:p>
        </p:txBody>
      </p:sp>
      <p:sp>
        <p:nvSpPr>
          <p:cNvPr id="7" name="claim-panel-3">
            <a:extLst xmlns:a="http://schemas.openxmlformats.org/drawingml/2006/main">
              <a:ext uri="{FF2B5EF4-FFF2-40B4-BE49-F238E27FC236}">
                <a16:creationId xmlns:a16="http://schemas.microsoft.com/office/drawing/2014/main" id="{D86AA94E-409C-45C1-8ECA-647034845809}"/>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EEAD4B29-582F-4FAE-B5AB-6B5D064D3929}"/>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Estimate</a:t>
            </a:r>
          </a:p>
        </p:txBody>
      </p:sp>
      <p:sp>
        <p:nvSpPr>
          <p:cNvPr id="9" name="claim-keyword-detail-3">
            <a:extLst xmlns:a="http://schemas.openxmlformats.org/drawingml/2006/main">
              <a:ext uri="{FF2B5EF4-FFF2-40B4-BE49-F238E27FC236}">
                <a16:creationId xmlns:a16="http://schemas.microsoft.com/office/drawing/2014/main" id="{3AC4C964-B3F9-4916-A64D-B45CF9CB9EB5}"/>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Useful estimates reduce irrelevant expansion while respecting the model's cost units.</a:t>
            </a:r>
          </a:p>
        </p:txBody>
      </p:sp>
      <p:sp>
        <p:nvSpPr>
          <p:cNvPr id="10" name="claim-detail-3-marker-1">
            <a:extLst xmlns:a="http://schemas.openxmlformats.org/drawingml/2006/main">
              <a:ext uri="{FF2B5EF4-FFF2-40B4-BE49-F238E27FC236}">
                <a16:creationId xmlns:a16="http://schemas.microsoft.com/office/drawing/2014/main" id="{724ED5B8-4638-497B-8562-ADC40E336FF4}"/>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B8E7F8C5-AFA7-4ABD-9B40-37116D0EF335}"/>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h uses state information unavailable to uninformed ordering.</a:t>
            </a:r>
          </a:p>
        </p:txBody>
      </p:sp>
      <p:sp>
        <p:nvSpPr>
          <p:cNvPr id="12" name="claim-detail-3-marker-2">
            <a:extLst xmlns:a="http://schemas.openxmlformats.org/drawingml/2006/main">
              <a:ext uri="{FF2B5EF4-FFF2-40B4-BE49-F238E27FC236}">
                <a16:creationId xmlns:a16="http://schemas.microsoft.com/office/drawing/2014/main" id="{9239900F-E9B2-49E1-9A1F-2D48715CE284}"/>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F520951A-DF0E-4321-82BE-FF7463719B96}"/>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h is not the cost already paid.</a:t>
            </a:r>
          </a:p>
        </p:txBody>
      </p:sp>
      <p:sp>
        <p:nvSpPr>
          <p:cNvPr id="14" name="claim-detail-3-marker-3">
            <a:extLst xmlns:a="http://schemas.openxmlformats.org/drawingml/2006/main">
              <a:ext uri="{FF2B5EF4-FFF2-40B4-BE49-F238E27FC236}">
                <a16:creationId xmlns:a16="http://schemas.microsoft.com/office/drawing/2014/main" id="{64EE92EE-385B-4FE6-8734-207726D7798A}"/>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13F72FB6-8815-4A76-935A-F8964B255BB6}"/>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 heuristic can be informative, weak, or unsafe.</a:t>
            </a:r>
          </a:p>
        </p:txBody>
      </p:sp>
    </p:spTree>
    <p:extLst>
      <p:ext uri="{BB962C8B-B14F-4D97-AF65-F5344CB8AC3E}">
        <p14:creationId xmlns:p14="http://schemas.microsoft.com/office/powerpoint/2010/main" val="7874597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936D86CE-FB26-45D2-ADD1-C6204BB029E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Greedy and A-star use different priority functions</a:t>
            </a:r>
          </a:p>
        </p:txBody>
      </p:sp>
      <p:sp>
        <p:nvSpPr>
          <p:cNvPr id="2" name="title-accent-4">
            <a:extLst xmlns:a="http://schemas.openxmlformats.org/drawingml/2006/main">
              <a:ext uri="{FF2B5EF4-FFF2-40B4-BE49-F238E27FC236}">
                <a16:creationId xmlns:a16="http://schemas.microsoft.com/office/drawing/2014/main" id="{73CA808A-1A2E-4C52-91BD-54C03A6027E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3B81403B-FCD9-4E43-AA8E-EEC59D26AFB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4">
            <a:extLst xmlns:a="http://schemas.openxmlformats.org/drawingml/2006/main">
              <a:ext uri="{FF2B5EF4-FFF2-40B4-BE49-F238E27FC236}">
                <a16:creationId xmlns:a16="http://schemas.microsoft.com/office/drawing/2014/main" id="{F8B372F8-2748-4B11-8F3F-EFEF15617BE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70CB8CCA-2699-41CF-9925-25CB907A69F5}"/>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85C9B426-43C3-41D8-B08B-7B0AD0BFDE53}"/>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Greedy: f(n) = h(n)        A-star: f(n) = g(n) + h(n)</a:t>
            </a:r>
          </a:p>
        </p:txBody>
      </p:sp>
      <p:sp>
        <p:nvSpPr>
          <p:cNvPr id="8" name="formula-definition-4-marker-1">
            <a:extLst xmlns:a="http://schemas.openxmlformats.org/drawingml/2006/main">
              <a:ext uri="{FF2B5EF4-FFF2-40B4-BE49-F238E27FC236}">
                <a16:creationId xmlns:a16="http://schemas.microsoft.com/office/drawing/2014/main" id="{9C3E0540-0E67-440F-9C22-4207B32BF2EC}"/>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F156FB66-5C04-4C0B-82FC-812BAA14199D}"/>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g(n) is exact accumulated cost.</a:t>
            </a:r>
          </a:p>
        </p:txBody>
      </p:sp>
      <p:sp>
        <p:nvSpPr>
          <p:cNvPr id="10" name="formula-definition-4-marker-2">
            <a:extLst xmlns:a="http://schemas.openxmlformats.org/drawingml/2006/main">
              <a:ext uri="{FF2B5EF4-FFF2-40B4-BE49-F238E27FC236}">
                <a16:creationId xmlns:a16="http://schemas.microsoft.com/office/drawing/2014/main" id="{A88A8667-84FD-4F64-BDD4-9F17A45AB102}"/>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7DBB0BCB-6F9B-4E35-8B4A-C43947CAF790}"/>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h(n) estimates remaining optimal cost h*(n).</a:t>
            </a:r>
          </a:p>
        </p:txBody>
      </p:sp>
      <p:sp>
        <p:nvSpPr>
          <p:cNvPr id="12" name="formula-definition-4-marker-3">
            <a:extLst xmlns:a="http://schemas.openxmlformats.org/drawingml/2006/main">
              <a:ext uri="{FF2B5EF4-FFF2-40B4-BE49-F238E27FC236}">
                <a16:creationId xmlns:a16="http://schemas.microsoft.com/office/drawing/2014/main" id="{E0E320C9-97B4-43F0-9F90-ABA500E91E97}"/>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113260EB-4802-4126-AF9B-95D0DD5AB2D8}"/>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Greedy ignores paid cost.</a:t>
            </a:r>
          </a:p>
        </p:txBody>
      </p:sp>
      <p:sp>
        <p:nvSpPr>
          <p:cNvPr id="14" name="formula-definition-4-marker-4">
            <a:extLst xmlns:a="http://schemas.openxmlformats.org/drawingml/2006/main">
              <a:ext uri="{FF2B5EF4-FFF2-40B4-BE49-F238E27FC236}">
                <a16:creationId xmlns:a16="http://schemas.microsoft.com/office/drawing/2014/main" id="{BB21CA32-DC64-4103-8EDA-CC0342216106}"/>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F83CE016-C4A4-4F27-B7BC-F10EB48A573F}"/>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A-star balances paid and estimated cost.</a:t>
            </a:r>
          </a:p>
        </p:txBody>
      </p:sp>
      <p:sp>
        <p:nvSpPr>
          <p:cNvPr id="16" name="formula-implication-panel-4">
            <a:extLst xmlns:a="http://schemas.openxmlformats.org/drawingml/2006/main">
              <a:ext uri="{FF2B5EF4-FFF2-40B4-BE49-F238E27FC236}">
                <a16:creationId xmlns:a16="http://schemas.microsoft.com/office/drawing/2014/main" id="{18967DFA-352F-4CDD-9DE4-053B3AF8EE4C}"/>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4D3093CF-631B-48F8-9F33-D9D0DC49AA84}"/>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84EE1FFB-32C4-4E56-AB66-36F87F186D26}"/>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Priority and duplicate-update logic must use the same numeric cost model.</a:t>
            </a:r>
          </a:p>
        </p:txBody>
      </p:sp>
    </p:spTree>
    <p:extLst>
      <p:ext uri="{BB962C8B-B14F-4D97-AF65-F5344CB8AC3E}">
        <p14:creationId xmlns:p14="http://schemas.microsoft.com/office/powerpoint/2010/main" val="2068145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10B75CED-29A2-4A62-89D8-E33F44B66EB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Greedy pursues promise; A-star preserves evidence</a:t>
            </a:r>
          </a:p>
        </p:txBody>
      </p:sp>
      <p:sp>
        <p:nvSpPr>
          <p:cNvPr id="2" name="title-accent-5">
            <a:extLst xmlns:a="http://schemas.openxmlformats.org/drawingml/2006/main">
              <a:ext uri="{FF2B5EF4-FFF2-40B4-BE49-F238E27FC236}">
                <a16:creationId xmlns:a16="http://schemas.microsoft.com/office/drawing/2014/main" id="{56461556-A2B9-423A-8387-E06E83861BB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05389E4C-C669-476B-86DF-66A5C83D3B9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5">
            <a:extLst xmlns:a="http://schemas.openxmlformats.org/drawingml/2006/main">
              <a:ext uri="{FF2B5EF4-FFF2-40B4-BE49-F238E27FC236}">
                <a16:creationId xmlns:a16="http://schemas.microsoft.com/office/drawing/2014/main" id="{EFA91573-5410-44BF-A308-0174D6E8115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2B745FCD-2EE9-40CD-AB7E-1ABE7BED2733}"/>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Greedy Best-First</a:t>
            </a:r>
          </a:p>
        </p:txBody>
      </p:sp>
      <p:sp>
        <p:nvSpPr>
          <p:cNvPr id="8" name="right-title-5">
            <a:extLst xmlns:a="http://schemas.openxmlformats.org/drawingml/2006/main">
              <a:ext uri="{FF2B5EF4-FFF2-40B4-BE49-F238E27FC236}">
                <a16:creationId xmlns:a16="http://schemas.microsoft.com/office/drawing/2014/main" id="{B8FD4616-67CC-4F95-8C27-EC78D890850F}"/>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A-star</a:t>
            </a:r>
          </a:p>
        </p:txBody>
      </p:sp>
      <p:sp>
        <p:nvSpPr>
          <p:cNvPr id="9" name="left-bullet-5-marker-1">
            <a:extLst xmlns:a="http://schemas.openxmlformats.org/drawingml/2006/main">
              <a:ext uri="{FF2B5EF4-FFF2-40B4-BE49-F238E27FC236}">
                <a16:creationId xmlns:a16="http://schemas.microsoft.com/office/drawing/2014/main" id="{AADF3ADC-609F-435C-BB8A-117B0D6C626D}"/>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939052F2-2C72-43F6-A87C-2457DA8244F5}"/>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Priority is h only.</a:t>
            </a:r>
          </a:p>
        </p:txBody>
      </p:sp>
      <p:sp>
        <p:nvSpPr>
          <p:cNvPr id="11" name="left-bullet-5-marker-2">
            <a:extLst xmlns:a="http://schemas.openxmlformats.org/drawingml/2006/main">
              <a:ext uri="{FF2B5EF4-FFF2-40B4-BE49-F238E27FC236}">
                <a16:creationId xmlns:a16="http://schemas.microsoft.com/office/drawing/2014/main" id="{7D3B70DB-71C3-4880-B737-BC5B98A66AD0}"/>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2D2C06AF-E9EB-4298-9DF5-4328305210CF}"/>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reach a goal quickly.</a:t>
            </a:r>
          </a:p>
        </p:txBody>
      </p:sp>
      <p:sp>
        <p:nvSpPr>
          <p:cNvPr id="13" name="left-bullet-5-marker-3">
            <a:extLst xmlns:a="http://schemas.openxmlformats.org/drawingml/2006/main">
              <a:ext uri="{FF2B5EF4-FFF2-40B4-BE49-F238E27FC236}">
                <a16:creationId xmlns:a16="http://schemas.microsoft.com/office/drawing/2014/main" id="{5C4CD802-FBA0-4C88-9AF3-EA6DB522A942}"/>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E326089B-2A10-448C-AC70-021184DF29DE}"/>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follow a deceptive heuristic.</a:t>
            </a:r>
          </a:p>
        </p:txBody>
      </p:sp>
      <p:sp>
        <p:nvSpPr>
          <p:cNvPr id="15" name="left-bullet-5-marker-4">
            <a:extLst xmlns:a="http://schemas.openxmlformats.org/drawingml/2006/main">
              <a:ext uri="{FF2B5EF4-FFF2-40B4-BE49-F238E27FC236}">
                <a16:creationId xmlns:a16="http://schemas.microsoft.com/office/drawing/2014/main" id="{B46971AB-269B-4C13-BB0A-76E62E83B028}"/>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4BE5F280-2B8A-4091-AC17-0301CC910453}"/>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Not generally optimal.</a:t>
            </a:r>
          </a:p>
        </p:txBody>
      </p:sp>
      <p:sp>
        <p:nvSpPr>
          <p:cNvPr id="17" name="right-bullet-5-marker-1">
            <a:extLst xmlns:a="http://schemas.openxmlformats.org/drawingml/2006/main">
              <a:ext uri="{FF2B5EF4-FFF2-40B4-BE49-F238E27FC236}">
                <a16:creationId xmlns:a16="http://schemas.microsoft.com/office/drawing/2014/main" id="{A7FBAAC1-0CE8-44DE-A021-7602CC6F789A}"/>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F16F9DF0-C96A-479A-AF9E-CE46CF5E73C8}"/>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Priority is g+h.</a:t>
            </a:r>
          </a:p>
        </p:txBody>
      </p:sp>
      <p:sp>
        <p:nvSpPr>
          <p:cNvPr id="19" name="right-bullet-5-marker-2">
            <a:extLst xmlns:a="http://schemas.openxmlformats.org/drawingml/2006/main">
              <a:ext uri="{FF2B5EF4-FFF2-40B4-BE49-F238E27FC236}">
                <a16:creationId xmlns:a16="http://schemas.microsoft.com/office/drawing/2014/main" id="{9C7DD442-8AA4-4078-A37F-03D61D72A416}"/>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C5D2A01B-FC53-4582-B0EA-AF5AE2AFF056}"/>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Reduces to UCS when h=0.</a:t>
            </a:r>
          </a:p>
        </p:txBody>
      </p:sp>
      <p:sp>
        <p:nvSpPr>
          <p:cNvPr id="21" name="right-bullet-5-marker-3">
            <a:extLst xmlns:a="http://schemas.openxmlformats.org/drawingml/2006/main">
              <a:ext uri="{FF2B5EF4-FFF2-40B4-BE49-F238E27FC236}">
                <a16:creationId xmlns:a16="http://schemas.microsoft.com/office/drawing/2014/main" id="{BB60B665-E9C8-42BB-9D67-7D3DD3BACC5C}"/>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F7A300EA-4E73-49D0-9378-8601D30A81CD}"/>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Optimal under stated h conditions.</a:t>
            </a:r>
          </a:p>
        </p:txBody>
      </p:sp>
      <p:sp>
        <p:nvSpPr>
          <p:cNvPr id="23" name="right-bullet-5-marker-4">
            <a:extLst xmlns:a="http://schemas.openxmlformats.org/drawingml/2006/main">
              <a:ext uri="{FF2B5EF4-FFF2-40B4-BE49-F238E27FC236}">
                <a16:creationId xmlns:a16="http://schemas.microsoft.com/office/drawing/2014/main" id="{C2863B5A-44FF-40CD-9D57-C4A257FF8C04}"/>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26CE934A-5046-45D5-AEBD-FD5CDE3185E4}"/>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Needs cheaper-path updates.</a:t>
            </a:r>
          </a:p>
        </p:txBody>
      </p:sp>
    </p:spTree>
    <p:extLst>
      <p:ext uri="{BB962C8B-B14F-4D97-AF65-F5344CB8AC3E}">
        <p14:creationId xmlns:p14="http://schemas.microsoft.com/office/powerpoint/2010/main" val="1748830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1FFEE47F-FE7A-4B43-811C-731FC0C6803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Design a heuristic through a relaxed problem</a:t>
            </a:r>
          </a:p>
        </p:txBody>
      </p:sp>
      <p:sp>
        <p:nvSpPr>
          <p:cNvPr id="2" name="title-accent-6">
            <a:extLst xmlns:a="http://schemas.openxmlformats.org/drawingml/2006/main">
              <a:ext uri="{FF2B5EF4-FFF2-40B4-BE49-F238E27FC236}">
                <a16:creationId xmlns:a16="http://schemas.microsoft.com/office/drawing/2014/main" id="{B069F9BB-F34A-4891-9D7B-EFF60BF436B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F3333C4D-EC50-415D-9545-145A4D683DC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6">
            <a:extLst xmlns:a="http://schemas.openxmlformats.org/drawingml/2006/main">
              <a:ext uri="{FF2B5EF4-FFF2-40B4-BE49-F238E27FC236}">
                <a16:creationId xmlns:a16="http://schemas.microsoft.com/office/drawing/2014/main" id="{636106B9-B0F9-4D29-8A2C-46C3381B84A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7C749D21-2300-4BD7-AD1D-AE28F024E923}"/>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9BB75A1A-5469-449B-98A9-8C3C2FEB969F}"/>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561B59ED-CFDC-49E8-BC5C-F662AD893D25}"/>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Model</a:t>
            </a:r>
          </a:p>
        </p:txBody>
      </p:sp>
      <p:sp>
        <p:nvSpPr>
          <p:cNvPr id="13" name="process-detail-6-1">
            <a:extLst xmlns:a="http://schemas.openxmlformats.org/drawingml/2006/main">
              <a:ext uri="{FF2B5EF4-FFF2-40B4-BE49-F238E27FC236}">
                <a16:creationId xmlns:a16="http://schemas.microsoft.com/office/drawing/2014/main" id="{B31B31DB-D1B6-4CDE-966F-B82BA66CDE70}"/>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the original constraints and cost.</a:t>
            </a:r>
          </a:p>
        </p:txBody>
      </p:sp>
      <p:sp>
        <p:nvSpPr>
          <p:cNvPr id="14" name="process-node-6-2">
            <a:extLst xmlns:a="http://schemas.openxmlformats.org/drawingml/2006/main">
              <a:ext uri="{FF2B5EF4-FFF2-40B4-BE49-F238E27FC236}">
                <a16:creationId xmlns:a16="http://schemas.microsoft.com/office/drawing/2014/main" id="{2A85E7BD-8E93-4580-A31D-90A22ADA7CFF}"/>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24D5D65C-B86B-417F-82EC-845E334907A1}"/>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9A18A269-6E9D-4E35-9BCD-81FD4A864ADE}"/>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Relax</a:t>
            </a:r>
          </a:p>
        </p:txBody>
      </p:sp>
      <p:sp>
        <p:nvSpPr>
          <p:cNvPr id="17" name="process-detail-6-2">
            <a:extLst xmlns:a="http://schemas.openxmlformats.org/drawingml/2006/main">
              <a:ext uri="{FF2B5EF4-FFF2-40B4-BE49-F238E27FC236}">
                <a16:creationId xmlns:a16="http://schemas.microsoft.com/office/drawing/2014/main" id="{20ACD7C1-B552-41D8-971A-69A8A5D4025C}"/>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Remove constraints, never add them.</a:t>
            </a:r>
          </a:p>
        </p:txBody>
      </p:sp>
      <p:sp>
        <p:nvSpPr>
          <p:cNvPr id="18" name="process-node-6-3">
            <a:extLst xmlns:a="http://schemas.openxmlformats.org/drawingml/2006/main">
              <a:ext uri="{FF2B5EF4-FFF2-40B4-BE49-F238E27FC236}">
                <a16:creationId xmlns:a16="http://schemas.microsoft.com/office/drawing/2014/main" id="{A033FF6F-7587-44FA-883E-6972195C2481}"/>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A42F8E1E-3BF9-40EC-856B-77ED4C09E1C2}"/>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90EEA924-7202-4DB7-927B-040964002315}"/>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Solve</a:t>
            </a:r>
          </a:p>
        </p:txBody>
      </p:sp>
      <p:sp>
        <p:nvSpPr>
          <p:cNvPr id="21" name="process-detail-6-3">
            <a:extLst xmlns:a="http://schemas.openxmlformats.org/drawingml/2006/main">
              <a:ext uri="{FF2B5EF4-FFF2-40B4-BE49-F238E27FC236}">
                <a16:creationId xmlns:a16="http://schemas.microsoft.com/office/drawing/2014/main" id="{B2C07FF1-0EA3-438A-BB89-D6A3224B5950}"/>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Compute the relaxed optimal cost.</a:t>
            </a:r>
          </a:p>
        </p:txBody>
      </p:sp>
      <p:sp>
        <p:nvSpPr>
          <p:cNvPr id="22" name="process-node-6-4">
            <a:extLst xmlns:a="http://schemas.openxmlformats.org/drawingml/2006/main">
              <a:ext uri="{FF2B5EF4-FFF2-40B4-BE49-F238E27FC236}">
                <a16:creationId xmlns:a16="http://schemas.microsoft.com/office/drawing/2014/main" id="{0E3D0CA3-AF89-4853-88D1-F139A8CD9239}"/>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67DADE26-81AA-40BB-977C-CED905619187}"/>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416A379B-4BE1-4186-9FFE-8FE99EC3637E}"/>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Verify</a:t>
            </a:r>
          </a:p>
        </p:txBody>
      </p:sp>
      <p:sp>
        <p:nvSpPr>
          <p:cNvPr id="25" name="process-detail-6-4">
            <a:extLst xmlns:a="http://schemas.openxmlformats.org/drawingml/2006/main">
              <a:ext uri="{FF2B5EF4-FFF2-40B4-BE49-F238E27FC236}">
                <a16:creationId xmlns:a16="http://schemas.microsoft.com/office/drawing/2014/main" id="{D1C1DB35-55A7-4C65-BC20-1A53A7003AB9}"/>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Check goal value and edge inequalities.</a:t>
            </a:r>
          </a:p>
        </p:txBody>
      </p:sp>
      <p:sp>
        <p:nvSpPr>
          <p:cNvPr id="26" name="process-node-6-5">
            <a:extLst xmlns:a="http://schemas.openxmlformats.org/drawingml/2006/main">
              <a:ext uri="{FF2B5EF4-FFF2-40B4-BE49-F238E27FC236}">
                <a16:creationId xmlns:a16="http://schemas.microsoft.com/office/drawing/2014/main" id="{08C368E9-B0C0-434A-BC56-4AC65A9F8F90}"/>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7890BB97-8DBB-4562-A03B-08389ABED888}"/>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83DAA86B-24F9-4A61-AD37-AC4AA3F74D19}"/>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Measure</a:t>
            </a:r>
          </a:p>
        </p:txBody>
      </p:sp>
      <p:sp>
        <p:nvSpPr>
          <p:cNvPr id="29" name="process-detail-6-5">
            <a:extLst xmlns:a="http://schemas.openxmlformats.org/drawingml/2006/main">
              <a:ext uri="{FF2B5EF4-FFF2-40B4-BE49-F238E27FC236}">
                <a16:creationId xmlns:a16="http://schemas.microsoft.com/office/drawing/2014/main" id="{5A7E3862-7E50-4940-9C93-F5B8D9AD0249}"/>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Compare expansion and runtime empirically.</a:t>
            </a:r>
          </a:p>
        </p:txBody>
      </p:sp>
      <p:sp>
        <p:nvSpPr>
          <p:cNvPr id="30" name="process-takeaway-6">
            <a:extLst xmlns:a="http://schemas.openxmlformats.org/drawingml/2006/main">
              <a:ext uri="{FF2B5EF4-FFF2-40B4-BE49-F238E27FC236}">
                <a16:creationId xmlns:a16="http://schemas.microsoft.com/office/drawing/2014/main" id="{025060F0-16DC-4704-92DB-5E782D09C2A0}"/>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A relaxed optimum is a principled lower bound on the original optimum.</a:t>
            </a:r>
          </a:p>
        </p:txBody>
      </p:sp>
    </p:spTree>
    <p:extLst>
      <p:ext uri="{BB962C8B-B14F-4D97-AF65-F5344CB8AC3E}">
        <p14:creationId xmlns:p14="http://schemas.microsoft.com/office/powerpoint/2010/main" val="5267635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323E3814-218E-46EF-A4A3-B680EDC129A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A-star extends the UCS priority queue</a:t>
            </a:r>
          </a:p>
        </p:txBody>
      </p:sp>
      <p:sp>
        <p:nvSpPr>
          <p:cNvPr id="2" name="title-accent-7">
            <a:extLst xmlns:a="http://schemas.openxmlformats.org/drawingml/2006/main">
              <a:ext uri="{FF2B5EF4-FFF2-40B4-BE49-F238E27FC236}">
                <a16:creationId xmlns:a16="http://schemas.microsoft.com/office/drawing/2014/main" id="{AA04052F-C257-4E03-A3FD-9F1167A1412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C6FB5A9C-6BFE-4221-992F-93A1744F282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7">
            <a:extLst xmlns:a="http://schemas.openxmlformats.org/drawingml/2006/main">
              <a:ext uri="{FF2B5EF4-FFF2-40B4-BE49-F238E27FC236}">
                <a16:creationId xmlns:a16="http://schemas.microsoft.com/office/drawing/2014/main" id="{46BBA8C5-54CD-4FE4-AAE0-18C621A131A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036EB638-F5C1-4FC6-8C8A-8F3400924B35}"/>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4E8F2B6D-A7CA-455B-89D2-261AF02A070E}"/>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A_STAR(problem, h):</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push(root, priority=h(start))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best_g = {start: 0}</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while frontier not empty: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node = pop_min_f()</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node.g != best_g[node.state]: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continue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goal(node.state):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path(node)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child in expand(node):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child.g &lt; best_g.get(child.state, infinity):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best_g[child.state] = child.g</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push(child, child.g + h(child.state))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failure</a:t>
            </a:r>
          </a:p>
        </p:txBody>
      </p:sp>
      <p:sp>
        <p:nvSpPr>
          <p:cNvPr id="8" name="code-rail-title-7">
            <a:extLst xmlns:a="http://schemas.openxmlformats.org/drawingml/2006/main">
              <a:ext uri="{FF2B5EF4-FFF2-40B4-BE49-F238E27FC236}">
                <a16:creationId xmlns:a16="http://schemas.microsoft.com/office/drawing/2014/main" id="{4EA9C2D3-ED2B-4D90-A83C-9280D64B091D}"/>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Critical details</a:t>
            </a:r>
          </a:p>
        </p:txBody>
      </p:sp>
      <p:sp>
        <p:nvSpPr>
          <p:cNvPr id="9" name="code-rail-7-marker-1">
            <a:extLst xmlns:a="http://schemas.openxmlformats.org/drawingml/2006/main">
              <a:ext uri="{FF2B5EF4-FFF2-40B4-BE49-F238E27FC236}">
                <a16:creationId xmlns:a16="http://schemas.microsoft.com/office/drawing/2014/main" id="{1DC5ED92-7589-46EF-BBD6-AA30013D0EEF}"/>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B5E24F21-A7A1-431A-82C4-89007E12AB65}"/>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Store best g by state.</a:t>
            </a:r>
          </a:p>
        </p:txBody>
      </p:sp>
      <p:sp>
        <p:nvSpPr>
          <p:cNvPr id="11" name="code-rail-7-marker-2">
            <a:extLst xmlns:a="http://schemas.openxmlformats.org/drawingml/2006/main">
              <a:ext uri="{FF2B5EF4-FFF2-40B4-BE49-F238E27FC236}">
                <a16:creationId xmlns:a16="http://schemas.microsoft.com/office/drawing/2014/main" id="{E1DA4E20-0190-4C90-A1D9-E9B7EA2B2B74}"/>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37EB42CC-5F7B-4C86-8F23-093D113F635F}"/>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Skip stale queue entries.</a:t>
            </a:r>
          </a:p>
        </p:txBody>
      </p:sp>
      <p:sp>
        <p:nvSpPr>
          <p:cNvPr id="13" name="code-rail-7-marker-3">
            <a:extLst xmlns:a="http://schemas.openxmlformats.org/drawingml/2006/main">
              <a:ext uri="{FF2B5EF4-FFF2-40B4-BE49-F238E27FC236}">
                <a16:creationId xmlns:a16="http://schemas.microsoft.com/office/drawing/2014/main" id="{FD57C786-69F2-4276-A09B-9ED9187A9B0B}"/>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D99CF445-0EE0-4879-8D6E-3B379A791DBE}"/>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h(goal)=0.</a:t>
            </a:r>
          </a:p>
        </p:txBody>
      </p:sp>
      <p:sp>
        <p:nvSpPr>
          <p:cNvPr id="15" name="code-rail-7-marker-4">
            <a:extLst xmlns:a="http://schemas.openxmlformats.org/drawingml/2006/main">
              <a:ext uri="{FF2B5EF4-FFF2-40B4-BE49-F238E27FC236}">
                <a16:creationId xmlns:a16="http://schemas.microsoft.com/office/drawing/2014/main" id="{39FAFB53-CBE3-46F9-A5AC-8E15781BDA3F}"/>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A0FB0409-222B-4C62-9039-A5AD622A2D81}"/>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Break ties deterministically.</a:t>
            </a:r>
          </a:p>
        </p:txBody>
      </p:sp>
    </p:spTree>
    <p:extLst>
      <p:ext uri="{BB962C8B-B14F-4D97-AF65-F5344CB8AC3E}">
        <p14:creationId xmlns:p14="http://schemas.microsoft.com/office/powerpoint/2010/main" val="1448647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6E91ADE6-6EAD-4B7D-9056-79D3643F79E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A-star trace</a:t>
            </a:r>
          </a:p>
        </p:txBody>
      </p:sp>
      <p:sp>
        <p:nvSpPr>
          <p:cNvPr id="2" name="title-accent-8">
            <a:extLst xmlns:a="http://schemas.openxmlformats.org/drawingml/2006/main">
              <a:ext uri="{FF2B5EF4-FFF2-40B4-BE49-F238E27FC236}">
                <a16:creationId xmlns:a16="http://schemas.microsoft.com/office/drawing/2014/main" id="{CB107A17-06F0-4253-9040-BF06EFF8032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7238A8B2-AC0C-487F-A3A2-92993E7C267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8">
            <a:extLst xmlns:a="http://schemas.openxmlformats.org/drawingml/2006/main">
              <a:ext uri="{FF2B5EF4-FFF2-40B4-BE49-F238E27FC236}">
                <a16:creationId xmlns:a16="http://schemas.microsoft.com/office/drawing/2014/main" id="{02176B20-82AF-4AEB-97F8-146D28B5601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35D330F4-F3BF-49CB-9889-1CC036D78602}"/>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1903D152-9F22-47DE-A7EE-4C236F0DF71F}"/>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 reaches A with g=2,h=3 and B with g=1,h=5; A reaches G with cost 3.</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EE7B9B94-6F1F-4800-A0F0-A3FE324E82DB}"/>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3ACFF8E1-ED58-4BEB-BA7D-C14FF2F7EA70}"/>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Insert A with f=5 and B with f=6.</a:t>
            </a:r>
          </a:p>
        </p:txBody>
      </p:sp>
      <p:sp>
        <p:nvSpPr>
          <p:cNvPr id="11" name="example-step-8-marker-2">
            <a:extLst xmlns:a="http://schemas.openxmlformats.org/drawingml/2006/main">
              <a:ext uri="{FF2B5EF4-FFF2-40B4-BE49-F238E27FC236}">
                <a16:creationId xmlns:a16="http://schemas.microsoft.com/office/drawing/2014/main" id="{D0AB9398-ED4C-4793-AD6D-90D53F1B523F}"/>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766C5B5A-7AAB-49C0-A2E3-FAFC0867AD0F}"/>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A because f is smaller.</a:t>
            </a:r>
          </a:p>
        </p:txBody>
      </p:sp>
      <p:sp>
        <p:nvSpPr>
          <p:cNvPr id="13" name="example-step-8-marker-3">
            <a:extLst xmlns:a="http://schemas.openxmlformats.org/drawingml/2006/main">
              <a:ext uri="{FF2B5EF4-FFF2-40B4-BE49-F238E27FC236}">
                <a16:creationId xmlns:a16="http://schemas.microsoft.com/office/drawing/2014/main" id="{8B900C7C-E827-4FCD-83A1-CC0B4AF04F1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4E919BB0-2DAB-492D-B4D8-FA78185CF37A}"/>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Generate G with g=5,h=0,f=5.</a:t>
            </a:r>
          </a:p>
        </p:txBody>
      </p:sp>
      <p:sp>
        <p:nvSpPr>
          <p:cNvPr id="15" name="example-step-8-marker-4">
            <a:extLst xmlns:a="http://schemas.openxmlformats.org/drawingml/2006/main">
              <a:ext uri="{FF2B5EF4-FFF2-40B4-BE49-F238E27FC236}">
                <a16:creationId xmlns:a16="http://schemas.microsoft.com/office/drawing/2014/main" id="{F7B05039-D149-4FC9-8CD4-ED13FFBDD084}"/>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4D1AE24E-9589-4ACE-B324-163111CDBA1F}"/>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Remove G before B and return S-A-G.</a:t>
            </a:r>
          </a:p>
        </p:txBody>
      </p:sp>
      <p:sp>
        <p:nvSpPr>
          <p:cNvPr id="17" name="example-result-panel-8">
            <a:extLst xmlns:a="http://schemas.openxmlformats.org/drawingml/2006/main">
              <a:ext uri="{FF2B5EF4-FFF2-40B4-BE49-F238E27FC236}">
                <a16:creationId xmlns:a16="http://schemas.microsoft.com/office/drawing/2014/main" id="{28FF039C-4179-4C76-9574-245A06FABA4A}"/>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0F4F50C4-7686-4E1A-B8DA-19F4592D9751}"/>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A-star returns cost 5; the frontier still contains B with f=6.</a:t>
            </a:r>
          </a:p>
        </p:txBody>
      </p:sp>
    </p:spTree>
    <p:extLst>
      <p:ext uri="{BB962C8B-B14F-4D97-AF65-F5344CB8AC3E}">
        <p14:creationId xmlns:p14="http://schemas.microsoft.com/office/powerpoint/2010/main" val="8593705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CF71A044-BA2E-41B0-9C9B-7B9C8219184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Heuristic properties answer different questions</a:t>
            </a:r>
          </a:p>
        </p:txBody>
      </p:sp>
      <p:sp>
        <p:nvSpPr>
          <p:cNvPr id="2" name="title-accent-9">
            <a:extLst xmlns:a="http://schemas.openxmlformats.org/drawingml/2006/main">
              <a:ext uri="{FF2B5EF4-FFF2-40B4-BE49-F238E27FC236}">
                <a16:creationId xmlns:a16="http://schemas.microsoft.com/office/drawing/2014/main" id="{36680493-B8C4-448D-9CE1-00A3DD7D64B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B02AC79B-EC0B-4DC3-86BF-BA7ADB129A2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9">
            <a:extLst xmlns:a="http://schemas.openxmlformats.org/drawingml/2006/main">
              <a:ext uri="{FF2B5EF4-FFF2-40B4-BE49-F238E27FC236}">
                <a16:creationId xmlns:a16="http://schemas.microsoft.com/office/drawing/2014/main" id="{E1EF45B7-FDA9-40C8-B7B7-F5851282E0A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527B0AE6-9099-42A2-B681-1ADB02C444B3}"/>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Admissible</a:t>
            </a:r>
          </a:p>
        </p:txBody>
      </p:sp>
      <p:sp>
        <p:nvSpPr>
          <p:cNvPr id="7" name="comparison-tagline-9-1">
            <a:extLst xmlns:a="http://schemas.openxmlformats.org/drawingml/2006/main">
              <a:ext uri="{FF2B5EF4-FFF2-40B4-BE49-F238E27FC236}">
                <a16:creationId xmlns:a16="http://schemas.microsoft.com/office/drawing/2014/main" id="{CE93F047-B4E6-42C0-810D-401DDF2DE868}"/>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Node lower bound</a:t>
            </a:r>
          </a:p>
        </p:txBody>
      </p:sp>
      <p:sp>
        <p:nvSpPr>
          <p:cNvPr id="8" name="comparison-bullet-9-1-marker-1">
            <a:extLst xmlns:a="http://schemas.openxmlformats.org/drawingml/2006/main">
              <a:ext uri="{FF2B5EF4-FFF2-40B4-BE49-F238E27FC236}">
                <a16:creationId xmlns:a16="http://schemas.microsoft.com/office/drawing/2014/main" id="{0FFD6237-CC33-40FD-87FF-3CAEBB49B90F}"/>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87F8D98A-C1E5-4883-91A6-EBB9FA6D4D77}"/>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0 &lt;= h(n) &lt;= h*(n).</a:t>
            </a:r>
          </a:p>
        </p:txBody>
      </p:sp>
      <p:sp>
        <p:nvSpPr>
          <p:cNvPr id="10" name="comparison-bullet-9-1-marker-2">
            <a:extLst xmlns:a="http://schemas.openxmlformats.org/drawingml/2006/main">
              <a:ext uri="{FF2B5EF4-FFF2-40B4-BE49-F238E27FC236}">
                <a16:creationId xmlns:a16="http://schemas.microsoft.com/office/drawing/2014/main" id="{B3A4589C-DE4C-4E98-8B2C-9A40D6AA10A8}"/>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C026C9D1-BE32-4E5E-959E-4555B049FB4F}"/>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Never overestimates.</a:t>
            </a:r>
          </a:p>
        </p:txBody>
      </p:sp>
      <p:sp>
        <p:nvSpPr>
          <p:cNvPr id="12" name="comparison-bullet-9-1-marker-3">
            <a:extLst xmlns:a="http://schemas.openxmlformats.org/drawingml/2006/main">
              <a:ext uri="{FF2B5EF4-FFF2-40B4-BE49-F238E27FC236}">
                <a16:creationId xmlns:a16="http://schemas.microsoft.com/office/drawing/2014/main" id="{FC45CD29-8244-4A26-B0B2-A30E9599B42E}"/>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66C08CBE-1200-4C20-911D-433FA0733E88}"/>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Supports A-star tree-search proof.</a:t>
            </a:r>
          </a:p>
        </p:txBody>
      </p:sp>
      <p:sp>
        <p:nvSpPr>
          <p:cNvPr id="14" name="comparison-bullet-9-1-marker-4">
            <a:extLst xmlns:a="http://schemas.openxmlformats.org/drawingml/2006/main">
              <a:ext uri="{FF2B5EF4-FFF2-40B4-BE49-F238E27FC236}">
                <a16:creationId xmlns:a16="http://schemas.microsoft.com/office/drawing/2014/main" id="{3C7F3C1B-5509-4B0C-876D-7DD4ECBA53A2}"/>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FBD0EB98-D752-4703-AB0D-E848CD2AC50D}"/>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h(goal)=0 follows.</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360E2F06-D800-4D3A-8C19-54F9EDBD669B}"/>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Consistent</a:t>
            </a:r>
          </a:p>
        </p:txBody>
      </p:sp>
      <p:sp>
        <p:nvSpPr>
          <p:cNvPr id="18" name="comparison-tagline-9-2">
            <a:extLst xmlns:a="http://schemas.openxmlformats.org/drawingml/2006/main">
              <a:ext uri="{FF2B5EF4-FFF2-40B4-BE49-F238E27FC236}">
                <a16:creationId xmlns:a16="http://schemas.microsoft.com/office/drawing/2014/main" id="{722FAD9A-D81D-4F40-98F5-BCDC8D744247}"/>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Edge lower bound</a:t>
            </a:r>
          </a:p>
        </p:txBody>
      </p:sp>
      <p:sp>
        <p:nvSpPr>
          <p:cNvPr id="19" name="comparison-bullet-9-2-marker-1">
            <a:extLst xmlns:a="http://schemas.openxmlformats.org/drawingml/2006/main">
              <a:ext uri="{FF2B5EF4-FFF2-40B4-BE49-F238E27FC236}">
                <a16:creationId xmlns:a16="http://schemas.microsoft.com/office/drawing/2014/main" id="{4F1578C6-3650-4ED6-A24E-F13E8278B867}"/>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B25327E4-B41C-45B0-9739-6618EC08074A}"/>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h(n) &lt;= c(n,n')+h(n').</a:t>
            </a:r>
          </a:p>
        </p:txBody>
      </p:sp>
      <p:sp>
        <p:nvSpPr>
          <p:cNvPr id="21" name="comparison-bullet-9-2-marker-2">
            <a:extLst xmlns:a="http://schemas.openxmlformats.org/drawingml/2006/main">
              <a:ext uri="{FF2B5EF4-FFF2-40B4-BE49-F238E27FC236}">
                <a16:creationId xmlns:a16="http://schemas.microsoft.com/office/drawing/2014/main" id="{A220CB6B-F175-49A3-AA86-AE6C83295AAB}"/>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921ECD59-977F-43A6-B84D-4A1FBFDC5E4A}"/>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Triangle inequality.</a:t>
            </a:r>
          </a:p>
        </p:txBody>
      </p:sp>
      <p:sp>
        <p:nvSpPr>
          <p:cNvPr id="23" name="comparison-bullet-9-2-marker-3">
            <a:extLst xmlns:a="http://schemas.openxmlformats.org/drawingml/2006/main">
              <a:ext uri="{FF2B5EF4-FFF2-40B4-BE49-F238E27FC236}">
                <a16:creationId xmlns:a16="http://schemas.microsoft.com/office/drawing/2014/main" id="{29B294C2-3C4A-4A7C-8170-F1C8E4A7F477}"/>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21F531C6-B0A2-4DCC-9ABE-85BD2C6824AF}"/>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Implies admissibility.</a:t>
            </a:r>
          </a:p>
        </p:txBody>
      </p:sp>
      <p:sp>
        <p:nvSpPr>
          <p:cNvPr id="25" name="comparison-bullet-9-2-marker-4">
            <a:extLst xmlns:a="http://schemas.openxmlformats.org/drawingml/2006/main">
              <a:ext uri="{FF2B5EF4-FFF2-40B4-BE49-F238E27FC236}">
                <a16:creationId xmlns:a16="http://schemas.microsoft.com/office/drawing/2014/main" id="{D7FBB93C-9BA5-4BFE-81EE-44EB6545C5DA}"/>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95AD8577-911C-4221-9719-018BF1563BE2}"/>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 does not decrease along paths.</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550411C7-8EF3-499F-8C2C-14251DE27737}"/>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Dominant</a:t>
            </a:r>
          </a:p>
        </p:txBody>
      </p:sp>
      <p:sp>
        <p:nvSpPr>
          <p:cNvPr id="29" name="comparison-tagline-9-3">
            <a:extLst xmlns:a="http://schemas.openxmlformats.org/drawingml/2006/main">
              <a:ext uri="{FF2B5EF4-FFF2-40B4-BE49-F238E27FC236}">
                <a16:creationId xmlns:a16="http://schemas.microsoft.com/office/drawing/2014/main" id="{530B067F-3749-490D-B9AB-0990D1625A42}"/>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Information comparison</a:t>
            </a:r>
          </a:p>
        </p:txBody>
      </p:sp>
      <p:sp>
        <p:nvSpPr>
          <p:cNvPr id="30" name="comparison-bullet-9-3-marker-1">
            <a:extLst xmlns:a="http://schemas.openxmlformats.org/drawingml/2006/main">
              <a:ext uri="{FF2B5EF4-FFF2-40B4-BE49-F238E27FC236}">
                <a16:creationId xmlns:a16="http://schemas.microsoft.com/office/drawing/2014/main" id="{500ACB20-B500-4B8D-A9F9-52B43A663139}"/>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D2326CC7-254C-4787-80A0-86E3120DC71A}"/>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h2(n) &gt;= h1(n).</a:t>
            </a:r>
          </a:p>
        </p:txBody>
      </p:sp>
      <p:sp>
        <p:nvSpPr>
          <p:cNvPr id="32" name="comparison-bullet-9-3-marker-2">
            <a:extLst xmlns:a="http://schemas.openxmlformats.org/drawingml/2006/main">
              <a:ext uri="{FF2B5EF4-FFF2-40B4-BE49-F238E27FC236}">
                <a16:creationId xmlns:a16="http://schemas.microsoft.com/office/drawing/2014/main" id="{181F4B31-0DD2-4C03-8F9F-96A4AFA8DE7E}"/>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535E1694-5B1C-4004-B351-5A8043EF2CDF}"/>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Both remain admissible.</a:t>
            </a:r>
          </a:p>
        </p:txBody>
      </p:sp>
      <p:sp>
        <p:nvSpPr>
          <p:cNvPr id="34" name="comparison-bullet-9-3-marker-3">
            <a:extLst xmlns:a="http://schemas.openxmlformats.org/drawingml/2006/main">
              <a:ext uri="{FF2B5EF4-FFF2-40B4-BE49-F238E27FC236}">
                <a16:creationId xmlns:a16="http://schemas.microsoft.com/office/drawing/2014/main" id="{ECE0D6ED-D484-41CE-8647-AFBA5C0E07B5}"/>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A61F70C5-B5DD-43C3-B4FF-41C4FFE64852}"/>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h2 is at least as informed.</a:t>
            </a:r>
          </a:p>
        </p:txBody>
      </p:sp>
      <p:sp>
        <p:nvSpPr>
          <p:cNvPr id="36" name="comparison-bullet-9-3-marker-4">
            <a:extLst xmlns:a="http://schemas.openxmlformats.org/drawingml/2006/main">
              <a:ext uri="{FF2B5EF4-FFF2-40B4-BE49-F238E27FC236}">
                <a16:creationId xmlns:a16="http://schemas.microsoft.com/office/drawing/2014/main" id="{21A6E07E-37A9-4CCA-9237-2A68D39F4EF3}"/>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3558B9A0-AD08-4D32-B3D4-74DD5C7FDC33}"/>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May reduce expansion.</a:t>
            </a:r>
          </a:p>
        </p:txBody>
      </p:sp>
    </p:spTree>
    <p:extLst>
      <p:ext uri="{BB962C8B-B14F-4D97-AF65-F5344CB8AC3E}">
        <p14:creationId xmlns:p14="http://schemas.microsoft.com/office/powerpoint/2010/main" val="1667446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33F7F5B3-9088-401D-ADB3-CFFC3B00C6F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test consistency</a:t>
            </a:r>
          </a:p>
        </p:txBody>
      </p:sp>
      <p:sp>
        <p:nvSpPr>
          <p:cNvPr id="2" name="title-accent-10">
            <a:extLst xmlns:a="http://schemas.openxmlformats.org/drawingml/2006/main">
              <a:ext uri="{FF2B5EF4-FFF2-40B4-BE49-F238E27FC236}">
                <a16:creationId xmlns:a16="http://schemas.microsoft.com/office/drawing/2014/main" id="{2D650BA7-2B41-4B15-8FF7-701F9694F9A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8B257D7F-615B-46E9-8663-A4173452DBE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0">
            <a:extLst xmlns:a="http://schemas.openxmlformats.org/drawingml/2006/main">
              <a:ext uri="{FF2B5EF4-FFF2-40B4-BE49-F238E27FC236}">
                <a16:creationId xmlns:a16="http://schemas.microsoft.com/office/drawing/2014/main" id="{EF6E0F83-2912-4FCA-8F05-D0600A26576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FE9AC2D3-9620-474C-A9FA-55937C80D124}"/>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13B911C6-ED94-4C3D-AF86-8D46D1BBE899}"/>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For an edge A to B with cost 2, h(A)=5 and h(B)=2. Is the heuristic consistent on this edge?</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AC602FCB-D7E6-4F33-AC99-604BC0566381}"/>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1ACF1A44-65D9-4234-B354-18EE2D5155E5}"/>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Write the consistency inequality.</a:t>
            </a:r>
          </a:p>
        </p:txBody>
      </p:sp>
      <p:sp>
        <p:nvSpPr>
          <p:cNvPr id="11" name="checkpoint-prompt-number-10-2">
            <a:extLst xmlns:a="http://schemas.openxmlformats.org/drawingml/2006/main">
              <a:ext uri="{FF2B5EF4-FFF2-40B4-BE49-F238E27FC236}">
                <a16:creationId xmlns:a16="http://schemas.microsoft.com/office/drawing/2014/main" id="{2CBB92D1-97F9-456C-B4CC-2249E5BB2CC4}"/>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B4FD8379-209F-4F92-A21F-CBA0D401CEAD}"/>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Substitute the three values.</a:t>
            </a:r>
          </a:p>
        </p:txBody>
      </p:sp>
      <p:sp>
        <p:nvSpPr>
          <p:cNvPr id="13" name="checkpoint-prompt-number-10-3">
            <a:extLst xmlns:a="http://schemas.openxmlformats.org/drawingml/2006/main">
              <a:ext uri="{FF2B5EF4-FFF2-40B4-BE49-F238E27FC236}">
                <a16:creationId xmlns:a16="http://schemas.microsoft.com/office/drawing/2014/main" id="{2C0CA959-B56D-44C1-9A95-CCE5B86D42A7}"/>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110BF80C-0CC2-41E8-B23C-24E5AB4F6718}"/>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whether admissibility alone can be inferred.</a:t>
            </a:r>
          </a:p>
        </p:txBody>
      </p:sp>
    </p:spTree>
    <p:extLst>
      <p:ext uri="{BB962C8B-B14F-4D97-AF65-F5344CB8AC3E}">
        <p14:creationId xmlns:p14="http://schemas.microsoft.com/office/powerpoint/2010/main" val="19814895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B9E93760-DB8F-45DD-8A53-E542E174D4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Manhattan and Euclidean distance encode relaxations</a:t>
            </a:r>
          </a:p>
        </p:txBody>
      </p:sp>
      <p:sp>
        <p:nvSpPr>
          <p:cNvPr id="2" name="title-accent-11">
            <a:extLst xmlns:a="http://schemas.openxmlformats.org/drawingml/2006/main">
              <a:ext uri="{FF2B5EF4-FFF2-40B4-BE49-F238E27FC236}">
                <a16:creationId xmlns:a16="http://schemas.microsoft.com/office/drawing/2014/main" id="{71A461B8-A077-47AB-BBA3-7A32F1C8F07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6D182131-F787-4299-B171-4A17A621BA2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1">
            <a:extLst xmlns:a="http://schemas.openxmlformats.org/drawingml/2006/main">
              <a:ext uri="{FF2B5EF4-FFF2-40B4-BE49-F238E27FC236}">
                <a16:creationId xmlns:a16="http://schemas.microsoft.com/office/drawing/2014/main" id="{CD1DEAD5-0A11-4A29-92A5-9F60325EF88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FEB3DD8D-F079-4731-95D9-0820610E8135}"/>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Manhattan distance</a:t>
            </a:r>
          </a:p>
        </p:txBody>
      </p:sp>
      <p:sp>
        <p:nvSpPr>
          <p:cNvPr id="8" name="right-title-11">
            <a:extLst xmlns:a="http://schemas.openxmlformats.org/drawingml/2006/main">
              <a:ext uri="{FF2B5EF4-FFF2-40B4-BE49-F238E27FC236}">
                <a16:creationId xmlns:a16="http://schemas.microsoft.com/office/drawing/2014/main" id="{4F56566E-D32F-45A6-8E6A-68443F71D980}"/>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Euclidean distance</a:t>
            </a:r>
          </a:p>
        </p:txBody>
      </p:sp>
      <p:sp>
        <p:nvSpPr>
          <p:cNvPr id="9" name="left-bullet-11-marker-1">
            <a:extLst xmlns:a="http://schemas.openxmlformats.org/drawingml/2006/main">
              <a:ext uri="{FF2B5EF4-FFF2-40B4-BE49-F238E27FC236}">
                <a16:creationId xmlns:a16="http://schemas.microsoft.com/office/drawing/2014/main" id="{B9F5E293-4CFB-494A-A24A-D0749496B69A}"/>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7AAF973E-FEE7-4165-A024-CDA2364601F2}"/>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|dx|+|dy|.</a:t>
            </a:r>
          </a:p>
        </p:txBody>
      </p:sp>
      <p:sp>
        <p:nvSpPr>
          <p:cNvPr id="11" name="left-bullet-11-marker-2">
            <a:extLst xmlns:a="http://schemas.openxmlformats.org/drawingml/2006/main">
              <a:ext uri="{FF2B5EF4-FFF2-40B4-BE49-F238E27FC236}">
                <a16:creationId xmlns:a16="http://schemas.microsoft.com/office/drawing/2014/main" id="{3ACD74DB-2035-4967-8B61-19428ABCF4C7}"/>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6061EF18-CC97-4364-A5CA-E1D55034D473}"/>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Exact without obstacles on four-neighbor unit grids.</a:t>
            </a:r>
          </a:p>
        </p:txBody>
      </p:sp>
      <p:sp>
        <p:nvSpPr>
          <p:cNvPr id="13" name="left-bullet-11-marker-3">
            <a:extLst xmlns:a="http://schemas.openxmlformats.org/drawingml/2006/main">
              <a:ext uri="{FF2B5EF4-FFF2-40B4-BE49-F238E27FC236}">
                <a16:creationId xmlns:a16="http://schemas.microsoft.com/office/drawing/2014/main" id="{67C0B39D-C38D-493D-9CEF-82A236757431}"/>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F3F8D5BD-D97D-4973-841B-5EF573691C66}"/>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Consistent for unit orthogonal moves.</a:t>
            </a:r>
          </a:p>
        </p:txBody>
      </p:sp>
      <p:sp>
        <p:nvSpPr>
          <p:cNvPr id="15" name="left-bullet-11-marker-4">
            <a:extLst xmlns:a="http://schemas.openxmlformats.org/drawingml/2006/main">
              <a:ext uri="{FF2B5EF4-FFF2-40B4-BE49-F238E27FC236}">
                <a16:creationId xmlns:a16="http://schemas.microsoft.com/office/drawing/2014/main" id="{2B131CCF-2A80-40E7-BE10-65DC66BBE59C}"/>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6042CD73-1344-4B1A-A771-786620A61A78}"/>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overestimate if diagonal moves cost 1.</a:t>
            </a:r>
          </a:p>
        </p:txBody>
      </p:sp>
      <p:sp>
        <p:nvSpPr>
          <p:cNvPr id="17" name="right-bullet-11-marker-1">
            <a:extLst xmlns:a="http://schemas.openxmlformats.org/drawingml/2006/main">
              <a:ext uri="{FF2B5EF4-FFF2-40B4-BE49-F238E27FC236}">
                <a16:creationId xmlns:a16="http://schemas.microsoft.com/office/drawing/2014/main" id="{397F40FA-2CBD-4CDD-89D8-E31739FED77B}"/>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0D334339-B96A-4F6D-AFA9-090F78E374FC}"/>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sqrt(dx^2+dy^2).</a:t>
            </a:r>
          </a:p>
        </p:txBody>
      </p:sp>
      <p:sp>
        <p:nvSpPr>
          <p:cNvPr id="19" name="right-bullet-11-marker-2">
            <a:extLst xmlns:a="http://schemas.openxmlformats.org/drawingml/2006/main">
              <a:ext uri="{FF2B5EF4-FFF2-40B4-BE49-F238E27FC236}">
                <a16:creationId xmlns:a16="http://schemas.microsoft.com/office/drawing/2014/main" id="{00F42FE0-9DA8-4E30-9225-FE8ACDCE419C}"/>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64AF8810-470E-431B-A8DF-AE49C57F6A94}"/>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Straight-line relaxed path.</a:t>
            </a:r>
          </a:p>
        </p:txBody>
      </p:sp>
      <p:sp>
        <p:nvSpPr>
          <p:cNvPr id="21" name="right-bullet-11-marker-3">
            <a:extLst xmlns:a="http://schemas.openxmlformats.org/drawingml/2006/main">
              <a:ext uri="{FF2B5EF4-FFF2-40B4-BE49-F238E27FC236}">
                <a16:creationId xmlns:a16="http://schemas.microsoft.com/office/drawing/2014/main" id="{4CBA1976-040E-47EF-AB2D-9170E2B8023E}"/>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2F2393AD-4121-45D8-8B8C-75D017D98AC9}"/>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Fits continuous or geometric motion.</a:t>
            </a:r>
          </a:p>
        </p:txBody>
      </p:sp>
      <p:sp>
        <p:nvSpPr>
          <p:cNvPr id="23" name="right-bullet-11-marker-4">
            <a:extLst xmlns:a="http://schemas.openxmlformats.org/drawingml/2006/main">
              <a:ext uri="{FF2B5EF4-FFF2-40B4-BE49-F238E27FC236}">
                <a16:creationId xmlns:a16="http://schemas.microsoft.com/office/drawing/2014/main" id="{86B5EC5B-A94F-426D-9D5E-CB7B36930AE2}"/>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5E05D8C0-A395-437B-B91F-8CAB47A7DCFF}"/>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Often weaker on four-neighbor grids.</a:t>
            </a:r>
          </a:p>
        </p:txBody>
      </p:sp>
    </p:spTree>
    <p:extLst>
      <p:ext uri="{BB962C8B-B14F-4D97-AF65-F5344CB8AC3E}">
        <p14:creationId xmlns:p14="http://schemas.microsoft.com/office/powerpoint/2010/main" val="6446596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FCC30838-58F9-483C-974F-13A41461B56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A-star's lower-bound argument protects the optimum</a:t>
            </a:r>
          </a:p>
        </p:txBody>
      </p:sp>
      <p:sp>
        <p:nvSpPr>
          <p:cNvPr id="2" name="title-accent-12">
            <a:extLst xmlns:a="http://schemas.openxmlformats.org/drawingml/2006/main">
              <a:ext uri="{FF2B5EF4-FFF2-40B4-BE49-F238E27FC236}">
                <a16:creationId xmlns:a16="http://schemas.microsoft.com/office/drawing/2014/main" id="{5DFA5B16-3260-4357-B775-5AA03AFC5FB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0B1796FE-AEF8-4240-8D6E-0FFAE0C84A2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2">
            <a:extLst xmlns:a="http://schemas.openxmlformats.org/drawingml/2006/main">
              <a:ext uri="{FF2B5EF4-FFF2-40B4-BE49-F238E27FC236}">
                <a16:creationId xmlns:a16="http://schemas.microsoft.com/office/drawing/2014/main" id="{37CF8B49-CBA1-4D60-99A1-A7BFE34DCAD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F8957ABE-3D4E-473A-BED9-B8625838E1F9}"/>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955B04CC-9C15-4B54-9CDC-2BA79267580F}"/>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For optimal path node n: f(n)=g(n)+h(n) &lt;= g(n)+h*(n)=C*</a:t>
            </a:r>
          </a:p>
        </p:txBody>
      </p:sp>
      <p:sp>
        <p:nvSpPr>
          <p:cNvPr id="8" name="formula-definition-12-marker-1">
            <a:extLst xmlns:a="http://schemas.openxmlformats.org/drawingml/2006/main">
              <a:ext uri="{FF2B5EF4-FFF2-40B4-BE49-F238E27FC236}">
                <a16:creationId xmlns:a16="http://schemas.microsoft.com/office/drawing/2014/main" id="{40C96B59-7E74-471F-8BE2-C7AFA72AEA9D}"/>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0630D55D-CEA6-40CA-8471-A977986A61DB}"/>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 is optimal solution cost.</a:t>
            </a:r>
          </a:p>
        </p:txBody>
      </p:sp>
      <p:sp>
        <p:nvSpPr>
          <p:cNvPr id="10" name="formula-definition-12-marker-2">
            <a:extLst xmlns:a="http://schemas.openxmlformats.org/drawingml/2006/main">
              <a:ext uri="{FF2B5EF4-FFF2-40B4-BE49-F238E27FC236}">
                <a16:creationId xmlns:a16="http://schemas.microsoft.com/office/drawing/2014/main" id="{B160F113-DD9E-4158-944F-F29ABE113F68}"/>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CBD4F973-DBA7-48B1-AA33-72CDE9C0859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Admissibility supplies h(n) &lt;= h*(n).</a:t>
            </a:r>
          </a:p>
        </p:txBody>
      </p:sp>
      <p:sp>
        <p:nvSpPr>
          <p:cNvPr id="12" name="formula-definition-12-marker-3">
            <a:extLst xmlns:a="http://schemas.openxmlformats.org/drawingml/2006/main">
              <a:ext uri="{FF2B5EF4-FFF2-40B4-BE49-F238E27FC236}">
                <a16:creationId xmlns:a16="http://schemas.microsoft.com/office/drawing/2014/main" id="{A06FD41A-B02E-45DE-9555-0D263279672D}"/>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3F463F67-393E-4AF2-B83A-58855CCDCF67}"/>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suboptimal goal G has f(G)=g(G)&gt;C*.</a:t>
            </a:r>
          </a:p>
        </p:txBody>
      </p:sp>
      <p:sp>
        <p:nvSpPr>
          <p:cNvPr id="14" name="formula-definition-12-marker-4">
            <a:extLst xmlns:a="http://schemas.openxmlformats.org/drawingml/2006/main">
              <a:ext uri="{FF2B5EF4-FFF2-40B4-BE49-F238E27FC236}">
                <a16:creationId xmlns:a16="http://schemas.microsoft.com/office/drawing/2014/main" id="{8961156A-4FAF-4A70-9E83-BA66BDCD4E39}"/>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148F15B6-2D96-4A50-9540-F14058C2D3A9}"/>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Minimum-f removal selects an optimal-path node first.</a:t>
            </a:r>
          </a:p>
        </p:txBody>
      </p:sp>
      <p:sp>
        <p:nvSpPr>
          <p:cNvPr id="16" name="formula-implication-panel-12">
            <a:extLst xmlns:a="http://schemas.openxmlformats.org/drawingml/2006/main">
              <a:ext uri="{FF2B5EF4-FFF2-40B4-BE49-F238E27FC236}">
                <a16:creationId xmlns:a16="http://schemas.microsoft.com/office/drawing/2014/main" id="{7858949D-3365-49D3-A73D-2A06B39DFF15}"/>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59278F31-3794-425B-A109-CA262C82987B}"/>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0DD956A4-E683-4E6C-AC70-774131C055C5}"/>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suboptimal goal cannot be removed while an optimal-path frontier node remains.</a:t>
            </a:r>
          </a:p>
        </p:txBody>
      </p:sp>
    </p:spTree>
    <p:extLst>
      <p:ext uri="{BB962C8B-B14F-4D97-AF65-F5344CB8AC3E}">
        <p14:creationId xmlns:p14="http://schemas.microsoft.com/office/powerpoint/2010/main" val="16140980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DFEBA77B-C538-4EB7-A28E-54063282A5E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Manhattan consistency follows from one move</a:t>
            </a:r>
          </a:p>
        </p:txBody>
      </p:sp>
      <p:sp>
        <p:nvSpPr>
          <p:cNvPr id="2" name="title-accent-13">
            <a:extLst xmlns:a="http://schemas.openxmlformats.org/drawingml/2006/main">
              <a:ext uri="{FF2B5EF4-FFF2-40B4-BE49-F238E27FC236}">
                <a16:creationId xmlns:a16="http://schemas.microsoft.com/office/drawing/2014/main" id="{276A1F02-4E99-41E0-8AF4-389E495E51D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7A618421-8B32-4460-878C-44187DDB0D4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3">
            <a:extLst xmlns:a="http://schemas.openxmlformats.org/drawingml/2006/main">
              <a:ext uri="{FF2B5EF4-FFF2-40B4-BE49-F238E27FC236}">
                <a16:creationId xmlns:a16="http://schemas.microsoft.com/office/drawing/2014/main" id="{BDD73654-DB84-4813-959F-5CD95268AD5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6075DF02-820C-4E97-911B-1CDA13C4555D}"/>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19BDC5E3-EED0-4C35-83DB-F93B58DDC3E4}"/>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legal grid move changes exactly one coordinate by one and costs 1.</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F7C1766F-5A0D-44D0-AD60-42DEF3B678AB}"/>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71F3C7C6-5CF2-4370-9366-3894CF792E8B}"/>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Let h be Manhattan distance to the goal.</a:t>
            </a:r>
          </a:p>
        </p:txBody>
      </p:sp>
      <p:sp>
        <p:nvSpPr>
          <p:cNvPr id="11" name="example-step-13-marker-2">
            <a:extLst xmlns:a="http://schemas.openxmlformats.org/drawingml/2006/main">
              <a:ext uri="{FF2B5EF4-FFF2-40B4-BE49-F238E27FC236}">
                <a16:creationId xmlns:a16="http://schemas.microsoft.com/office/drawing/2014/main" id="{8E5E53A5-D043-4B0D-A511-2AC50194E5BA}"/>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C007C7B6-D09E-4311-910E-904ABCE66FF1}"/>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 move changes h by at most 1.</a:t>
            </a:r>
          </a:p>
        </p:txBody>
      </p:sp>
      <p:sp>
        <p:nvSpPr>
          <p:cNvPr id="13" name="example-step-13-marker-3">
            <a:extLst xmlns:a="http://schemas.openxmlformats.org/drawingml/2006/main">
              <a:ext uri="{FF2B5EF4-FFF2-40B4-BE49-F238E27FC236}">
                <a16:creationId xmlns:a16="http://schemas.microsoft.com/office/drawing/2014/main" id="{EC2C8A79-0FB2-449D-BA82-3CC55B09E94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591C5ECC-8BB5-4E72-AB07-952A47A22E89}"/>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Therefore h(s) &lt;= 1+h(s').</a:t>
            </a:r>
          </a:p>
        </p:txBody>
      </p:sp>
      <p:sp>
        <p:nvSpPr>
          <p:cNvPr id="15" name="example-step-13-marker-4">
            <a:extLst xmlns:a="http://schemas.openxmlformats.org/drawingml/2006/main">
              <a:ext uri="{FF2B5EF4-FFF2-40B4-BE49-F238E27FC236}">
                <a16:creationId xmlns:a16="http://schemas.microsoft.com/office/drawing/2014/main" id="{1FDD29A5-6AF3-4EFA-A9C4-2BCC855CFC6D}"/>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ABACE88B-2780-4E0A-9EE3-18D60C7BEF65}"/>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edge consistency inequality holds.</a:t>
            </a:r>
          </a:p>
        </p:txBody>
      </p:sp>
      <p:sp>
        <p:nvSpPr>
          <p:cNvPr id="17" name="example-result-panel-13">
            <a:extLst xmlns:a="http://schemas.openxmlformats.org/drawingml/2006/main">
              <a:ext uri="{FF2B5EF4-FFF2-40B4-BE49-F238E27FC236}">
                <a16:creationId xmlns:a16="http://schemas.microsoft.com/office/drawing/2014/main" id="{C16AC08D-F916-4780-BCFC-EE869E8F5624}"/>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60B2A1B5-E0F7-4D1E-9E7A-0B1879802DDB}"/>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Manhattan distance is consistent and therefore admissible for this movement model.</a:t>
            </a:r>
          </a:p>
        </p:txBody>
      </p:sp>
    </p:spTree>
    <p:extLst>
      <p:ext uri="{BB962C8B-B14F-4D97-AF65-F5344CB8AC3E}">
        <p14:creationId xmlns:p14="http://schemas.microsoft.com/office/powerpoint/2010/main" val="14655987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FB085D75-B632-484C-B3E4-081751F4C37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Heuristic failure modes are model mismatches</a:t>
            </a:r>
          </a:p>
        </p:txBody>
      </p:sp>
      <p:sp>
        <p:nvSpPr>
          <p:cNvPr id="2" name="title-accent-14">
            <a:extLst xmlns:a="http://schemas.openxmlformats.org/drawingml/2006/main">
              <a:ext uri="{FF2B5EF4-FFF2-40B4-BE49-F238E27FC236}">
                <a16:creationId xmlns:a16="http://schemas.microsoft.com/office/drawing/2014/main" id="{6E68FFD6-9D87-43CA-8D4F-789589AF415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F712CD38-EB32-4149-B51C-9B0E599B52A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4">
            <a:extLst xmlns:a="http://schemas.openxmlformats.org/drawingml/2006/main">
              <a:ext uri="{FF2B5EF4-FFF2-40B4-BE49-F238E27FC236}">
                <a16:creationId xmlns:a16="http://schemas.microsoft.com/office/drawing/2014/main" id="{B7FEF635-48FA-4893-89EB-26CAC3EE767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D56603AC-64EA-4277-BDC3-71A5FE906087}"/>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Overestimate</a:t>
            </a:r>
          </a:p>
        </p:txBody>
      </p:sp>
      <p:sp>
        <p:nvSpPr>
          <p:cNvPr id="7" name="comparison-tagline-14-1">
            <a:extLst xmlns:a="http://schemas.openxmlformats.org/drawingml/2006/main">
              <a:ext uri="{FF2B5EF4-FFF2-40B4-BE49-F238E27FC236}">
                <a16:creationId xmlns:a16="http://schemas.microsoft.com/office/drawing/2014/main" id="{8D2D9A3B-36F9-4933-B777-7DA6E4AAE6B7}"/>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Unsafe lower bound</a:t>
            </a:r>
          </a:p>
        </p:txBody>
      </p:sp>
      <p:sp>
        <p:nvSpPr>
          <p:cNvPr id="8" name="comparison-bullet-14-1-marker-1">
            <a:extLst xmlns:a="http://schemas.openxmlformats.org/drawingml/2006/main">
              <a:ext uri="{FF2B5EF4-FFF2-40B4-BE49-F238E27FC236}">
                <a16:creationId xmlns:a16="http://schemas.microsoft.com/office/drawing/2014/main" id="{2ABB20A9-08A2-45CB-8DA7-5BC966649B59}"/>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5E7B084C-1FDD-4023-AFB9-EC00C1345DE5}"/>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Can lose optimality.</a:t>
            </a:r>
          </a:p>
        </p:txBody>
      </p:sp>
      <p:sp>
        <p:nvSpPr>
          <p:cNvPr id="10" name="comparison-bullet-14-1-marker-2">
            <a:extLst xmlns:a="http://schemas.openxmlformats.org/drawingml/2006/main">
              <a:ext uri="{FF2B5EF4-FFF2-40B4-BE49-F238E27FC236}">
                <a16:creationId xmlns:a16="http://schemas.microsoft.com/office/drawing/2014/main" id="{07B3B147-F24F-449C-9898-78CB698453FE}"/>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1540DC6A-8DF3-484C-B392-86A7B571C867}"/>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Often caused by wrong move costs.</a:t>
            </a:r>
          </a:p>
        </p:txBody>
      </p:sp>
      <p:sp>
        <p:nvSpPr>
          <p:cNvPr id="12" name="comparison-bullet-14-1-marker-3">
            <a:extLst xmlns:a="http://schemas.openxmlformats.org/drawingml/2006/main">
              <a:ext uri="{FF2B5EF4-FFF2-40B4-BE49-F238E27FC236}">
                <a16:creationId xmlns:a16="http://schemas.microsoft.com/office/drawing/2014/main" id="{A15E16FD-EA35-4D24-8117-CFA548C356E0}"/>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90A77D5D-1DD9-4B35-8071-E7344D50B306}"/>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Goal value may be nonzero.</a:t>
            </a:r>
          </a:p>
        </p:txBody>
      </p:sp>
      <p:sp>
        <p:nvSpPr>
          <p:cNvPr id="14" name="comparison-bullet-14-1-marker-4">
            <a:extLst xmlns:a="http://schemas.openxmlformats.org/drawingml/2006/main">
              <a:ext uri="{FF2B5EF4-FFF2-40B4-BE49-F238E27FC236}">
                <a16:creationId xmlns:a16="http://schemas.microsoft.com/office/drawing/2014/main" id="{2EEAEA0F-EC69-422D-AD59-E4B889134D21}"/>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4B32704C-3597-4BA0-A0AC-D74CB166727F}"/>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Counterexample needed.</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3E3E2844-AE0F-445C-A1C0-78E1F2E5EE3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Too weak</a:t>
            </a:r>
          </a:p>
        </p:txBody>
      </p:sp>
      <p:sp>
        <p:nvSpPr>
          <p:cNvPr id="18" name="comparison-tagline-14-2">
            <a:extLst xmlns:a="http://schemas.openxmlformats.org/drawingml/2006/main">
              <a:ext uri="{FF2B5EF4-FFF2-40B4-BE49-F238E27FC236}">
                <a16:creationId xmlns:a16="http://schemas.microsoft.com/office/drawing/2014/main" id="{9B0AFDF7-AA57-4D48-8902-CA26250248E7}"/>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Little guidance</a:t>
            </a:r>
          </a:p>
        </p:txBody>
      </p:sp>
      <p:sp>
        <p:nvSpPr>
          <p:cNvPr id="19" name="comparison-bullet-14-2-marker-1">
            <a:extLst xmlns:a="http://schemas.openxmlformats.org/drawingml/2006/main">
              <a:ext uri="{FF2B5EF4-FFF2-40B4-BE49-F238E27FC236}">
                <a16:creationId xmlns:a16="http://schemas.microsoft.com/office/drawing/2014/main" id="{E9CE1C21-6953-4AF2-AC86-3931CCB63A69}"/>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FDB413B1-2406-47FA-AEF8-4B0D8F26C096}"/>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Behaves like UCS.</a:t>
            </a:r>
          </a:p>
        </p:txBody>
      </p:sp>
      <p:sp>
        <p:nvSpPr>
          <p:cNvPr id="21" name="comparison-bullet-14-2-marker-2">
            <a:extLst xmlns:a="http://schemas.openxmlformats.org/drawingml/2006/main">
              <a:ext uri="{FF2B5EF4-FFF2-40B4-BE49-F238E27FC236}">
                <a16:creationId xmlns:a16="http://schemas.microsoft.com/office/drawing/2014/main" id="{369DC85A-5E52-4C88-9660-69B4EACFFA62}"/>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E06DAF15-AD0A-4A1B-BEA5-9B28941B1F1C}"/>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Optimal but expands more.</a:t>
            </a:r>
          </a:p>
        </p:txBody>
      </p:sp>
      <p:sp>
        <p:nvSpPr>
          <p:cNvPr id="23" name="comparison-bullet-14-2-marker-3">
            <a:extLst xmlns:a="http://schemas.openxmlformats.org/drawingml/2006/main">
              <a:ext uri="{FF2B5EF4-FFF2-40B4-BE49-F238E27FC236}">
                <a16:creationId xmlns:a16="http://schemas.microsoft.com/office/drawing/2014/main" id="{539EF604-9345-4B6C-B13F-CC2CB7FBC1EF}"/>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B5A6BFC0-13E3-4E0F-834E-E759EA1A55C0}"/>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Relaxation removed too much.</a:t>
            </a:r>
          </a:p>
        </p:txBody>
      </p:sp>
      <p:sp>
        <p:nvSpPr>
          <p:cNvPr id="25" name="comparison-bullet-14-2-marker-4">
            <a:extLst xmlns:a="http://schemas.openxmlformats.org/drawingml/2006/main">
              <a:ext uri="{FF2B5EF4-FFF2-40B4-BE49-F238E27FC236}">
                <a16:creationId xmlns:a16="http://schemas.microsoft.com/office/drawing/2014/main" id="{F0CA3683-C800-43FE-A2EF-F34B0D3CE2F4}"/>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25533CE0-638A-48ED-8B70-C1F16762AE82}"/>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Measure expansion.</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FB9F8769-C59E-4ACA-8A03-A9A536BD31E9}"/>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Inconsistent</a:t>
            </a:r>
          </a:p>
        </p:txBody>
      </p:sp>
      <p:sp>
        <p:nvSpPr>
          <p:cNvPr id="29" name="comparison-tagline-14-3">
            <a:extLst xmlns:a="http://schemas.openxmlformats.org/drawingml/2006/main">
              <a:ext uri="{FF2B5EF4-FFF2-40B4-BE49-F238E27FC236}">
                <a16:creationId xmlns:a16="http://schemas.microsoft.com/office/drawing/2014/main" id="{19672E6B-4943-460B-95A6-5989CF2197E1}"/>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Decreasing f</a:t>
            </a:r>
          </a:p>
        </p:txBody>
      </p:sp>
      <p:sp>
        <p:nvSpPr>
          <p:cNvPr id="30" name="comparison-bullet-14-3-marker-1">
            <a:extLst xmlns:a="http://schemas.openxmlformats.org/drawingml/2006/main">
              <a:ext uri="{FF2B5EF4-FFF2-40B4-BE49-F238E27FC236}">
                <a16:creationId xmlns:a16="http://schemas.microsoft.com/office/drawing/2014/main" id="{C9BFACC5-DDF3-4C7C-A0BB-20CBFCDD08C2}"/>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CDB45490-2ACA-4603-9E19-52A745ED42FA}"/>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Graph search may reopen states.</a:t>
            </a:r>
          </a:p>
        </p:txBody>
      </p:sp>
      <p:sp>
        <p:nvSpPr>
          <p:cNvPr id="32" name="comparison-bullet-14-3-marker-2">
            <a:extLst xmlns:a="http://schemas.openxmlformats.org/drawingml/2006/main">
              <a:ext uri="{FF2B5EF4-FFF2-40B4-BE49-F238E27FC236}">
                <a16:creationId xmlns:a16="http://schemas.microsoft.com/office/drawing/2014/main" id="{B82D2691-EC02-4A1C-9A27-A25761CDECED}"/>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F03C378D-8BF2-43CB-AC55-B5FBF8783DD4}"/>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Stale entries appear.</a:t>
            </a:r>
          </a:p>
        </p:txBody>
      </p:sp>
      <p:sp>
        <p:nvSpPr>
          <p:cNvPr id="34" name="comparison-bullet-14-3-marker-3">
            <a:extLst xmlns:a="http://schemas.openxmlformats.org/drawingml/2006/main">
              <a:ext uri="{FF2B5EF4-FFF2-40B4-BE49-F238E27FC236}">
                <a16:creationId xmlns:a16="http://schemas.microsoft.com/office/drawing/2014/main" id="{1081D36E-D583-436A-B7D6-A0257733F40C}"/>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2D53E07B-454E-4A19-8AA6-48BA1355DF87}"/>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Local edge test detects it.</a:t>
            </a:r>
          </a:p>
        </p:txBody>
      </p:sp>
      <p:sp>
        <p:nvSpPr>
          <p:cNvPr id="36" name="comparison-bullet-14-3-marker-4">
            <a:extLst xmlns:a="http://schemas.openxmlformats.org/drawingml/2006/main">
              <a:ext uri="{FF2B5EF4-FFF2-40B4-BE49-F238E27FC236}">
                <a16:creationId xmlns:a16="http://schemas.microsoft.com/office/drawing/2014/main" id="{6FEAE4DA-09B2-4C9B-9BCF-CAFFFAD7270A}"/>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B12FAA9F-D771-4688-8CD8-6C98002E5394}"/>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Correctness policy must match.</a:t>
            </a:r>
          </a:p>
        </p:txBody>
      </p:sp>
    </p:spTree>
    <p:extLst>
      <p:ext uri="{BB962C8B-B14F-4D97-AF65-F5344CB8AC3E}">
        <p14:creationId xmlns:p14="http://schemas.microsoft.com/office/powerpoint/2010/main" val="6426171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E5944498-7363-454E-A7EE-8FA442771CE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choose a grid heuristic</a:t>
            </a:r>
          </a:p>
        </p:txBody>
      </p:sp>
      <p:sp>
        <p:nvSpPr>
          <p:cNvPr id="2" name="title-accent-15">
            <a:extLst xmlns:a="http://schemas.openxmlformats.org/drawingml/2006/main">
              <a:ext uri="{FF2B5EF4-FFF2-40B4-BE49-F238E27FC236}">
                <a16:creationId xmlns:a16="http://schemas.microsoft.com/office/drawing/2014/main" id="{99E4CC98-9648-4858-B282-3DE7B750269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168BC284-0AD5-4656-8204-0E4B3FB0689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5">
            <a:extLst xmlns:a="http://schemas.openxmlformats.org/drawingml/2006/main">
              <a:ext uri="{FF2B5EF4-FFF2-40B4-BE49-F238E27FC236}">
                <a16:creationId xmlns:a16="http://schemas.microsoft.com/office/drawing/2014/main" id="{C33E2DAD-EA87-41E6-AA3C-B0C3E60CA8A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5992A842-6E79-48C3-8D04-B3E2E63932C5}"/>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29444A8E-7051-4619-86B9-9029A468F5E9}"/>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grid permits eight directions; orthogonal moves cost 1 and diagonal moves cost sqrt(2). Is Manhattan distance admissible?</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958F51C8-A336-4F97-8295-6EF8BFD9837F}"/>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827F88D7-8523-4BEE-869A-0FAFC44886BA}"/>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Compare one diagonal displacement.</a:t>
            </a:r>
          </a:p>
        </p:txBody>
      </p:sp>
      <p:sp>
        <p:nvSpPr>
          <p:cNvPr id="11" name="checkpoint-prompt-number-15-2">
            <a:extLst xmlns:a="http://schemas.openxmlformats.org/drawingml/2006/main">
              <a:ext uri="{FF2B5EF4-FFF2-40B4-BE49-F238E27FC236}">
                <a16:creationId xmlns:a16="http://schemas.microsoft.com/office/drawing/2014/main" id="{0458F408-0E47-4703-BFE0-E1CF66C67EE7}"/>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75A66FD4-FD6E-4D2A-94F1-F9BCC1E3C184}"/>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Compute Manhattan and true relaxed cost.</a:t>
            </a:r>
          </a:p>
        </p:txBody>
      </p:sp>
      <p:sp>
        <p:nvSpPr>
          <p:cNvPr id="13" name="checkpoint-prompt-number-15-3">
            <a:extLst xmlns:a="http://schemas.openxmlformats.org/drawingml/2006/main">
              <a:ext uri="{FF2B5EF4-FFF2-40B4-BE49-F238E27FC236}">
                <a16:creationId xmlns:a16="http://schemas.microsoft.com/office/drawing/2014/main" id="{CCEFECB3-F87B-418D-91D4-B81B741B85CE}"/>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CC011835-5536-498C-A44B-26F0F67DA3BF}"/>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a better geometric heuristic.</a:t>
            </a:r>
          </a:p>
        </p:txBody>
      </p:sp>
    </p:spTree>
    <p:extLst>
      <p:ext uri="{BB962C8B-B14F-4D97-AF65-F5344CB8AC3E}">
        <p14:creationId xmlns:p14="http://schemas.microsoft.com/office/powerpoint/2010/main" val="34770426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FD6EEDED-9C15-4815-A00C-D3E63C869B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Heuristics require both proof and measurement</a:t>
            </a:r>
          </a:p>
        </p:txBody>
      </p:sp>
      <p:sp>
        <p:nvSpPr>
          <p:cNvPr id="2" name="title-accent-16">
            <a:extLst xmlns:a="http://schemas.openxmlformats.org/drawingml/2006/main">
              <a:ext uri="{FF2B5EF4-FFF2-40B4-BE49-F238E27FC236}">
                <a16:creationId xmlns:a16="http://schemas.microsoft.com/office/drawing/2014/main" id="{6BE9E816-5CDD-4F64-B16C-2E65E70B485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235B357E-1CD3-449C-8017-93840308385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6">
            <a:extLst xmlns:a="http://schemas.openxmlformats.org/drawingml/2006/main">
              <a:ext uri="{FF2B5EF4-FFF2-40B4-BE49-F238E27FC236}">
                <a16:creationId xmlns:a16="http://schemas.microsoft.com/office/drawing/2014/main" id="{0AC100CC-1329-437D-AA93-E5081A4FE30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0E70D600-60DA-458B-AB9C-FBC9A3346E35}"/>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Validate mathematical safety separately from empirical usefulness.</a:t>
            </a:r>
          </a:p>
        </p:txBody>
      </p:sp>
      <p:sp>
        <p:nvSpPr>
          <p:cNvPr id="7" name="claim-panel-16">
            <a:extLst xmlns:a="http://schemas.openxmlformats.org/drawingml/2006/main">
              <a:ext uri="{FF2B5EF4-FFF2-40B4-BE49-F238E27FC236}">
                <a16:creationId xmlns:a16="http://schemas.microsoft.com/office/drawing/2014/main" id="{841B6771-11FC-44CF-9060-17852408A849}"/>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9B34986F-285A-468B-BFB1-7F513F25D8D6}"/>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Evidence</a:t>
            </a:r>
          </a:p>
        </p:txBody>
      </p:sp>
      <p:sp>
        <p:nvSpPr>
          <p:cNvPr id="9" name="claim-keyword-detail-16">
            <a:extLst xmlns:a="http://schemas.openxmlformats.org/drawingml/2006/main">
              <a:ext uri="{FF2B5EF4-FFF2-40B4-BE49-F238E27FC236}">
                <a16:creationId xmlns:a16="http://schemas.microsoft.com/office/drawing/2014/main" id="{6C3D59BF-2197-4B1D-8100-3B6AB2BD41E7}"/>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proof supports optimality; benchmarks support efficiency claims.</a:t>
            </a:r>
          </a:p>
        </p:txBody>
      </p:sp>
      <p:sp>
        <p:nvSpPr>
          <p:cNvPr id="10" name="claim-detail-16-marker-1">
            <a:extLst xmlns:a="http://schemas.openxmlformats.org/drawingml/2006/main">
              <a:ext uri="{FF2B5EF4-FFF2-40B4-BE49-F238E27FC236}">
                <a16:creationId xmlns:a16="http://schemas.microsoft.com/office/drawing/2014/main" id="{E4C9A58D-8AA4-43DE-9D40-583BC6AB7EE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BECF5425-4DBD-4CF1-98F3-987722318075}"/>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Unit-test h(goal)=0 and sampled edge consistency.</a:t>
            </a:r>
          </a:p>
        </p:txBody>
      </p:sp>
      <p:sp>
        <p:nvSpPr>
          <p:cNvPr id="12" name="claim-detail-16-marker-2">
            <a:extLst xmlns:a="http://schemas.openxmlformats.org/drawingml/2006/main">
              <a:ext uri="{FF2B5EF4-FFF2-40B4-BE49-F238E27FC236}">
                <a16:creationId xmlns:a16="http://schemas.microsoft.com/office/drawing/2014/main" id="{E913A908-CA33-44CA-9588-8A5D4B893341}"/>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627C75F1-BBF0-4E51-9696-4CC39B749FB7}"/>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solution cost against UCS on small instances.</a:t>
            </a:r>
          </a:p>
        </p:txBody>
      </p:sp>
      <p:sp>
        <p:nvSpPr>
          <p:cNvPr id="14" name="claim-detail-16-marker-3">
            <a:extLst xmlns:a="http://schemas.openxmlformats.org/drawingml/2006/main">
              <a:ext uri="{FF2B5EF4-FFF2-40B4-BE49-F238E27FC236}">
                <a16:creationId xmlns:a16="http://schemas.microsoft.com/office/drawing/2014/main" id="{1747D8C4-0FEC-4666-9973-BF2D6ACA469D}"/>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585BC929-35EE-42EA-A83C-9D32F250C1DB}"/>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Report expansions, maximum frontier, and wall-clock time.</a:t>
            </a:r>
          </a:p>
        </p:txBody>
      </p:sp>
    </p:spTree>
    <p:extLst>
      <p:ext uri="{BB962C8B-B14F-4D97-AF65-F5344CB8AC3E}">
        <p14:creationId xmlns:p14="http://schemas.microsoft.com/office/powerpoint/2010/main" val="14332287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7FADF7B0-B1BD-4BAE-8894-C9D95CED7E8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8575EB70-4ACF-4128-8E5E-FE7561161E4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F4BF0222-F323-491D-97D0-94425EB8823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7">
            <a:extLst xmlns:a="http://schemas.openxmlformats.org/drawingml/2006/main">
              <a:ext uri="{FF2B5EF4-FFF2-40B4-BE49-F238E27FC236}">
                <a16:creationId xmlns:a16="http://schemas.microsoft.com/office/drawing/2014/main" id="{1FE81F8E-DC69-431B-A0D8-1567FDAA8A2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F6641B8A-C30B-4360-B312-26EF5B9261B5}"/>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21F024D4-C93E-4824-8715-10D82AFF1181}"/>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Greedy orders by h; A-star orders by g+h.</a:t>
            </a:r>
          </a:p>
        </p:txBody>
      </p:sp>
      <p:sp>
        <p:nvSpPr>
          <p:cNvPr id="9" name="summary-number-17-2">
            <a:extLst xmlns:a="http://schemas.openxmlformats.org/drawingml/2006/main">
              <a:ext uri="{FF2B5EF4-FFF2-40B4-BE49-F238E27FC236}">
                <a16:creationId xmlns:a16="http://schemas.microsoft.com/office/drawing/2014/main" id="{30E0A05A-3F65-4518-8058-F21FAFC67D49}"/>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9645D63D-8A6C-4125-8C32-5FCCA12378E9}"/>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Admissibility is a global lower bound; consistency is an edge inequality.</a:t>
            </a:r>
          </a:p>
        </p:txBody>
      </p:sp>
      <p:sp>
        <p:nvSpPr>
          <p:cNvPr id="12" name="summary-number-17-3">
            <a:extLst xmlns:a="http://schemas.openxmlformats.org/drawingml/2006/main">
              <a:ext uri="{FF2B5EF4-FFF2-40B4-BE49-F238E27FC236}">
                <a16:creationId xmlns:a16="http://schemas.microsoft.com/office/drawing/2014/main" id="{B3369A2B-9702-41EC-915B-91A061C0392F}"/>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1F7A3AC2-5441-4313-8898-C5D44FDDEF3A}"/>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Relaxed problems provide principled heuristics.</a:t>
            </a:r>
          </a:p>
        </p:txBody>
      </p:sp>
      <p:sp>
        <p:nvSpPr>
          <p:cNvPr id="15" name="summary-number-17-4">
            <a:extLst xmlns:a="http://schemas.openxmlformats.org/drawingml/2006/main">
              <a:ext uri="{FF2B5EF4-FFF2-40B4-BE49-F238E27FC236}">
                <a16:creationId xmlns:a16="http://schemas.microsoft.com/office/drawing/2014/main" id="{73C2DF13-3A0A-4BA2-A1D6-35B4B35CEFF5}"/>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C8B6E553-A469-4DD2-B1A9-8C0E405D856E}"/>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Correct A-star needs best-g updates and deterministic queue behavior.</a:t>
            </a:r>
          </a:p>
        </p:txBody>
      </p:sp>
      <p:sp>
        <p:nvSpPr>
          <p:cNvPr id="18" name="summary-next-17">
            <a:extLst xmlns:a="http://schemas.openxmlformats.org/drawingml/2006/main">
              <a:ext uri="{FF2B5EF4-FFF2-40B4-BE49-F238E27FC236}">
                <a16:creationId xmlns:a16="http://schemas.microsoft.com/office/drawing/2014/main" id="{ECD23E36-73D6-460C-8A6D-F67080AE41DA}"/>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Week 3 replaces a passive environment with an optimizing opponent and introduces minimax.</a:t>
            </a:r>
          </a:p>
        </p:txBody>
      </p:sp>
    </p:spTree>
    <p:extLst>
      <p:ext uri="{BB962C8B-B14F-4D97-AF65-F5344CB8AC3E}">
        <p14:creationId xmlns:p14="http://schemas.microsoft.com/office/powerpoint/2010/main" val="13922810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54F005E6-6682-4471-80BA-F51240E3A07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9362A3F4-F349-460A-90F6-DC2048459AE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F10D8D8A-A4F7-4CB3-A2A2-2EDB43F7252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2  |  Lesson 2</a:t>
            </a:r>
          </a:p>
        </p:txBody>
      </p:sp>
      <p:sp>
        <p:nvSpPr>
          <p:cNvPr id="5" name="footer-number-18">
            <a:extLst xmlns:a="http://schemas.openxmlformats.org/drawingml/2006/main">
              <a:ext uri="{FF2B5EF4-FFF2-40B4-BE49-F238E27FC236}">
                <a16:creationId xmlns:a16="http://schemas.microsoft.com/office/drawing/2014/main" id="{939C7D75-4659-4C86-9DA8-D98DC554781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148FE8CA-98C8-4194-97BC-CBB633AE7A9D}"/>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3F93ADF3-98C1-4D30-BE28-AD414640191D}"/>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Trace A-star on a five-node weighted graph.</a:t>
            </a:r>
          </a:p>
        </p:txBody>
      </p:sp>
      <p:sp>
        <p:nvSpPr>
          <p:cNvPr id="8" name="question-number-18-2">
            <a:extLst xmlns:a="http://schemas.openxmlformats.org/drawingml/2006/main">
              <a:ext uri="{FF2B5EF4-FFF2-40B4-BE49-F238E27FC236}">
                <a16:creationId xmlns:a16="http://schemas.microsoft.com/office/drawing/2014/main" id="{AD4FDAD8-2A39-4BAF-BAB4-9ABCB67C8695}"/>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F8F65A7E-A6EC-4E84-8771-02B0FDBD855A}"/>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Give an admissible but inconsistent heuristic.</a:t>
            </a:r>
          </a:p>
        </p:txBody>
      </p:sp>
      <p:sp>
        <p:nvSpPr>
          <p:cNvPr id="10" name="question-number-18-3">
            <a:extLst xmlns:a="http://schemas.openxmlformats.org/drawingml/2006/main">
              <a:ext uri="{FF2B5EF4-FFF2-40B4-BE49-F238E27FC236}">
                <a16:creationId xmlns:a16="http://schemas.microsoft.com/office/drawing/2014/main" id="{08373F14-9475-4889-9853-0DA21D99A860}"/>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2F9A56B1-0939-49E2-8F6D-283E8383CEEF}"/>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Prove Manhattan consistency for one grid edge.</a:t>
            </a:r>
          </a:p>
        </p:txBody>
      </p:sp>
      <p:sp>
        <p:nvSpPr>
          <p:cNvPr id="12" name="question-number-18-4">
            <a:extLst xmlns:a="http://schemas.openxmlformats.org/drawingml/2006/main">
              <a:ext uri="{FF2B5EF4-FFF2-40B4-BE49-F238E27FC236}">
                <a16:creationId xmlns:a16="http://schemas.microsoft.com/office/drawing/2014/main" id="{832B4E7F-9C90-48E5-A492-3A43F921EC16}"/>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2C48EE2F-F15E-4C3A-9494-35B444E048C8}"/>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heuristic dominance.</a:t>
            </a:r>
          </a:p>
        </p:txBody>
      </p:sp>
      <p:sp>
        <p:nvSpPr>
          <p:cNvPr id="14" name="question-number-18-5">
            <a:extLst xmlns:a="http://schemas.openxmlformats.org/drawingml/2006/main">
              <a:ext uri="{FF2B5EF4-FFF2-40B4-BE49-F238E27FC236}">
                <a16:creationId xmlns:a16="http://schemas.microsoft.com/office/drawing/2014/main" id="{B551EE39-F804-470A-BBE0-5E4D15D0342D}"/>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BEDC1D34-E058-48D5-AA5B-0B1F90C4134B}"/>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tests for an A-star implementation.</a:t>
            </a:r>
          </a:p>
        </p:txBody>
      </p:sp>
    </p:spTree>
    <p:extLst>
      <p:ext uri="{BB962C8B-B14F-4D97-AF65-F5344CB8AC3E}">
        <p14:creationId xmlns:p14="http://schemas.microsoft.com/office/powerpoint/2010/main" val="1500980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2026-07-27T10:15:42.5020000Z</dcterms:created>
  <dcterms:modified xsi:type="dcterms:W3CDTF">2026-07-27T10:15:42.5020000Z</dcterms:modified>
</coreProperties>
</file>