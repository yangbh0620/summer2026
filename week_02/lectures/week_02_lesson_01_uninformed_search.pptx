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8df5b3ff75491c" /><Relationship Type="http://schemas.openxmlformats.org/officeDocument/2006/relationships/extended-properties" Target="/docProps/app.xml" Id="Rdc9191667fdb4cf1" /><Relationship Type="http://schemas.openxmlformats.org/officeDocument/2006/relationships/officeDocument" Target="/ppt/presentation.xml" Id="Rad61791b86bf4934" /></Relationships>
</file>

<file path=ppt/presentation.xml><?xml version="1.0" encoding="utf-8"?>
<p:presentation xmlns:p="http://schemas.openxmlformats.org/presentationml/2006/main">
  <p:sldMasterIdLst>
    <p:sldMasterId xmlns:r="http://schemas.openxmlformats.org/officeDocument/2006/relationships" id="2147483648" r:id="R74399a0c0dbf4572"/>
  </p:sldMasterIdLst>
  <p:notesMasterIdLst>
    <p:notesMasterId xmlns:r="http://schemas.openxmlformats.org/officeDocument/2006/relationships" r:id="Re8ff61ca0a254f4c"/>
  </p:notesMasterIdLst>
  <p:sldIdLst>
    <p:sldId xmlns:r="http://schemas.openxmlformats.org/officeDocument/2006/relationships" id="256" r:id="R92c6e03800164852"/>
    <p:sldId xmlns:r="http://schemas.openxmlformats.org/officeDocument/2006/relationships" id="257" r:id="R4449edb4d67f4868"/>
    <p:sldId xmlns:r="http://schemas.openxmlformats.org/officeDocument/2006/relationships" id="258" r:id="Ra32344e57b114514"/>
    <p:sldId xmlns:r="http://schemas.openxmlformats.org/officeDocument/2006/relationships" id="259" r:id="R9d0363d91a5c450d"/>
    <p:sldId xmlns:r="http://schemas.openxmlformats.org/officeDocument/2006/relationships" id="260" r:id="R268e24e2bd5a4952"/>
    <p:sldId xmlns:r="http://schemas.openxmlformats.org/officeDocument/2006/relationships" id="261" r:id="R3d283aa270744f2a"/>
    <p:sldId xmlns:r="http://schemas.openxmlformats.org/officeDocument/2006/relationships" id="262" r:id="Rd96f87e2e9644de0"/>
    <p:sldId xmlns:r="http://schemas.openxmlformats.org/officeDocument/2006/relationships" id="263" r:id="Ra9c235a0eea34826"/>
    <p:sldId xmlns:r="http://schemas.openxmlformats.org/officeDocument/2006/relationships" id="264" r:id="Rad43317fbcf64827"/>
    <p:sldId xmlns:r="http://schemas.openxmlformats.org/officeDocument/2006/relationships" id="265" r:id="R55fdcc16b70f4c82"/>
    <p:sldId xmlns:r="http://schemas.openxmlformats.org/officeDocument/2006/relationships" id="266" r:id="R5c484b41582b4f7c"/>
    <p:sldId xmlns:r="http://schemas.openxmlformats.org/officeDocument/2006/relationships" id="267" r:id="Rfb15cc71c1294048"/>
    <p:sldId xmlns:r="http://schemas.openxmlformats.org/officeDocument/2006/relationships" id="268" r:id="Rf28f4e2ca6b74efb"/>
    <p:sldId xmlns:r="http://schemas.openxmlformats.org/officeDocument/2006/relationships" id="269" r:id="R85da3f80bdab404b"/>
    <p:sldId xmlns:r="http://schemas.openxmlformats.org/officeDocument/2006/relationships" id="270" r:id="Rcb968a2cfd814c71"/>
    <p:sldId xmlns:r="http://schemas.openxmlformats.org/officeDocument/2006/relationships" id="271" r:id="R10d9f752ce4e4c6a"/>
    <p:sldId xmlns:r="http://schemas.openxmlformats.org/officeDocument/2006/relationships" id="272" r:id="R9797a38cbae84f84"/>
    <p:sldId xmlns:r="http://schemas.openxmlformats.org/officeDocument/2006/relationships" id="273" r:id="R06802b43280641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39f5a30fb842a2" /><Relationship Type="http://schemas.openxmlformats.org/officeDocument/2006/relationships/slideMaster" Target="/ppt/slideMasters/slideMaster1.xml" Id="R74399a0c0dbf4572" /><Relationship Type="http://schemas.openxmlformats.org/officeDocument/2006/relationships/notesMaster" Target="/ppt/notesMasters/notesMaster1.xml" Id="Re8ff61ca0a254f4c" /><Relationship Type="http://schemas.openxmlformats.org/officeDocument/2006/relationships/presProps" Target="/ppt/presProps.xml" Id="R1ef9897a8b5244b7" /><Relationship Type="http://schemas.openxmlformats.org/officeDocument/2006/relationships/tableStyles" Target="/ppt/tableStyles.xml" Id="Rd0fd1661cfb54cbb" /><Relationship Type="http://schemas.openxmlformats.org/officeDocument/2006/relationships/slide" Target="/ppt/slides/slide1.xml" Id="R92c6e03800164852" /><Relationship Type="http://schemas.openxmlformats.org/officeDocument/2006/relationships/slide" Target="/ppt/slides/slide2.xml" Id="R4449edb4d67f4868" /><Relationship Type="http://schemas.openxmlformats.org/officeDocument/2006/relationships/slide" Target="/ppt/slides/slide3.xml" Id="Ra32344e57b114514" /><Relationship Type="http://schemas.openxmlformats.org/officeDocument/2006/relationships/slide" Target="/ppt/slides/slide4.xml" Id="R9d0363d91a5c450d" /><Relationship Type="http://schemas.openxmlformats.org/officeDocument/2006/relationships/slide" Target="/ppt/slides/slide5.xml" Id="R268e24e2bd5a4952" /><Relationship Type="http://schemas.openxmlformats.org/officeDocument/2006/relationships/slide" Target="/ppt/slides/slide6.xml" Id="R3d283aa270744f2a" /><Relationship Type="http://schemas.openxmlformats.org/officeDocument/2006/relationships/slide" Target="/ppt/slides/slide7.xml" Id="Rd96f87e2e9644de0" /><Relationship Type="http://schemas.openxmlformats.org/officeDocument/2006/relationships/slide" Target="/ppt/slides/slide8.xml" Id="Ra9c235a0eea34826" /><Relationship Type="http://schemas.openxmlformats.org/officeDocument/2006/relationships/slide" Target="/ppt/slides/slide9.xml" Id="Rad43317fbcf64827" /><Relationship Type="http://schemas.openxmlformats.org/officeDocument/2006/relationships/slide" Target="/ppt/slides/slide10.xml" Id="R55fdcc16b70f4c82" /><Relationship Type="http://schemas.openxmlformats.org/officeDocument/2006/relationships/slide" Target="/ppt/slides/slide11.xml" Id="R5c484b41582b4f7c" /><Relationship Type="http://schemas.openxmlformats.org/officeDocument/2006/relationships/slide" Target="/ppt/slides/slide12.xml" Id="Rfb15cc71c1294048" /><Relationship Type="http://schemas.openxmlformats.org/officeDocument/2006/relationships/slide" Target="/ppt/slides/slide13.xml" Id="Rf28f4e2ca6b74efb" /><Relationship Type="http://schemas.openxmlformats.org/officeDocument/2006/relationships/slide" Target="/ppt/slides/slide14.xml" Id="R85da3f80bdab404b" /><Relationship Type="http://schemas.openxmlformats.org/officeDocument/2006/relationships/slide" Target="/ppt/slides/slide15.xml" Id="Rcb968a2cfd814c71" /><Relationship Type="http://schemas.openxmlformats.org/officeDocument/2006/relationships/slide" Target="/ppt/slides/slide16.xml" Id="R10d9f752ce4e4c6a" /><Relationship Type="http://schemas.openxmlformats.org/officeDocument/2006/relationships/slide" Target="/ppt/slides/slide17.xml" Id="R9797a38cbae84f84" /><Relationship Type="http://schemas.openxmlformats.org/officeDocument/2006/relationships/slide" Target="/ppt/slides/slide18.xml" Id="R06802b43280641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c58bd63bea4f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ffad797beb41ab" /><Relationship Type="http://schemas.openxmlformats.org/officeDocument/2006/relationships/notesMaster" Target="/ppt/notesMasters/notesMaster1.xml" Id="Rcb8e164ce5f740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4e6c241100471a" /><Relationship Type="http://schemas.openxmlformats.org/officeDocument/2006/relationships/notesMaster" Target="/ppt/notesMasters/notesMaster1.xml" Id="R92fb412b0de544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6ef9b7d5534222" /><Relationship Type="http://schemas.openxmlformats.org/officeDocument/2006/relationships/notesMaster" Target="/ppt/notesMasters/notesMaster1.xml" Id="Rbeb3e673b3b145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38c4d94dfb45db" /><Relationship Type="http://schemas.openxmlformats.org/officeDocument/2006/relationships/notesMaster" Target="/ppt/notesMasters/notesMaster1.xml" Id="R09a057e5843b4a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4e490ccfac4ce6" /><Relationship Type="http://schemas.openxmlformats.org/officeDocument/2006/relationships/notesMaster" Target="/ppt/notesMasters/notesMaster1.xml" Id="R94c12a2d167441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4e1a9339d74684" /><Relationship Type="http://schemas.openxmlformats.org/officeDocument/2006/relationships/notesMaster" Target="/ppt/notesMasters/notesMaster1.xml" Id="Rb132ea3883a549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4b2467dacd416f" /><Relationship Type="http://schemas.openxmlformats.org/officeDocument/2006/relationships/notesMaster" Target="/ppt/notesMasters/notesMaster1.xml" Id="R84ab3623092440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328665654843fb" /><Relationship Type="http://schemas.openxmlformats.org/officeDocument/2006/relationships/notesMaster" Target="/ppt/notesMasters/notesMaster1.xml" Id="R93e5504cad71491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5d099bdf8e44b7" /><Relationship Type="http://schemas.openxmlformats.org/officeDocument/2006/relationships/notesMaster" Target="/ppt/notesMasters/notesMaster1.xml" Id="Rbcc4b293c8af491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cb2de07e164f2a" /><Relationship Type="http://schemas.openxmlformats.org/officeDocument/2006/relationships/notesMaster" Target="/ppt/notesMasters/notesMaster1.xml" Id="R177b725fb9c24d5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0224b095f8f426e" /><Relationship Type="http://schemas.openxmlformats.org/officeDocument/2006/relationships/notesMaster" Target="/ppt/notesMasters/notesMaster1.xml" Id="R135f191069034ee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fe154c100e84046" /><Relationship Type="http://schemas.openxmlformats.org/officeDocument/2006/relationships/notesMaster" Target="/ppt/notesMasters/notesMaster1.xml" Id="R8fcd9f95d215452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bd6993355944b7c" /><Relationship Type="http://schemas.openxmlformats.org/officeDocument/2006/relationships/notesMaster" Target="/ppt/notesMasters/notesMaster1.xml" Id="R0fef273fd17645f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a15728df1ee43b3" /><Relationship Type="http://schemas.openxmlformats.org/officeDocument/2006/relationships/notesMaster" Target="/ppt/notesMasters/notesMaster1.xml" Id="R0f8856c66a43499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6a7a52cae134dce" /><Relationship Type="http://schemas.openxmlformats.org/officeDocument/2006/relationships/notesMaster" Target="/ppt/notesMasters/notesMaster1.xml" Id="Rb4e909a79ef1431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a27bc8fd1d54d7d" /><Relationship Type="http://schemas.openxmlformats.org/officeDocument/2006/relationships/notesMaster" Target="/ppt/notesMasters/notesMaster1.xml" Id="Re944e405132041d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1da4b21558b4072" /><Relationship Type="http://schemas.openxmlformats.org/officeDocument/2006/relationships/notesMaster" Target="/ppt/notesMasters/notesMaster1.xml" Id="Rf9766d7bdc9e4b5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ab63450309b495f" /><Relationship Type="http://schemas.openxmlformats.org/officeDocument/2006/relationships/notesMaster" Target="/ppt/notesMasters/notesMaster1.xml" Id="R698b45eb5afe42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Uninformed search explores with no estimate of distance to the goal. Its behavior is governed by frontier ordering, duplicate handling, and step-cost assumptions. This lesson treats the topic as both a formal method and an engineering component. We will state the model, trace the algorithm on concrete data, and identify the implementation contracts that preserve its guarantees. The goal is not to memorize isolated notation. The goal is to recognize which assumptions make the method valid, what evidence can expose a defect, and how the method connects to the rest of CMPSC 480. By the end, you should be able to explain the central result, reproduce the critical calculation or trace, and design a defensive implementation that behaves predictably on normal, boundary, and invalid inputs. Keep one question active throughout: what would a skeptical reviewer need to observe before trusting the result?</a:t>
            </a:r>
          </a:p>
          <a:p xmlns:a="http://schemas.openxmlformats.org/drawingml/2006/main">
            <a:r>
              <a:t/>
            </a:r>
          </a:p>
          <a:p xmlns:a="http://schemas.openxmlformats.org/drawingml/2006/main">
            <a:r>
              <a:t>[Sources]</a:t>
            </a:r>
          </a:p>
          <a:p xmlns:a="http://schemas.openxmlformats.org/drawingml/2006/main">
            <a:r>
              <a:t>- Repository prompt: week_02/Week_2_Lesson_1_Uninformed_Search.md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objectives define the evidence expected after the lesson. 1) Trace BFS, DFS, and UCS with a frontier and explored set. 2) Define branching factor b, solution depth d, maximum depth m, and path cost g. 3) Compare completeness, optimality, time, and space guarantees. 4) Explain why graph search requires immutable state keys. 5) Sketch why BFS is optimal for uniform costs and UCS for positive costs. 6) Implement all three strategies behind one frontier interface. The sequence moves from vocabulary and assumptions to derivation, tracing, implementation, and judgment. As you work through the slides, attach every equation to the meaning of its variables and every algorithmic step to a data-structure operation. When a guarantee is stated, ask which precondition supports it. When an implementation choice is shown, ask which test would reveal a violation. That discipline turns the objectives into reusable engineering practice rather than a list of terms. You should finish able to explain both the successful case and the nearest counterexample.</a:t>
            </a:r>
          </a:p>
          <a:p xmlns:a="http://schemas.openxmlformats.org/drawingml/2006/main">
            <a:r>
              <a:t/>
            </a:r>
          </a:p>
          <a:p xmlns:a="http://schemas.openxmlformats.org/drawingml/2006/main">
            <a:r>
              <a:t>[Sources]</a:t>
            </a:r>
          </a:p>
          <a:p xmlns:a="http://schemas.openxmlformats.org/drawingml/2006/main">
            <a:r>
              <a:t>- Repository prompt: week_02/Week_2_Lesson_1_Uninformed_Search.md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BFS, DFS, and UCS share the same expansion loop; only the removal priority changes. The supporting details make the claim operational. 1) BFS removes the shallowest node. 2) DFS removes the most recently added node. 3) UCS removes the node with minimum accumulated path cost. The highlighted idea, Policy, is the part to retain when the surrounding notation changes. Queue, stack, and minimum-g priority produce different search behavior.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week_02/Week_2_Lesson_1_Uninformed_Search.md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b = branching factor; d = shallowest solution depth; m = maximum depth; g(n) = path cost. The symbols mean the following. 1) b bounds the number of successors generated per expansion. 2) d counts edges to a shallowest goal. 3) m bounds search depth when the space is finite. 4) g(n) sums step costs along node n's path. The engineering implication is A guarantee is meaningful only when its cost and graph assumptions are stated.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week_02/Week_2_Lesson_1_Uninformed_Search.md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Breadth-first search: FIFO frontier; expand nondecreasing depth. Complete for finite branching factor. Optimal when every step has equal cost. Time and space grow as O(b^d). On the right, Depth-first search: LIFO frontier; follow one path deeply. Can fail in infinite-depth spaces. Not generally optimal. Space is O(bm); time can be O(b^m).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week_02/Week_2_Lesson_1_Uninformed_Search.md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process gives a disciplined execution order. 1) Initialize: Create the root node and frontier. 2) Remove: Apply the strategy's priority. 3) Test: Return if the node state is a goal. 4) Expand: Generate legal child nodes. 5) Deduplicate: Control repeated states and cost updates. The emphasized stage deserves extra attention because defects introduced there propagate to every later result. Correct duplicate handling is part of the algorithm, not a performance afterthought. When implementing the process, record the invariant that should hold after each stage and decide how failure will be represented. When analyzing it, trace a small instance all the way through before relying on an aggregate output. A useful review asks what state enters each stage, what state leaves it, and which later stage would expose corruption.</a:t>
            </a:r>
          </a:p>
          <a:p xmlns:a="http://schemas.openxmlformats.org/drawingml/2006/main">
            <a:r>
              <a:t/>
            </a:r>
          </a:p>
          <a:p xmlns:a="http://schemas.openxmlformats.org/drawingml/2006/main">
            <a:r>
              <a:t>[Sources]</a:t>
            </a:r>
          </a:p>
          <a:p xmlns:a="http://schemas.openxmlformats.org/drawingml/2006/main">
            <a:r>
              <a:t>- Repository prompt: week_02/Week_2_Lesson_1_Uninformed_Search.md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pseudocode shows the control structure while leaving language-specific details open. Read it from initialization through termination and identify the state that changes on each iteration. The rail lists the stable questions: BFS: FIFO by depth. DFS: LIFO. UCS: minimum g. Stable ties aid reproducibility. A faithful implementation should make those decisions explicit rather than depend on incidental container behavior. Trace the code on a minimal legal input, a boundary case, and a case that triggers its failure path. That three-part trace usually reveals incorrect initialization, update ordering, or termination earlier than a large demonstration does. Also estimate the dominant operation and choose a data structure whose cost matches the stated complexity.</a:t>
            </a:r>
          </a:p>
          <a:p xmlns:a="http://schemas.openxmlformats.org/drawingml/2006/main">
            <a:r>
              <a:t/>
            </a:r>
          </a:p>
          <a:p xmlns:a="http://schemas.openxmlformats.org/drawingml/2006/main">
            <a:r>
              <a:t>[Sources]</a:t>
            </a:r>
          </a:p>
          <a:p xmlns:a="http://schemas.openxmlformats.org/drawingml/2006/main">
            <a:r>
              <a:t>- Repository prompt: week_02/Week_2_Lesson_1_Uninformed_Search.md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S connects to A and B; A connects to C; B connects to goal G; every edge costs 1. Work through it in the displayed order. 1) Start frontier: [S]. Remove S; add A, B. 2) Remove A; explored is {S, A}; add C. 3) Remove B; add G behind C. 4) Remove C, then G; reconstruct S-B-G. The resulting conclusion is BFS returns depth 2 and cost 2; no depth-1 goal existed.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week_02/Week_2_Lesson_1_Uninformed_Search.md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BFS: Complete if b is finite. Optimal for equal step cost. High memory. Ignores cheaper deep paths. In contrast, DFS: Low memory. May follow infinite path. Not optimal. Order strongly affects result. In contrast, UCS: Complete if costs &gt;= epsilon. Optimal for positive costs. May expand many cheap paths. Needs cost updates.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week_02/Week_2_Lesson_1_Uninformed_Search.md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If S adds A then B, A adds G at depth 2, and B adds C then G at depth 3, which goal does BFS return and which path can DFS return? Use the prompts to structure the response. 1) Write the frontier after expanding S. 2) Apply FIFO and LIFO separately. 3) State the assumption about successor order. The expected reasoning is BFS returns S-A-G because it reaches the depth-2 goal first. With A then B pushed onto a LIFO stack, DFS may expand B first and return S-B-C-G; reversing push order changes that trace.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week_02/Week_2_Lesson_1_Uninformed_Search.md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Node record: Stores parent, action, depth, and g. Represents one path. Two nodes may share a state. Used for reconstruction. On the right, State key: Represents a world configuration. Needs stable equality and hashing. Drives explored membership. May map to a best known cost.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week_02/Week_2_Lesson_1_Uninformed_Search.md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BFS: depth order + constant c; UCS: remove n only when g(n) is globally minimum. The symbols mean the following. 1) With constant c, lower depth means lower path cost. 2) BFS reaches no deeper goal before every shallower node. 3) UCS frontier priorities are accumulated path costs. 4) Positive costs prevent an unseen path from becoming cheaper after removal. The engineering implication is The first goal removed is optimal under the stated ordering and cost conditions.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week_02/Week_2_Lesson_1_Uninformed_Search.md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S-A costs 5, S-B costs 1, and B-A costs 1; A leads to G with cost 1. Work through it in the displayed order. 1) S first discovers A with g=5 and B with g=1. 2) UCS removes B before A. 3) B rediscovers A with g=2, replacing the worse entry. 4) A then reaches G with total cost 3. The resulting conclusion is Rejecting every duplicate at generation time would incorrectly preserve the cost-6 route.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week_02/Week_2_Lesson_1_Uninformed_Search.md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Wrong ordering: BFS acts like DFS. UCS ignores g. Ties vary across runs. Guarantees no longer apply. In contrast, Wrong duplicate rule: Cycles repeat. Cheaper paths are lost. Frontier grows unnecessarily. Parents become inconsistent. In contrast, Wrong contract: Illegal actions expand. Costs can be nonpositive. Goal test accepts bad state. Failure is ambiguous.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week_02/Week_2_Lesson_1_Uninformed_Search.md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An implementation uses BFS on edges with costs 1 and 10 and returns the first goal at minimum depth. Is the result guaranteed to have minimum cost? Use the prompts to structure the response. 1) Separate depth from path cost. 2) Construct a two-path counterexample. 3) Name the suitable replacement algorithm. The expected reasoning is No. A depth-2 path can cost 20 while a depth-3 path costs 3. Uniform-cost search, with positive costs and correct updates, is the suitable minimum-cost strategy.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week_02/Week_2_Lesson_1_Uninformed_Search.md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domain expansion fixed and vary only the frontier policy when comparing search strategies. The supporting details make the claim operational. 1) Instrument nodes generated, expanded, maximum frontier, and solution cost. 2) Use deterministic successor and tie order. 3) Test trivial, cyclic, unreachable, cheaper-rediscovery, and scale cases. The highlighted idea, Control, is the part to retain when the surrounding notation changes. A fair comparison holds states, successors, costs, and goal behavior constant.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week_02/Week_2_Lesson_1_Uninformed_Search.md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lesson reduces to four reusable ideas. 1) BFS, DFS, and UCS are one graph-search loop with different removal priorities. 2) Completeness and optimality always depend on explicit assumptions. 3) Graph search needs immutable states and a correct duplicate-cost policy. 4) Small traces reveal ordering and update defects before scale tests do. These are connected: the formal model supplies the algorithm, the algorithm's invariant supports its guarantee, and the implementation contract makes that guarantee testable. The next topic is Informed search adds heuristics and develops Greedy Best-First Search and A-star. Before moving on, make sure you can reproduce one worked trace without notes and can name one edge case that would distinguish a correct implementation from a plausible but defective one. Keep the summary as a checklist for the corresponding code lab and review questions.</a:t>
            </a:r>
          </a:p>
          <a:p xmlns:a="http://schemas.openxmlformats.org/drawingml/2006/main">
            <a:r>
              <a:t/>
            </a:r>
          </a:p>
          <a:p xmlns:a="http://schemas.openxmlformats.org/drawingml/2006/main">
            <a:r>
              <a:t>[Sources]</a:t>
            </a:r>
          </a:p>
          <a:p xmlns:a="http://schemas.openxmlformats.org/drawingml/2006/main">
            <a:r>
              <a:t>- Repository prompt: week_02/Week_2_Lesson_1_Uninformed_Search.md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questions as an exit check. 1) Trace BFS and DFS on the same four-node graph. 2) Give a graph where BFS is not minimum cost. 3) Explain why UCS requires a positive lower bound on step cost. 4) Derive the O(b^d) BFS space term. 5) Design a test that exposes a missing UCS cost update. Answer with definitions, calculations, traces, or design evidence rather than one-word labels. When a question asks for a comparison, hold the input and evaluation criterion constant. When it asks for a derivation, show the intermediate quantities. When it asks for an engineering decision, name the contract and the test that supports it. Any answer that depends on an unstated convention should make that convention explicit. A strong answer should be concise enough to audit yet complete enough to reproduce.</a:t>
            </a:r>
          </a:p>
          <a:p xmlns:a="http://schemas.openxmlformats.org/drawingml/2006/main">
            <a:r>
              <a:t/>
            </a:r>
          </a:p>
          <a:p xmlns:a="http://schemas.openxmlformats.org/drawingml/2006/main">
            <a:r>
              <a:t>[Sources]</a:t>
            </a:r>
          </a:p>
          <a:p xmlns:a="http://schemas.openxmlformats.org/drawingml/2006/main">
            <a:r>
              <a:t>- Repository prompt: week_02/Week_2_Lesson_1_Uninformed_Search.md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0d28da2e0f4c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6c2b480b04405a" /><Relationship Type="http://schemas.openxmlformats.org/officeDocument/2006/relationships/slideLayout" Target="/ppt/slideLayouts/slideLayout1.xml" Id="R4e1f1e7db1ab42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1f1e7db1ab42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3af22526044c13" /><Relationship Type="http://schemas.openxmlformats.org/officeDocument/2006/relationships/notesSlide" Target="/ppt/notesSlides/notesSlide1.xml" Id="R9ca91e96fb1546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4628a85ab2642ba" /><Relationship Type="http://schemas.openxmlformats.org/officeDocument/2006/relationships/notesSlide" Target="/ppt/notesSlides/notesSlide2.xml" Id="R34ce010cc1a34b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05ba0cb5a594ac3" /><Relationship Type="http://schemas.openxmlformats.org/officeDocument/2006/relationships/notesSlide" Target="/ppt/notesSlides/notesSlide3.xml" Id="Rcbd6076e267045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bcd871b1ca8486c" /><Relationship Type="http://schemas.openxmlformats.org/officeDocument/2006/relationships/notesSlide" Target="/ppt/notesSlides/notesSlide4.xml" Id="R9e4689070e3048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f023753bf8f4dc2" /><Relationship Type="http://schemas.openxmlformats.org/officeDocument/2006/relationships/notesSlide" Target="/ppt/notesSlides/notesSlide5.xml" Id="R64bee813afc643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54a5a4a253747cc" /><Relationship Type="http://schemas.openxmlformats.org/officeDocument/2006/relationships/notesSlide" Target="/ppt/notesSlides/notesSlide6.xml" Id="R2391273ac0fa48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056eee742e84961" /><Relationship Type="http://schemas.openxmlformats.org/officeDocument/2006/relationships/notesSlide" Target="/ppt/notesSlides/notesSlide7.xml" Id="Re07dc7cca81046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f5f5caf46844a8" /><Relationship Type="http://schemas.openxmlformats.org/officeDocument/2006/relationships/notesSlide" Target="/ppt/notesSlides/notesSlide8.xml" Id="Rb754154e22d84da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83d8f6dc54a45ed" /><Relationship Type="http://schemas.openxmlformats.org/officeDocument/2006/relationships/notesSlide" Target="/ppt/notesSlides/notesSlide9.xml" Id="R145ee69c560640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deca1c8120443a5" /><Relationship Type="http://schemas.openxmlformats.org/officeDocument/2006/relationships/notesSlide" Target="/ppt/notesSlides/notesSlide10.xml" Id="Rc90b1f8c6e9d468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5863a1283494912" /><Relationship Type="http://schemas.openxmlformats.org/officeDocument/2006/relationships/notesSlide" Target="/ppt/notesSlides/notesSlide11.xml" Id="Rb0cd1eb3690c4c1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658f7a8f3544aa8" /><Relationship Type="http://schemas.openxmlformats.org/officeDocument/2006/relationships/notesSlide" Target="/ppt/notesSlides/notesSlide12.xml" Id="R5b34c122de1241e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262367cd8024c57" /><Relationship Type="http://schemas.openxmlformats.org/officeDocument/2006/relationships/notesSlide" Target="/ppt/notesSlides/notesSlide13.xml" Id="R971cfe5cbe91403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0cdbb26f6264187" /><Relationship Type="http://schemas.openxmlformats.org/officeDocument/2006/relationships/notesSlide" Target="/ppt/notesSlides/notesSlide14.xml" Id="R2f30229d34424f8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cd2167ba5ef4f6d" /><Relationship Type="http://schemas.openxmlformats.org/officeDocument/2006/relationships/notesSlide" Target="/ppt/notesSlides/notesSlide15.xml" Id="Rab130c7dd597452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9234a4ff1a14de2" /><Relationship Type="http://schemas.openxmlformats.org/officeDocument/2006/relationships/notesSlide" Target="/ppt/notesSlides/notesSlide16.xml" Id="R875b1cd5117647e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97dfaf5f059460c" /><Relationship Type="http://schemas.openxmlformats.org/officeDocument/2006/relationships/notesSlide" Target="/ppt/notesSlides/notesSlide17.xml" Id="R9c765b9e3481420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86f3ca36b1943bc" /><Relationship Type="http://schemas.openxmlformats.org/officeDocument/2006/relationships/notesSlide" Target="/ppt/notesSlides/notesSlide18.xml" Id="R7159b6c4bcf7403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urse-eyebrow">
            <a:extLst xmlns:a="http://schemas.openxmlformats.org/drawingml/2006/main">
              <a:ext uri="{FF2B5EF4-FFF2-40B4-BE49-F238E27FC236}">
                <a16:creationId xmlns:a16="http://schemas.microsoft.com/office/drawing/2014/main" id="{82ABF486-0226-4624-A13E-D64849D4BF8C}"/>
              </a:ext>
            </a:extLst>
          </p:cNvPr>
          <p:cNvSpPr>
            <a:spLocks xmlns:a="http://schemas.openxmlformats.org/drawingml/2006/main" noGrp="1"/>
          </p:cNvSpPr>
          <p:nvPr/>
        </p:nvSpPr>
        <p:spPr>
          <a:xfrm xmlns:a="http://schemas.openxmlformats.org/drawingml/2006/main">
            <a:off x="400050" y="419100"/>
            <a:ext cx="742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5C6470"/>
                </a:solidFill>
                <a:latin typeface="Arial"/>
                <a:ea typeface="Arial"/>
                <a:cs typeface="Arial"/>
              </a:defRPr>
            </a:pPr>
            <a:r>
              <a:rPr sz="1500" b="1">
                <a:solidFill>
                  <a:srgbClr val="5C6470"/>
                </a:solidFill>
                <a:latin typeface="Arial"/>
                <a:ea typeface="Arial"/>
                <a:cs typeface="Arial"/>
              </a:rPr>
              <a:t>CMPSC 480  |  WEEK 02  |  LESSON 1</a:t>
            </a:r>
          </a:p>
        </p:txBody>
      </p:sp>
      <p:sp>
        <p:nvSpPr>
          <p:cNvPr id="2" name="title-accent-field">
            <a:extLst xmlns:a="http://schemas.openxmlformats.org/drawingml/2006/main">
              <a:ext uri="{FF2B5EF4-FFF2-40B4-BE49-F238E27FC236}">
                <a16:creationId xmlns:a16="http://schemas.microsoft.com/office/drawing/2014/main" id="{8649AD97-C032-4E19-BE27-F15FA2DE9CB2}"/>
              </a:ext>
            </a:extLst>
          </p:cNvPr>
          <p:cNvSpPr>
            <a:spLocks xmlns:a="http://schemas.openxmlformats.org/drawingml/2006/main" noGrp="1"/>
          </p:cNvSpPr>
          <p:nvPr/>
        </p:nvSpPr>
        <p:spPr>
          <a:xfrm xmlns:a="http://schemas.openxmlformats.org/drawingml/2006/main">
            <a:off x="400050" y="1266825"/>
            <a:ext cx="152400" cy="3333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deck-title">
            <a:extLst xmlns:a="http://schemas.openxmlformats.org/drawingml/2006/main">
              <a:ext uri="{FF2B5EF4-FFF2-40B4-BE49-F238E27FC236}">
                <a16:creationId xmlns:a16="http://schemas.microsoft.com/office/drawing/2014/main" id="{C07924A7-628B-41D8-8558-C16FC2A11B2D}"/>
              </a:ext>
            </a:extLst>
          </p:cNvPr>
          <p:cNvSpPr>
            <a:spLocks xmlns:a="http://schemas.openxmlformats.org/drawingml/2006/main" noGrp="1"/>
          </p:cNvSpPr>
          <p:nvPr/>
        </p:nvSpPr>
        <p:spPr>
          <a:xfrm xmlns:a="http://schemas.openxmlformats.org/drawingml/2006/main">
            <a:off x="838200" y="1200150"/>
            <a:ext cx="100965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4800" b="1">
                <a:solidFill>
                  <a:srgbClr val="111111"/>
                </a:solidFill>
                <a:latin typeface="Arial"/>
                <a:ea typeface="Arial"/>
                <a:cs typeface="Arial"/>
              </a:defRPr>
            </a:pPr>
            <a:r>
              <a:rPr sz="4800" b="1">
                <a:solidFill>
                  <a:srgbClr val="111111"/>
                </a:solidFill>
                <a:latin typeface="Arial"/>
                <a:ea typeface="Arial"/>
                <a:cs typeface="Arial"/>
              </a:rPr>
              <a:t>Uninformed Search: BFS, DFS, and Uniform-Cost Search</a:t>
            </a:r>
          </a:p>
        </p:txBody>
      </p:sp>
      <p:sp>
        <p:nvSpPr>
          <p:cNvPr id="4" name="deck-subtitle">
            <a:extLst xmlns:a="http://schemas.openxmlformats.org/drawingml/2006/main">
              <a:ext uri="{FF2B5EF4-FFF2-40B4-BE49-F238E27FC236}">
                <a16:creationId xmlns:a16="http://schemas.microsoft.com/office/drawing/2014/main" id="{58BE68B3-D422-4EEC-850D-89B854AEEECE}"/>
              </a:ext>
            </a:extLst>
          </p:cNvPr>
          <p:cNvSpPr>
            <a:spLocks xmlns:a="http://schemas.openxmlformats.org/drawingml/2006/main" noGrp="1"/>
          </p:cNvSpPr>
          <p:nvPr/>
        </p:nvSpPr>
        <p:spPr>
          <a:xfrm xmlns:a="http://schemas.openxmlformats.org/drawingml/2006/main">
            <a:off x="838200" y="4171950"/>
            <a:ext cx="7620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0">
                <a:solidFill>
                  <a:srgbClr val="5C6470"/>
                </a:solidFill>
                <a:latin typeface="Arial"/>
                <a:ea typeface="Arial"/>
                <a:cs typeface="Arial"/>
              </a:defRPr>
            </a:pPr>
            <a:r>
              <a:rPr sz="2100" b="0">
                <a:solidFill>
                  <a:srgbClr val="5C6470"/>
                </a:solidFill>
                <a:latin typeface="Arial"/>
                <a:ea typeface="Arial"/>
                <a:cs typeface="Arial"/>
              </a:rPr>
              <a:t>One graph-search skeleton, three frontier policies, different guarantees</a:t>
            </a:r>
          </a:p>
        </p:txBody>
      </p:sp>
      <p:cxnSp>
        <p:nvCxnSpPr>
          <p:cNvPr id="12" name="title-bottom-rule"/>
          <p:cNvCxnSpPr/>
          <p:nvPr/>
        </p:nvCxnSpPr>
        <p:spPr>
          <a:xfrm xmlns:a="http://schemas.openxmlformats.org/drawingml/2006/main">
            <a:off x="400050" y="59531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6" name="title-duration">
            <a:extLst xmlns:a="http://schemas.openxmlformats.org/drawingml/2006/main">
              <a:ext uri="{FF2B5EF4-FFF2-40B4-BE49-F238E27FC236}">
                <a16:creationId xmlns:a16="http://schemas.microsoft.com/office/drawing/2014/main" id="{E34ADDAF-C67D-481D-9636-0A200A016413}"/>
              </a:ext>
            </a:extLst>
          </p:cNvPr>
          <p:cNvSpPr>
            <a:spLocks xmlns:a="http://schemas.openxmlformats.org/drawingml/2006/main" noGrp="1"/>
          </p:cNvSpPr>
          <p:nvPr/>
        </p:nvSpPr>
        <p:spPr>
          <a:xfrm xmlns:a="http://schemas.openxmlformats.org/drawingml/2006/main">
            <a:off x="400050" y="61341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470"/>
                </a:solidFill>
                <a:latin typeface="Arial"/>
                <a:ea typeface="Arial"/>
                <a:cs typeface="Arial"/>
              </a:defRPr>
            </a:pPr>
            <a:r>
              <a:rPr sz="1125" b="0">
                <a:solidFill>
                  <a:srgbClr val="5C6470"/>
                </a:solidFill>
                <a:latin typeface="Arial"/>
                <a:ea typeface="Arial"/>
                <a:cs typeface="Arial"/>
              </a:rPr>
              <a:t>Approximately 50 minutes</a:t>
            </a:r>
          </a:p>
        </p:txBody>
      </p:sp>
      <p:sp>
        <p:nvSpPr>
          <p:cNvPr id="7" name="title-slide-number">
            <a:extLst xmlns:a="http://schemas.openxmlformats.org/drawingml/2006/main">
              <a:ext uri="{FF2B5EF4-FFF2-40B4-BE49-F238E27FC236}">
                <a16:creationId xmlns:a16="http://schemas.microsoft.com/office/drawing/2014/main" id="{BE228E52-BBD2-4631-A1DB-2046A4E94E69}"/>
              </a:ext>
            </a:extLst>
          </p:cNvPr>
          <p:cNvSpPr>
            <a:spLocks xmlns:a="http://schemas.openxmlformats.org/drawingml/2006/main" noGrp="1"/>
          </p:cNvSpPr>
          <p:nvPr/>
        </p:nvSpPr>
        <p:spPr>
          <a:xfrm xmlns:a="http://schemas.openxmlformats.org/drawingml/2006/main">
            <a:off x="11239500" y="61341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a:t>
            </a:r>
          </a:p>
        </p:txBody>
      </p:sp>
    </p:spTree>
    <p:extLst>
      <p:ext uri="{BB962C8B-B14F-4D97-AF65-F5344CB8AC3E}">
        <p14:creationId xmlns:p14="http://schemas.microsoft.com/office/powerpoint/2010/main" val="4439169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2">
            <a:extLst xmlns:a="http://schemas.openxmlformats.org/drawingml/2006/main">
              <a:ext uri="{FF2B5EF4-FFF2-40B4-BE49-F238E27FC236}">
                <a16:creationId xmlns:a16="http://schemas.microsoft.com/office/drawing/2014/main" id="{C598E43C-B87A-4634-9334-DAA240063FD0}"/>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Learning objectives</a:t>
            </a:r>
          </a:p>
        </p:txBody>
      </p:sp>
      <p:sp>
        <p:nvSpPr>
          <p:cNvPr id="2" name="title-accent-2">
            <a:extLst xmlns:a="http://schemas.openxmlformats.org/drawingml/2006/main">
              <a:ext uri="{FF2B5EF4-FFF2-40B4-BE49-F238E27FC236}">
                <a16:creationId xmlns:a16="http://schemas.microsoft.com/office/drawing/2014/main" id="{D4F0537E-E684-4975-B824-9B3909A35C8A}"/>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2">
            <a:extLst xmlns:a="http://schemas.openxmlformats.org/drawingml/2006/main">
              <a:ext uri="{FF2B5EF4-FFF2-40B4-BE49-F238E27FC236}">
                <a16:creationId xmlns:a16="http://schemas.microsoft.com/office/drawing/2014/main" id="{71CC43EF-3246-43FF-AAC0-F07F81572546}"/>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1</a:t>
            </a:r>
          </a:p>
        </p:txBody>
      </p:sp>
      <p:sp>
        <p:nvSpPr>
          <p:cNvPr id="5" name="footer-number-2">
            <a:extLst xmlns:a="http://schemas.openxmlformats.org/drawingml/2006/main">
              <a:ext uri="{FF2B5EF4-FFF2-40B4-BE49-F238E27FC236}">
                <a16:creationId xmlns:a16="http://schemas.microsoft.com/office/drawing/2014/main" id="{AB35D863-3E2F-4FC9-9255-FE40594BB69A}"/>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2</a:t>
            </a:r>
          </a:p>
        </p:txBody>
      </p:sp>
      <p:sp>
        <p:nvSpPr>
          <p:cNvPr id="6" name="objective-intro-2">
            <a:extLst xmlns:a="http://schemas.openxmlformats.org/drawingml/2006/main">
              <a:ext uri="{FF2B5EF4-FFF2-40B4-BE49-F238E27FC236}">
                <a16:creationId xmlns:a16="http://schemas.microsoft.com/office/drawing/2014/main" id="{EC83D18E-9541-4E44-B916-D8C3856005A3}"/>
              </a:ext>
            </a:extLst>
          </p:cNvPr>
          <p:cNvSpPr>
            <a:spLocks xmlns:a="http://schemas.openxmlformats.org/drawingml/2006/main" noGrp="1"/>
          </p:cNvSpPr>
          <p:nvPr/>
        </p:nvSpPr>
        <p:spPr>
          <a:xfrm xmlns:a="http://schemas.openxmlformats.org/drawingml/2006/main">
            <a:off x="400050" y="142875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5C6470"/>
                </a:solidFill>
                <a:latin typeface="Arial"/>
                <a:ea typeface="Arial"/>
                <a:cs typeface="Arial"/>
              </a:defRPr>
            </a:pPr>
            <a:r>
              <a:rPr sz="1650" b="0">
                <a:solidFill>
                  <a:srgbClr val="5C6470"/>
                </a:solidFill>
                <a:latin typeface="Arial"/>
                <a:ea typeface="Arial"/>
                <a:cs typeface="Arial"/>
              </a:rPr>
              <a:t>By the end of this lesson, you should be able to:</a:t>
            </a:r>
          </a:p>
        </p:txBody>
      </p:sp>
      <p:sp>
        <p:nvSpPr>
          <p:cNvPr id="7" name="objective-number-1">
            <a:extLst xmlns:a="http://schemas.openxmlformats.org/drawingml/2006/main">
              <a:ext uri="{FF2B5EF4-FFF2-40B4-BE49-F238E27FC236}">
                <a16:creationId xmlns:a16="http://schemas.microsoft.com/office/drawing/2014/main" id="{19352840-A3B2-4732-8084-CD1FF4508E43}"/>
              </a:ext>
            </a:extLst>
          </p:cNvPr>
          <p:cNvSpPr>
            <a:spLocks xmlns:a="http://schemas.openxmlformats.org/drawingml/2006/main" noGrp="1"/>
          </p:cNvSpPr>
          <p:nvPr/>
        </p:nvSpPr>
        <p:spPr>
          <a:xfrm xmlns:a="http://schemas.openxmlformats.org/drawingml/2006/main">
            <a:off x="400050" y="20478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01</a:t>
            </a:r>
          </a:p>
        </p:txBody>
      </p:sp>
      <p:cxnSp>
        <p:nvCxnSpPr>
          <p:cNvPr id="32" name="objective-rule-1"/>
          <p:cNvCxnSpPr/>
          <p:nvPr/>
        </p:nvCxnSpPr>
        <p:spPr>
          <a:xfrm xmlns:a="http://schemas.openxmlformats.org/drawingml/2006/main">
            <a:off x="1076325" y="22764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objective-text-1">
            <a:extLst xmlns:a="http://schemas.openxmlformats.org/drawingml/2006/main">
              <a:ext uri="{FF2B5EF4-FFF2-40B4-BE49-F238E27FC236}">
                <a16:creationId xmlns:a16="http://schemas.microsoft.com/office/drawing/2014/main" id="{ED09A793-CD13-4BA0-A891-F932ED10962C}"/>
              </a:ext>
            </a:extLst>
          </p:cNvPr>
          <p:cNvSpPr>
            <a:spLocks xmlns:a="http://schemas.openxmlformats.org/drawingml/2006/main" noGrp="1"/>
          </p:cNvSpPr>
          <p:nvPr/>
        </p:nvSpPr>
        <p:spPr>
          <a:xfrm xmlns:a="http://schemas.openxmlformats.org/drawingml/2006/main">
            <a:off x="2047875" y="20478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Trace BFS, DFS, and UCS with a frontier and explored set.</a:t>
            </a:r>
          </a:p>
        </p:txBody>
      </p:sp>
      <p:sp>
        <p:nvSpPr>
          <p:cNvPr id="10" name="objective-number-2">
            <a:extLst xmlns:a="http://schemas.openxmlformats.org/drawingml/2006/main">
              <a:ext uri="{FF2B5EF4-FFF2-40B4-BE49-F238E27FC236}">
                <a16:creationId xmlns:a16="http://schemas.microsoft.com/office/drawing/2014/main" id="{452B9CF0-C663-4058-9642-DAE5C8B74411}"/>
              </a:ext>
            </a:extLst>
          </p:cNvPr>
          <p:cNvSpPr>
            <a:spLocks xmlns:a="http://schemas.openxmlformats.org/drawingml/2006/main" noGrp="1"/>
          </p:cNvSpPr>
          <p:nvPr/>
        </p:nvSpPr>
        <p:spPr>
          <a:xfrm xmlns:a="http://schemas.openxmlformats.org/drawingml/2006/main">
            <a:off x="400050" y="27241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02</a:t>
            </a:r>
          </a:p>
        </p:txBody>
      </p:sp>
      <p:cxnSp>
        <p:nvCxnSpPr>
          <p:cNvPr id="35" name="objective-rule-2"/>
          <p:cNvCxnSpPr/>
          <p:nvPr/>
        </p:nvCxnSpPr>
        <p:spPr>
          <a:xfrm xmlns:a="http://schemas.openxmlformats.org/drawingml/2006/main">
            <a:off x="1076325" y="29527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2" name="objective-text-2">
            <a:extLst xmlns:a="http://schemas.openxmlformats.org/drawingml/2006/main">
              <a:ext uri="{FF2B5EF4-FFF2-40B4-BE49-F238E27FC236}">
                <a16:creationId xmlns:a16="http://schemas.microsoft.com/office/drawing/2014/main" id="{EEC7A074-C915-4886-A6C4-C1A5170F66F0}"/>
              </a:ext>
            </a:extLst>
          </p:cNvPr>
          <p:cNvSpPr>
            <a:spLocks xmlns:a="http://schemas.openxmlformats.org/drawingml/2006/main" noGrp="1"/>
          </p:cNvSpPr>
          <p:nvPr/>
        </p:nvSpPr>
        <p:spPr>
          <a:xfrm xmlns:a="http://schemas.openxmlformats.org/drawingml/2006/main">
            <a:off x="2047875" y="27241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Define branching factor b, solution depth d, maximum depth m, and path cost g.</a:t>
            </a:r>
          </a:p>
        </p:txBody>
      </p:sp>
      <p:sp>
        <p:nvSpPr>
          <p:cNvPr id="13" name="objective-number-3">
            <a:extLst xmlns:a="http://schemas.openxmlformats.org/drawingml/2006/main">
              <a:ext uri="{FF2B5EF4-FFF2-40B4-BE49-F238E27FC236}">
                <a16:creationId xmlns:a16="http://schemas.microsoft.com/office/drawing/2014/main" id="{43C3727E-F1B0-4CF3-8882-E23935C46CC2}"/>
              </a:ext>
            </a:extLst>
          </p:cNvPr>
          <p:cNvSpPr>
            <a:spLocks xmlns:a="http://schemas.openxmlformats.org/drawingml/2006/main" noGrp="1"/>
          </p:cNvSpPr>
          <p:nvPr/>
        </p:nvSpPr>
        <p:spPr>
          <a:xfrm xmlns:a="http://schemas.openxmlformats.org/drawingml/2006/main">
            <a:off x="400050" y="34004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03</a:t>
            </a:r>
          </a:p>
        </p:txBody>
      </p:sp>
      <p:cxnSp>
        <p:nvCxnSpPr>
          <p:cNvPr id="38" name="objective-rule-3"/>
          <p:cNvCxnSpPr/>
          <p:nvPr/>
        </p:nvCxnSpPr>
        <p:spPr>
          <a:xfrm xmlns:a="http://schemas.openxmlformats.org/drawingml/2006/main">
            <a:off x="1076325" y="362902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5" name="objective-text-3">
            <a:extLst xmlns:a="http://schemas.openxmlformats.org/drawingml/2006/main">
              <a:ext uri="{FF2B5EF4-FFF2-40B4-BE49-F238E27FC236}">
                <a16:creationId xmlns:a16="http://schemas.microsoft.com/office/drawing/2014/main" id="{A2E27E4E-69B0-4546-B663-2B6B6F28D627}"/>
              </a:ext>
            </a:extLst>
          </p:cNvPr>
          <p:cNvSpPr>
            <a:spLocks xmlns:a="http://schemas.openxmlformats.org/drawingml/2006/main" noGrp="1"/>
          </p:cNvSpPr>
          <p:nvPr/>
        </p:nvSpPr>
        <p:spPr>
          <a:xfrm xmlns:a="http://schemas.openxmlformats.org/drawingml/2006/main">
            <a:off x="2047875" y="340042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Compare completeness, optimality, time, and space guarantees.</a:t>
            </a:r>
          </a:p>
        </p:txBody>
      </p:sp>
      <p:sp>
        <p:nvSpPr>
          <p:cNvPr id="16" name="objective-number-4">
            <a:extLst xmlns:a="http://schemas.openxmlformats.org/drawingml/2006/main">
              <a:ext uri="{FF2B5EF4-FFF2-40B4-BE49-F238E27FC236}">
                <a16:creationId xmlns:a16="http://schemas.microsoft.com/office/drawing/2014/main" id="{97BF7C71-6D08-41A5-9100-81E8B74A3518}"/>
              </a:ext>
            </a:extLst>
          </p:cNvPr>
          <p:cNvSpPr>
            <a:spLocks xmlns:a="http://schemas.openxmlformats.org/drawingml/2006/main" noGrp="1"/>
          </p:cNvSpPr>
          <p:nvPr/>
        </p:nvSpPr>
        <p:spPr>
          <a:xfrm xmlns:a="http://schemas.openxmlformats.org/drawingml/2006/main">
            <a:off x="400050" y="407670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04</a:t>
            </a:r>
          </a:p>
        </p:txBody>
      </p:sp>
      <p:cxnSp>
        <p:nvCxnSpPr>
          <p:cNvPr id="41" name="objective-rule-4"/>
          <p:cNvCxnSpPr/>
          <p:nvPr/>
        </p:nvCxnSpPr>
        <p:spPr>
          <a:xfrm xmlns:a="http://schemas.openxmlformats.org/drawingml/2006/main">
            <a:off x="1076325" y="430530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8" name="objective-text-4">
            <a:extLst xmlns:a="http://schemas.openxmlformats.org/drawingml/2006/main">
              <a:ext uri="{FF2B5EF4-FFF2-40B4-BE49-F238E27FC236}">
                <a16:creationId xmlns:a16="http://schemas.microsoft.com/office/drawing/2014/main" id="{99C74ECD-B528-4FE8-AEF7-07F140CD2A5E}"/>
              </a:ext>
            </a:extLst>
          </p:cNvPr>
          <p:cNvSpPr>
            <a:spLocks xmlns:a="http://schemas.openxmlformats.org/drawingml/2006/main" noGrp="1"/>
          </p:cNvSpPr>
          <p:nvPr/>
        </p:nvSpPr>
        <p:spPr>
          <a:xfrm xmlns:a="http://schemas.openxmlformats.org/drawingml/2006/main">
            <a:off x="2047875" y="407670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Explain why graph search requires immutable state keys.</a:t>
            </a:r>
          </a:p>
        </p:txBody>
      </p:sp>
      <p:sp>
        <p:nvSpPr>
          <p:cNvPr id="19" name="objective-number-5">
            <a:extLst xmlns:a="http://schemas.openxmlformats.org/drawingml/2006/main">
              <a:ext uri="{FF2B5EF4-FFF2-40B4-BE49-F238E27FC236}">
                <a16:creationId xmlns:a16="http://schemas.microsoft.com/office/drawing/2014/main" id="{EB30EF61-65CB-4A03-9583-40C4A873D9EC}"/>
              </a:ext>
            </a:extLst>
          </p:cNvPr>
          <p:cNvSpPr>
            <a:spLocks xmlns:a="http://schemas.openxmlformats.org/drawingml/2006/main" noGrp="1"/>
          </p:cNvSpPr>
          <p:nvPr/>
        </p:nvSpPr>
        <p:spPr>
          <a:xfrm xmlns:a="http://schemas.openxmlformats.org/drawingml/2006/main">
            <a:off x="400050" y="47529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05</a:t>
            </a:r>
          </a:p>
        </p:txBody>
      </p:sp>
      <p:cxnSp>
        <p:nvCxnSpPr>
          <p:cNvPr id="44" name="objective-rule-5"/>
          <p:cNvCxnSpPr/>
          <p:nvPr/>
        </p:nvCxnSpPr>
        <p:spPr>
          <a:xfrm xmlns:a="http://schemas.openxmlformats.org/drawingml/2006/main">
            <a:off x="1076325" y="49815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1" name="objective-text-5">
            <a:extLst xmlns:a="http://schemas.openxmlformats.org/drawingml/2006/main">
              <a:ext uri="{FF2B5EF4-FFF2-40B4-BE49-F238E27FC236}">
                <a16:creationId xmlns:a16="http://schemas.microsoft.com/office/drawing/2014/main" id="{CAC563F0-B3FD-4100-AFC4-511DA63A88E9}"/>
              </a:ext>
            </a:extLst>
          </p:cNvPr>
          <p:cNvSpPr>
            <a:spLocks xmlns:a="http://schemas.openxmlformats.org/drawingml/2006/main" noGrp="1"/>
          </p:cNvSpPr>
          <p:nvPr/>
        </p:nvSpPr>
        <p:spPr>
          <a:xfrm xmlns:a="http://schemas.openxmlformats.org/drawingml/2006/main">
            <a:off x="2047875" y="47529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Sketch why BFS is optimal for uniform costs and UCS for positive costs.</a:t>
            </a:r>
          </a:p>
        </p:txBody>
      </p:sp>
      <p:sp>
        <p:nvSpPr>
          <p:cNvPr id="22" name="objective-number-6">
            <a:extLst xmlns:a="http://schemas.openxmlformats.org/drawingml/2006/main">
              <a:ext uri="{FF2B5EF4-FFF2-40B4-BE49-F238E27FC236}">
                <a16:creationId xmlns:a16="http://schemas.microsoft.com/office/drawing/2014/main" id="{3D79AF14-781D-47ED-8EBA-31C7005252BF}"/>
              </a:ext>
            </a:extLst>
          </p:cNvPr>
          <p:cNvSpPr>
            <a:spLocks xmlns:a="http://schemas.openxmlformats.org/drawingml/2006/main" noGrp="1"/>
          </p:cNvSpPr>
          <p:nvPr/>
        </p:nvSpPr>
        <p:spPr>
          <a:xfrm xmlns:a="http://schemas.openxmlformats.org/drawingml/2006/main">
            <a:off x="400050" y="54292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06</a:t>
            </a:r>
          </a:p>
        </p:txBody>
      </p:sp>
      <p:cxnSp>
        <p:nvCxnSpPr>
          <p:cNvPr id="47" name="objective-rule-6"/>
          <p:cNvCxnSpPr/>
          <p:nvPr/>
        </p:nvCxnSpPr>
        <p:spPr>
          <a:xfrm xmlns:a="http://schemas.openxmlformats.org/drawingml/2006/main">
            <a:off x="1076325" y="56578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4" name="objective-text-6">
            <a:extLst xmlns:a="http://schemas.openxmlformats.org/drawingml/2006/main">
              <a:ext uri="{FF2B5EF4-FFF2-40B4-BE49-F238E27FC236}">
                <a16:creationId xmlns:a16="http://schemas.microsoft.com/office/drawing/2014/main" id="{B79C4336-A1BF-4176-9385-4DA1BFA77547}"/>
              </a:ext>
            </a:extLst>
          </p:cNvPr>
          <p:cNvSpPr>
            <a:spLocks xmlns:a="http://schemas.openxmlformats.org/drawingml/2006/main" noGrp="1"/>
          </p:cNvSpPr>
          <p:nvPr/>
        </p:nvSpPr>
        <p:spPr>
          <a:xfrm xmlns:a="http://schemas.openxmlformats.org/drawingml/2006/main">
            <a:off x="2047875" y="54292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Implement all three strategies behind one frontier interface.</a:t>
            </a:r>
          </a:p>
        </p:txBody>
      </p:sp>
    </p:spTree>
    <p:extLst>
      <p:ext uri="{BB962C8B-B14F-4D97-AF65-F5344CB8AC3E}">
        <p14:creationId xmlns:p14="http://schemas.microsoft.com/office/powerpoint/2010/main" val="127284865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3">
            <a:extLst xmlns:a="http://schemas.openxmlformats.org/drawingml/2006/main">
              <a:ext uri="{FF2B5EF4-FFF2-40B4-BE49-F238E27FC236}">
                <a16:creationId xmlns:a16="http://schemas.microsoft.com/office/drawing/2014/main" id="{A8BA371C-3A8C-4A43-BD94-1BB13A023F27}"/>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Frontier ordering defines the search strategy</a:t>
            </a:r>
          </a:p>
        </p:txBody>
      </p:sp>
      <p:sp>
        <p:nvSpPr>
          <p:cNvPr id="2" name="title-accent-3">
            <a:extLst xmlns:a="http://schemas.openxmlformats.org/drawingml/2006/main">
              <a:ext uri="{FF2B5EF4-FFF2-40B4-BE49-F238E27FC236}">
                <a16:creationId xmlns:a16="http://schemas.microsoft.com/office/drawing/2014/main" id="{5972B1F7-754E-4856-9082-0A8808F9B2B5}"/>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3">
            <a:extLst xmlns:a="http://schemas.openxmlformats.org/drawingml/2006/main">
              <a:ext uri="{FF2B5EF4-FFF2-40B4-BE49-F238E27FC236}">
                <a16:creationId xmlns:a16="http://schemas.microsoft.com/office/drawing/2014/main" id="{A635E168-F38C-4D4B-9296-408F96B1CA04}"/>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1</a:t>
            </a:r>
          </a:p>
        </p:txBody>
      </p:sp>
      <p:sp>
        <p:nvSpPr>
          <p:cNvPr id="5" name="footer-number-3">
            <a:extLst xmlns:a="http://schemas.openxmlformats.org/drawingml/2006/main">
              <a:ext uri="{FF2B5EF4-FFF2-40B4-BE49-F238E27FC236}">
                <a16:creationId xmlns:a16="http://schemas.microsoft.com/office/drawing/2014/main" id="{14133655-AD44-4C1D-949D-CA69D84AB57A}"/>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3</a:t>
            </a:r>
          </a:p>
        </p:txBody>
      </p:sp>
      <p:sp>
        <p:nvSpPr>
          <p:cNvPr id="6" name="claim-3">
            <a:extLst xmlns:a="http://schemas.openxmlformats.org/drawingml/2006/main">
              <a:ext uri="{FF2B5EF4-FFF2-40B4-BE49-F238E27FC236}">
                <a16:creationId xmlns:a16="http://schemas.microsoft.com/office/drawing/2014/main" id="{8995A8D3-78E8-41FC-99EE-87D79B6A598D}"/>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BFS, DFS, and UCS share the same expansion loop; only the removal priority changes.</a:t>
            </a:r>
          </a:p>
        </p:txBody>
      </p:sp>
      <p:sp>
        <p:nvSpPr>
          <p:cNvPr id="7" name="claim-panel-3">
            <a:extLst xmlns:a="http://schemas.openxmlformats.org/drawingml/2006/main">
              <a:ext uri="{FF2B5EF4-FFF2-40B4-BE49-F238E27FC236}">
                <a16:creationId xmlns:a16="http://schemas.microsoft.com/office/drawing/2014/main" id="{2AD7E3CB-33BD-4CD1-B97D-D04FE7CDE677}"/>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3">
            <a:extLst xmlns:a="http://schemas.openxmlformats.org/drawingml/2006/main">
              <a:ext uri="{FF2B5EF4-FFF2-40B4-BE49-F238E27FC236}">
                <a16:creationId xmlns:a16="http://schemas.microsoft.com/office/drawing/2014/main" id="{4BE987E0-3869-44C7-86F4-3D3D782BF0E8}"/>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Policy</a:t>
            </a:r>
          </a:p>
        </p:txBody>
      </p:sp>
      <p:sp>
        <p:nvSpPr>
          <p:cNvPr id="9" name="claim-keyword-detail-3">
            <a:extLst xmlns:a="http://schemas.openxmlformats.org/drawingml/2006/main">
              <a:ext uri="{FF2B5EF4-FFF2-40B4-BE49-F238E27FC236}">
                <a16:creationId xmlns:a16="http://schemas.microsoft.com/office/drawing/2014/main" id="{C461A265-3E37-47A3-8320-D8EE82F6E3E1}"/>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Queue, stack, and minimum-g priority produce different search behavior.</a:t>
            </a:r>
          </a:p>
        </p:txBody>
      </p:sp>
      <p:sp>
        <p:nvSpPr>
          <p:cNvPr id="10" name="claim-detail-3-marker-1">
            <a:extLst xmlns:a="http://schemas.openxmlformats.org/drawingml/2006/main">
              <a:ext uri="{FF2B5EF4-FFF2-40B4-BE49-F238E27FC236}">
                <a16:creationId xmlns:a16="http://schemas.microsoft.com/office/drawing/2014/main" id="{D8E68C91-AB1A-484F-B474-C01D74E06EA9}"/>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3-text-1">
            <a:extLst xmlns:a="http://schemas.openxmlformats.org/drawingml/2006/main">
              <a:ext uri="{FF2B5EF4-FFF2-40B4-BE49-F238E27FC236}">
                <a16:creationId xmlns:a16="http://schemas.microsoft.com/office/drawing/2014/main" id="{5DAD0DEE-4CEF-447D-9B40-5DB4DB622E5C}"/>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BFS removes the shallowest node.</a:t>
            </a:r>
          </a:p>
        </p:txBody>
      </p:sp>
      <p:sp>
        <p:nvSpPr>
          <p:cNvPr id="12" name="claim-detail-3-marker-2">
            <a:extLst xmlns:a="http://schemas.openxmlformats.org/drawingml/2006/main">
              <a:ext uri="{FF2B5EF4-FFF2-40B4-BE49-F238E27FC236}">
                <a16:creationId xmlns:a16="http://schemas.microsoft.com/office/drawing/2014/main" id="{C34FBADA-7754-4953-8647-DFBAFC9C3C75}"/>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3-text-2">
            <a:extLst xmlns:a="http://schemas.openxmlformats.org/drawingml/2006/main">
              <a:ext uri="{FF2B5EF4-FFF2-40B4-BE49-F238E27FC236}">
                <a16:creationId xmlns:a16="http://schemas.microsoft.com/office/drawing/2014/main" id="{BB739C41-AA87-454A-B5E3-204390EE8836}"/>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DFS removes the most recently added node.</a:t>
            </a:r>
          </a:p>
        </p:txBody>
      </p:sp>
      <p:sp>
        <p:nvSpPr>
          <p:cNvPr id="14" name="claim-detail-3-marker-3">
            <a:extLst xmlns:a="http://schemas.openxmlformats.org/drawingml/2006/main">
              <a:ext uri="{FF2B5EF4-FFF2-40B4-BE49-F238E27FC236}">
                <a16:creationId xmlns:a16="http://schemas.microsoft.com/office/drawing/2014/main" id="{125E1A31-8C72-4EA2-AE4B-6F0C9249C6BC}"/>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3-text-3">
            <a:extLst xmlns:a="http://schemas.openxmlformats.org/drawingml/2006/main">
              <a:ext uri="{FF2B5EF4-FFF2-40B4-BE49-F238E27FC236}">
                <a16:creationId xmlns:a16="http://schemas.microsoft.com/office/drawing/2014/main" id="{EF3D5112-EEE0-4EC3-9CFF-3CBCA317DC6F}"/>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UCS removes the node with minimum accumulated path cost.</a:t>
            </a:r>
          </a:p>
        </p:txBody>
      </p:sp>
    </p:spTree>
    <p:extLst>
      <p:ext uri="{BB962C8B-B14F-4D97-AF65-F5344CB8AC3E}">
        <p14:creationId xmlns:p14="http://schemas.microsoft.com/office/powerpoint/2010/main" val="210686651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4">
            <a:extLst xmlns:a="http://schemas.openxmlformats.org/drawingml/2006/main">
              <a:ext uri="{FF2B5EF4-FFF2-40B4-BE49-F238E27FC236}">
                <a16:creationId xmlns:a16="http://schemas.microsoft.com/office/drawing/2014/main" id="{98EC6DAB-3B29-4138-AAD5-7A4D5305B9FB}"/>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Search analysis uses four recurring quantities</a:t>
            </a:r>
          </a:p>
        </p:txBody>
      </p:sp>
      <p:sp>
        <p:nvSpPr>
          <p:cNvPr id="2" name="title-accent-4">
            <a:extLst xmlns:a="http://schemas.openxmlformats.org/drawingml/2006/main">
              <a:ext uri="{FF2B5EF4-FFF2-40B4-BE49-F238E27FC236}">
                <a16:creationId xmlns:a16="http://schemas.microsoft.com/office/drawing/2014/main" id="{77CBFCD1-E116-4223-ABD7-946BFD7572B5}"/>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4">
            <a:extLst xmlns:a="http://schemas.openxmlformats.org/drawingml/2006/main">
              <a:ext uri="{FF2B5EF4-FFF2-40B4-BE49-F238E27FC236}">
                <a16:creationId xmlns:a16="http://schemas.microsoft.com/office/drawing/2014/main" id="{46EFA030-F9C5-4509-A086-F5D8F9CBF247}"/>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1</a:t>
            </a:r>
          </a:p>
        </p:txBody>
      </p:sp>
      <p:sp>
        <p:nvSpPr>
          <p:cNvPr id="5" name="footer-number-4">
            <a:extLst xmlns:a="http://schemas.openxmlformats.org/drawingml/2006/main">
              <a:ext uri="{FF2B5EF4-FFF2-40B4-BE49-F238E27FC236}">
                <a16:creationId xmlns:a16="http://schemas.microsoft.com/office/drawing/2014/main" id="{9A2AA68D-0077-4A01-93DC-9E833A6E579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4</a:t>
            </a:r>
          </a:p>
        </p:txBody>
      </p:sp>
      <p:sp>
        <p:nvSpPr>
          <p:cNvPr id="6" name="formula-panel-4">
            <a:extLst xmlns:a="http://schemas.openxmlformats.org/drawingml/2006/main">
              <a:ext uri="{FF2B5EF4-FFF2-40B4-BE49-F238E27FC236}">
                <a16:creationId xmlns:a16="http://schemas.microsoft.com/office/drawing/2014/main" id="{A97A4099-5E3A-4FCC-9F8E-975C2FD89D32}"/>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4">
            <a:extLst xmlns:a="http://schemas.openxmlformats.org/drawingml/2006/main">
              <a:ext uri="{FF2B5EF4-FFF2-40B4-BE49-F238E27FC236}">
                <a16:creationId xmlns:a16="http://schemas.microsoft.com/office/drawing/2014/main" id="{10AF9F5D-51AC-4A1B-835F-0E500BD627BD}"/>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550" b="1">
                <a:solidFill>
                  <a:srgbClr val="111111"/>
                </a:solidFill>
                <a:latin typeface="Cambria Math"/>
                <a:ea typeface="Cambria Math"/>
                <a:cs typeface="Cambria Math"/>
              </a:defRPr>
            </a:pPr>
            <a:r>
              <a:rPr sz="2550" b="1">
                <a:solidFill>
                  <a:srgbClr val="111111"/>
                </a:solidFill>
                <a:latin typeface="Cambria Math"/>
                <a:ea typeface="Cambria Math"/>
                <a:cs typeface="Cambria Math"/>
              </a:rPr>
              <a:t>b = branching factor; d = shallowest solution depth; m = maximum depth; g(n) = path cost</a:t>
            </a:r>
          </a:p>
        </p:txBody>
      </p:sp>
      <p:sp>
        <p:nvSpPr>
          <p:cNvPr id="8" name="formula-definition-4-marker-1">
            <a:extLst xmlns:a="http://schemas.openxmlformats.org/drawingml/2006/main">
              <a:ext uri="{FF2B5EF4-FFF2-40B4-BE49-F238E27FC236}">
                <a16:creationId xmlns:a16="http://schemas.microsoft.com/office/drawing/2014/main" id="{56FC0EEE-6BE5-4169-B056-BD8E644E16BD}"/>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4-text-1">
            <a:extLst xmlns:a="http://schemas.openxmlformats.org/drawingml/2006/main">
              <a:ext uri="{FF2B5EF4-FFF2-40B4-BE49-F238E27FC236}">
                <a16:creationId xmlns:a16="http://schemas.microsoft.com/office/drawing/2014/main" id="{1F967A02-1F98-4BF7-8015-CB51916C2A46}"/>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 bounds the number of successors generated per expansion.</a:t>
            </a:r>
          </a:p>
        </p:txBody>
      </p:sp>
      <p:sp>
        <p:nvSpPr>
          <p:cNvPr id="10" name="formula-definition-4-marker-2">
            <a:extLst xmlns:a="http://schemas.openxmlformats.org/drawingml/2006/main">
              <a:ext uri="{FF2B5EF4-FFF2-40B4-BE49-F238E27FC236}">
                <a16:creationId xmlns:a16="http://schemas.microsoft.com/office/drawing/2014/main" id="{C13759CA-B4FF-42D8-9F2B-1106413A3F2D}"/>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4-text-2">
            <a:extLst xmlns:a="http://schemas.openxmlformats.org/drawingml/2006/main">
              <a:ext uri="{FF2B5EF4-FFF2-40B4-BE49-F238E27FC236}">
                <a16:creationId xmlns:a16="http://schemas.microsoft.com/office/drawing/2014/main" id="{50BEEB7F-AF2E-4779-820B-0502A77CE329}"/>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 counts edges to a shallowest goal.</a:t>
            </a:r>
          </a:p>
        </p:txBody>
      </p:sp>
      <p:sp>
        <p:nvSpPr>
          <p:cNvPr id="12" name="formula-definition-4-marker-3">
            <a:extLst xmlns:a="http://schemas.openxmlformats.org/drawingml/2006/main">
              <a:ext uri="{FF2B5EF4-FFF2-40B4-BE49-F238E27FC236}">
                <a16:creationId xmlns:a16="http://schemas.microsoft.com/office/drawing/2014/main" id="{449474D3-A828-40A2-8DEF-9FC06E8F57EA}"/>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4-text-3">
            <a:extLst xmlns:a="http://schemas.openxmlformats.org/drawingml/2006/main">
              <a:ext uri="{FF2B5EF4-FFF2-40B4-BE49-F238E27FC236}">
                <a16:creationId xmlns:a16="http://schemas.microsoft.com/office/drawing/2014/main" id="{BD56BDD7-6BAF-42AF-9827-B6002D778AFA}"/>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 bounds search depth when the space is finite.</a:t>
            </a:r>
          </a:p>
        </p:txBody>
      </p:sp>
      <p:sp>
        <p:nvSpPr>
          <p:cNvPr id="14" name="formula-definition-4-marker-4">
            <a:extLst xmlns:a="http://schemas.openxmlformats.org/drawingml/2006/main">
              <a:ext uri="{FF2B5EF4-FFF2-40B4-BE49-F238E27FC236}">
                <a16:creationId xmlns:a16="http://schemas.microsoft.com/office/drawing/2014/main" id="{8B528CCA-49DC-4A39-8547-7DF2D1ECB266}"/>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4-text-4">
            <a:extLst xmlns:a="http://schemas.openxmlformats.org/drawingml/2006/main">
              <a:ext uri="{FF2B5EF4-FFF2-40B4-BE49-F238E27FC236}">
                <a16:creationId xmlns:a16="http://schemas.microsoft.com/office/drawing/2014/main" id="{B085D586-E9EB-448F-A6A8-48176F8B95AB}"/>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g(n) sums step costs along node n's path.</a:t>
            </a:r>
          </a:p>
        </p:txBody>
      </p:sp>
      <p:sp>
        <p:nvSpPr>
          <p:cNvPr id="16" name="formula-implication-panel-4">
            <a:extLst xmlns:a="http://schemas.openxmlformats.org/drawingml/2006/main">
              <a:ext uri="{FF2B5EF4-FFF2-40B4-BE49-F238E27FC236}">
                <a16:creationId xmlns:a16="http://schemas.microsoft.com/office/drawing/2014/main" id="{A9F69110-C4B0-4057-B1B1-08537835C4F5}"/>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4">
            <a:extLst xmlns:a="http://schemas.openxmlformats.org/drawingml/2006/main">
              <a:ext uri="{FF2B5EF4-FFF2-40B4-BE49-F238E27FC236}">
                <a16:creationId xmlns:a16="http://schemas.microsoft.com/office/drawing/2014/main" id="{93952223-D491-4AB2-A52C-07FD6F354373}"/>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4">
            <a:extLst xmlns:a="http://schemas.openxmlformats.org/drawingml/2006/main">
              <a:ext uri="{FF2B5EF4-FFF2-40B4-BE49-F238E27FC236}">
                <a16:creationId xmlns:a16="http://schemas.microsoft.com/office/drawing/2014/main" id="{4206EE35-25F2-44B2-A10B-E6C542842CF9}"/>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A guarantee is meaningful only when its cost and graph assumptions are stated.</a:t>
            </a:r>
          </a:p>
        </p:txBody>
      </p:sp>
    </p:spTree>
    <p:extLst>
      <p:ext uri="{BB962C8B-B14F-4D97-AF65-F5344CB8AC3E}">
        <p14:creationId xmlns:p14="http://schemas.microsoft.com/office/powerpoint/2010/main" val="2084005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5">
            <a:extLst xmlns:a="http://schemas.openxmlformats.org/drawingml/2006/main">
              <a:ext uri="{FF2B5EF4-FFF2-40B4-BE49-F238E27FC236}">
                <a16:creationId xmlns:a16="http://schemas.microsoft.com/office/drawing/2014/main" id="{D59D34EE-1342-4149-AEFB-D6FC9BA5AF1D}"/>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Breadth and depth trade memory for commitment</a:t>
            </a:r>
          </a:p>
        </p:txBody>
      </p:sp>
      <p:sp>
        <p:nvSpPr>
          <p:cNvPr id="2" name="title-accent-5">
            <a:extLst xmlns:a="http://schemas.openxmlformats.org/drawingml/2006/main">
              <a:ext uri="{FF2B5EF4-FFF2-40B4-BE49-F238E27FC236}">
                <a16:creationId xmlns:a16="http://schemas.microsoft.com/office/drawing/2014/main" id="{138683E0-4B99-4143-9765-7D322CF940CF}"/>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5">
            <a:extLst xmlns:a="http://schemas.openxmlformats.org/drawingml/2006/main">
              <a:ext uri="{FF2B5EF4-FFF2-40B4-BE49-F238E27FC236}">
                <a16:creationId xmlns:a16="http://schemas.microsoft.com/office/drawing/2014/main" id="{7CF03AAD-93B2-4E1E-8D42-FB84B642D5CE}"/>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1</a:t>
            </a:r>
          </a:p>
        </p:txBody>
      </p:sp>
      <p:sp>
        <p:nvSpPr>
          <p:cNvPr id="5" name="footer-number-5">
            <a:extLst xmlns:a="http://schemas.openxmlformats.org/drawingml/2006/main">
              <a:ext uri="{FF2B5EF4-FFF2-40B4-BE49-F238E27FC236}">
                <a16:creationId xmlns:a16="http://schemas.microsoft.com/office/drawing/2014/main" id="{28450C78-4B5F-4A65-85E4-C22F4045A5BD}"/>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5</a:t>
            </a:r>
          </a:p>
        </p:txBody>
      </p:sp>
      <p:cxnSp>
        <p:nvCxnSpPr>
          <p:cNvPr id="30" name="column-divider-5"/>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5">
            <a:extLst xmlns:a="http://schemas.openxmlformats.org/drawingml/2006/main">
              <a:ext uri="{FF2B5EF4-FFF2-40B4-BE49-F238E27FC236}">
                <a16:creationId xmlns:a16="http://schemas.microsoft.com/office/drawing/2014/main" id="{638D25CC-3D45-4E43-8C6D-3FEAC7BE4E97}"/>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Breadth-first search</a:t>
            </a:r>
          </a:p>
        </p:txBody>
      </p:sp>
      <p:sp>
        <p:nvSpPr>
          <p:cNvPr id="8" name="right-title-5">
            <a:extLst xmlns:a="http://schemas.openxmlformats.org/drawingml/2006/main">
              <a:ext uri="{FF2B5EF4-FFF2-40B4-BE49-F238E27FC236}">
                <a16:creationId xmlns:a16="http://schemas.microsoft.com/office/drawing/2014/main" id="{E8B05A0D-B310-4931-98F5-48823B131329}"/>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Depth-first search</a:t>
            </a:r>
          </a:p>
        </p:txBody>
      </p:sp>
      <p:sp>
        <p:nvSpPr>
          <p:cNvPr id="9" name="left-bullet-5-marker-1">
            <a:extLst xmlns:a="http://schemas.openxmlformats.org/drawingml/2006/main">
              <a:ext uri="{FF2B5EF4-FFF2-40B4-BE49-F238E27FC236}">
                <a16:creationId xmlns:a16="http://schemas.microsoft.com/office/drawing/2014/main" id="{B84826A1-6F2B-48E0-8D4C-7574B571CBDB}"/>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5-text-1">
            <a:extLst xmlns:a="http://schemas.openxmlformats.org/drawingml/2006/main">
              <a:ext uri="{FF2B5EF4-FFF2-40B4-BE49-F238E27FC236}">
                <a16:creationId xmlns:a16="http://schemas.microsoft.com/office/drawing/2014/main" id="{7B92FCEA-9870-4AD0-B6B9-4BF59CE177A5}"/>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FIFO frontier; expand nondecreasing depth.</a:t>
            </a:r>
          </a:p>
        </p:txBody>
      </p:sp>
      <p:sp>
        <p:nvSpPr>
          <p:cNvPr id="11" name="left-bullet-5-marker-2">
            <a:extLst xmlns:a="http://schemas.openxmlformats.org/drawingml/2006/main">
              <a:ext uri="{FF2B5EF4-FFF2-40B4-BE49-F238E27FC236}">
                <a16:creationId xmlns:a16="http://schemas.microsoft.com/office/drawing/2014/main" id="{C8ACE3A7-BF5E-4826-ABB0-5A86A51B7E60}"/>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5-text-2">
            <a:extLst xmlns:a="http://schemas.openxmlformats.org/drawingml/2006/main">
              <a:ext uri="{FF2B5EF4-FFF2-40B4-BE49-F238E27FC236}">
                <a16:creationId xmlns:a16="http://schemas.microsoft.com/office/drawing/2014/main" id="{01FA269C-EA4E-4ADB-A8D7-0522E9AD383E}"/>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Complete for finite branching factor.</a:t>
            </a:r>
          </a:p>
        </p:txBody>
      </p:sp>
      <p:sp>
        <p:nvSpPr>
          <p:cNvPr id="13" name="left-bullet-5-marker-3">
            <a:extLst xmlns:a="http://schemas.openxmlformats.org/drawingml/2006/main">
              <a:ext uri="{FF2B5EF4-FFF2-40B4-BE49-F238E27FC236}">
                <a16:creationId xmlns:a16="http://schemas.microsoft.com/office/drawing/2014/main" id="{516057D5-E472-4FBF-A11F-E45AD5106FAA}"/>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5-text-3">
            <a:extLst xmlns:a="http://schemas.openxmlformats.org/drawingml/2006/main">
              <a:ext uri="{FF2B5EF4-FFF2-40B4-BE49-F238E27FC236}">
                <a16:creationId xmlns:a16="http://schemas.microsoft.com/office/drawing/2014/main" id="{67683B5F-9A5B-4625-B71B-04B39449B6DA}"/>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Optimal when every step has equal cost.</a:t>
            </a:r>
          </a:p>
        </p:txBody>
      </p:sp>
      <p:sp>
        <p:nvSpPr>
          <p:cNvPr id="15" name="left-bullet-5-marker-4">
            <a:extLst xmlns:a="http://schemas.openxmlformats.org/drawingml/2006/main">
              <a:ext uri="{FF2B5EF4-FFF2-40B4-BE49-F238E27FC236}">
                <a16:creationId xmlns:a16="http://schemas.microsoft.com/office/drawing/2014/main" id="{4A5CECF5-165F-4A31-811B-6D1A08E4A8FB}"/>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5-text-4">
            <a:extLst xmlns:a="http://schemas.openxmlformats.org/drawingml/2006/main">
              <a:ext uri="{FF2B5EF4-FFF2-40B4-BE49-F238E27FC236}">
                <a16:creationId xmlns:a16="http://schemas.microsoft.com/office/drawing/2014/main" id="{932106E9-197B-4A55-A475-748C3CB5E03D}"/>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Time and space grow as O(b^d).</a:t>
            </a:r>
          </a:p>
        </p:txBody>
      </p:sp>
      <p:sp>
        <p:nvSpPr>
          <p:cNvPr id="17" name="right-bullet-5-marker-1">
            <a:extLst xmlns:a="http://schemas.openxmlformats.org/drawingml/2006/main">
              <a:ext uri="{FF2B5EF4-FFF2-40B4-BE49-F238E27FC236}">
                <a16:creationId xmlns:a16="http://schemas.microsoft.com/office/drawing/2014/main" id="{FB29B9CD-FC0A-4566-96B4-2BD14B80A445}"/>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5-text-1">
            <a:extLst xmlns:a="http://schemas.openxmlformats.org/drawingml/2006/main">
              <a:ext uri="{FF2B5EF4-FFF2-40B4-BE49-F238E27FC236}">
                <a16:creationId xmlns:a16="http://schemas.microsoft.com/office/drawing/2014/main" id="{276EF215-3DE7-4EB8-87A2-1A9414642027}"/>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LIFO frontier; follow one path deeply.</a:t>
            </a:r>
          </a:p>
        </p:txBody>
      </p:sp>
      <p:sp>
        <p:nvSpPr>
          <p:cNvPr id="19" name="right-bullet-5-marker-2">
            <a:extLst xmlns:a="http://schemas.openxmlformats.org/drawingml/2006/main">
              <a:ext uri="{FF2B5EF4-FFF2-40B4-BE49-F238E27FC236}">
                <a16:creationId xmlns:a16="http://schemas.microsoft.com/office/drawing/2014/main" id="{01BDBC90-9C5A-48F0-84D6-A27A28C30AA9}"/>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5-text-2">
            <a:extLst xmlns:a="http://schemas.openxmlformats.org/drawingml/2006/main">
              <a:ext uri="{FF2B5EF4-FFF2-40B4-BE49-F238E27FC236}">
                <a16:creationId xmlns:a16="http://schemas.microsoft.com/office/drawing/2014/main" id="{5D2971BF-AF63-4989-949C-1E4075DA61D0}"/>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Can fail in infinite-depth spaces.</a:t>
            </a:r>
          </a:p>
        </p:txBody>
      </p:sp>
      <p:sp>
        <p:nvSpPr>
          <p:cNvPr id="21" name="right-bullet-5-marker-3">
            <a:extLst xmlns:a="http://schemas.openxmlformats.org/drawingml/2006/main">
              <a:ext uri="{FF2B5EF4-FFF2-40B4-BE49-F238E27FC236}">
                <a16:creationId xmlns:a16="http://schemas.microsoft.com/office/drawing/2014/main" id="{EBF09B63-585B-4BEA-A788-A26AE02A5661}"/>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5-text-3">
            <a:extLst xmlns:a="http://schemas.openxmlformats.org/drawingml/2006/main">
              <a:ext uri="{FF2B5EF4-FFF2-40B4-BE49-F238E27FC236}">
                <a16:creationId xmlns:a16="http://schemas.microsoft.com/office/drawing/2014/main" id="{3803FA8A-E839-47E6-9FAA-81C2A973569F}"/>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Not generally optimal.</a:t>
            </a:r>
          </a:p>
        </p:txBody>
      </p:sp>
      <p:sp>
        <p:nvSpPr>
          <p:cNvPr id="23" name="right-bullet-5-marker-4">
            <a:extLst xmlns:a="http://schemas.openxmlformats.org/drawingml/2006/main">
              <a:ext uri="{FF2B5EF4-FFF2-40B4-BE49-F238E27FC236}">
                <a16:creationId xmlns:a16="http://schemas.microsoft.com/office/drawing/2014/main" id="{603F8ADC-B7F5-4C01-88F6-B4BE909D3A7A}"/>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5-text-4">
            <a:extLst xmlns:a="http://schemas.openxmlformats.org/drawingml/2006/main">
              <a:ext uri="{FF2B5EF4-FFF2-40B4-BE49-F238E27FC236}">
                <a16:creationId xmlns:a16="http://schemas.microsoft.com/office/drawing/2014/main" id="{8735D47C-1871-4236-9FF1-E14FD70E6BDD}"/>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Space is O(bm); time can be O(b^m).</a:t>
            </a:r>
          </a:p>
        </p:txBody>
      </p:sp>
    </p:spTree>
    <p:extLst>
      <p:ext uri="{BB962C8B-B14F-4D97-AF65-F5344CB8AC3E}">
        <p14:creationId xmlns:p14="http://schemas.microsoft.com/office/powerpoint/2010/main" val="5163563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lide-title-6">
            <a:extLst xmlns:a="http://schemas.openxmlformats.org/drawingml/2006/main">
              <a:ext uri="{FF2B5EF4-FFF2-40B4-BE49-F238E27FC236}">
                <a16:creationId xmlns:a16="http://schemas.microsoft.com/office/drawing/2014/main" id="{CB6C2ACE-B4C3-4CE6-AEDA-98C00BD8C412}"/>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Generic graph search exposes the shared control loop</a:t>
            </a:r>
          </a:p>
        </p:txBody>
      </p:sp>
      <p:sp>
        <p:nvSpPr>
          <p:cNvPr id="2" name="title-accent-6">
            <a:extLst xmlns:a="http://schemas.openxmlformats.org/drawingml/2006/main">
              <a:ext uri="{FF2B5EF4-FFF2-40B4-BE49-F238E27FC236}">
                <a16:creationId xmlns:a16="http://schemas.microsoft.com/office/drawing/2014/main" id="{12F73D9B-2DE5-47C8-981E-4AF2529D06C9}"/>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33" name="title-rule-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6">
            <a:extLst xmlns:a="http://schemas.openxmlformats.org/drawingml/2006/main">
              <a:ext uri="{FF2B5EF4-FFF2-40B4-BE49-F238E27FC236}">
                <a16:creationId xmlns:a16="http://schemas.microsoft.com/office/drawing/2014/main" id="{DDF3588E-5980-4D8D-8F2B-0656888CA488}"/>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1</a:t>
            </a:r>
          </a:p>
        </p:txBody>
      </p:sp>
      <p:sp>
        <p:nvSpPr>
          <p:cNvPr id="5" name="footer-number-6">
            <a:extLst xmlns:a="http://schemas.openxmlformats.org/drawingml/2006/main">
              <a:ext uri="{FF2B5EF4-FFF2-40B4-BE49-F238E27FC236}">
                <a16:creationId xmlns:a16="http://schemas.microsoft.com/office/drawing/2014/main" id="{D7D23A8A-83B1-45F2-ACBF-59456C49231B}"/>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6</a:t>
            </a:r>
          </a:p>
        </p:txBody>
      </p:sp>
      <p:cxnSp>
        <p:nvCxnSpPr>
          <p:cNvPr id="36" name="process-connector-6-1"/>
          <p:cNvCxnSpPr/>
          <p:nvPr/>
        </p:nvCxnSpPr>
        <p:spPr>
          <a:xfrm xmlns:a="http://schemas.openxmlformats.org/drawingml/2006/main">
            <a:off x="25241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7" name="process-connector-6-2"/>
          <p:cNvCxnSpPr/>
          <p:nvPr/>
        </p:nvCxnSpPr>
        <p:spPr>
          <a:xfrm xmlns:a="http://schemas.openxmlformats.org/drawingml/2006/main">
            <a:off x="48482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8" name="process-connector-6-3"/>
          <p:cNvCxnSpPr/>
          <p:nvPr/>
        </p:nvCxnSpPr>
        <p:spPr>
          <a:xfrm xmlns:a="http://schemas.openxmlformats.org/drawingml/2006/main">
            <a:off x="71723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9" name="process-connector-6-4"/>
          <p:cNvCxnSpPr/>
          <p:nvPr/>
        </p:nvCxnSpPr>
        <p:spPr>
          <a:xfrm xmlns:a="http://schemas.openxmlformats.org/drawingml/2006/main">
            <a:off x="9496425" y="3114675"/>
            <a:ext cx="171450" cy="0"/>
          </a:xfrm>
          <a:prstGeom xmlns:a="http://schemas.openxmlformats.org/drawingml/2006/main" prst="straightConnector1">
            <a:avLst/>
          </a:prstGeom>
          <a:ln xmlns:a="http://schemas.openxmlformats.org/drawingml/2006/main" w="19050">
            <a:solidFill>
              <a:srgbClr val="3D8DFF"/>
            </a:solidFill>
            <a:prstDash val="solid"/>
          </a:ln>
        </p:spPr>
      </p:cxnSp>
      <p:sp>
        <p:nvSpPr>
          <p:cNvPr id="10" name="process-node-6-1">
            <a:extLst xmlns:a="http://schemas.openxmlformats.org/drawingml/2006/main">
              <a:ext uri="{FF2B5EF4-FFF2-40B4-BE49-F238E27FC236}">
                <a16:creationId xmlns:a16="http://schemas.microsoft.com/office/drawing/2014/main" id="{291D776D-0255-480C-848F-614E4C6BB9C8}"/>
              </a:ext>
            </a:extLst>
          </p:cNvPr>
          <p:cNvSpPr>
            <a:spLocks xmlns:a="http://schemas.openxmlformats.org/drawingml/2006/main" noGrp="1"/>
          </p:cNvSpPr>
          <p:nvPr/>
        </p:nvSpPr>
        <p:spPr>
          <a:xfrm xmlns:a="http://schemas.openxmlformats.org/drawingml/2006/main">
            <a:off x="4000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process-number-6-1">
            <a:extLst xmlns:a="http://schemas.openxmlformats.org/drawingml/2006/main">
              <a:ext uri="{FF2B5EF4-FFF2-40B4-BE49-F238E27FC236}">
                <a16:creationId xmlns:a16="http://schemas.microsoft.com/office/drawing/2014/main" id="{2517DF12-66A5-443A-BB7A-4B9A11921657}"/>
              </a:ext>
            </a:extLst>
          </p:cNvPr>
          <p:cNvSpPr>
            <a:spLocks xmlns:a="http://schemas.openxmlformats.org/drawingml/2006/main" noGrp="1"/>
          </p:cNvSpPr>
          <p:nvPr/>
        </p:nvSpPr>
        <p:spPr>
          <a:xfrm xmlns:a="http://schemas.openxmlformats.org/drawingml/2006/main">
            <a:off x="5715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2" name="process-title-6-1">
            <a:extLst xmlns:a="http://schemas.openxmlformats.org/drawingml/2006/main">
              <a:ext uri="{FF2B5EF4-FFF2-40B4-BE49-F238E27FC236}">
                <a16:creationId xmlns:a16="http://schemas.microsoft.com/office/drawing/2014/main" id="{5A41FF27-9402-4644-AD2B-6A54175661C0}"/>
              </a:ext>
            </a:extLst>
          </p:cNvPr>
          <p:cNvSpPr>
            <a:spLocks xmlns:a="http://schemas.openxmlformats.org/drawingml/2006/main" noGrp="1"/>
          </p:cNvSpPr>
          <p:nvPr/>
        </p:nvSpPr>
        <p:spPr>
          <a:xfrm xmlns:a="http://schemas.openxmlformats.org/drawingml/2006/main">
            <a:off x="5715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Initialize</a:t>
            </a:r>
          </a:p>
        </p:txBody>
      </p:sp>
      <p:sp>
        <p:nvSpPr>
          <p:cNvPr id="13" name="process-detail-6-1">
            <a:extLst xmlns:a="http://schemas.openxmlformats.org/drawingml/2006/main">
              <a:ext uri="{FF2B5EF4-FFF2-40B4-BE49-F238E27FC236}">
                <a16:creationId xmlns:a16="http://schemas.microsoft.com/office/drawing/2014/main" id="{2979BB72-14E2-4B67-8B81-447F90E0B025}"/>
              </a:ext>
            </a:extLst>
          </p:cNvPr>
          <p:cNvSpPr>
            <a:spLocks xmlns:a="http://schemas.openxmlformats.org/drawingml/2006/main" noGrp="1"/>
          </p:cNvSpPr>
          <p:nvPr/>
        </p:nvSpPr>
        <p:spPr>
          <a:xfrm xmlns:a="http://schemas.openxmlformats.org/drawingml/2006/main">
            <a:off x="5715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Create the root node and frontier.</a:t>
            </a:r>
          </a:p>
        </p:txBody>
      </p:sp>
      <p:sp>
        <p:nvSpPr>
          <p:cNvPr id="14" name="process-node-6-2">
            <a:extLst xmlns:a="http://schemas.openxmlformats.org/drawingml/2006/main">
              <a:ext uri="{FF2B5EF4-FFF2-40B4-BE49-F238E27FC236}">
                <a16:creationId xmlns:a16="http://schemas.microsoft.com/office/drawing/2014/main" id="{5B9FD0C7-CFA4-4041-82F6-18345349B9E1}"/>
              </a:ext>
            </a:extLst>
          </p:cNvPr>
          <p:cNvSpPr>
            <a:spLocks xmlns:a="http://schemas.openxmlformats.org/drawingml/2006/main" noGrp="1"/>
          </p:cNvSpPr>
          <p:nvPr/>
        </p:nvSpPr>
        <p:spPr>
          <a:xfrm xmlns:a="http://schemas.openxmlformats.org/drawingml/2006/main">
            <a:off x="27241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5" name="process-number-6-2">
            <a:extLst xmlns:a="http://schemas.openxmlformats.org/drawingml/2006/main">
              <a:ext uri="{FF2B5EF4-FFF2-40B4-BE49-F238E27FC236}">
                <a16:creationId xmlns:a16="http://schemas.microsoft.com/office/drawing/2014/main" id="{861086F3-4262-465E-97B6-4F9588086BFB}"/>
              </a:ext>
            </a:extLst>
          </p:cNvPr>
          <p:cNvSpPr>
            <a:spLocks xmlns:a="http://schemas.openxmlformats.org/drawingml/2006/main" noGrp="1"/>
          </p:cNvSpPr>
          <p:nvPr/>
        </p:nvSpPr>
        <p:spPr>
          <a:xfrm xmlns:a="http://schemas.openxmlformats.org/drawingml/2006/main">
            <a:off x="28956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6" name="process-title-6-2">
            <a:extLst xmlns:a="http://schemas.openxmlformats.org/drawingml/2006/main">
              <a:ext uri="{FF2B5EF4-FFF2-40B4-BE49-F238E27FC236}">
                <a16:creationId xmlns:a16="http://schemas.microsoft.com/office/drawing/2014/main" id="{0EE4691B-B6C1-4A11-8D75-E8D675CCEB9F}"/>
              </a:ext>
            </a:extLst>
          </p:cNvPr>
          <p:cNvSpPr>
            <a:spLocks xmlns:a="http://schemas.openxmlformats.org/drawingml/2006/main" noGrp="1"/>
          </p:cNvSpPr>
          <p:nvPr/>
        </p:nvSpPr>
        <p:spPr>
          <a:xfrm xmlns:a="http://schemas.openxmlformats.org/drawingml/2006/main">
            <a:off x="28956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Remove</a:t>
            </a:r>
          </a:p>
        </p:txBody>
      </p:sp>
      <p:sp>
        <p:nvSpPr>
          <p:cNvPr id="17" name="process-detail-6-2">
            <a:extLst xmlns:a="http://schemas.openxmlformats.org/drawingml/2006/main">
              <a:ext uri="{FF2B5EF4-FFF2-40B4-BE49-F238E27FC236}">
                <a16:creationId xmlns:a16="http://schemas.microsoft.com/office/drawing/2014/main" id="{93768F70-4359-419D-8D54-990C7680B586}"/>
              </a:ext>
            </a:extLst>
          </p:cNvPr>
          <p:cNvSpPr>
            <a:spLocks xmlns:a="http://schemas.openxmlformats.org/drawingml/2006/main" noGrp="1"/>
          </p:cNvSpPr>
          <p:nvPr/>
        </p:nvSpPr>
        <p:spPr>
          <a:xfrm xmlns:a="http://schemas.openxmlformats.org/drawingml/2006/main">
            <a:off x="28956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Apply the strategy's priority.</a:t>
            </a:r>
          </a:p>
        </p:txBody>
      </p:sp>
      <p:sp>
        <p:nvSpPr>
          <p:cNvPr id="18" name="process-node-6-3">
            <a:extLst xmlns:a="http://schemas.openxmlformats.org/drawingml/2006/main">
              <a:ext uri="{FF2B5EF4-FFF2-40B4-BE49-F238E27FC236}">
                <a16:creationId xmlns:a16="http://schemas.microsoft.com/office/drawing/2014/main" id="{820CA767-B96A-49A8-B1B6-BEB9AFA1B5DD}"/>
              </a:ext>
            </a:extLst>
          </p:cNvPr>
          <p:cNvSpPr>
            <a:spLocks xmlns:a="http://schemas.openxmlformats.org/drawingml/2006/main" noGrp="1"/>
          </p:cNvSpPr>
          <p:nvPr/>
        </p:nvSpPr>
        <p:spPr>
          <a:xfrm xmlns:a="http://schemas.openxmlformats.org/drawingml/2006/main">
            <a:off x="50482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9" name="process-number-6-3">
            <a:extLst xmlns:a="http://schemas.openxmlformats.org/drawingml/2006/main">
              <a:ext uri="{FF2B5EF4-FFF2-40B4-BE49-F238E27FC236}">
                <a16:creationId xmlns:a16="http://schemas.microsoft.com/office/drawing/2014/main" id="{4B478D54-26DB-450F-BEFB-C31E3A7465AF}"/>
              </a:ext>
            </a:extLst>
          </p:cNvPr>
          <p:cNvSpPr>
            <a:spLocks xmlns:a="http://schemas.openxmlformats.org/drawingml/2006/main" noGrp="1"/>
          </p:cNvSpPr>
          <p:nvPr/>
        </p:nvSpPr>
        <p:spPr>
          <a:xfrm xmlns:a="http://schemas.openxmlformats.org/drawingml/2006/main">
            <a:off x="52197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20" name="process-title-6-3">
            <a:extLst xmlns:a="http://schemas.openxmlformats.org/drawingml/2006/main">
              <a:ext uri="{FF2B5EF4-FFF2-40B4-BE49-F238E27FC236}">
                <a16:creationId xmlns:a16="http://schemas.microsoft.com/office/drawing/2014/main" id="{36FD5A6F-D3DB-43E9-92A6-E4171217E9F8}"/>
              </a:ext>
            </a:extLst>
          </p:cNvPr>
          <p:cNvSpPr>
            <a:spLocks xmlns:a="http://schemas.openxmlformats.org/drawingml/2006/main" noGrp="1"/>
          </p:cNvSpPr>
          <p:nvPr/>
        </p:nvSpPr>
        <p:spPr>
          <a:xfrm xmlns:a="http://schemas.openxmlformats.org/drawingml/2006/main">
            <a:off x="52197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Test</a:t>
            </a:r>
          </a:p>
        </p:txBody>
      </p:sp>
      <p:sp>
        <p:nvSpPr>
          <p:cNvPr id="21" name="process-detail-6-3">
            <a:extLst xmlns:a="http://schemas.openxmlformats.org/drawingml/2006/main">
              <a:ext uri="{FF2B5EF4-FFF2-40B4-BE49-F238E27FC236}">
                <a16:creationId xmlns:a16="http://schemas.microsoft.com/office/drawing/2014/main" id="{E1F3B075-D362-48B0-AEE4-7EBCE2F76620}"/>
              </a:ext>
            </a:extLst>
          </p:cNvPr>
          <p:cNvSpPr>
            <a:spLocks xmlns:a="http://schemas.openxmlformats.org/drawingml/2006/main" noGrp="1"/>
          </p:cNvSpPr>
          <p:nvPr/>
        </p:nvSpPr>
        <p:spPr>
          <a:xfrm xmlns:a="http://schemas.openxmlformats.org/drawingml/2006/main">
            <a:off x="52197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Return if the node state is a goal.</a:t>
            </a:r>
          </a:p>
        </p:txBody>
      </p:sp>
      <p:sp>
        <p:nvSpPr>
          <p:cNvPr id="22" name="process-node-6-4">
            <a:extLst xmlns:a="http://schemas.openxmlformats.org/drawingml/2006/main">
              <a:ext uri="{FF2B5EF4-FFF2-40B4-BE49-F238E27FC236}">
                <a16:creationId xmlns:a16="http://schemas.microsoft.com/office/drawing/2014/main" id="{3814BA4D-4B1E-47FE-8D15-CBF2709C24A0}"/>
              </a:ext>
            </a:extLst>
          </p:cNvPr>
          <p:cNvSpPr>
            <a:spLocks xmlns:a="http://schemas.openxmlformats.org/drawingml/2006/main" noGrp="1"/>
          </p:cNvSpPr>
          <p:nvPr/>
        </p:nvSpPr>
        <p:spPr>
          <a:xfrm xmlns:a="http://schemas.openxmlformats.org/drawingml/2006/main">
            <a:off x="73723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3" name="process-number-6-4">
            <a:extLst xmlns:a="http://schemas.openxmlformats.org/drawingml/2006/main">
              <a:ext uri="{FF2B5EF4-FFF2-40B4-BE49-F238E27FC236}">
                <a16:creationId xmlns:a16="http://schemas.microsoft.com/office/drawing/2014/main" id="{402D335B-2E3D-4A8F-9B16-B3118AEB62DA}"/>
              </a:ext>
            </a:extLst>
          </p:cNvPr>
          <p:cNvSpPr>
            <a:spLocks xmlns:a="http://schemas.openxmlformats.org/drawingml/2006/main" noGrp="1"/>
          </p:cNvSpPr>
          <p:nvPr/>
        </p:nvSpPr>
        <p:spPr>
          <a:xfrm xmlns:a="http://schemas.openxmlformats.org/drawingml/2006/main">
            <a:off x="75438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04</a:t>
            </a:r>
          </a:p>
        </p:txBody>
      </p:sp>
      <p:sp>
        <p:nvSpPr>
          <p:cNvPr id="24" name="process-title-6-4">
            <a:extLst xmlns:a="http://schemas.openxmlformats.org/drawingml/2006/main">
              <a:ext uri="{FF2B5EF4-FFF2-40B4-BE49-F238E27FC236}">
                <a16:creationId xmlns:a16="http://schemas.microsoft.com/office/drawing/2014/main" id="{0FC17B2D-287A-4B4A-BBB3-EB768CC68E20}"/>
              </a:ext>
            </a:extLst>
          </p:cNvPr>
          <p:cNvSpPr>
            <a:spLocks xmlns:a="http://schemas.openxmlformats.org/drawingml/2006/main" noGrp="1"/>
          </p:cNvSpPr>
          <p:nvPr/>
        </p:nvSpPr>
        <p:spPr>
          <a:xfrm xmlns:a="http://schemas.openxmlformats.org/drawingml/2006/main">
            <a:off x="75438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Expand</a:t>
            </a:r>
          </a:p>
        </p:txBody>
      </p:sp>
      <p:sp>
        <p:nvSpPr>
          <p:cNvPr id="25" name="process-detail-6-4">
            <a:extLst xmlns:a="http://schemas.openxmlformats.org/drawingml/2006/main">
              <a:ext uri="{FF2B5EF4-FFF2-40B4-BE49-F238E27FC236}">
                <a16:creationId xmlns:a16="http://schemas.microsoft.com/office/drawing/2014/main" id="{DCC0A385-A488-46CC-B0C1-12CDA57AC4B2}"/>
              </a:ext>
            </a:extLst>
          </p:cNvPr>
          <p:cNvSpPr>
            <a:spLocks xmlns:a="http://schemas.openxmlformats.org/drawingml/2006/main" noGrp="1"/>
          </p:cNvSpPr>
          <p:nvPr/>
        </p:nvSpPr>
        <p:spPr>
          <a:xfrm xmlns:a="http://schemas.openxmlformats.org/drawingml/2006/main">
            <a:off x="75438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Generate legal child nodes.</a:t>
            </a:r>
          </a:p>
        </p:txBody>
      </p:sp>
      <p:sp>
        <p:nvSpPr>
          <p:cNvPr id="26" name="process-node-6-5">
            <a:extLst xmlns:a="http://schemas.openxmlformats.org/drawingml/2006/main">
              <a:ext uri="{FF2B5EF4-FFF2-40B4-BE49-F238E27FC236}">
                <a16:creationId xmlns:a16="http://schemas.microsoft.com/office/drawing/2014/main" id="{FEA08488-FF89-4694-AF28-6C6DA53553D7}"/>
              </a:ext>
            </a:extLst>
          </p:cNvPr>
          <p:cNvSpPr>
            <a:spLocks xmlns:a="http://schemas.openxmlformats.org/drawingml/2006/main" noGrp="1"/>
          </p:cNvSpPr>
          <p:nvPr/>
        </p:nvSpPr>
        <p:spPr>
          <a:xfrm xmlns:a="http://schemas.openxmlformats.org/drawingml/2006/main">
            <a:off x="9696450" y="2238375"/>
            <a:ext cx="2095500" cy="2381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27" name="process-number-6-5">
            <a:extLst xmlns:a="http://schemas.openxmlformats.org/drawingml/2006/main">
              <a:ext uri="{FF2B5EF4-FFF2-40B4-BE49-F238E27FC236}">
                <a16:creationId xmlns:a16="http://schemas.microsoft.com/office/drawing/2014/main" id="{39963CFB-89B5-4FA8-A63B-43478A3C2D9B}"/>
              </a:ext>
            </a:extLst>
          </p:cNvPr>
          <p:cNvSpPr>
            <a:spLocks xmlns:a="http://schemas.openxmlformats.org/drawingml/2006/main" noGrp="1"/>
          </p:cNvSpPr>
          <p:nvPr/>
        </p:nvSpPr>
        <p:spPr>
          <a:xfrm xmlns:a="http://schemas.openxmlformats.org/drawingml/2006/main">
            <a:off x="98679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05</a:t>
            </a:r>
          </a:p>
        </p:txBody>
      </p:sp>
      <p:sp>
        <p:nvSpPr>
          <p:cNvPr id="28" name="process-title-6-5">
            <a:extLst xmlns:a="http://schemas.openxmlformats.org/drawingml/2006/main">
              <a:ext uri="{FF2B5EF4-FFF2-40B4-BE49-F238E27FC236}">
                <a16:creationId xmlns:a16="http://schemas.microsoft.com/office/drawing/2014/main" id="{C074F944-1C31-4A52-8ED7-1769607AE9DF}"/>
              </a:ext>
            </a:extLst>
          </p:cNvPr>
          <p:cNvSpPr>
            <a:spLocks xmlns:a="http://schemas.openxmlformats.org/drawingml/2006/main" noGrp="1"/>
          </p:cNvSpPr>
          <p:nvPr/>
        </p:nvSpPr>
        <p:spPr>
          <a:xfrm xmlns:a="http://schemas.openxmlformats.org/drawingml/2006/main">
            <a:off x="98679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Deduplicate</a:t>
            </a:r>
          </a:p>
        </p:txBody>
      </p:sp>
      <p:sp>
        <p:nvSpPr>
          <p:cNvPr id="29" name="process-detail-6-5">
            <a:extLst xmlns:a="http://schemas.openxmlformats.org/drawingml/2006/main">
              <a:ext uri="{FF2B5EF4-FFF2-40B4-BE49-F238E27FC236}">
                <a16:creationId xmlns:a16="http://schemas.microsoft.com/office/drawing/2014/main" id="{B0EAA73D-9713-446F-8E84-D17402030CF1}"/>
              </a:ext>
            </a:extLst>
          </p:cNvPr>
          <p:cNvSpPr>
            <a:spLocks xmlns:a="http://schemas.openxmlformats.org/drawingml/2006/main" noGrp="1"/>
          </p:cNvSpPr>
          <p:nvPr/>
        </p:nvSpPr>
        <p:spPr>
          <a:xfrm xmlns:a="http://schemas.openxmlformats.org/drawingml/2006/main">
            <a:off x="98679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Control repeated states and cost updates.</a:t>
            </a:r>
          </a:p>
        </p:txBody>
      </p:sp>
      <p:sp>
        <p:nvSpPr>
          <p:cNvPr id="30" name="process-takeaway-6">
            <a:extLst xmlns:a="http://schemas.openxmlformats.org/drawingml/2006/main">
              <a:ext uri="{FF2B5EF4-FFF2-40B4-BE49-F238E27FC236}">
                <a16:creationId xmlns:a16="http://schemas.microsoft.com/office/drawing/2014/main" id="{EE833819-BF86-4DF1-9446-00AB755FBE60}"/>
              </a:ext>
            </a:extLst>
          </p:cNvPr>
          <p:cNvSpPr>
            <a:spLocks xmlns:a="http://schemas.openxmlformats.org/drawingml/2006/main" noGrp="1"/>
          </p:cNvSpPr>
          <p:nvPr/>
        </p:nvSpPr>
        <p:spPr>
          <a:xfrm xmlns:a="http://schemas.openxmlformats.org/drawingml/2006/main">
            <a:off x="400050" y="5095875"/>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Correct duplicate handling is part of the algorithm, not a performance afterthought.</a:t>
            </a:r>
          </a:p>
        </p:txBody>
      </p:sp>
    </p:spTree>
    <p:extLst>
      <p:ext uri="{BB962C8B-B14F-4D97-AF65-F5344CB8AC3E}">
        <p14:creationId xmlns:p14="http://schemas.microsoft.com/office/powerpoint/2010/main" val="1624540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7">
            <a:extLst xmlns:a="http://schemas.openxmlformats.org/drawingml/2006/main">
              <a:ext uri="{FF2B5EF4-FFF2-40B4-BE49-F238E27FC236}">
                <a16:creationId xmlns:a16="http://schemas.microsoft.com/office/drawing/2014/main" id="{DC2FCE1A-B3ED-47D4-ABFC-428F86A365DC}"/>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One search loop accepts a frontier policy</a:t>
            </a:r>
          </a:p>
        </p:txBody>
      </p:sp>
      <p:sp>
        <p:nvSpPr>
          <p:cNvPr id="2" name="title-accent-7">
            <a:extLst xmlns:a="http://schemas.openxmlformats.org/drawingml/2006/main">
              <a:ext uri="{FF2B5EF4-FFF2-40B4-BE49-F238E27FC236}">
                <a16:creationId xmlns:a16="http://schemas.microsoft.com/office/drawing/2014/main" id="{F8018F74-0346-4433-B582-41703D86A476}"/>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9" name="title-rule-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7">
            <a:extLst xmlns:a="http://schemas.openxmlformats.org/drawingml/2006/main">
              <a:ext uri="{FF2B5EF4-FFF2-40B4-BE49-F238E27FC236}">
                <a16:creationId xmlns:a16="http://schemas.microsoft.com/office/drawing/2014/main" id="{CDF8A015-A85D-4A0D-A1A1-D41F37401C3D}"/>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1</a:t>
            </a:r>
          </a:p>
        </p:txBody>
      </p:sp>
      <p:sp>
        <p:nvSpPr>
          <p:cNvPr id="5" name="footer-number-7">
            <a:extLst xmlns:a="http://schemas.openxmlformats.org/drawingml/2006/main">
              <a:ext uri="{FF2B5EF4-FFF2-40B4-BE49-F238E27FC236}">
                <a16:creationId xmlns:a16="http://schemas.microsoft.com/office/drawing/2014/main" id="{DE9CAF80-FDE2-4958-9F52-1345AE9E1B2A}"/>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7</a:t>
            </a:r>
          </a:p>
        </p:txBody>
      </p:sp>
      <p:sp>
        <p:nvSpPr>
          <p:cNvPr id="6" name="code-panel-7">
            <a:extLst xmlns:a="http://schemas.openxmlformats.org/drawingml/2006/main">
              <a:ext uri="{FF2B5EF4-FFF2-40B4-BE49-F238E27FC236}">
                <a16:creationId xmlns:a16="http://schemas.microsoft.com/office/drawing/2014/main" id="{C7AB9251-E71B-45E5-976C-71D63AD3047B}"/>
              </a:ext>
            </a:extLst>
          </p:cNvPr>
          <p:cNvSpPr>
            <a:spLocks xmlns:a="http://schemas.openxmlformats.org/drawingml/2006/main" noGrp="1"/>
          </p:cNvSpPr>
          <p:nvPr/>
        </p:nvSpPr>
        <p:spPr>
          <a:xfrm xmlns:a="http://schemas.openxmlformats.org/drawingml/2006/main">
            <a:off x="400050" y="1600200"/>
            <a:ext cx="7410450" cy="4095750"/>
          </a:xfrm>
          <a:prstGeom xmlns:a="http://schemas.openxmlformats.org/drawingml/2006/main" prst="rect">
            <a:avLst/>
          </a:prstGeom>
          <a:solidFill xmlns:a="http://schemas.openxmlformats.org/drawingml/2006/main">
            <a:srgbClr val="F5F6F7"/>
          </a:solidFill>
          <a:ln xmlns:a="http://schemas.openxmlformats.org/drawingml/2006/main" w="9525">
            <a:solidFill>
              <a:srgbClr val="B8BCC4"/>
            </a:solidFill>
            <a:prstDash val="solid"/>
          </a:ln>
        </p:spPr>
      </p:sp>
      <p:sp>
        <p:nvSpPr>
          <p:cNvPr id="7" name="code-7">
            <a:extLst xmlns:a="http://schemas.openxmlformats.org/drawingml/2006/main">
              <a:ext uri="{FF2B5EF4-FFF2-40B4-BE49-F238E27FC236}">
                <a16:creationId xmlns:a16="http://schemas.microsoft.com/office/drawing/2014/main" id="{CF33B313-EDEA-46F8-BFF6-CE4307346EF4}"/>
              </a:ext>
            </a:extLst>
          </p:cNvPr>
          <p:cNvSpPr>
            <a:spLocks xmlns:a="http://schemas.openxmlformats.org/drawingml/2006/main" noGrp="1"/>
          </p:cNvSpPr>
          <p:nvPr/>
        </p:nvSpPr>
        <p:spPr>
          <a:xfrm xmlns:a="http://schemas.openxmlformats.org/drawingml/2006/main">
            <a:off x="647700" y="1838325"/>
            <a:ext cx="691515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function SEARCH(problem, frontier):</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frontier.add(root(problem))</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best = {initial: 0}</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explored = empty set</a:t>
            </a:r>
          </a:p>
          <a:p xmlns:a="http://schemas.openxmlformats.org/drawingml/2006/main">
            <a:r>
              <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while not frontier.empty():</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node = frontier.remove()</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if goal(node.state):</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return path(node)</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if node.state in explored:</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continue</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explored.add(node.state)</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for child in expand(node):</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if child.g &lt; best.get(child.state, infinity):</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best[child.state] = child.g</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frontier.add(child)</a:t>
            </a:r>
          </a:p>
          <a:p xmlns:a="http://schemas.openxmlformats.org/drawingml/2006/main">
            <a:pPr algn="l">
              <a:defRPr sz="1200" b="0">
                <a:solidFill>
                  <a:srgbClr val="111111"/>
                </a:solidFill>
                <a:latin typeface="Consolas"/>
                <a:ea typeface="Consolas"/>
                <a:cs typeface="Consolas"/>
              </a:defRPr>
            </a:pPr>
            <a:r>
              <a:rPr sz="1200" b="0">
                <a:solidFill>
                  <a:srgbClr val="111111"/>
                </a:solidFill>
                <a:latin typeface="Consolas"/>
                <a:ea typeface="Consolas"/>
                <a:cs typeface="Consolas"/>
              </a:rPr>
              <a:t>    return failure</a:t>
            </a:r>
          </a:p>
        </p:txBody>
      </p:sp>
      <p:sp>
        <p:nvSpPr>
          <p:cNvPr id="8" name="code-rail-title-7">
            <a:extLst xmlns:a="http://schemas.openxmlformats.org/drawingml/2006/main">
              <a:ext uri="{FF2B5EF4-FFF2-40B4-BE49-F238E27FC236}">
                <a16:creationId xmlns:a16="http://schemas.microsoft.com/office/drawing/2014/main" id="{1020F06F-7960-491C-B576-4382C76D7AF2}"/>
              </a:ext>
            </a:extLst>
          </p:cNvPr>
          <p:cNvSpPr>
            <a:spLocks xmlns:a="http://schemas.openxmlformats.org/drawingml/2006/main" noGrp="1"/>
          </p:cNvSpPr>
          <p:nvPr/>
        </p:nvSpPr>
        <p:spPr>
          <a:xfrm xmlns:a="http://schemas.openxmlformats.org/drawingml/2006/main">
            <a:off x="8191500" y="16859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Frontier choices</a:t>
            </a:r>
          </a:p>
        </p:txBody>
      </p:sp>
      <p:sp>
        <p:nvSpPr>
          <p:cNvPr id="9" name="code-rail-7-marker-1">
            <a:extLst xmlns:a="http://schemas.openxmlformats.org/drawingml/2006/main">
              <a:ext uri="{FF2B5EF4-FFF2-40B4-BE49-F238E27FC236}">
                <a16:creationId xmlns:a16="http://schemas.microsoft.com/office/drawing/2014/main" id="{11F571F5-7D70-4489-B958-8A2EB0439528}"/>
              </a:ext>
            </a:extLst>
          </p:cNvPr>
          <p:cNvSpPr>
            <a:spLocks xmlns:a="http://schemas.openxmlformats.org/drawingml/2006/main" noGrp="1"/>
          </p:cNvSpPr>
          <p:nvPr/>
        </p:nvSpPr>
        <p:spPr>
          <a:xfrm xmlns:a="http://schemas.openxmlformats.org/drawingml/2006/main">
            <a:off x="8191500" y="24669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code-rail-7-text-1">
            <a:extLst xmlns:a="http://schemas.openxmlformats.org/drawingml/2006/main">
              <a:ext uri="{FF2B5EF4-FFF2-40B4-BE49-F238E27FC236}">
                <a16:creationId xmlns:a16="http://schemas.microsoft.com/office/drawing/2014/main" id="{F6C0488E-4399-4935-89F7-80AA7E06C4AF}"/>
              </a:ext>
            </a:extLst>
          </p:cNvPr>
          <p:cNvSpPr>
            <a:spLocks xmlns:a="http://schemas.openxmlformats.org/drawingml/2006/main" noGrp="1"/>
          </p:cNvSpPr>
          <p:nvPr/>
        </p:nvSpPr>
        <p:spPr>
          <a:xfrm xmlns:a="http://schemas.openxmlformats.org/drawingml/2006/main">
            <a:off x="8420100" y="23812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BFS: FIFO by depth.</a:t>
            </a:r>
          </a:p>
        </p:txBody>
      </p:sp>
      <p:sp>
        <p:nvSpPr>
          <p:cNvPr id="11" name="code-rail-7-marker-2">
            <a:extLst xmlns:a="http://schemas.openxmlformats.org/drawingml/2006/main">
              <a:ext uri="{FF2B5EF4-FFF2-40B4-BE49-F238E27FC236}">
                <a16:creationId xmlns:a16="http://schemas.microsoft.com/office/drawing/2014/main" id="{11B48D34-0739-49AD-BA5F-6F27A043CA78}"/>
              </a:ext>
            </a:extLst>
          </p:cNvPr>
          <p:cNvSpPr>
            <a:spLocks xmlns:a="http://schemas.openxmlformats.org/drawingml/2006/main" noGrp="1"/>
          </p:cNvSpPr>
          <p:nvPr/>
        </p:nvSpPr>
        <p:spPr>
          <a:xfrm xmlns:a="http://schemas.openxmlformats.org/drawingml/2006/main">
            <a:off x="8191500" y="32099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code-rail-7-text-2">
            <a:extLst xmlns:a="http://schemas.openxmlformats.org/drawingml/2006/main">
              <a:ext uri="{FF2B5EF4-FFF2-40B4-BE49-F238E27FC236}">
                <a16:creationId xmlns:a16="http://schemas.microsoft.com/office/drawing/2014/main" id="{C4DBC2BE-4F90-47CD-90BC-FDB12FCCCE1D}"/>
              </a:ext>
            </a:extLst>
          </p:cNvPr>
          <p:cNvSpPr>
            <a:spLocks xmlns:a="http://schemas.openxmlformats.org/drawingml/2006/main" noGrp="1"/>
          </p:cNvSpPr>
          <p:nvPr/>
        </p:nvSpPr>
        <p:spPr>
          <a:xfrm xmlns:a="http://schemas.openxmlformats.org/drawingml/2006/main">
            <a:off x="8420100" y="31242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DFS: LIFO.</a:t>
            </a:r>
          </a:p>
        </p:txBody>
      </p:sp>
      <p:sp>
        <p:nvSpPr>
          <p:cNvPr id="13" name="code-rail-7-marker-3">
            <a:extLst xmlns:a="http://schemas.openxmlformats.org/drawingml/2006/main">
              <a:ext uri="{FF2B5EF4-FFF2-40B4-BE49-F238E27FC236}">
                <a16:creationId xmlns:a16="http://schemas.microsoft.com/office/drawing/2014/main" id="{FF7DFF8B-D088-4B7C-AF60-034668CB0D5A}"/>
              </a:ext>
            </a:extLst>
          </p:cNvPr>
          <p:cNvSpPr>
            <a:spLocks xmlns:a="http://schemas.openxmlformats.org/drawingml/2006/main" noGrp="1"/>
          </p:cNvSpPr>
          <p:nvPr/>
        </p:nvSpPr>
        <p:spPr>
          <a:xfrm xmlns:a="http://schemas.openxmlformats.org/drawingml/2006/main">
            <a:off x="8191500" y="39528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code-rail-7-text-3">
            <a:extLst xmlns:a="http://schemas.openxmlformats.org/drawingml/2006/main">
              <a:ext uri="{FF2B5EF4-FFF2-40B4-BE49-F238E27FC236}">
                <a16:creationId xmlns:a16="http://schemas.microsoft.com/office/drawing/2014/main" id="{7D600B15-03CE-413B-BA21-7F104A76D39B}"/>
              </a:ext>
            </a:extLst>
          </p:cNvPr>
          <p:cNvSpPr>
            <a:spLocks xmlns:a="http://schemas.openxmlformats.org/drawingml/2006/main" noGrp="1"/>
          </p:cNvSpPr>
          <p:nvPr/>
        </p:nvSpPr>
        <p:spPr>
          <a:xfrm xmlns:a="http://schemas.openxmlformats.org/drawingml/2006/main">
            <a:off x="8420100" y="38671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UCS: minimum g.</a:t>
            </a:r>
          </a:p>
        </p:txBody>
      </p:sp>
      <p:sp>
        <p:nvSpPr>
          <p:cNvPr id="15" name="code-rail-7-marker-4">
            <a:extLst xmlns:a="http://schemas.openxmlformats.org/drawingml/2006/main">
              <a:ext uri="{FF2B5EF4-FFF2-40B4-BE49-F238E27FC236}">
                <a16:creationId xmlns:a16="http://schemas.microsoft.com/office/drawing/2014/main" id="{2621B359-06B5-4855-9892-8C4DF804C015}"/>
              </a:ext>
            </a:extLst>
          </p:cNvPr>
          <p:cNvSpPr>
            <a:spLocks xmlns:a="http://schemas.openxmlformats.org/drawingml/2006/main" noGrp="1"/>
          </p:cNvSpPr>
          <p:nvPr/>
        </p:nvSpPr>
        <p:spPr>
          <a:xfrm xmlns:a="http://schemas.openxmlformats.org/drawingml/2006/main">
            <a:off x="8191500" y="4695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code-rail-7-text-4">
            <a:extLst xmlns:a="http://schemas.openxmlformats.org/drawingml/2006/main">
              <a:ext uri="{FF2B5EF4-FFF2-40B4-BE49-F238E27FC236}">
                <a16:creationId xmlns:a16="http://schemas.microsoft.com/office/drawing/2014/main" id="{DC4015A8-8764-411E-9BEB-5F0084C6DC87}"/>
              </a:ext>
            </a:extLst>
          </p:cNvPr>
          <p:cNvSpPr>
            <a:spLocks xmlns:a="http://schemas.openxmlformats.org/drawingml/2006/main" noGrp="1"/>
          </p:cNvSpPr>
          <p:nvPr/>
        </p:nvSpPr>
        <p:spPr>
          <a:xfrm xmlns:a="http://schemas.openxmlformats.org/drawingml/2006/main">
            <a:off x="8420100" y="46101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Stable ties aid reproducibility.</a:t>
            </a:r>
          </a:p>
        </p:txBody>
      </p:sp>
    </p:spTree>
    <p:extLst>
      <p:ext uri="{BB962C8B-B14F-4D97-AF65-F5344CB8AC3E}">
        <p14:creationId xmlns:p14="http://schemas.microsoft.com/office/powerpoint/2010/main" val="9992574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8">
            <a:extLst xmlns:a="http://schemas.openxmlformats.org/drawingml/2006/main">
              <a:ext uri="{FF2B5EF4-FFF2-40B4-BE49-F238E27FC236}">
                <a16:creationId xmlns:a16="http://schemas.microsoft.com/office/drawing/2014/main" id="{C4EF528F-7EB8-4221-8B90-B7AE48B64B01}"/>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Worked trace: BFS finds the shallow goal</a:t>
            </a:r>
          </a:p>
        </p:txBody>
      </p:sp>
      <p:sp>
        <p:nvSpPr>
          <p:cNvPr id="2" name="title-accent-8">
            <a:extLst xmlns:a="http://schemas.openxmlformats.org/drawingml/2006/main">
              <a:ext uri="{FF2B5EF4-FFF2-40B4-BE49-F238E27FC236}">
                <a16:creationId xmlns:a16="http://schemas.microsoft.com/office/drawing/2014/main" id="{C3B2AF36-C3A7-4174-BDE1-84780CDB3275}"/>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8">
            <a:extLst xmlns:a="http://schemas.openxmlformats.org/drawingml/2006/main">
              <a:ext uri="{FF2B5EF4-FFF2-40B4-BE49-F238E27FC236}">
                <a16:creationId xmlns:a16="http://schemas.microsoft.com/office/drawing/2014/main" id="{C706663D-AC98-4671-A6CE-7D75468FABD7}"/>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1</a:t>
            </a:r>
          </a:p>
        </p:txBody>
      </p:sp>
      <p:sp>
        <p:nvSpPr>
          <p:cNvPr id="5" name="footer-number-8">
            <a:extLst xmlns:a="http://schemas.openxmlformats.org/drawingml/2006/main">
              <a:ext uri="{FF2B5EF4-FFF2-40B4-BE49-F238E27FC236}">
                <a16:creationId xmlns:a16="http://schemas.microsoft.com/office/drawing/2014/main" id="{DAC77294-59D1-42EC-813B-44CA7A252528}"/>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8</a:t>
            </a:r>
          </a:p>
        </p:txBody>
      </p:sp>
      <p:sp>
        <p:nvSpPr>
          <p:cNvPr id="6" name="example-label-8">
            <a:extLst xmlns:a="http://schemas.openxmlformats.org/drawingml/2006/main">
              <a:ext uri="{FF2B5EF4-FFF2-40B4-BE49-F238E27FC236}">
                <a16:creationId xmlns:a16="http://schemas.microsoft.com/office/drawing/2014/main" id="{C7EAA03D-02FD-4DDB-B2DA-5D1227DD0123}"/>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8">
            <a:extLst xmlns:a="http://schemas.openxmlformats.org/drawingml/2006/main">
              <a:ext uri="{FF2B5EF4-FFF2-40B4-BE49-F238E27FC236}">
                <a16:creationId xmlns:a16="http://schemas.microsoft.com/office/drawing/2014/main" id="{A18E3D8F-0575-4408-B39F-8513D5EDFB4C}"/>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S connects to A and B; A connects to C; B connects to goal G; every edge costs 1.</a:t>
            </a:r>
          </a:p>
        </p:txBody>
      </p:sp>
      <p:cxnSp>
        <p:nvCxnSpPr>
          <p:cNvPr id="26" name="example-divider-8"/>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8-marker-1">
            <a:extLst xmlns:a="http://schemas.openxmlformats.org/drawingml/2006/main">
              <a:ext uri="{FF2B5EF4-FFF2-40B4-BE49-F238E27FC236}">
                <a16:creationId xmlns:a16="http://schemas.microsoft.com/office/drawing/2014/main" id="{D1E5274B-7DF1-44DD-8A62-E3473CC7A285}"/>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8-text-1">
            <a:extLst xmlns:a="http://schemas.openxmlformats.org/drawingml/2006/main">
              <a:ext uri="{FF2B5EF4-FFF2-40B4-BE49-F238E27FC236}">
                <a16:creationId xmlns:a16="http://schemas.microsoft.com/office/drawing/2014/main" id="{8E832C19-83C6-467D-BDE8-1761CC4E0FF4}"/>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Start frontier: [S]. Remove S; add A, B.</a:t>
            </a:r>
          </a:p>
        </p:txBody>
      </p:sp>
      <p:sp>
        <p:nvSpPr>
          <p:cNvPr id="11" name="example-step-8-marker-2">
            <a:extLst xmlns:a="http://schemas.openxmlformats.org/drawingml/2006/main">
              <a:ext uri="{FF2B5EF4-FFF2-40B4-BE49-F238E27FC236}">
                <a16:creationId xmlns:a16="http://schemas.microsoft.com/office/drawing/2014/main" id="{DF0716DA-1B58-4228-BDFF-58128DD2D4F1}"/>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8-text-2">
            <a:extLst xmlns:a="http://schemas.openxmlformats.org/drawingml/2006/main">
              <a:ext uri="{FF2B5EF4-FFF2-40B4-BE49-F238E27FC236}">
                <a16:creationId xmlns:a16="http://schemas.microsoft.com/office/drawing/2014/main" id="{D0084F70-87B3-4224-895C-7A11D2842162}"/>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Remove A; explored is {S, A}; add C.</a:t>
            </a:r>
          </a:p>
        </p:txBody>
      </p:sp>
      <p:sp>
        <p:nvSpPr>
          <p:cNvPr id="13" name="example-step-8-marker-3">
            <a:extLst xmlns:a="http://schemas.openxmlformats.org/drawingml/2006/main">
              <a:ext uri="{FF2B5EF4-FFF2-40B4-BE49-F238E27FC236}">
                <a16:creationId xmlns:a16="http://schemas.microsoft.com/office/drawing/2014/main" id="{52C7FCD6-2C56-4A3E-BE78-5550B82745E8}"/>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8-text-3">
            <a:extLst xmlns:a="http://schemas.openxmlformats.org/drawingml/2006/main">
              <a:ext uri="{FF2B5EF4-FFF2-40B4-BE49-F238E27FC236}">
                <a16:creationId xmlns:a16="http://schemas.microsoft.com/office/drawing/2014/main" id="{A82D0A78-9A09-4816-9A4D-651EA736F3D1}"/>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Remove B; add G behind C.</a:t>
            </a:r>
          </a:p>
        </p:txBody>
      </p:sp>
      <p:sp>
        <p:nvSpPr>
          <p:cNvPr id="15" name="example-step-8-marker-4">
            <a:extLst xmlns:a="http://schemas.openxmlformats.org/drawingml/2006/main">
              <a:ext uri="{FF2B5EF4-FFF2-40B4-BE49-F238E27FC236}">
                <a16:creationId xmlns:a16="http://schemas.microsoft.com/office/drawing/2014/main" id="{99DA21BF-4E1A-45DE-A781-46B675FDD6E3}"/>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8-text-4">
            <a:extLst xmlns:a="http://schemas.openxmlformats.org/drawingml/2006/main">
              <a:ext uri="{FF2B5EF4-FFF2-40B4-BE49-F238E27FC236}">
                <a16:creationId xmlns:a16="http://schemas.microsoft.com/office/drawing/2014/main" id="{93A240A8-3367-482D-9071-057F0051B783}"/>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Remove C, then G; reconstruct S-B-G.</a:t>
            </a:r>
          </a:p>
        </p:txBody>
      </p:sp>
      <p:sp>
        <p:nvSpPr>
          <p:cNvPr id="17" name="example-result-panel-8">
            <a:extLst xmlns:a="http://schemas.openxmlformats.org/drawingml/2006/main">
              <a:ext uri="{FF2B5EF4-FFF2-40B4-BE49-F238E27FC236}">
                <a16:creationId xmlns:a16="http://schemas.microsoft.com/office/drawing/2014/main" id="{A00329AB-7044-4686-A0B8-FD8EC294CF3A}"/>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8">
            <a:extLst xmlns:a="http://schemas.openxmlformats.org/drawingml/2006/main">
              <a:ext uri="{FF2B5EF4-FFF2-40B4-BE49-F238E27FC236}">
                <a16:creationId xmlns:a16="http://schemas.microsoft.com/office/drawing/2014/main" id="{6EDE3C96-D12C-4FA3-827A-52118645DB0E}"/>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BFS returns depth 2 and cost 2; no depth-1 goal existed.</a:t>
            </a:r>
          </a:p>
        </p:txBody>
      </p:sp>
    </p:spTree>
    <p:extLst>
      <p:ext uri="{BB962C8B-B14F-4D97-AF65-F5344CB8AC3E}">
        <p14:creationId xmlns:p14="http://schemas.microsoft.com/office/powerpoint/2010/main" val="687727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9">
            <a:extLst xmlns:a="http://schemas.openxmlformats.org/drawingml/2006/main">
              <a:ext uri="{FF2B5EF4-FFF2-40B4-BE49-F238E27FC236}">
                <a16:creationId xmlns:a16="http://schemas.microsoft.com/office/drawing/2014/main" id="{1F1256DA-A027-43A3-AC38-02E5B219272A}"/>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Completeness and optimality depend on assumptions</a:t>
            </a:r>
          </a:p>
        </p:txBody>
      </p:sp>
      <p:sp>
        <p:nvSpPr>
          <p:cNvPr id="2" name="title-accent-9">
            <a:extLst xmlns:a="http://schemas.openxmlformats.org/drawingml/2006/main">
              <a:ext uri="{FF2B5EF4-FFF2-40B4-BE49-F238E27FC236}">
                <a16:creationId xmlns:a16="http://schemas.microsoft.com/office/drawing/2014/main" id="{D19D6F9D-3091-471D-A507-22C97326193A}"/>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9"/>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9">
            <a:extLst xmlns:a="http://schemas.openxmlformats.org/drawingml/2006/main">
              <a:ext uri="{FF2B5EF4-FFF2-40B4-BE49-F238E27FC236}">
                <a16:creationId xmlns:a16="http://schemas.microsoft.com/office/drawing/2014/main" id="{BCC305F4-0B69-4B8E-9CD9-C8949D38ABDC}"/>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1</a:t>
            </a:r>
          </a:p>
        </p:txBody>
      </p:sp>
      <p:sp>
        <p:nvSpPr>
          <p:cNvPr id="5" name="footer-number-9">
            <a:extLst xmlns:a="http://schemas.openxmlformats.org/drawingml/2006/main">
              <a:ext uri="{FF2B5EF4-FFF2-40B4-BE49-F238E27FC236}">
                <a16:creationId xmlns:a16="http://schemas.microsoft.com/office/drawing/2014/main" id="{2489F1F8-3306-4C1B-9C40-1FBB28B1BCED}"/>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9</a:t>
            </a:r>
          </a:p>
        </p:txBody>
      </p:sp>
      <p:sp>
        <p:nvSpPr>
          <p:cNvPr id="6" name="comparison-title-9-1">
            <a:extLst xmlns:a="http://schemas.openxmlformats.org/drawingml/2006/main">
              <a:ext uri="{FF2B5EF4-FFF2-40B4-BE49-F238E27FC236}">
                <a16:creationId xmlns:a16="http://schemas.microsoft.com/office/drawing/2014/main" id="{2020306F-0154-4E98-A265-ED3A2986B8FE}"/>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BFS</a:t>
            </a:r>
          </a:p>
        </p:txBody>
      </p:sp>
      <p:sp>
        <p:nvSpPr>
          <p:cNvPr id="7" name="comparison-tagline-9-1">
            <a:extLst xmlns:a="http://schemas.openxmlformats.org/drawingml/2006/main">
              <a:ext uri="{FF2B5EF4-FFF2-40B4-BE49-F238E27FC236}">
                <a16:creationId xmlns:a16="http://schemas.microsoft.com/office/drawing/2014/main" id="{20CD23ED-33F9-42C2-81EE-7DA92ECB7403}"/>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FIFO depth order</a:t>
            </a:r>
          </a:p>
        </p:txBody>
      </p:sp>
      <p:sp>
        <p:nvSpPr>
          <p:cNvPr id="8" name="comparison-bullet-9-1-marker-1">
            <a:extLst xmlns:a="http://schemas.openxmlformats.org/drawingml/2006/main">
              <a:ext uri="{FF2B5EF4-FFF2-40B4-BE49-F238E27FC236}">
                <a16:creationId xmlns:a16="http://schemas.microsoft.com/office/drawing/2014/main" id="{6D7E9D07-B4AA-4411-A12B-E17CB9C2AB03}"/>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comparison-bullet-9-1-text-1">
            <a:extLst xmlns:a="http://schemas.openxmlformats.org/drawingml/2006/main">
              <a:ext uri="{FF2B5EF4-FFF2-40B4-BE49-F238E27FC236}">
                <a16:creationId xmlns:a16="http://schemas.microsoft.com/office/drawing/2014/main" id="{E8E9FD33-AECA-43BC-9919-9F57E47C499D}"/>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Complete if b is finite.</a:t>
            </a:r>
          </a:p>
        </p:txBody>
      </p:sp>
      <p:sp>
        <p:nvSpPr>
          <p:cNvPr id="10" name="comparison-bullet-9-1-marker-2">
            <a:extLst xmlns:a="http://schemas.openxmlformats.org/drawingml/2006/main">
              <a:ext uri="{FF2B5EF4-FFF2-40B4-BE49-F238E27FC236}">
                <a16:creationId xmlns:a16="http://schemas.microsoft.com/office/drawing/2014/main" id="{306F2357-75A5-4DA4-A312-3874A22D616C}"/>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omparison-bullet-9-1-text-2">
            <a:extLst xmlns:a="http://schemas.openxmlformats.org/drawingml/2006/main">
              <a:ext uri="{FF2B5EF4-FFF2-40B4-BE49-F238E27FC236}">
                <a16:creationId xmlns:a16="http://schemas.microsoft.com/office/drawing/2014/main" id="{5970F6F5-B74A-486E-81CC-27500B3BC507}"/>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Optimal for equal step cost.</a:t>
            </a:r>
          </a:p>
        </p:txBody>
      </p:sp>
      <p:sp>
        <p:nvSpPr>
          <p:cNvPr id="12" name="comparison-bullet-9-1-marker-3">
            <a:extLst xmlns:a="http://schemas.openxmlformats.org/drawingml/2006/main">
              <a:ext uri="{FF2B5EF4-FFF2-40B4-BE49-F238E27FC236}">
                <a16:creationId xmlns:a16="http://schemas.microsoft.com/office/drawing/2014/main" id="{E55A05B3-1D49-4B7E-8DBF-6F4E2197924F}"/>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omparison-bullet-9-1-text-3">
            <a:extLst xmlns:a="http://schemas.openxmlformats.org/drawingml/2006/main">
              <a:ext uri="{FF2B5EF4-FFF2-40B4-BE49-F238E27FC236}">
                <a16:creationId xmlns:a16="http://schemas.microsoft.com/office/drawing/2014/main" id="{C544AD99-C721-4945-A3DB-975503761259}"/>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High memory.</a:t>
            </a:r>
          </a:p>
        </p:txBody>
      </p:sp>
      <p:sp>
        <p:nvSpPr>
          <p:cNvPr id="14" name="comparison-bullet-9-1-marker-4">
            <a:extLst xmlns:a="http://schemas.openxmlformats.org/drawingml/2006/main">
              <a:ext uri="{FF2B5EF4-FFF2-40B4-BE49-F238E27FC236}">
                <a16:creationId xmlns:a16="http://schemas.microsoft.com/office/drawing/2014/main" id="{CBA2C3B1-91D9-4752-8287-ADADF801D495}"/>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omparison-bullet-9-1-text-4">
            <a:extLst xmlns:a="http://schemas.openxmlformats.org/drawingml/2006/main">
              <a:ext uri="{FF2B5EF4-FFF2-40B4-BE49-F238E27FC236}">
                <a16:creationId xmlns:a16="http://schemas.microsoft.com/office/drawing/2014/main" id="{EF049F38-230D-415D-A2DA-5A5837370C4B}"/>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Ignores cheaper deep paths.</a:t>
            </a:r>
          </a:p>
        </p:txBody>
      </p:sp>
      <p:cxnSp>
        <p:nvCxnSpPr>
          <p:cNvPr id="53" name="comparison-divider-9-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9-2">
            <a:extLst xmlns:a="http://schemas.openxmlformats.org/drawingml/2006/main">
              <a:ext uri="{FF2B5EF4-FFF2-40B4-BE49-F238E27FC236}">
                <a16:creationId xmlns:a16="http://schemas.microsoft.com/office/drawing/2014/main" id="{F8FB295B-A654-437B-8812-9CEAF8CDBE6A}"/>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DFS</a:t>
            </a:r>
          </a:p>
        </p:txBody>
      </p:sp>
      <p:sp>
        <p:nvSpPr>
          <p:cNvPr id="18" name="comparison-tagline-9-2">
            <a:extLst xmlns:a="http://schemas.openxmlformats.org/drawingml/2006/main">
              <a:ext uri="{FF2B5EF4-FFF2-40B4-BE49-F238E27FC236}">
                <a16:creationId xmlns:a16="http://schemas.microsoft.com/office/drawing/2014/main" id="{ABB6EBA7-24C3-4DE9-8D35-ADECAAF547ED}"/>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LIFO depth order</a:t>
            </a:r>
          </a:p>
        </p:txBody>
      </p:sp>
      <p:sp>
        <p:nvSpPr>
          <p:cNvPr id="19" name="comparison-bullet-9-2-marker-1">
            <a:extLst xmlns:a="http://schemas.openxmlformats.org/drawingml/2006/main">
              <a:ext uri="{FF2B5EF4-FFF2-40B4-BE49-F238E27FC236}">
                <a16:creationId xmlns:a16="http://schemas.microsoft.com/office/drawing/2014/main" id="{7E63A0CE-11DA-4CDC-80D1-BCC30DA91E00}"/>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0" name="comparison-bullet-9-2-text-1">
            <a:extLst xmlns:a="http://schemas.openxmlformats.org/drawingml/2006/main">
              <a:ext uri="{FF2B5EF4-FFF2-40B4-BE49-F238E27FC236}">
                <a16:creationId xmlns:a16="http://schemas.microsoft.com/office/drawing/2014/main" id="{E2720190-0712-41AF-B9F7-CB983523408C}"/>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Low memory.</a:t>
            </a:r>
          </a:p>
        </p:txBody>
      </p:sp>
      <p:sp>
        <p:nvSpPr>
          <p:cNvPr id="21" name="comparison-bullet-9-2-marker-2">
            <a:extLst xmlns:a="http://schemas.openxmlformats.org/drawingml/2006/main">
              <a:ext uri="{FF2B5EF4-FFF2-40B4-BE49-F238E27FC236}">
                <a16:creationId xmlns:a16="http://schemas.microsoft.com/office/drawing/2014/main" id="{7EA827A9-06C4-4E76-B60F-759E477256E7}"/>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2" name="comparison-bullet-9-2-text-2">
            <a:extLst xmlns:a="http://schemas.openxmlformats.org/drawingml/2006/main">
              <a:ext uri="{FF2B5EF4-FFF2-40B4-BE49-F238E27FC236}">
                <a16:creationId xmlns:a16="http://schemas.microsoft.com/office/drawing/2014/main" id="{BD1FF581-9DE1-4F39-9888-AB7C52D762D9}"/>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May follow infinite path.</a:t>
            </a:r>
          </a:p>
        </p:txBody>
      </p:sp>
      <p:sp>
        <p:nvSpPr>
          <p:cNvPr id="23" name="comparison-bullet-9-2-marker-3">
            <a:extLst xmlns:a="http://schemas.openxmlformats.org/drawingml/2006/main">
              <a:ext uri="{FF2B5EF4-FFF2-40B4-BE49-F238E27FC236}">
                <a16:creationId xmlns:a16="http://schemas.microsoft.com/office/drawing/2014/main" id="{205634CA-AB20-45BB-AD18-4EFE3B83D87C}"/>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4" name="comparison-bullet-9-2-text-3">
            <a:extLst xmlns:a="http://schemas.openxmlformats.org/drawingml/2006/main">
              <a:ext uri="{FF2B5EF4-FFF2-40B4-BE49-F238E27FC236}">
                <a16:creationId xmlns:a16="http://schemas.microsoft.com/office/drawing/2014/main" id="{A448264A-CF7A-44D4-83E9-5C173D71EE54}"/>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Not optimal.</a:t>
            </a:r>
          </a:p>
        </p:txBody>
      </p:sp>
      <p:sp>
        <p:nvSpPr>
          <p:cNvPr id="25" name="comparison-bullet-9-2-marker-4">
            <a:extLst xmlns:a="http://schemas.openxmlformats.org/drawingml/2006/main">
              <a:ext uri="{FF2B5EF4-FFF2-40B4-BE49-F238E27FC236}">
                <a16:creationId xmlns:a16="http://schemas.microsoft.com/office/drawing/2014/main" id="{8DDCF31D-ADB2-4A47-ABEA-11FDB3FF5A6D}"/>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6" name="comparison-bullet-9-2-text-4">
            <a:extLst xmlns:a="http://schemas.openxmlformats.org/drawingml/2006/main">
              <a:ext uri="{FF2B5EF4-FFF2-40B4-BE49-F238E27FC236}">
                <a16:creationId xmlns:a16="http://schemas.microsoft.com/office/drawing/2014/main" id="{29ED0631-E71D-4F77-B230-F5273A087CC8}"/>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Order strongly affects result.</a:t>
            </a:r>
          </a:p>
        </p:txBody>
      </p:sp>
      <p:cxnSp>
        <p:nvCxnSpPr>
          <p:cNvPr id="64" name="comparison-divider-9-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9-3">
            <a:extLst xmlns:a="http://schemas.openxmlformats.org/drawingml/2006/main">
              <a:ext uri="{FF2B5EF4-FFF2-40B4-BE49-F238E27FC236}">
                <a16:creationId xmlns:a16="http://schemas.microsoft.com/office/drawing/2014/main" id="{8E3E84AA-EA8A-401A-9239-62F83B0D063B}"/>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UCS</a:t>
            </a:r>
          </a:p>
        </p:txBody>
      </p:sp>
      <p:sp>
        <p:nvSpPr>
          <p:cNvPr id="29" name="comparison-tagline-9-3">
            <a:extLst xmlns:a="http://schemas.openxmlformats.org/drawingml/2006/main">
              <a:ext uri="{FF2B5EF4-FFF2-40B4-BE49-F238E27FC236}">
                <a16:creationId xmlns:a16="http://schemas.microsoft.com/office/drawing/2014/main" id="{65B4C98B-BFE4-4B53-9405-CBAC66ABA0D6}"/>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Minimum g order</a:t>
            </a:r>
          </a:p>
        </p:txBody>
      </p:sp>
      <p:sp>
        <p:nvSpPr>
          <p:cNvPr id="30" name="comparison-bullet-9-3-marker-1">
            <a:extLst xmlns:a="http://schemas.openxmlformats.org/drawingml/2006/main">
              <a:ext uri="{FF2B5EF4-FFF2-40B4-BE49-F238E27FC236}">
                <a16:creationId xmlns:a16="http://schemas.microsoft.com/office/drawing/2014/main" id="{A3D184C4-595E-466E-9985-9DCA1DBFEAF1}"/>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1" name="comparison-bullet-9-3-text-1">
            <a:extLst xmlns:a="http://schemas.openxmlformats.org/drawingml/2006/main">
              <a:ext uri="{FF2B5EF4-FFF2-40B4-BE49-F238E27FC236}">
                <a16:creationId xmlns:a16="http://schemas.microsoft.com/office/drawing/2014/main" id="{13D5CA51-A8CE-4C2E-AD0A-2C20E97DDD62}"/>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Complete if costs &gt;= epsilon.</a:t>
            </a:r>
          </a:p>
        </p:txBody>
      </p:sp>
      <p:sp>
        <p:nvSpPr>
          <p:cNvPr id="32" name="comparison-bullet-9-3-marker-2">
            <a:extLst xmlns:a="http://schemas.openxmlformats.org/drawingml/2006/main">
              <a:ext uri="{FF2B5EF4-FFF2-40B4-BE49-F238E27FC236}">
                <a16:creationId xmlns:a16="http://schemas.microsoft.com/office/drawing/2014/main" id="{CC3A359A-BE2F-4DA9-B8C0-D2A13BF88F32}"/>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3" name="comparison-bullet-9-3-text-2">
            <a:extLst xmlns:a="http://schemas.openxmlformats.org/drawingml/2006/main">
              <a:ext uri="{FF2B5EF4-FFF2-40B4-BE49-F238E27FC236}">
                <a16:creationId xmlns:a16="http://schemas.microsoft.com/office/drawing/2014/main" id="{AA0289C6-B09A-49A2-8A4B-E6717DD32963}"/>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Optimal for positive costs.</a:t>
            </a:r>
          </a:p>
        </p:txBody>
      </p:sp>
      <p:sp>
        <p:nvSpPr>
          <p:cNvPr id="34" name="comparison-bullet-9-3-marker-3">
            <a:extLst xmlns:a="http://schemas.openxmlformats.org/drawingml/2006/main">
              <a:ext uri="{FF2B5EF4-FFF2-40B4-BE49-F238E27FC236}">
                <a16:creationId xmlns:a16="http://schemas.microsoft.com/office/drawing/2014/main" id="{731FD212-FAE7-4030-B7C8-5F8206882508}"/>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5" name="comparison-bullet-9-3-text-3">
            <a:extLst xmlns:a="http://schemas.openxmlformats.org/drawingml/2006/main">
              <a:ext uri="{FF2B5EF4-FFF2-40B4-BE49-F238E27FC236}">
                <a16:creationId xmlns:a16="http://schemas.microsoft.com/office/drawing/2014/main" id="{F0A9E87D-2D2A-41DA-B910-E5B70FD345CD}"/>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May expand many cheap paths.</a:t>
            </a:r>
          </a:p>
        </p:txBody>
      </p:sp>
      <p:sp>
        <p:nvSpPr>
          <p:cNvPr id="36" name="comparison-bullet-9-3-marker-4">
            <a:extLst xmlns:a="http://schemas.openxmlformats.org/drawingml/2006/main">
              <a:ext uri="{FF2B5EF4-FFF2-40B4-BE49-F238E27FC236}">
                <a16:creationId xmlns:a16="http://schemas.microsoft.com/office/drawing/2014/main" id="{3A9BD1FF-0224-42B9-9452-34752B4929C8}"/>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7" name="comparison-bullet-9-3-text-4">
            <a:extLst xmlns:a="http://schemas.openxmlformats.org/drawingml/2006/main">
              <a:ext uri="{FF2B5EF4-FFF2-40B4-BE49-F238E27FC236}">
                <a16:creationId xmlns:a16="http://schemas.microsoft.com/office/drawing/2014/main" id="{5B268388-3D6D-4597-9D41-9479DF8118DA}"/>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Needs cost updates.</a:t>
            </a:r>
          </a:p>
        </p:txBody>
      </p:sp>
    </p:spTree>
    <p:extLst>
      <p:ext uri="{BB962C8B-B14F-4D97-AF65-F5344CB8AC3E}">
        <p14:creationId xmlns:p14="http://schemas.microsoft.com/office/powerpoint/2010/main" val="2031174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0">
            <a:extLst xmlns:a="http://schemas.openxmlformats.org/drawingml/2006/main">
              <a:ext uri="{FF2B5EF4-FFF2-40B4-BE49-F238E27FC236}">
                <a16:creationId xmlns:a16="http://schemas.microsoft.com/office/drawing/2014/main" id="{84EFC58C-76C7-4766-BE07-8F9952DE288F}"/>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trace two frontier policies</a:t>
            </a:r>
          </a:p>
        </p:txBody>
      </p:sp>
      <p:sp>
        <p:nvSpPr>
          <p:cNvPr id="2" name="title-accent-10">
            <a:extLst xmlns:a="http://schemas.openxmlformats.org/drawingml/2006/main">
              <a:ext uri="{FF2B5EF4-FFF2-40B4-BE49-F238E27FC236}">
                <a16:creationId xmlns:a16="http://schemas.microsoft.com/office/drawing/2014/main" id="{9F502164-0340-4CAD-918F-9D483B46F174}"/>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0"/>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0">
            <a:extLst xmlns:a="http://schemas.openxmlformats.org/drawingml/2006/main">
              <a:ext uri="{FF2B5EF4-FFF2-40B4-BE49-F238E27FC236}">
                <a16:creationId xmlns:a16="http://schemas.microsoft.com/office/drawing/2014/main" id="{0E17A629-9865-4D0D-B641-49264F7442C0}"/>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1</a:t>
            </a:r>
          </a:p>
        </p:txBody>
      </p:sp>
      <p:sp>
        <p:nvSpPr>
          <p:cNvPr id="5" name="footer-number-10">
            <a:extLst xmlns:a="http://schemas.openxmlformats.org/drawingml/2006/main">
              <a:ext uri="{FF2B5EF4-FFF2-40B4-BE49-F238E27FC236}">
                <a16:creationId xmlns:a16="http://schemas.microsoft.com/office/drawing/2014/main" id="{B503C52E-32E1-4940-A700-038B6BFEB27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10</a:t>
            </a:r>
          </a:p>
        </p:txBody>
      </p:sp>
      <p:sp>
        <p:nvSpPr>
          <p:cNvPr id="6" name="checkpoint-label-10">
            <a:extLst xmlns:a="http://schemas.openxmlformats.org/drawingml/2006/main">
              <a:ext uri="{FF2B5EF4-FFF2-40B4-BE49-F238E27FC236}">
                <a16:creationId xmlns:a16="http://schemas.microsoft.com/office/drawing/2014/main" id="{9C91D743-C15F-4E0E-9CD2-BFFAD6A1ED13}"/>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0">
            <a:extLst xmlns:a="http://schemas.openxmlformats.org/drawingml/2006/main">
              <a:ext uri="{FF2B5EF4-FFF2-40B4-BE49-F238E27FC236}">
                <a16:creationId xmlns:a16="http://schemas.microsoft.com/office/drawing/2014/main" id="{F3DB5F6E-F634-48A7-876F-3237B4B9C9D7}"/>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If S adds A then B, A adds G at depth 2, and B adds C then G at depth 3, which goal does BFS return and which path can DFS return?</a:t>
            </a:r>
          </a:p>
        </p:txBody>
      </p:sp>
      <p:cxnSp>
        <p:nvCxnSpPr>
          <p:cNvPr id="22" name="checkpoint-rule-10"/>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0-1">
            <a:extLst xmlns:a="http://schemas.openxmlformats.org/drawingml/2006/main">
              <a:ext uri="{FF2B5EF4-FFF2-40B4-BE49-F238E27FC236}">
                <a16:creationId xmlns:a16="http://schemas.microsoft.com/office/drawing/2014/main" id="{32BDA643-0030-4827-A109-AB92CC031B6D}"/>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0-1">
            <a:extLst xmlns:a="http://schemas.openxmlformats.org/drawingml/2006/main">
              <a:ext uri="{FF2B5EF4-FFF2-40B4-BE49-F238E27FC236}">
                <a16:creationId xmlns:a16="http://schemas.microsoft.com/office/drawing/2014/main" id="{E59B5FDC-BA09-4EFB-AE6A-18D277DE18E3}"/>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Write the frontier after expanding S.</a:t>
            </a:r>
          </a:p>
        </p:txBody>
      </p:sp>
      <p:sp>
        <p:nvSpPr>
          <p:cNvPr id="11" name="checkpoint-prompt-number-10-2">
            <a:extLst xmlns:a="http://schemas.openxmlformats.org/drawingml/2006/main">
              <a:ext uri="{FF2B5EF4-FFF2-40B4-BE49-F238E27FC236}">
                <a16:creationId xmlns:a16="http://schemas.microsoft.com/office/drawing/2014/main" id="{2CA2278E-386C-4685-AB0A-D6707EB877CA}"/>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0-2">
            <a:extLst xmlns:a="http://schemas.openxmlformats.org/drawingml/2006/main">
              <a:ext uri="{FF2B5EF4-FFF2-40B4-BE49-F238E27FC236}">
                <a16:creationId xmlns:a16="http://schemas.microsoft.com/office/drawing/2014/main" id="{45B85F48-A05F-4B3A-A6B7-238A5647E62D}"/>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Apply FIFO and LIFO separately.</a:t>
            </a:r>
          </a:p>
        </p:txBody>
      </p:sp>
      <p:sp>
        <p:nvSpPr>
          <p:cNvPr id="13" name="checkpoint-prompt-number-10-3">
            <a:extLst xmlns:a="http://schemas.openxmlformats.org/drawingml/2006/main">
              <a:ext uri="{FF2B5EF4-FFF2-40B4-BE49-F238E27FC236}">
                <a16:creationId xmlns:a16="http://schemas.microsoft.com/office/drawing/2014/main" id="{271A2BE2-C13D-4228-8C5E-ED53B5AD1118}"/>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0-3">
            <a:extLst xmlns:a="http://schemas.openxmlformats.org/drawingml/2006/main">
              <a:ext uri="{FF2B5EF4-FFF2-40B4-BE49-F238E27FC236}">
                <a16:creationId xmlns:a16="http://schemas.microsoft.com/office/drawing/2014/main" id="{7958EC79-CB69-4F5B-A690-DAA2FAD03E00}"/>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State the assumption about successor order.</a:t>
            </a:r>
          </a:p>
        </p:txBody>
      </p:sp>
    </p:spTree>
    <p:extLst>
      <p:ext uri="{BB962C8B-B14F-4D97-AF65-F5344CB8AC3E}">
        <p14:creationId xmlns:p14="http://schemas.microsoft.com/office/powerpoint/2010/main" val="145347065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11">
            <a:extLst xmlns:a="http://schemas.openxmlformats.org/drawingml/2006/main">
              <a:ext uri="{FF2B5EF4-FFF2-40B4-BE49-F238E27FC236}">
                <a16:creationId xmlns:a16="http://schemas.microsoft.com/office/drawing/2014/main" id="{F3E4F5AC-69DA-4E12-A2E2-993F28DA80AB}"/>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Tree nodes and graph states are different objects</a:t>
            </a:r>
          </a:p>
        </p:txBody>
      </p:sp>
      <p:sp>
        <p:nvSpPr>
          <p:cNvPr id="2" name="title-accent-11">
            <a:extLst xmlns:a="http://schemas.openxmlformats.org/drawingml/2006/main">
              <a:ext uri="{FF2B5EF4-FFF2-40B4-BE49-F238E27FC236}">
                <a16:creationId xmlns:a16="http://schemas.microsoft.com/office/drawing/2014/main" id="{E1D841DC-80AA-45EE-A5C8-429F7A1D528E}"/>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11"/>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1">
            <a:extLst xmlns:a="http://schemas.openxmlformats.org/drawingml/2006/main">
              <a:ext uri="{FF2B5EF4-FFF2-40B4-BE49-F238E27FC236}">
                <a16:creationId xmlns:a16="http://schemas.microsoft.com/office/drawing/2014/main" id="{48646831-6545-492C-BF8A-830470DD6660}"/>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1</a:t>
            </a:r>
          </a:p>
        </p:txBody>
      </p:sp>
      <p:sp>
        <p:nvSpPr>
          <p:cNvPr id="5" name="footer-number-11">
            <a:extLst xmlns:a="http://schemas.openxmlformats.org/drawingml/2006/main">
              <a:ext uri="{FF2B5EF4-FFF2-40B4-BE49-F238E27FC236}">
                <a16:creationId xmlns:a16="http://schemas.microsoft.com/office/drawing/2014/main" id="{B4C86048-E1D7-4DA2-B72E-33435069B7EC}"/>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11</a:t>
            </a:r>
          </a:p>
        </p:txBody>
      </p:sp>
      <p:cxnSp>
        <p:nvCxnSpPr>
          <p:cNvPr id="30" name="column-divider-11"/>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11">
            <a:extLst xmlns:a="http://schemas.openxmlformats.org/drawingml/2006/main">
              <a:ext uri="{FF2B5EF4-FFF2-40B4-BE49-F238E27FC236}">
                <a16:creationId xmlns:a16="http://schemas.microsoft.com/office/drawing/2014/main" id="{957AC403-4534-425A-829B-41A28E9887B0}"/>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Node record</a:t>
            </a:r>
          </a:p>
        </p:txBody>
      </p:sp>
      <p:sp>
        <p:nvSpPr>
          <p:cNvPr id="8" name="right-title-11">
            <a:extLst xmlns:a="http://schemas.openxmlformats.org/drawingml/2006/main">
              <a:ext uri="{FF2B5EF4-FFF2-40B4-BE49-F238E27FC236}">
                <a16:creationId xmlns:a16="http://schemas.microsoft.com/office/drawing/2014/main" id="{E661D741-58BE-4469-9F8D-A44CC27AD365}"/>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State key</a:t>
            </a:r>
          </a:p>
        </p:txBody>
      </p:sp>
      <p:sp>
        <p:nvSpPr>
          <p:cNvPr id="9" name="left-bullet-11-marker-1">
            <a:extLst xmlns:a="http://schemas.openxmlformats.org/drawingml/2006/main">
              <a:ext uri="{FF2B5EF4-FFF2-40B4-BE49-F238E27FC236}">
                <a16:creationId xmlns:a16="http://schemas.microsoft.com/office/drawing/2014/main" id="{31B7CE8B-C547-4C50-929A-5300B3F63FFA}"/>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11-text-1">
            <a:extLst xmlns:a="http://schemas.openxmlformats.org/drawingml/2006/main">
              <a:ext uri="{FF2B5EF4-FFF2-40B4-BE49-F238E27FC236}">
                <a16:creationId xmlns:a16="http://schemas.microsoft.com/office/drawing/2014/main" id="{9C41C6F2-5F5F-4E1A-A5BC-10336AF8E0F2}"/>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Stores parent, action, depth, and g.</a:t>
            </a:r>
          </a:p>
        </p:txBody>
      </p:sp>
      <p:sp>
        <p:nvSpPr>
          <p:cNvPr id="11" name="left-bullet-11-marker-2">
            <a:extLst xmlns:a="http://schemas.openxmlformats.org/drawingml/2006/main">
              <a:ext uri="{FF2B5EF4-FFF2-40B4-BE49-F238E27FC236}">
                <a16:creationId xmlns:a16="http://schemas.microsoft.com/office/drawing/2014/main" id="{5559AF2E-E410-4DCA-93AE-F3C873AF0B65}"/>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11-text-2">
            <a:extLst xmlns:a="http://schemas.openxmlformats.org/drawingml/2006/main">
              <a:ext uri="{FF2B5EF4-FFF2-40B4-BE49-F238E27FC236}">
                <a16:creationId xmlns:a16="http://schemas.microsoft.com/office/drawing/2014/main" id="{938DE6C4-8FB8-4E60-99CB-C4CC4ACCBCC9}"/>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Represents one path.</a:t>
            </a:r>
          </a:p>
        </p:txBody>
      </p:sp>
      <p:sp>
        <p:nvSpPr>
          <p:cNvPr id="13" name="left-bullet-11-marker-3">
            <a:extLst xmlns:a="http://schemas.openxmlformats.org/drawingml/2006/main">
              <a:ext uri="{FF2B5EF4-FFF2-40B4-BE49-F238E27FC236}">
                <a16:creationId xmlns:a16="http://schemas.microsoft.com/office/drawing/2014/main" id="{AD1D0CC3-3D2F-4F62-896E-2D3FED25E621}"/>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11-text-3">
            <a:extLst xmlns:a="http://schemas.openxmlformats.org/drawingml/2006/main">
              <a:ext uri="{FF2B5EF4-FFF2-40B4-BE49-F238E27FC236}">
                <a16:creationId xmlns:a16="http://schemas.microsoft.com/office/drawing/2014/main" id="{873BDBD8-C48B-42C2-B0A4-728B3FDEA5BB}"/>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Two nodes may share a state.</a:t>
            </a:r>
          </a:p>
        </p:txBody>
      </p:sp>
      <p:sp>
        <p:nvSpPr>
          <p:cNvPr id="15" name="left-bullet-11-marker-4">
            <a:extLst xmlns:a="http://schemas.openxmlformats.org/drawingml/2006/main">
              <a:ext uri="{FF2B5EF4-FFF2-40B4-BE49-F238E27FC236}">
                <a16:creationId xmlns:a16="http://schemas.microsoft.com/office/drawing/2014/main" id="{28512B52-A655-4303-91D2-944E2941058C}"/>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11-text-4">
            <a:extLst xmlns:a="http://schemas.openxmlformats.org/drawingml/2006/main">
              <a:ext uri="{FF2B5EF4-FFF2-40B4-BE49-F238E27FC236}">
                <a16:creationId xmlns:a16="http://schemas.microsoft.com/office/drawing/2014/main" id="{08AF8E07-103C-4920-AC65-3C7B11541B12}"/>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Used for reconstruction.</a:t>
            </a:r>
          </a:p>
        </p:txBody>
      </p:sp>
      <p:sp>
        <p:nvSpPr>
          <p:cNvPr id="17" name="right-bullet-11-marker-1">
            <a:extLst xmlns:a="http://schemas.openxmlformats.org/drawingml/2006/main">
              <a:ext uri="{FF2B5EF4-FFF2-40B4-BE49-F238E27FC236}">
                <a16:creationId xmlns:a16="http://schemas.microsoft.com/office/drawing/2014/main" id="{2226F2EE-4FD4-44D4-9341-9561D06CCDAC}"/>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11-text-1">
            <a:extLst xmlns:a="http://schemas.openxmlformats.org/drawingml/2006/main">
              <a:ext uri="{FF2B5EF4-FFF2-40B4-BE49-F238E27FC236}">
                <a16:creationId xmlns:a16="http://schemas.microsoft.com/office/drawing/2014/main" id="{3EAD5A10-9407-42A6-9B55-17D37B8DF3BE}"/>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Represents a world configuration.</a:t>
            </a:r>
          </a:p>
        </p:txBody>
      </p:sp>
      <p:sp>
        <p:nvSpPr>
          <p:cNvPr id="19" name="right-bullet-11-marker-2">
            <a:extLst xmlns:a="http://schemas.openxmlformats.org/drawingml/2006/main">
              <a:ext uri="{FF2B5EF4-FFF2-40B4-BE49-F238E27FC236}">
                <a16:creationId xmlns:a16="http://schemas.microsoft.com/office/drawing/2014/main" id="{85F22FA9-EEF7-4FD3-B6D7-5E8C6A054190}"/>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11-text-2">
            <a:extLst xmlns:a="http://schemas.openxmlformats.org/drawingml/2006/main">
              <a:ext uri="{FF2B5EF4-FFF2-40B4-BE49-F238E27FC236}">
                <a16:creationId xmlns:a16="http://schemas.microsoft.com/office/drawing/2014/main" id="{8A8AD2DE-2C3C-4CD9-82E0-843A267F3867}"/>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Needs stable equality and hashing.</a:t>
            </a:r>
          </a:p>
        </p:txBody>
      </p:sp>
      <p:sp>
        <p:nvSpPr>
          <p:cNvPr id="21" name="right-bullet-11-marker-3">
            <a:extLst xmlns:a="http://schemas.openxmlformats.org/drawingml/2006/main">
              <a:ext uri="{FF2B5EF4-FFF2-40B4-BE49-F238E27FC236}">
                <a16:creationId xmlns:a16="http://schemas.microsoft.com/office/drawing/2014/main" id="{24F9EE88-AF00-4942-8E6A-91E778EDA8F4}"/>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11-text-3">
            <a:extLst xmlns:a="http://schemas.openxmlformats.org/drawingml/2006/main">
              <a:ext uri="{FF2B5EF4-FFF2-40B4-BE49-F238E27FC236}">
                <a16:creationId xmlns:a16="http://schemas.microsoft.com/office/drawing/2014/main" id="{5B9DA4A0-2477-4D96-A423-6D790B15B690}"/>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Drives explored membership.</a:t>
            </a:r>
          </a:p>
        </p:txBody>
      </p:sp>
      <p:sp>
        <p:nvSpPr>
          <p:cNvPr id="23" name="right-bullet-11-marker-4">
            <a:extLst xmlns:a="http://schemas.openxmlformats.org/drawingml/2006/main">
              <a:ext uri="{FF2B5EF4-FFF2-40B4-BE49-F238E27FC236}">
                <a16:creationId xmlns:a16="http://schemas.microsoft.com/office/drawing/2014/main" id="{6FD89440-7FCE-4E9C-98A2-F5B4BEA8C1CC}"/>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11-text-4">
            <a:extLst xmlns:a="http://schemas.openxmlformats.org/drawingml/2006/main">
              <a:ext uri="{FF2B5EF4-FFF2-40B4-BE49-F238E27FC236}">
                <a16:creationId xmlns:a16="http://schemas.microsoft.com/office/drawing/2014/main" id="{7B91B403-C10C-4BCF-A0DE-9166676D5492}"/>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May map to a best known cost.</a:t>
            </a:r>
          </a:p>
        </p:txBody>
      </p:sp>
    </p:spTree>
    <p:extLst>
      <p:ext uri="{BB962C8B-B14F-4D97-AF65-F5344CB8AC3E}">
        <p14:creationId xmlns:p14="http://schemas.microsoft.com/office/powerpoint/2010/main" val="141038031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2">
            <a:extLst xmlns:a="http://schemas.openxmlformats.org/drawingml/2006/main">
              <a:ext uri="{FF2B5EF4-FFF2-40B4-BE49-F238E27FC236}">
                <a16:creationId xmlns:a16="http://schemas.microsoft.com/office/drawing/2014/main" id="{54CDC0B1-850E-4F8B-9111-76BF32BCB23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Why BFS and UCS can certify optimality</a:t>
            </a:r>
          </a:p>
        </p:txBody>
      </p:sp>
      <p:sp>
        <p:nvSpPr>
          <p:cNvPr id="2" name="title-accent-12">
            <a:extLst xmlns:a="http://schemas.openxmlformats.org/drawingml/2006/main">
              <a:ext uri="{FF2B5EF4-FFF2-40B4-BE49-F238E27FC236}">
                <a16:creationId xmlns:a16="http://schemas.microsoft.com/office/drawing/2014/main" id="{D87D9A9B-253A-4407-A3D9-5A8769C1BCA9}"/>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2">
            <a:extLst xmlns:a="http://schemas.openxmlformats.org/drawingml/2006/main">
              <a:ext uri="{FF2B5EF4-FFF2-40B4-BE49-F238E27FC236}">
                <a16:creationId xmlns:a16="http://schemas.microsoft.com/office/drawing/2014/main" id="{F09A203E-FC13-4C55-B0B6-CB16CDC7D18A}"/>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1</a:t>
            </a:r>
          </a:p>
        </p:txBody>
      </p:sp>
      <p:sp>
        <p:nvSpPr>
          <p:cNvPr id="5" name="footer-number-12">
            <a:extLst xmlns:a="http://schemas.openxmlformats.org/drawingml/2006/main">
              <a:ext uri="{FF2B5EF4-FFF2-40B4-BE49-F238E27FC236}">
                <a16:creationId xmlns:a16="http://schemas.microsoft.com/office/drawing/2014/main" id="{0DA8370B-4C2C-44EA-B867-A25724707557}"/>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12</a:t>
            </a:r>
          </a:p>
        </p:txBody>
      </p:sp>
      <p:sp>
        <p:nvSpPr>
          <p:cNvPr id="6" name="formula-panel-12">
            <a:extLst xmlns:a="http://schemas.openxmlformats.org/drawingml/2006/main">
              <a:ext uri="{FF2B5EF4-FFF2-40B4-BE49-F238E27FC236}">
                <a16:creationId xmlns:a16="http://schemas.microsoft.com/office/drawing/2014/main" id="{F978090E-B887-4E91-B02C-41CABBD05C38}"/>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12">
            <a:extLst xmlns:a="http://schemas.openxmlformats.org/drawingml/2006/main">
              <a:ext uri="{FF2B5EF4-FFF2-40B4-BE49-F238E27FC236}">
                <a16:creationId xmlns:a16="http://schemas.microsoft.com/office/drawing/2014/main" id="{4D21B6AE-461F-4751-8E8E-6141629F856A}"/>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550" b="1">
                <a:solidFill>
                  <a:srgbClr val="111111"/>
                </a:solidFill>
                <a:latin typeface="Cambria Math"/>
                <a:ea typeface="Cambria Math"/>
                <a:cs typeface="Cambria Math"/>
              </a:defRPr>
            </a:pPr>
            <a:r>
              <a:rPr sz="2550" b="1">
                <a:solidFill>
                  <a:srgbClr val="111111"/>
                </a:solidFill>
                <a:latin typeface="Cambria Math"/>
                <a:ea typeface="Cambria Math"/>
                <a:cs typeface="Cambria Math"/>
              </a:rPr>
              <a:t>BFS: depth order + constant c; UCS: remove n only when g(n) is globally minimum</a:t>
            </a:r>
          </a:p>
        </p:txBody>
      </p:sp>
      <p:sp>
        <p:nvSpPr>
          <p:cNvPr id="8" name="formula-definition-12-marker-1">
            <a:extLst xmlns:a="http://schemas.openxmlformats.org/drawingml/2006/main">
              <a:ext uri="{FF2B5EF4-FFF2-40B4-BE49-F238E27FC236}">
                <a16:creationId xmlns:a16="http://schemas.microsoft.com/office/drawing/2014/main" id="{24F36DEE-13F2-4096-8E00-63149607C849}"/>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12-text-1">
            <a:extLst xmlns:a="http://schemas.openxmlformats.org/drawingml/2006/main">
              <a:ext uri="{FF2B5EF4-FFF2-40B4-BE49-F238E27FC236}">
                <a16:creationId xmlns:a16="http://schemas.microsoft.com/office/drawing/2014/main" id="{9BE08573-2F46-4318-B4E9-D1531678D162}"/>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With constant c, lower depth means lower path cost.</a:t>
            </a:r>
          </a:p>
        </p:txBody>
      </p:sp>
      <p:sp>
        <p:nvSpPr>
          <p:cNvPr id="10" name="formula-definition-12-marker-2">
            <a:extLst xmlns:a="http://schemas.openxmlformats.org/drawingml/2006/main">
              <a:ext uri="{FF2B5EF4-FFF2-40B4-BE49-F238E27FC236}">
                <a16:creationId xmlns:a16="http://schemas.microsoft.com/office/drawing/2014/main" id="{B607AB8A-C54B-4BB8-927E-6C82460FEBE4}"/>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12-text-2">
            <a:extLst xmlns:a="http://schemas.openxmlformats.org/drawingml/2006/main">
              <a:ext uri="{FF2B5EF4-FFF2-40B4-BE49-F238E27FC236}">
                <a16:creationId xmlns:a16="http://schemas.microsoft.com/office/drawing/2014/main" id="{1AF995BE-08BA-42B0-BF71-5535053F26C0}"/>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BFS reaches no deeper goal before every shallower node.</a:t>
            </a:r>
          </a:p>
        </p:txBody>
      </p:sp>
      <p:sp>
        <p:nvSpPr>
          <p:cNvPr id="12" name="formula-definition-12-marker-3">
            <a:extLst xmlns:a="http://schemas.openxmlformats.org/drawingml/2006/main">
              <a:ext uri="{FF2B5EF4-FFF2-40B4-BE49-F238E27FC236}">
                <a16:creationId xmlns:a16="http://schemas.microsoft.com/office/drawing/2014/main" id="{E339531A-534E-457C-BDD0-C5CB11243FE1}"/>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12-text-3">
            <a:extLst xmlns:a="http://schemas.openxmlformats.org/drawingml/2006/main">
              <a:ext uri="{FF2B5EF4-FFF2-40B4-BE49-F238E27FC236}">
                <a16:creationId xmlns:a16="http://schemas.microsoft.com/office/drawing/2014/main" id="{DB5AD82B-DA38-4792-9E07-2F2DB52FC6DB}"/>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UCS frontier priorities are accumulated path costs.</a:t>
            </a:r>
          </a:p>
        </p:txBody>
      </p:sp>
      <p:sp>
        <p:nvSpPr>
          <p:cNvPr id="14" name="formula-definition-12-marker-4">
            <a:extLst xmlns:a="http://schemas.openxmlformats.org/drawingml/2006/main">
              <a:ext uri="{FF2B5EF4-FFF2-40B4-BE49-F238E27FC236}">
                <a16:creationId xmlns:a16="http://schemas.microsoft.com/office/drawing/2014/main" id="{D227448F-A7B3-436A-8C33-1499A0114154}"/>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12-text-4">
            <a:extLst xmlns:a="http://schemas.openxmlformats.org/drawingml/2006/main">
              <a:ext uri="{FF2B5EF4-FFF2-40B4-BE49-F238E27FC236}">
                <a16:creationId xmlns:a16="http://schemas.microsoft.com/office/drawing/2014/main" id="{BA3A2725-8686-479A-A287-347F0747511A}"/>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Positive costs prevent an unseen path from becoming cheaper after removal.</a:t>
            </a:r>
          </a:p>
        </p:txBody>
      </p:sp>
      <p:sp>
        <p:nvSpPr>
          <p:cNvPr id="16" name="formula-implication-panel-12">
            <a:extLst xmlns:a="http://schemas.openxmlformats.org/drawingml/2006/main">
              <a:ext uri="{FF2B5EF4-FFF2-40B4-BE49-F238E27FC236}">
                <a16:creationId xmlns:a16="http://schemas.microsoft.com/office/drawing/2014/main" id="{77502609-0A88-4B6D-9379-733BCC26BD85}"/>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12">
            <a:extLst xmlns:a="http://schemas.openxmlformats.org/drawingml/2006/main">
              <a:ext uri="{FF2B5EF4-FFF2-40B4-BE49-F238E27FC236}">
                <a16:creationId xmlns:a16="http://schemas.microsoft.com/office/drawing/2014/main" id="{74FED976-90AF-408D-9A32-3F8E813E15A8}"/>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12">
            <a:extLst xmlns:a="http://schemas.openxmlformats.org/drawingml/2006/main">
              <a:ext uri="{FF2B5EF4-FFF2-40B4-BE49-F238E27FC236}">
                <a16:creationId xmlns:a16="http://schemas.microsoft.com/office/drawing/2014/main" id="{B178DECC-C31F-4BD4-8D4D-893306B3F840}"/>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The first goal removed is optimal under the stated ordering and cost conditions.</a:t>
            </a:r>
          </a:p>
        </p:txBody>
      </p:sp>
    </p:spTree>
    <p:extLst>
      <p:ext uri="{BB962C8B-B14F-4D97-AF65-F5344CB8AC3E}">
        <p14:creationId xmlns:p14="http://schemas.microsoft.com/office/powerpoint/2010/main" val="111786943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3">
            <a:extLst xmlns:a="http://schemas.openxmlformats.org/drawingml/2006/main">
              <a:ext uri="{FF2B5EF4-FFF2-40B4-BE49-F238E27FC236}">
                <a16:creationId xmlns:a16="http://schemas.microsoft.com/office/drawing/2014/main" id="{39E5C985-EFDA-4473-9B5F-C30086BDA079}"/>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Cheaper rediscovery must update UCS</a:t>
            </a:r>
          </a:p>
        </p:txBody>
      </p:sp>
      <p:sp>
        <p:nvSpPr>
          <p:cNvPr id="2" name="title-accent-13">
            <a:extLst xmlns:a="http://schemas.openxmlformats.org/drawingml/2006/main">
              <a:ext uri="{FF2B5EF4-FFF2-40B4-BE49-F238E27FC236}">
                <a16:creationId xmlns:a16="http://schemas.microsoft.com/office/drawing/2014/main" id="{8F3723B5-A210-49B1-908D-ED1BC41101E6}"/>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3">
            <a:extLst xmlns:a="http://schemas.openxmlformats.org/drawingml/2006/main">
              <a:ext uri="{FF2B5EF4-FFF2-40B4-BE49-F238E27FC236}">
                <a16:creationId xmlns:a16="http://schemas.microsoft.com/office/drawing/2014/main" id="{9842DDF3-00A0-4A1E-B503-E9E53D80628D}"/>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1</a:t>
            </a:r>
          </a:p>
        </p:txBody>
      </p:sp>
      <p:sp>
        <p:nvSpPr>
          <p:cNvPr id="5" name="footer-number-13">
            <a:extLst xmlns:a="http://schemas.openxmlformats.org/drawingml/2006/main">
              <a:ext uri="{FF2B5EF4-FFF2-40B4-BE49-F238E27FC236}">
                <a16:creationId xmlns:a16="http://schemas.microsoft.com/office/drawing/2014/main" id="{E072DB2D-AE82-4D6A-A888-9E318AE83F1A}"/>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13</a:t>
            </a:r>
          </a:p>
        </p:txBody>
      </p:sp>
      <p:sp>
        <p:nvSpPr>
          <p:cNvPr id="6" name="example-label-13">
            <a:extLst xmlns:a="http://schemas.openxmlformats.org/drawingml/2006/main">
              <a:ext uri="{FF2B5EF4-FFF2-40B4-BE49-F238E27FC236}">
                <a16:creationId xmlns:a16="http://schemas.microsoft.com/office/drawing/2014/main" id="{826FA6B3-84C0-40CA-A594-609D0F095369}"/>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13">
            <a:extLst xmlns:a="http://schemas.openxmlformats.org/drawingml/2006/main">
              <a:ext uri="{FF2B5EF4-FFF2-40B4-BE49-F238E27FC236}">
                <a16:creationId xmlns:a16="http://schemas.microsoft.com/office/drawing/2014/main" id="{9830C085-B27C-4E62-AA48-CA44ED612422}"/>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S-A costs 5, S-B costs 1, and B-A costs 1; A leads to G with cost 1.</a:t>
            </a:r>
          </a:p>
        </p:txBody>
      </p:sp>
      <p:cxnSp>
        <p:nvCxnSpPr>
          <p:cNvPr id="26" name="example-divider-13"/>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13-marker-1">
            <a:extLst xmlns:a="http://schemas.openxmlformats.org/drawingml/2006/main">
              <a:ext uri="{FF2B5EF4-FFF2-40B4-BE49-F238E27FC236}">
                <a16:creationId xmlns:a16="http://schemas.microsoft.com/office/drawing/2014/main" id="{22EF886F-7BC9-4C0A-AEF9-0FCF50F5CC06}"/>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13-text-1">
            <a:extLst xmlns:a="http://schemas.openxmlformats.org/drawingml/2006/main">
              <a:ext uri="{FF2B5EF4-FFF2-40B4-BE49-F238E27FC236}">
                <a16:creationId xmlns:a16="http://schemas.microsoft.com/office/drawing/2014/main" id="{077FD785-3BDF-42C4-839C-D5D42733C8B2}"/>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 first discovers A with g=5 and B with g=1.</a:t>
            </a:r>
          </a:p>
        </p:txBody>
      </p:sp>
      <p:sp>
        <p:nvSpPr>
          <p:cNvPr id="11" name="example-step-13-marker-2">
            <a:extLst xmlns:a="http://schemas.openxmlformats.org/drawingml/2006/main">
              <a:ext uri="{FF2B5EF4-FFF2-40B4-BE49-F238E27FC236}">
                <a16:creationId xmlns:a16="http://schemas.microsoft.com/office/drawing/2014/main" id="{CF4BA40A-EA79-405E-84A3-D8B1DB7E7E00}"/>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13-text-2">
            <a:extLst xmlns:a="http://schemas.openxmlformats.org/drawingml/2006/main">
              <a:ext uri="{FF2B5EF4-FFF2-40B4-BE49-F238E27FC236}">
                <a16:creationId xmlns:a16="http://schemas.microsoft.com/office/drawing/2014/main" id="{BAFFBFC4-3544-412A-9891-D991CDFE3040}"/>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UCS removes B before A.</a:t>
            </a:r>
          </a:p>
        </p:txBody>
      </p:sp>
      <p:sp>
        <p:nvSpPr>
          <p:cNvPr id="13" name="example-step-13-marker-3">
            <a:extLst xmlns:a="http://schemas.openxmlformats.org/drawingml/2006/main">
              <a:ext uri="{FF2B5EF4-FFF2-40B4-BE49-F238E27FC236}">
                <a16:creationId xmlns:a16="http://schemas.microsoft.com/office/drawing/2014/main" id="{7F64C694-0E2E-4C25-92EA-665E0CC15369}"/>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13-text-3">
            <a:extLst xmlns:a="http://schemas.openxmlformats.org/drawingml/2006/main">
              <a:ext uri="{FF2B5EF4-FFF2-40B4-BE49-F238E27FC236}">
                <a16:creationId xmlns:a16="http://schemas.microsoft.com/office/drawing/2014/main" id="{77A426F8-E96F-4112-B447-5751BF821294}"/>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 rediscovers A with g=2, replacing the worse entry.</a:t>
            </a:r>
          </a:p>
        </p:txBody>
      </p:sp>
      <p:sp>
        <p:nvSpPr>
          <p:cNvPr id="15" name="example-step-13-marker-4">
            <a:extLst xmlns:a="http://schemas.openxmlformats.org/drawingml/2006/main">
              <a:ext uri="{FF2B5EF4-FFF2-40B4-BE49-F238E27FC236}">
                <a16:creationId xmlns:a16="http://schemas.microsoft.com/office/drawing/2014/main" id="{F8E11101-9808-4A5D-BB1F-0FC39275ED6B}"/>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13-text-4">
            <a:extLst xmlns:a="http://schemas.openxmlformats.org/drawingml/2006/main">
              <a:ext uri="{FF2B5EF4-FFF2-40B4-BE49-F238E27FC236}">
                <a16:creationId xmlns:a16="http://schemas.microsoft.com/office/drawing/2014/main" id="{F2CA790A-9142-48A5-B832-AFCBF5B99197}"/>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 then reaches G with total cost 3.</a:t>
            </a:r>
          </a:p>
        </p:txBody>
      </p:sp>
      <p:sp>
        <p:nvSpPr>
          <p:cNvPr id="17" name="example-result-panel-13">
            <a:extLst xmlns:a="http://schemas.openxmlformats.org/drawingml/2006/main">
              <a:ext uri="{FF2B5EF4-FFF2-40B4-BE49-F238E27FC236}">
                <a16:creationId xmlns:a16="http://schemas.microsoft.com/office/drawing/2014/main" id="{328D502B-FFE3-4236-A3B8-AD3993891C7F}"/>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13">
            <a:extLst xmlns:a="http://schemas.openxmlformats.org/drawingml/2006/main">
              <a:ext uri="{FF2B5EF4-FFF2-40B4-BE49-F238E27FC236}">
                <a16:creationId xmlns:a16="http://schemas.microsoft.com/office/drawing/2014/main" id="{4CB561F5-06E9-4A81-B1F3-890F4F28CD3C}"/>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Rejecting every duplicate at generation time would incorrectly preserve the cost-6 route.</a:t>
            </a:r>
          </a:p>
        </p:txBody>
      </p:sp>
    </p:spTree>
    <p:extLst>
      <p:ext uri="{BB962C8B-B14F-4D97-AF65-F5344CB8AC3E}">
        <p14:creationId xmlns:p14="http://schemas.microsoft.com/office/powerpoint/2010/main" val="18843222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14">
            <a:extLst xmlns:a="http://schemas.openxmlformats.org/drawingml/2006/main">
              <a:ext uri="{FF2B5EF4-FFF2-40B4-BE49-F238E27FC236}">
                <a16:creationId xmlns:a16="http://schemas.microsoft.com/office/drawing/2014/main" id="{E5FCBCC0-14BD-440E-B20E-2D5BB5A76047}"/>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Common implementation defects have distinct symptoms</a:t>
            </a:r>
          </a:p>
        </p:txBody>
      </p:sp>
      <p:sp>
        <p:nvSpPr>
          <p:cNvPr id="2" name="title-accent-14">
            <a:extLst xmlns:a="http://schemas.openxmlformats.org/drawingml/2006/main">
              <a:ext uri="{FF2B5EF4-FFF2-40B4-BE49-F238E27FC236}">
                <a16:creationId xmlns:a16="http://schemas.microsoft.com/office/drawing/2014/main" id="{94690F98-28AD-4607-8808-D36BAA8E1C31}"/>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1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4">
            <a:extLst xmlns:a="http://schemas.openxmlformats.org/drawingml/2006/main">
              <a:ext uri="{FF2B5EF4-FFF2-40B4-BE49-F238E27FC236}">
                <a16:creationId xmlns:a16="http://schemas.microsoft.com/office/drawing/2014/main" id="{241E2012-F772-4F42-8F8C-B3EAA8C44937}"/>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1</a:t>
            </a:r>
          </a:p>
        </p:txBody>
      </p:sp>
      <p:sp>
        <p:nvSpPr>
          <p:cNvPr id="5" name="footer-number-14">
            <a:extLst xmlns:a="http://schemas.openxmlformats.org/drawingml/2006/main">
              <a:ext uri="{FF2B5EF4-FFF2-40B4-BE49-F238E27FC236}">
                <a16:creationId xmlns:a16="http://schemas.microsoft.com/office/drawing/2014/main" id="{24A301EF-AF04-4BEC-8C75-810DA10392C7}"/>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14</a:t>
            </a:r>
          </a:p>
        </p:txBody>
      </p:sp>
      <p:sp>
        <p:nvSpPr>
          <p:cNvPr id="6" name="comparison-title-14-1">
            <a:extLst xmlns:a="http://schemas.openxmlformats.org/drawingml/2006/main">
              <a:ext uri="{FF2B5EF4-FFF2-40B4-BE49-F238E27FC236}">
                <a16:creationId xmlns:a16="http://schemas.microsoft.com/office/drawing/2014/main" id="{BCB166CD-FDDB-4DF2-BC4B-E2BE7A083470}"/>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B3261E"/>
                </a:solidFill>
                <a:latin typeface="Arial"/>
                <a:ea typeface="Arial"/>
                <a:cs typeface="Arial"/>
              </a:defRPr>
            </a:pPr>
            <a:r>
              <a:rPr sz="2025" b="1">
                <a:solidFill>
                  <a:srgbClr val="B3261E"/>
                </a:solidFill>
                <a:latin typeface="Arial"/>
                <a:ea typeface="Arial"/>
                <a:cs typeface="Arial"/>
              </a:rPr>
              <a:t>Wrong ordering</a:t>
            </a:r>
          </a:p>
        </p:txBody>
      </p:sp>
      <p:sp>
        <p:nvSpPr>
          <p:cNvPr id="7" name="comparison-tagline-14-1">
            <a:extLst xmlns:a="http://schemas.openxmlformats.org/drawingml/2006/main">
              <a:ext uri="{FF2B5EF4-FFF2-40B4-BE49-F238E27FC236}">
                <a16:creationId xmlns:a16="http://schemas.microsoft.com/office/drawing/2014/main" id="{7F49346A-52A0-47DC-AD07-E642A4712AA0}"/>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Container mismatch</a:t>
            </a:r>
          </a:p>
        </p:txBody>
      </p:sp>
      <p:sp>
        <p:nvSpPr>
          <p:cNvPr id="8" name="comparison-bullet-14-1-marker-1">
            <a:extLst xmlns:a="http://schemas.openxmlformats.org/drawingml/2006/main">
              <a:ext uri="{FF2B5EF4-FFF2-40B4-BE49-F238E27FC236}">
                <a16:creationId xmlns:a16="http://schemas.microsoft.com/office/drawing/2014/main" id="{1944B983-1FF7-41CA-A665-5D99A3DE266C}"/>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9" name="comparison-bullet-14-1-text-1">
            <a:extLst xmlns:a="http://schemas.openxmlformats.org/drawingml/2006/main">
              <a:ext uri="{FF2B5EF4-FFF2-40B4-BE49-F238E27FC236}">
                <a16:creationId xmlns:a16="http://schemas.microsoft.com/office/drawing/2014/main" id="{FB918007-4CA6-4F39-AB6C-87970AB4EB76}"/>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BFS acts like DFS.</a:t>
            </a:r>
          </a:p>
        </p:txBody>
      </p:sp>
      <p:sp>
        <p:nvSpPr>
          <p:cNvPr id="10" name="comparison-bullet-14-1-marker-2">
            <a:extLst xmlns:a="http://schemas.openxmlformats.org/drawingml/2006/main">
              <a:ext uri="{FF2B5EF4-FFF2-40B4-BE49-F238E27FC236}">
                <a16:creationId xmlns:a16="http://schemas.microsoft.com/office/drawing/2014/main" id="{2910654B-376C-459F-BE50-A5808B7D6E59}"/>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11" name="comparison-bullet-14-1-text-2">
            <a:extLst xmlns:a="http://schemas.openxmlformats.org/drawingml/2006/main">
              <a:ext uri="{FF2B5EF4-FFF2-40B4-BE49-F238E27FC236}">
                <a16:creationId xmlns:a16="http://schemas.microsoft.com/office/drawing/2014/main" id="{B94E8A52-E37C-4DD4-AA02-312D34A50BEF}"/>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UCS ignores g.</a:t>
            </a:r>
          </a:p>
        </p:txBody>
      </p:sp>
      <p:sp>
        <p:nvSpPr>
          <p:cNvPr id="12" name="comparison-bullet-14-1-marker-3">
            <a:extLst xmlns:a="http://schemas.openxmlformats.org/drawingml/2006/main">
              <a:ext uri="{FF2B5EF4-FFF2-40B4-BE49-F238E27FC236}">
                <a16:creationId xmlns:a16="http://schemas.microsoft.com/office/drawing/2014/main" id="{889117AC-F409-411F-8C8F-D27A85C415AD}"/>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13" name="comparison-bullet-14-1-text-3">
            <a:extLst xmlns:a="http://schemas.openxmlformats.org/drawingml/2006/main">
              <a:ext uri="{FF2B5EF4-FFF2-40B4-BE49-F238E27FC236}">
                <a16:creationId xmlns:a16="http://schemas.microsoft.com/office/drawing/2014/main" id="{906B9207-8CFF-441D-B90F-10157E983370}"/>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Ties vary across runs.</a:t>
            </a:r>
          </a:p>
        </p:txBody>
      </p:sp>
      <p:sp>
        <p:nvSpPr>
          <p:cNvPr id="14" name="comparison-bullet-14-1-marker-4">
            <a:extLst xmlns:a="http://schemas.openxmlformats.org/drawingml/2006/main">
              <a:ext uri="{FF2B5EF4-FFF2-40B4-BE49-F238E27FC236}">
                <a16:creationId xmlns:a16="http://schemas.microsoft.com/office/drawing/2014/main" id="{A8F0453C-2197-4B76-9209-1EF2A9303561}"/>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15" name="comparison-bullet-14-1-text-4">
            <a:extLst xmlns:a="http://schemas.openxmlformats.org/drawingml/2006/main">
              <a:ext uri="{FF2B5EF4-FFF2-40B4-BE49-F238E27FC236}">
                <a16:creationId xmlns:a16="http://schemas.microsoft.com/office/drawing/2014/main" id="{FD5B1120-A5B4-4773-8433-574E0D8971CE}"/>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Guarantees no longer apply.</a:t>
            </a:r>
          </a:p>
        </p:txBody>
      </p:sp>
      <p:cxnSp>
        <p:nvCxnSpPr>
          <p:cNvPr id="53" name="comparison-divider-14-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14-2">
            <a:extLst xmlns:a="http://schemas.openxmlformats.org/drawingml/2006/main">
              <a:ext uri="{FF2B5EF4-FFF2-40B4-BE49-F238E27FC236}">
                <a16:creationId xmlns:a16="http://schemas.microsoft.com/office/drawing/2014/main" id="{2BE92845-3CEF-476A-A887-31D3699E561F}"/>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Wrong duplicate rule</a:t>
            </a:r>
          </a:p>
        </p:txBody>
      </p:sp>
      <p:sp>
        <p:nvSpPr>
          <p:cNvPr id="18" name="comparison-tagline-14-2">
            <a:extLst xmlns:a="http://schemas.openxmlformats.org/drawingml/2006/main">
              <a:ext uri="{FF2B5EF4-FFF2-40B4-BE49-F238E27FC236}">
                <a16:creationId xmlns:a16="http://schemas.microsoft.com/office/drawing/2014/main" id="{7A3B7A5D-F1D8-4F65-B8D7-0EECAB5AEBB4}"/>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State bookkeeping</a:t>
            </a:r>
          </a:p>
        </p:txBody>
      </p:sp>
      <p:sp>
        <p:nvSpPr>
          <p:cNvPr id="19" name="comparison-bullet-14-2-marker-1">
            <a:extLst xmlns:a="http://schemas.openxmlformats.org/drawingml/2006/main">
              <a:ext uri="{FF2B5EF4-FFF2-40B4-BE49-F238E27FC236}">
                <a16:creationId xmlns:a16="http://schemas.microsoft.com/office/drawing/2014/main" id="{682D0133-0E59-4E6A-A7A5-D86EC857D3BB}"/>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comparison-bullet-14-2-text-1">
            <a:extLst xmlns:a="http://schemas.openxmlformats.org/drawingml/2006/main">
              <a:ext uri="{FF2B5EF4-FFF2-40B4-BE49-F238E27FC236}">
                <a16:creationId xmlns:a16="http://schemas.microsoft.com/office/drawing/2014/main" id="{95C91282-1EAA-4D2B-BDA2-5498A392B8F2}"/>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Cycles repeat.</a:t>
            </a:r>
          </a:p>
        </p:txBody>
      </p:sp>
      <p:sp>
        <p:nvSpPr>
          <p:cNvPr id="21" name="comparison-bullet-14-2-marker-2">
            <a:extLst xmlns:a="http://schemas.openxmlformats.org/drawingml/2006/main">
              <a:ext uri="{FF2B5EF4-FFF2-40B4-BE49-F238E27FC236}">
                <a16:creationId xmlns:a16="http://schemas.microsoft.com/office/drawing/2014/main" id="{C26F555C-EBEB-491C-A0EB-C62A98687ED6}"/>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comparison-bullet-14-2-text-2">
            <a:extLst xmlns:a="http://schemas.openxmlformats.org/drawingml/2006/main">
              <a:ext uri="{FF2B5EF4-FFF2-40B4-BE49-F238E27FC236}">
                <a16:creationId xmlns:a16="http://schemas.microsoft.com/office/drawing/2014/main" id="{6EEF2D6E-AC4A-43F4-A78C-71101CF9FBDC}"/>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Cheaper paths are lost.</a:t>
            </a:r>
          </a:p>
        </p:txBody>
      </p:sp>
      <p:sp>
        <p:nvSpPr>
          <p:cNvPr id="23" name="comparison-bullet-14-2-marker-3">
            <a:extLst xmlns:a="http://schemas.openxmlformats.org/drawingml/2006/main">
              <a:ext uri="{FF2B5EF4-FFF2-40B4-BE49-F238E27FC236}">
                <a16:creationId xmlns:a16="http://schemas.microsoft.com/office/drawing/2014/main" id="{C8F7F974-002C-454D-B9B1-CA0C8091DA27}"/>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comparison-bullet-14-2-text-3">
            <a:extLst xmlns:a="http://schemas.openxmlformats.org/drawingml/2006/main">
              <a:ext uri="{FF2B5EF4-FFF2-40B4-BE49-F238E27FC236}">
                <a16:creationId xmlns:a16="http://schemas.microsoft.com/office/drawing/2014/main" id="{DE4045E8-79F1-4058-908A-53118FCC70C2}"/>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Frontier grows unnecessarily.</a:t>
            </a:r>
          </a:p>
        </p:txBody>
      </p:sp>
      <p:sp>
        <p:nvSpPr>
          <p:cNvPr id="25" name="comparison-bullet-14-2-marker-4">
            <a:extLst xmlns:a="http://schemas.openxmlformats.org/drawingml/2006/main">
              <a:ext uri="{FF2B5EF4-FFF2-40B4-BE49-F238E27FC236}">
                <a16:creationId xmlns:a16="http://schemas.microsoft.com/office/drawing/2014/main" id="{50F077C0-48AF-437F-AB8F-9FAF3D617820}"/>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6" name="comparison-bullet-14-2-text-4">
            <a:extLst xmlns:a="http://schemas.openxmlformats.org/drawingml/2006/main">
              <a:ext uri="{FF2B5EF4-FFF2-40B4-BE49-F238E27FC236}">
                <a16:creationId xmlns:a16="http://schemas.microsoft.com/office/drawing/2014/main" id="{BAC0CAC8-AA7E-428D-9885-3CC79A29AE07}"/>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Parents become inconsistent.</a:t>
            </a:r>
          </a:p>
        </p:txBody>
      </p:sp>
      <p:cxnSp>
        <p:nvCxnSpPr>
          <p:cNvPr id="64" name="comparison-divider-14-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14-3">
            <a:extLst xmlns:a="http://schemas.openxmlformats.org/drawingml/2006/main">
              <a:ext uri="{FF2B5EF4-FFF2-40B4-BE49-F238E27FC236}">
                <a16:creationId xmlns:a16="http://schemas.microsoft.com/office/drawing/2014/main" id="{19CC6618-EFE9-48E2-9909-774108891098}"/>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Wrong contract</a:t>
            </a:r>
          </a:p>
        </p:txBody>
      </p:sp>
      <p:sp>
        <p:nvSpPr>
          <p:cNvPr id="29" name="comparison-tagline-14-3">
            <a:extLst xmlns:a="http://schemas.openxmlformats.org/drawingml/2006/main">
              <a:ext uri="{FF2B5EF4-FFF2-40B4-BE49-F238E27FC236}">
                <a16:creationId xmlns:a16="http://schemas.microsoft.com/office/drawing/2014/main" id="{B3AAB9A1-F20C-41E7-904F-15A08BF70F13}"/>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Problem interface</a:t>
            </a:r>
          </a:p>
        </p:txBody>
      </p:sp>
      <p:sp>
        <p:nvSpPr>
          <p:cNvPr id="30" name="comparison-bullet-14-3-marker-1">
            <a:extLst xmlns:a="http://schemas.openxmlformats.org/drawingml/2006/main">
              <a:ext uri="{FF2B5EF4-FFF2-40B4-BE49-F238E27FC236}">
                <a16:creationId xmlns:a16="http://schemas.microsoft.com/office/drawing/2014/main" id="{63FCD3FC-4DD0-4ADC-931E-4687AD0FD3D2}"/>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1" name="comparison-bullet-14-3-text-1">
            <a:extLst xmlns:a="http://schemas.openxmlformats.org/drawingml/2006/main">
              <a:ext uri="{FF2B5EF4-FFF2-40B4-BE49-F238E27FC236}">
                <a16:creationId xmlns:a16="http://schemas.microsoft.com/office/drawing/2014/main" id="{338C7EDE-1C36-4782-AFD4-52D21A68D4E2}"/>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Illegal actions expand.</a:t>
            </a:r>
          </a:p>
        </p:txBody>
      </p:sp>
      <p:sp>
        <p:nvSpPr>
          <p:cNvPr id="32" name="comparison-bullet-14-3-marker-2">
            <a:extLst xmlns:a="http://schemas.openxmlformats.org/drawingml/2006/main">
              <a:ext uri="{FF2B5EF4-FFF2-40B4-BE49-F238E27FC236}">
                <a16:creationId xmlns:a16="http://schemas.microsoft.com/office/drawing/2014/main" id="{D3E5FCE4-20D3-42E3-9549-2BC1F69673E9}"/>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3" name="comparison-bullet-14-3-text-2">
            <a:extLst xmlns:a="http://schemas.openxmlformats.org/drawingml/2006/main">
              <a:ext uri="{FF2B5EF4-FFF2-40B4-BE49-F238E27FC236}">
                <a16:creationId xmlns:a16="http://schemas.microsoft.com/office/drawing/2014/main" id="{DFBEAC46-1DE2-4AD6-9BC7-7F720884444D}"/>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Costs can be nonpositive.</a:t>
            </a:r>
          </a:p>
        </p:txBody>
      </p:sp>
      <p:sp>
        <p:nvSpPr>
          <p:cNvPr id="34" name="comparison-bullet-14-3-marker-3">
            <a:extLst xmlns:a="http://schemas.openxmlformats.org/drawingml/2006/main">
              <a:ext uri="{FF2B5EF4-FFF2-40B4-BE49-F238E27FC236}">
                <a16:creationId xmlns:a16="http://schemas.microsoft.com/office/drawing/2014/main" id="{8AF01CFC-7043-44BB-A913-55901FB2CF3F}"/>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5" name="comparison-bullet-14-3-text-3">
            <a:extLst xmlns:a="http://schemas.openxmlformats.org/drawingml/2006/main">
              <a:ext uri="{FF2B5EF4-FFF2-40B4-BE49-F238E27FC236}">
                <a16:creationId xmlns:a16="http://schemas.microsoft.com/office/drawing/2014/main" id="{E4A489D2-EF06-4D9F-9B07-4902477F7205}"/>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Goal test accepts bad state.</a:t>
            </a:r>
          </a:p>
        </p:txBody>
      </p:sp>
      <p:sp>
        <p:nvSpPr>
          <p:cNvPr id="36" name="comparison-bullet-14-3-marker-4">
            <a:extLst xmlns:a="http://schemas.openxmlformats.org/drawingml/2006/main">
              <a:ext uri="{FF2B5EF4-FFF2-40B4-BE49-F238E27FC236}">
                <a16:creationId xmlns:a16="http://schemas.microsoft.com/office/drawing/2014/main" id="{9629DB7D-3FC4-48E9-8DD3-356D426D16E5}"/>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7" name="comparison-bullet-14-3-text-4">
            <a:extLst xmlns:a="http://schemas.openxmlformats.org/drawingml/2006/main">
              <a:ext uri="{FF2B5EF4-FFF2-40B4-BE49-F238E27FC236}">
                <a16:creationId xmlns:a16="http://schemas.microsoft.com/office/drawing/2014/main" id="{67CD780E-28AB-46F7-9ECF-CA338BE4EECA}"/>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Failure is ambiguous.</a:t>
            </a:r>
          </a:p>
        </p:txBody>
      </p:sp>
    </p:spTree>
    <p:extLst>
      <p:ext uri="{BB962C8B-B14F-4D97-AF65-F5344CB8AC3E}">
        <p14:creationId xmlns:p14="http://schemas.microsoft.com/office/powerpoint/2010/main" val="76480108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5">
            <a:extLst xmlns:a="http://schemas.openxmlformats.org/drawingml/2006/main">
              <a:ext uri="{FF2B5EF4-FFF2-40B4-BE49-F238E27FC236}">
                <a16:creationId xmlns:a16="http://schemas.microsoft.com/office/drawing/2014/main" id="{8F69BF11-21C1-4542-AB74-9D717CDD7E82}"/>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evaluate a guarantee</a:t>
            </a:r>
          </a:p>
        </p:txBody>
      </p:sp>
      <p:sp>
        <p:nvSpPr>
          <p:cNvPr id="2" name="title-accent-15">
            <a:extLst xmlns:a="http://schemas.openxmlformats.org/drawingml/2006/main">
              <a:ext uri="{FF2B5EF4-FFF2-40B4-BE49-F238E27FC236}">
                <a16:creationId xmlns:a16="http://schemas.microsoft.com/office/drawing/2014/main" id="{377EBBD6-086D-46CF-808D-388DC6C82B69}"/>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5">
            <a:extLst xmlns:a="http://schemas.openxmlformats.org/drawingml/2006/main">
              <a:ext uri="{FF2B5EF4-FFF2-40B4-BE49-F238E27FC236}">
                <a16:creationId xmlns:a16="http://schemas.microsoft.com/office/drawing/2014/main" id="{8C6A55C1-48B2-47F5-9E13-9A0F5D9D4124}"/>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1</a:t>
            </a:r>
          </a:p>
        </p:txBody>
      </p:sp>
      <p:sp>
        <p:nvSpPr>
          <p:cNvPr id="5" name="footer-number-15">
            <a:extLst xmlns:a="http://schemas.openxmlformats.org/drawingml/2006/main">
              <a:ext uri="{FF2B5EF4-FFF2-40B4-BE49-F238E27FC236}">
                <a16:creationId xmlns:a16="http://schemas.microsoft.com/office/drawing/2014/main" id="{28554B02-C4E4-4F6B-8F1F-79F819CAC105}"/>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15</a:t>
            </a:r>
          </a:p>
        </p:txBody>
      </p:sp>
      <p:sp>
        <p:nvSpPr>
          <p:cNvPr id="6" name="checkpoint-label-15">
            <a:extLst xmlns:a="http://schemas.openxmlformats.org/drawingml/2006/main">
              <a:ext uri="{FF2B5EF4-FFF2-40B4-BE49-F238E27FC236}">
                <a16:creationId xmlns:a16="http://schemas.microsoft.com/office/drawing/2014/main" id="{B2E8618A-3964-4632-ABC4-9E0B88CB9AFA}"/>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5">
            <a:extLst xmlns:a="http://schemas.openxmlformats.org/drawingml/2006/main">
              <a:ext uri="{FF2B5EF4-FFF2-40B4-BE49-F238E27FC236}">
                <a16:creationId xmlns:a16="http://schemas.microsoft.com/office/drawing/2014/main" id="{1E80B762-B36C-44FE-9663-5E25D7B0AEFB}"/>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An implementation uses BFS on edges with costs 1 and 10 and returns the first goal at minimum depth. Is the result guaranteed to have minimum cost?</a:t>
            </a:r>
          </a:p>
        </p:txBody>
      </p:sp>
      <p:cxnSp>
        <p:nvCxnSpPr>
          <p:cNvPr id="22" name="checkpoint-rule-15"/>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5-1">
            <a:extLst xmlns:a="http://schemas.openxmlformats.org/drawingml/2006/main">
              <a:ext uri="{FF2B5EF4-FFF2-40B4-BE49-F238E27FC236}">
                <a16:creationId xmlns:a16="http://schemas.microsoft.com/office/drawing/2014/main" id="{80E9E40B-3F1D-4F85-A178-49FAA57576B3}"/>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5-1">
            <a:extLst xmlns:a="http://schemas.openxmlformats.org/drawingml/2006/main">
              <a:ext uri="{FF2B5EF4-FFF2-40B4-BE49-F238E27FC236}">
                <a16:creationId xmlns:a16="http://schemas.microsoft.com/office/drawing/2014/main" id="{9D2DCE1C-2404-469D-A7F6-0F0A64BA0A68}"/>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Separate depth from path cost.</a:t>
            </a:r>
          </a:p>
        </p:txBody>
      </p:sp>
      <p:sp>
        <p:nvSpPr>
          <p:cNvPr id="11" name="checkpoint-prompt-number-15-2">
            <a:extLst xmlns:a="http://schemas.openxmlformats.org/drawingml/2006/main">
              <a:ext uri="{FF2B5EF4-FFF2-40B4-BE49-F238E27FC236}">
                <a16:creationId xmlns:a16="http://schemas.microsoft.com/office/drawing/2014/main" id="{3994CAB2-6A98-4E83-9744-8C14C8625C3F}"/>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5-2">
            <a:extLst xmlns:a="http://schemas.openxmlformats.org/drawingml/2006/main">
              <a:ext uri="{FF2B5EF4-FFF2-40B4-BE49-F238E27FC236}">
                <a16:creationId xmlns:a16="http://schemas.microsoft.com/office/drawing/2014/main" id="{5D631DA1-B1B1-4382-AA16-68CCD37A167F}"/>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Construct a two-path counterexample.</a:t>
            </a:r>
          </a:p>
        </p:txBody>
      </p:sp>
      <p:sp>
        <p:nvSpPr>
          <p:cNvPr id="13" name="checkpoint-prompt-number-15-3">
            <a:extLst xmlns:a="http://schemas.openxmlformats.org/drawingml/2006/main">
              <a:ext uri="{FF2B5EF4-FFF2-40B4-BE49-F238E27FC236}">
                <a16:creationId xmlns:a16="http://schemas.microsoft.com/office/drawing/2014/main" id="{FEC416E3-FFF2-4858-90B1-3C698288112F}"/>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5-3">
            <a:extLst xmlns:a="http://schemas.openxmlformats.org/drawingml/2006/main">
              <a:ext uri="{FF2B5EF4-FFF2-40B4-BE49-F238E27FC236}">
                <a16:creationId xmlns:a16="http://schemas.microsoft.com/office/drawing/2014/main" id="{3206158D-C6EE-42BE-9919-8DDEA8F1EE2D}"/>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Name the suitable replacement algorithm.</a:t>
            </a:r>
          </a:p>
        </p:txBody>
      </p:sp>
    </p:spTree>
    <p:extLst>
      <p:ext uri="{BB962C8B-B14F-4D97-AF65-F5344CB8AC3E}">
        <p14:creationId xmlns:p14="http://schemas.microsoft.com/office/powerpoint/2010/main" val="5611922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6">
            <a:extLst xmlns:a="http://schemas.openxmlformats.org/drawingml/2006/main">
              <a:ext uri="{FF2B5EF4-FFF2-40B4-BE49-F238E27FC236}">
                <a16:creationId xmlns:a16="http://schemas.microsoft.com/office/drawing/2014/main" id="{84FBD7FF-72F6-46BE-894E-EFC7B44FCE61}"/>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 shared interface makes guarantees testable</a:t>
            </a:r>
          </a:p>
        </p:txBody>
      </p:sp>
      <p:sp>
        <p:nvSpPr>
          <p:cNvPr id="2" name="title-accent-16">
            <a:extLst xmlns:a="http://schemas.openxmlformats.org/drawingml/2006/main">
              <a:ext uri="{FF2B5EF4-FFF2-40B4-BE49-F238E27FC236}">
                <a16:creationId xmlns:a16="http://schemas.microsoft.com/office/drawing/2014/main" id="{BD9519E6-6322-4046-898C-9F236CFC79E6}"/>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6">
            <a:extLst xmlns:a="http://schemas.openxmlformats.org/drawingml/2006/main">
              <a:ext uri="{FF2B5EF4-FFF2-40B4-BE49-F238E27FC236}">
                <a16:creationId xmlns:a16="http://schemas.microsoft.com/office/drawing/2014/main" id="{B75393A1-7143-48E2-BF41-B46D704B79E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1</a:t>
            </a:r>
          </a:p>
        </p:txBody>
      </p:sp>
      <p:sp>
        <p:nvSpPr>
          <p:cNvPr id="5" name="footer-number-16">
            <a:extLst xmlns:a="http://schemas.openxmlformats.org/drawingml/2006/main">
              <a:ext uri="{FF2B5EF4-FFF2-40B4-BE49-F238E27FC236}">
                <a16:creationId xmlns:a16="http://schemas.microsoft.com/office/drawing/2014/main" id="{C2251178-DFB2-4653-ACC5-CC1BE95048DA}"/>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16</a:t>
            </a:r>
          </a:p>
        </p:txBody>
      </p:sp>
      <p:sp>
        <p:nvSpPr>
          <p:cNvPr id="6" name="claim-16">
            <a:extLst xmlns:a="http://schemas.openxmlformats.org/drawingml/2006/main">
              <a:ext uri="{FF2B5EF4-FFF2-40B4-BE49-F238E27FC236}">
                <a16:creationId xmlns:a16="http://schemas.microsoft.com/office/drawing/2014/main" id="{5DDE8B28-00F6-4E57-9528-C6C26CF9403A}"/>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Keep domain expansion fixed and vary only the frontier policy when comparing search strategies.</a:t>
            </a:r>
          </a:p>
        </p:txBody>
      </p:sp>
      <p:sp>
        <p:nvSpPr>
          <p:cNvPr id="7" name="claim-panel-16">
            <a:extLst xmlns:a="http://schemas.openxmlformats.org/drawingml/2006/main">
              <a:ext uri="{FF2B5EF4-FFF2-40B4-BE49-F238E27FC236}">
                <a16:creationId xmlns:a16="http://schemas.microsoft.com/office/drawing/2014/main" id="{554A5D1C-D935-4800-9B33-4DC32E119F74}"/>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16">
            <a:extLst xmlns:a="http://schemas.openxmlformats.org/drawingml/2006/main">
              <a:ext uri="{FF2B5EF4-FFF2-40B4-BE49-F238E27FC236}">
                <a16:creationId xmlns:a16="http://schemas.microsoft.com/office/drawing/2014/main" id="{E05042EC-56DA-46D9-8117-EA4D14C798B0}"/>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Control</a:t>
            </a:r>
          </a:p>
        </p:txBody>
      </p:sp>
      <p:sp>
        <p:nvSpPr>
          <p:cNvPr id="9" name="claim-keyword-detail-16">
            <a:extLst xmlns:a="http://schemas.openxmlformats.org/drawingml/2006/main">
              <a:ext uri="{FF2B5EF4-FFF2-40B4-BE49-F238E27FC236}">
                <a16:creationId xmlns:a16="http://schemas.microsoft.com/office/drawing/2014/main" id="{E0B60E62-D06C-45C6-B3D4-6EE2E6E87459}"/>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A fair comparison holds states, successors, costs, and goal behavior constant.</a:t>
            </a:r>
          </a:p>
        </p:txBody>
      </p:sp>
      <p:sp>
        <p:nvSpPr>
          <p:cNvPr id="10" name="claim-detail-16-marker-1">
            <a:extLst xmlns:a="http://schemas.openxmlformats.org/drawingml/2006/main">
              <a:ext uri="{FF2B5EF4-FFF2-40B4-BE49-F238E27FC236}">
                <a16:creationId xmlns:a16="http://schemas.microsoft.com/office/drawing/2014/main" id="{6188DFFA-3105-44AD-9D97-B03D2BFBA67B}"/>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16-text-1">
            <a:extLst xmlns:a="http://schemas.openxmlformats.org/drawingml/2006/main">
              <a:ext uri="{FF2B5EF4-FFF2-40B4-BE49-F238E27FC236}">
                <a16:creationId xmlns:a16="http://schemas.microsoft.com/office/drawing/2014/main" id="{BDB2EAA7-4DDE-4228-A4FC-0B1E73FF86A5}"/>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Instrument nodes generated, expanded, maximum frontier, and solution cost.</a:t>
            </a:r>
          </a:p>
        </p:txBody>
      </p:sp>
      <p:sp>
        <p:nvSpPr>
          <p:cNvPr id="12" name="claim-detail-16-marker-2">
            <a:extLst xmlns:a="http://schemas.openxmlformats.org/drawingml/2006/main">
              <a:ext uri="{FF2B5EF4-FFF2-40B4-BE49-F238E27FC236}">
                <a16:creationId xmlns:a16="http://schemas.microsoft.com/office/drawing/2014/main" id="{D79CF761-E695-4EF0-8BCF-8CBA230D683D}"/>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16-text-2">
            <a:extLst xmlns:a="http://schemas.openxmlformats.org/drawingml/2006/main">
              <a:ext uri="{FF2B5EF4-FFF2-40B4-BE49-F238E27FC236}">
                <a16:creationId xmlns:a16="http://schemas.microsoft.com/office/drawing/2014/main" id="{F10C6744-7AB7-4DAA-9E14-316AB5110123}"/>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Use deterministic successor and tie order.</a:t>
            </a:r>
          </a:p>
        </p:txBody>
      </p:sp>
      <p:sp>
        <p:nvSpPr>
          <p:cNvPr id="14" name="claim-detail-16-marker-3">
            <a:extLst xmlns:a="http://schemas.openxmlformats.org/drawingml/2006/main">
              <a:ext uri="{FF2B5EF4-FFF2-40B4-BE49-F238E27FC236}">
                <a16:creationId xmlns:a16="http://schemas.microsoft.com/office/drawing/2014/main" id="{5643A117-FA08-429E-AE34-037F504184EB}"/>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16-text-3">
            <a:extLst xmlns:a="http://schemas.openxmlformats.org/drawingml/2006/main">
              <a:ext uri="{FF2B5EF4-FFF2-40B4-BE49-F238E27FC236}">
                <a16:creationId xmlns:a16="http://schemas.microsoft.com/office/drawing/2014/main" id="{7AA5FC09-05DC-4A2D-8FB8-224A74466F5F}"/>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Test trivial, cyclic, unreachable, cheaper-rediscovery, and scale cases.</a:t>
            </a:r>
          </a:p>
        </p:txBody>
      </p:sp>
    </p:spTree>
    <p:extLst>
      <p:ext uri="{BB962C8B-B14F-4D97-AF65-F5344CB8AC3E}">
        <p14:creationId xmlns:p14="http://schemas.microsoft.com/office/powerpoint/2010/main" val="95513118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7">
            <a:extLst xmlns:a="http://schemas.openxmlformats.org/drawingml/2006/main">
              <a:ext uri="{FF2B5EF4-FFF2-40B4-BE49-F238E27FC236}">
                <a16:creationId xmlns:a16="http://schemas.microsoft.com/office/drawing/2014/main" id="{3A3BE017-1043-470B-995D-8A14CBD4D4F1}"/>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Key takeaways</a:t>
            </a:r>
          </a:p>
        </p:txBody>
      </p:sp>
      <p:sp>
        <p:nvSpPr>
          <p:cNvPr id="2" name="title-accent-17">
            <a:extLst xmlns:a="http://schemas.openxmlformats.org/drawingml/2006/main">
              <a:ext uri="{FF2B5EF4-FFF2-40B4-BE49-F238E27FC236}">
                <a16:creationId xmlns:a16="http://schemas.microsoft.com/office/drawing/2014/main" id="{BD68C37B-FD13-4F4B-A01C-B325986D4DE4}"/>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7">
            <a:extLst xmlns:a="http://schemas.openxmlformats.org/drawingml/2006/main">
              <a:ext uri="{FF2B5EF4-FFF2-40B4-BE49-F238E27FC236}">
                <a16:creationId xmlns:a16="http://schemas.microsoft.com/office/drawing/2014/main" id="{CD7F55C5-02B3-4EC5-8CAC-7CEA443206EC}"/>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1</a:t>
            </a:r>
          </a:p>
        </p:txBody>
      </p:sp>
      <p:sp>
        <p:nvSpPr>
          <p:cNvPr id="5" name="footer-number-17">
            <a:extLst xmlns:a="http://schemas.openxmlformats.org/drawingml/2006/main">
              <a:ext uri="{FF2B5EF4-FFF2-40B4-BE49-F238E27FC236}">
                <a16:creationId xmlns:a16="http://schemas.microsoft.com/office/drawing/2014/main" id="{311B8587-0E0C-4094-A06A-CCC10859130E}"/>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17</a:t>
            </a:r>
          </a:p>
        </p:txBody>
      </p:sp>
      <p:sp>
        <p:nvSpPr>
          <p:cNvPr id="6" name="summary-number-17-1">
            <a:extLst xmlns:a="http://schemas.openxmlformats.org/drawingml/2006/main">
              <a:ext uri="{FF2B5EF4-FFF2-40B4-BE49-F238E27FC236}">
                <a16:creationId xmlns:a16="http://schemas.microsoft.com/office/drawing/2014/main" id="{2A50A375-0CA1-4566-98AA-030D82BA6155}"/>
              </a:ext>
            </a:extLst>
          </p:cNvPr>
          <p:cNvSpPr>
            <a:spLocks xmlns:a="http://schemas.openxmlformats.org/drawingml/2006/main" noGrp="1"/>
          </p:cNvSpPr>
          <p:nvPr/>
        </p:nvSpPr>
        <p:spPr>
          <a:xfrm xmlns:a="http://schemas.openxmlformats.org/drawingml/2006/main">
            <a:off x="400050" y="16192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01</a:t>
            </a:r>
          </a:p>
        </p:txBody>
      </p:sp>
      <p:cxnSp>
        <p:nvCxnSpPr>
          <p:cNvPr id="25" name="summary-rule-17-1"/>
          <p:cNvCxnSpPr/>
          <p:nvPr/>
        </p:nvCxnSpPr>
        <p:spPr>
          <a:xfrm xmlns:a="http://schemas.openxmlformats.org/drawingml/2006/main">
            <a:off x="1123950" y="19240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8" name="summary-text-17-1">
            <a:extLst xmlns:a="http://schemas.openxmlformats.org/drawingml/2006/main">
              <a:ext uri="{FF2B5EF4-FFF2-40B4-BE49-F238E27FC236}">
                <a16:creationId xmlns:a16="http://schemas.microsoft.com/office/drawing/2014/main" id="{362F38C4-5523-4930-90DC-C647F129F510}"/>
              </a:ext>
            </a:extLst>
          </p:cNvPr>
          <p:cNvSpPr>
            <a:spLocks xmlns:a="http://schemas.openxmlformats.org/drawingml/2006/main" noGrp="1"/>
          </p:cNvSpPr>
          <p:nvPr/>
        </p:nvSpPr>
        <p:spPr>
          <a:xfrm xmlns:a="http://schemas.openxmlformats.org/drawingml/2006/main">
            <a:off x="2324100" y="16192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BFS, DFS, and UCS are one graph-search loop with different removal priorities.</a:t>
            </a:r>
          </a:p>
        </p:txBody>
      </p:sp>
      <p:sp>
        <p:nvSpPr>
          <p:cNvPr id="9" name="summary-number-17-2">
            <a:extLst xmlns:a="http://schemas.openxmlformats.org/drawingml/2006/main">
              <a:ext uri="{FF2B5EF4-FFF2-40B4-BE49-F238E27FC236}">
                <a16:creationId xmlns:a16="http://schemas.microsoft.com/office/drawing/2014/main" id="{7D2B0F4C-9FD5-49CF-B68A-5DF94E402A3D}"/>
              </a:ext>
            </a:extLst>
          </p:cNvPr>
          <p:cNvSpPr>
            <a:spLocks xmlns:a="http://schemas.openxmlformats.org/drawingml/2006/main" noGrp="1"/>
          </p:cNvSpPr>
          <p:nvPr/>
        </p:nvSpPr>
        <p:spPr>
          <a:xfrm xmlns:a="http://schemas.openxmlformats.org/drawingml/2006/main">
            <a:off x="400050" y="26098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02</a:t>
            </a:r>
          </a:p>
        </p:txBody>
      </p:sp>
      <p:cxnSp>
        <p:nvCxnSpPr>
          <p:cNvPr id="28" name="summary-rule-17-2"/>
          <p:cNvCxnSpPr/>
          <p:nvPr/>
        </p:nvCxnSpPr>
        <p:spPr>
          <a:xfrm xmlns:a="http://schemas.openxmlformats.org/drawingml/2006/main">
            <a:off x="1123950" y="29146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1" name="summary-text-17-2">
            <a:extLst xmlns:a="http://schemas.openxmlformats.org/drawingml/2006/main">
              <a:ext uri="{FF2B5EF4-FFF2-40B4-BE49-F238E27FC236}">
                <a16:creationId xmlns:a16="http://schemas.microsoft.com/office/drawing/2014/main" id="{00445370-BD00-44AA-8A95-864CAFBDF242}"/>
              </a:ext>
            </a:extLst>
          </p:cNvPr>
          <p:cNvSpPr>
            <a:spLocks xmlns:a="http://schemas.openxmlformats.org/drawingml/2006/main" noGrp="1"/>
          </p:cNvSpPr>
          <p:nvPr/>
        </p:nvSpPr>
        <p:spPr>
          <a:xfrm xmlns:a="http://schemas.openxmlformats.org/drawingml/2006/main">
            <a:off x="2324100" y="26098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Completeness and optimality always depend on explicit assumptions.</a:t>
            </a:r>
          </a:p>
        </p:txBody>
      </p:sp>
      <p:sp>
        <p:nvSpPr>
          <p:cNvPr id="12" name="summary-number-17-3">
            <a:extLst xmlns:a="http://schemas.openxmlformats.org/drawingml/2006/main">
              <a:ext uri="{FF2B5EF4-FFF2-40B4-BE49-F238E27FC236}">
                <a16:creationId xmlns:a16="http://schemas.microsoft.com/office/drawing/2014/main" id="{A8D87DEF-3FFC-4DF2-BD90-D7A5F2E8A36F}"/>
              </a:ext>
            </a:extLst>
          </p:cNvPr>
          <p:cNvSpPr>
            <a:spLocks xmlns:a="http://schemas.openxmlformats.org/drawingml/2006/main" noGrp="1"/>
          </p:cNvSpPr>
          <p:nvPr/>
        </p:nvSpPr>
        <p:spPr>
          <a:xfrm xmlns:a="http://schemas.openxmlformats.org/drawingml/2006/main">
            <a:off x="400050" y="36004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03</a:t>
            </a:r>
          </a:p>
        </p:txBody>
      </p:sp>
      <p:cxnSp>
        <p:nvCxnSpPr>
          <p:cNvPr id="31" name="summary-rule-17-3"/>
          <p:cNvCxnSpPr/>
          <p:nvPr/>
        </p:nvCxnSpPr>
        <p:spPr>
          <a:xfrm xmlns:a="http://schemas.openxmlformats.org/drawingml/2006/main">
            <a:off x="1123950" y="39052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4" name="summary-text-17-3">
            <a:extLst xmlns:a="http://schemas.openxmlformats.org/drawingml/2006/main">
              <a:ext uri="{FF2B5EF4-FFF2-40B4-BE49-F238E27FC236}">
                <a16:creationId xmlns:a16="http://schemas.microsoft.com/office/drawing/2014/main" id="{F96CAC94-A1E5-451C-BB96-BF3DF61686C2}"/>
              </a:ext>
            </a:extLst>
          </p:cNvPr>
          <p:cNvSpPr>
            <a:spLocks xmlns:a="http://schemas.openxmlformats.org/drawingml/2006/main" noGrp="1"/>
          </p:cNvSpPr>
          <p:nvPr/>
        </p:nvSpPr>
        <p:spPr>
          <a:xfrm xmlns:a="http://schemas.openxmlformats.org/drawingml/2006/main">
            <a:off x="2324100" y="36004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Graph search needs immutable states and a correct duplicate-cost policy.</a:t>
            </a:r>
          </a:p>
        </p:txBody>
      </p:sp>
      <p:sp>
        <p:nvSpPr>
          <p:cNvPr id="15" name="summary-number-17-4">
            <a:extLst xmlns:a="http://schemas.openxmlformats.org/drawingml/2006/main">
              <a:ext uri="{FF2B5EF4-FFF2-40B4-BE49-F238E27FC236}">
                <a16:creationId xmlns:a16="http://schemas.microsoft.com/office/drawing/2014/main" id="{E2DCD2CF-328D-4117-B6C1-22E056462B64}"/>
              </a:ext>
            </a:extLst>
          </p:cNvPr>
          <p:cNvSpPr>
            <a:spLocks xmlns:a="http://schemas.openxmlformats.org/drawingml/2006/main" noGrp="1"/>
          </p:cNvSpPr>
          <p:nvPr/>
        </p:nvSpPr>
        <p:spPr>
          <a:xfrm xmlns:a="http://schemas.openxmlformats.org/drawingml/2006/main">
            <a:off x="400050" y="45910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04</a:t>
            </a:r>
          </a:p>
        </p:txBody>
      </p:sp>
      <p:cxnSp>
        <p:nvCxnSpPr>
          <p:cNvPr id="34" name="summary-rule-17-4"/>
          <p:cNvCxnSpPr/>
          <p:nvPr/>
        </p:nvCxnSpPr>
        <p:spPr>
          <a:xfrm xmlns:a="http://schemas.openxmlformats.org/drawingml/2006/main">
            <a:off x="1123950" y="48958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7" name="summary-text-17-4">
            <a:extLst xmlns:a="http://schemas.openxmlformats.org/drawingml/2006/main">
              <a:ext uri="{FF2B5EF4-FFF2-40B4-BE49-F238E27FC236}">
                <a16:creationId xmlns:a16="http://schemas.microsoft.com/office/drawing/2014/main" id="{A7DD36C9-EA98-4762-8045-9B0031367E65}"/>
              </a:ext>
            </a:extLst>
          </p:cNvPr>
          <p:cNvSpPr>
            <a:spLocks xmlns:a="http://schemas.openxmlformats.org/drawingml/2006/main" noGrp="1"/>
          </p:cNvSpPr>
          <p:nvPr/>
        </p:nvSpPr>
        <p:spPr>
          <a:xfrm xmlns:a="http://schemas.openxmlformats.org/drawingml/2006/main">
            <a:off x="2324100" y="45910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Small traces reveal ordering and update defects before scale tests do.</a:t>
            </a:r>
          </a:p>
        </p:txBody>
      </p:sp>
      <p:sp>
        <p:nvSpPr>
          <p:cNvPr id="18" name="summary-next-17">
            <a:extLst xmlns:a="http://schemas.openxmlformats.org/drawingml/2006/main">
              <a:ext uri="{FF2B5EF4-FFF2-40B4-BE49-F238E27FC236}">
                <a16:creationId xmlns:a16="http://schemas.microsoft.com/office/drawing/2014/main" id="{2ECC9937-280E-4DFF-81F3-C2963002D227}"/>
              </a:ext>
            </a:extLst>
          </p:cNvPr>
          <p:cNvSpPr>
            <a:spLocks xmlns:a="http://schemas.openxmlformats.org/drawingml/2006/main" noGrp="1"/>
          </p:cNvSpPr>
          <p:nvPr/>
        </p:nvSpPr>
        <p:spPr>
          <a:xfrm xmlns:a="http://schemas.openxmlformats.org/drawingml/2006/main">
            <a:off x="400050" y="5667375"/>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Next: Informed search adds heuristics and develops Greedy Best-First Search and A-star.</a:t>
            </a:r>
          </a:p>
        </p:txBody>
      </p:sp>
    </p:spTree>
    <p:extLst>
      <p:ext uri="{BB962C8B-B14F-4D97-AF65-F5344CB8AC3E}">
        <p14:creationId xmlns:p14="http://schemas.microsoft.com/office/powerpoint/2010/main" val="130953060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8">
            <a:extLst xmlns:a="http://schemas.openxmlformats.org/drawingml/2006/main">
              <a:ext uri="{FF2B5EF4-FFF2-40B4-BE49-F238E27FC236}">
                <a16:creationId xmlns:a16="http://schemas.microsoft.com/office/drawing/2014/main" id="{1DF54E88-88EB-47B7-B663-9DACDDAA5E79}"/>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 your understanding</a:t>
            </a:r>
          </a:p>
        </p:txBody>
      </p:sp>
      <p:sp>
        <p:nvSpPr>
          <p:cNvPr id="2" name="title-accent-18">
            <a:extLst xmlns:a="http://schemas.openxmlformats.org/drawingml/2006/main">
              <a:ext uri="{FF2B5EF4-FFF2-40B4-BE49-F238E27FC236}">
                <a16:creationId xmlns:a16="http://schemas.microsoft.com/office/drawing/2014/main" id="{8E97DF32-8442-4998-A7FF-6C3FEB864E0C}"/>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8">
            <a:extLst xmlns:a="http://schemas.openxmlformats.org/drawingml/2006/main">
              <a:ext uri="{FF2B5EF4-FFF2-40B4-BE49-F238E27FC236}">
                <a16:creationId xmlns:a16="http://schemas.microsoft.com/office/drawing/2014/main" id="{BAAA9A1F-F883-48E3-93A4-91D2497C7AE4}"/>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1</a:t>
            </a:r>
          </a:p>
        </p:txBody>
      </p:sp>
      <p:sp>
        <p:nvSpPr>
          <p:cNvPr id="5" name="footer-number-18">
            <a:extLst xmlns:a="http://schemas.openxmlformats.org/drawingml/2006/main">
              <a:ext uri="{FF2B5EF4-FFF2-40B4-BE49-F238E27FC236}">
                <a16:creationId xmlns:a16="http://schemas.microsoft.com/office/drawing/2014/main" id="{9148B78C-BF76-43CD-AFD2-44C9B731FF56}"/>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18</a:t>
            </a:r>
          </a:p>
        </p:txBody>
      </p:sp>
      <p:sp>
        <p:nvSpPr>
          <p:cNvPr id="6" name="question-number-18-1">
            <a:extLst xmlns:a="http://schemas.openxmlformats.org/drawingml/2006/main">
              <a:ext uri="{FF2B5EF4-FFF2-40B4-BE49-F238E27FC236}">
                <a16:creationId xmlns:a16="http://schemas.microsoft.com/office/drawing/2014/main" id="{B5BF8E49-B658-423E-A210-E15DFAB1B174}"/>
              </a:ext>
            </a:extLst>
          </p:cNvPr>
          <p:cNvSpPr>
            <a:spLocks xmlns:a="http://schemas.openxmlformats.org/drawingml/2006/main" noGrp="1"/>
          </p:cNvSpPr>
          <p:nvPr/>
        </p:nvSpPr>
        <p:spPr>
          <a:xfrm xmlns:a="http://schemas.openxmlformats.org/drawingml/2006/main">
            <a:off x="400050" y="15716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Q1</a:t>
            </a:r>
          </a:p>
        </p:txBody>
      </p:sp>
      <p:sp>
        <p:nvSpPr>
          <p:cNvPr id="7" name="question-text-18-1">
            <a:extLst xmlns:a="http://schemas.openxmlformats.org/drawingml/2006/main">
              <a:ext uri="{FF2B5EF4-FFF2-40B4-BE49-F238E27FC236}">
                <a16:creationId xmlns:a16="http://schemas.microsoft.com/office/drawing/2014/main" id="{445563CF-A25C-4807-8454-B09FF3E5F124}"/>
              </a:ext>
            </a:extLst>
          </p:cNvPr>
          <p:cNvSpPr>
            <a:spLocks xmlns:a="http://schemas.openxmlformats.org/drawingml/2006/main" noGrp="1"/>
          </p:cNvSpPr>
          <p:nvPr/>
        </p:nvSpPr>
        <p:spPr>
          <a:xfrm xmlns:a="http://schemas.openxmlformats.org/drawingml/2006/main">
            <a:off x="1257300" y="15716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Trace BFS and DFS on the same four-node graph.</a:t>
            </a:r>
          </a:p>
        </p:txBody>
      </p:sp>
      <p:sp>
        <p:nvSpPr>
          <p:cNvPr id="8" name="question-number-18-2">
            <a:extLst xmlns:a="http://schemas.openxmlformats.org/drawingml/2006/main">
              <a:ext uri="{FF2B5EF4-FFF2-40B4-BE49-F238E27FC236}">
                <a16:creationId xmlns:a16="http://schemas.microsoft.com/office/drawing/2014/main" id="{8B709EB6-3582-47E6-8331-3CCE64018ECE}"/>
              </a:ext>
            </a:extLst>
          </p:cNvPr>
          <p:cNvSpPr>
            <a:spLocks xmlns:a="http://schemas.openxmlformats.org/drawingml/2006/main" noGrp="1"/>
          </p:cNvSpPr>
          <p:nvPr/>
        </p:nvSpPr>
        <p:spPr>
          <a:xfrm xmlns:a="http://schemas.openxmlformats.org/drawingml/2006/main">
            <a:off x="400050" y="243840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Q2</a:t>
            </a:r>
          </a:p>
        </p:txBody>
      </p:sp>
      <p:sp>
        <p:nvSpPr>
          <p:cNvPr id="9" name="question-text-18-2">
            <a:extLst xmlns:a="http://schemas.openxmlformats.org/drawingml/2006/main">
              <a:ext uri="{FF2B5EF4-FFF2-40B4-BE49-F238E27FC236}">
                <a16:creationId xmlns:a16="http://schemas.microsoft.com/office/drawing/2014/main" id="{7DC44A64-633E-49B1-8AC4-431FA4159B95}"/>
              </a:ext>
            </a:extLst>
          </p:cNvPr>
          <p:cNvSpPr>
            <a:spLocks xmlns:a="http://schemas.openxmlformats.org/drawingml/2006/main" noGrp="1"/>
          </p:cNvSpPr>
          <p:nvPr/>
        </p:nvSpPr>
        <p:spPr>
          <a:xfrm xmlns:a="http://schemas.openxmlformats.org/drawingml/2006/main">
            <a:off x="1257300" y="243840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Give a graph where BFS is not minimum cost.</a:t>
            </a:r>
          </a:p>
        </p:txBody>
      </p:sp>
      <p:sp>
        <p:nvSpPr>
          <p:cNvPr id="10" name="question-number-18-3">
            <a:extLst xmlns:a="http://schemas.openxmlformats.org/drawingml/2006/main">
              <a:ext uri="{FF2B5EF4-FFF2-40B4-BE49-F238E27FC236}">
                <a16:creationId xmlns:a16="http://schemas.microsoft.com/office/drawing/2014/main" id="{BF2F199B-56A0-4FBD-85C8-71DDCDB72EF9}"/>
              </a:ext>
            </a:extLst>
          </p:cNvPr>
          <p:cNvSpPr>
            <a:spLocks xmlns:a="http://schemas.openxmlformats.org/drawingml/2006/main" noGrp="1"/>
          </p:cNvSpPr>
          <p:nvPr/>
        </p:nvSpPr>
        <p:spPr>
          <a:xfrm xmlns:a="http://schemas.openxmlformats.org/drawingml/2006/main">
            <a:off x="400050" y="330517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Q3</a:t>
            </a:r>
          </a:p>
        </p:txBody>
      </p:sp>
      <p:sp>
        <p:nvSpPr>
          <p:cNvPr id="11" name="question-text-18-3">
            <a:extLst xmlns:a="http://schemas.openxmlformats.org/drawingml/2006/main">
              <a:ext uri="{FF2B5EF4-FFF2-40B4-BE49-F238E27FC236}">
                <a16:creationId xmlns:a16="http://schemas.microsoft.com/office/drawing/2014/main" id="{4FECECE5-F23E-4AB6-AE05-86E513ABF227}"/>
              </a:ext>
            </a:extLst>
          </p:cNvPr>
          <p:cNvSpPr>
            <a:spLocks xmlns:a="http://schemas.openxmlformats.org/drawingml/2006/main" noGrp="1"/>
          </p:cNvSpPr>
          <p:nvPr/>
        </p:nvSpPr>
        <p:spPr>
          <a:xfrm xmlns:a="http://schemas.openxmlformats.org/drawingml/2006/main">
            <a:off x="1257300" y="330517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Explain why UCS requires a positive lower bound on step cost.</a:t>
            </a:r>
          </a:p>
        </p:txBody>
      </p:sp>
      <p:sp>
        <p:nvSpPr>
          <p:cNvPr id="12" name="question-number-18-4">
            <a:extLst xmlns:a="http://schemas.openxmlformats.org/drawingml/2006/main">
              <a:ext uri="{FF2B5EF4-FFF2-40B4-BE49-F238E27FC236}">
                <a16:creationId xmlns:a16="http://schemas.microsoft.com/office/drawing/2014/main" id="{766DBC85-2A91-41E5-9277-0A2B813CB2A9}"/>
              </a:ext>
            </a:extLst>
          </p:cNvPr>
          <p:cNvSpPr>
            <a:spLocks xmlns:a="http://schemas.openxmlformats.org/drawingml/2006/main" noGrp="1"/>
          </p:cNvSpPr>
          <p:nvPr/>
        </p:nvSpPr>
        <p:spPr>
          <a:xfrm xmlns:a="http://schemas.openxmlformats.org/drawingml/2006/main">
            <a:off x="400050" y="417195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Q4</a:t>
            </a:r>
          </a:p>
        </p:txBody>
      </p:sp>
      <p:sp>
        <p:nvSpPr>
          <p:cNvPr id="13" name="question-text-18-4">
            <a:extLst xmlns:a="http://schemas.openxmlformats.org/drawingml/2006/main">
              <a:ext uri="{FF2B5EF4-FFF2-40B4-BE49-F238E27FC236}">
                <a16:creationId xmlns:a16="http://schemas.microsoft.com/office/drawing/2014/main" id="{C384DEBC-8F59-4AF2-BCA8-8723004B8602}"/>
              </a:ext>
            </a:extLst>
          </p:cNvPr>
          <p:cNvSpPr>
            <a:spLocks xmlns:a="http://schemas.openxmlformats.org/drawingml/2006/main" noGrp="1"/>
          </p:cNvSpPr>
          <p:nvPr/>
        </p:nvSpPr>
        <p:spPr>
          <a:xfrm xmlns:a="http://schemas.openxmlformats.org/drawingml/2006/main">
            <a:off x="1257300" y="417195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Derive the O(b^d) BFS space term.</a:t>
            </a:r>
          </a:p>
        </p:txBody>
      </p:sp>
      <p:sp>
        <p:nvSpPr>
          <p:cNvPr id="14" name="question-number-18-5">
            <a:extLst xmlns:a="http://schemas.openxmlformats.org/drawingml/2006/main">
              <a:ext uri="{FF2B5EF4-FFF2-40B4-BE49-F238E27FC236}">
                <a16:creationId xmlns:a16="http://schemas.microsoft.com/office/drawing/2014/main" id="{FF19104B-C320-49BF-AAC5-ABA68DFD5202}"/>
              </a:ext>
            </a:extLst>
          </p:cNvPr>
          <p:cNvSpPr>
            <a:spLocks xmlns:a="http://schemas.openxmlformats.org/drawingml/2006/main" noGrp="1"/>
          </p:cNvSpPr>
          <p:nvPr/>
        </p:nvSpPr>
        <p:spPr>
          <a:xfrm xmlns:a="http://schemas.openxmlformats.org/drawingml/2006/main">
            <a:off x="400050" y="50387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Q5</a:t>
            </a:r>
          </a:p>
        </p:txBody>
      </p:sp>
      <p:sp>
        <p:nvSpPr>
          <p:cNvPr id="15" name="question-text-18-5">
            <a:extLst xmlns:a="http://schemas.openxmlformats.org/drawingml/2006/main">
              <a:ext uri="{FF2B5EF4-FFF2-40B4-BE49-F238E27FC236}">
                <a16:creationId xmlns:a16="http://schemas.microsoft.com/office/drawing/2014/main" id="{DC702C0C-C0DB-4124-9EFF-5BA06661568A}"/>
              </a:ext>
            </a:extLst>
          </p:cNvPr>
          <p:cNvSpPr>
            <a:spLocks xmlns:a="http://schemas.openxmlformats.org/drawingml/2006/main" noGrp="1"/>
          </p:cNvSpPr>
          <p:nvPr/>
        </p:nvSpPr>
        <p:spPr>
          <a:xfrm xmlns:a="http://schemas.openxmlformats.org/drawingml/2006/main">
            <a:off x="1257300" y="50387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Design a test that exposes a missing UCS cost update.</a:t>
            </a:r>
          </a:p>
        </p:txBody>
      </p:sp>
    </p:spTree>
    <p:extLst>
      <p:ext uri="{BB962C8B-B14F-4D97-AF65-F5344CB8AC3E}">
        <p14:creationId xmlns:p14="http://schemas.microsoft.com/office/powerpoint/2010/main" val="7934220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2026-07-27T10:15:30.2380000Z</dcterms:created>
  <dcterms:modified xsi:type="dcterms:W3CDTF">2026-07-27T10:15:30.2380000Z</dcterms:modified>
</coreProperties>
</file>