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432aeb2fc4144eb" /><Relationship Type="http://schemas.openxmlformats.org/officeDocument/2006/relationships/extended-properties" Target="/docProps/app.xml" Id="R5a84fcb55c094fd6" /><Relationship Type="http://schemas.openxmlformats.org/officeDocument/2006/relationships/officeDocument" Target="/ppt/presentation.xml" Id="R152f415f030149c7" /></Relationships>
</file>

<file path=ppt/presentation.xml><?xml version="1.0" encoding="utf-8"?>
<p:presentation xmlns:p="http://schemas.openxmlformats.org/presentationml/2006/main">
  <p:sldMasterIdLst>
    <p:sldMasterId xmlns:r="http://schemas.openxmlformats.org/officeDocument/2006/relationships" id="2147483648" r:id="R8e873e22c5964a3b"/>
  </p:sldMasterIdLst>
  <p:notesMasterIdLst>
    <p:notesMasterId xmlns:r="http://schemas.openxmlformats.org/officeDocument/2006/relationships" r:id="Rc5deafe6f6d24db4"/>
  </p:notesMasterIdLst>
  <p:sldIdLst>
    <p:sldId xmlns:r="http://schemas.openxmlformats.org/officeDocument/2006/relationships" id="256" r:id="R932e272f3ebf48ac"/>
    <p:sldId xmlns:r="http://schemas.openxmlformats.org/officeDocument/2006/relationships" id="257" r:id="R125013b41e684bbe"/>
    <p:sldId xmlns:r="http://schemas.openxmlformats.org/officeDocument/2006/relationships" id="258" r:id="Rf9eed296d5694569"/>
    <p:sldId xmlns:r="http://schemas.openxmlformats.org/officeDocument/2006/relationships" id="259" r:id="Rb63be70bfca6417e"/>
    <p:sldId xmlns:r="http://schemas.openxmlformats.org/officeDocument/2006/relationships" id="260" r:id="R1b23b4213704423b"/>
    <p:sldId xmlns:r="http://schemas.openxmlformats.org/officeDocument/2006/relationships" id="261" r:id="R54edfb4cfefd4d32"/>
    <p:sldId xmlns:r="http://schemas.openxmlformats.org/officeDocument/2006/relationships" id="262" r:id="R29f524510f4d4c87"/>
    <p:sldId xmlns:r="http://schemas.openxmlformats.org/officeDocument/2006/relationships" id="263" r:id="R0da5734f31b54602"/>
    <p:sldId xmlns:r="http://schemas.openxmlformats.org/officeDocument/2006/relationships" id="264" r:id="R35d221518bf44014"/>
    <p:sldId xmlns:r="http://schemas.openxmlformats.org/officeDocument/2006/relationships" id="265" r:id="R053fb5cb64de4805"/>
    <p:sldId xmlns:r="http://schemas.openxmlformats.org/officeDocument/2006/relationships" id="266" r:id="R51efd3fbbea04695"/>
    <p:sldId xmlns:r="http://schemas.openxmlformats.org/officeDocument/2006/relationships" id="267" r:id="R6e20221e47104cec"/>
    <p:sldId xmlns:r="http://schemas.openxmlformats.org/officeDocument/2006/relationships" id="268" r:id="R8d7198ffbb9a441e"/>
    <p:sldId xmlns:r="http://schemas.openxmlformats.org/officeDocument/2006/relationships" id="269" r:id="R1bb8faf085cc4e4e"/>
    <p:sldId xmlns:r="http://schemas.openxmlformats.org/officeDocument/2006/relationships" id="270" r:id="Rd697e6b77ff54ec0"/>
    <p:sldId xmlns:r="http://schemas.openxmlformats.org/officeDocument/2006/relationships" id="271" r:id="Rbe94cf142e67424d"/>
    <p:sldId xmlns:r="http://schemas.openxmlformats.org/officeDocument/2006/relationships" id="272" r:id="R70a7c735941f4604"/>
    <p:sldId xmlns:r="http://schemas.openxmlformats.org/officeDocument/2006/relationships" id="273" r:id="Rd6498cb88f744e6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231eb996f71493e" /><Relationship Type="http://schemas.openxmlformats.org/officeDocument/2006/relationships/slideMaster" Target="/ppt/slideMasters/slideMaster1.xml" Id="R8e873e22c5964a3b" /><Relationship Type="http://schemas.openxmlformats.org/officeDocument/2006/relationships/notesMaster" Target="/ppt/notesMasters/notesMaster1.xml" Id="Rc5deafe6f6d24db4" /><Relationship Type="http://schemas.openxmlformats.org/officeDocument/2006/relationships/presProps" Target="/ppt/presProps.xml" Id="R9090a82076704eb8" /><Relationship Type="http://schemas.openxmlformats.org/officeDocument/2006/relationships/tableStyles" Target="/ppt/tableStyles.xml" Id="Rdc4caa6a01fe4177" /><Relationship Type="http://schemas.openxmlformats.org/officeDocument/2006/relationships/slide" Target="/ppt/slides/slide1.xml" Id="R932e272f3ebf48ac" /><Relationship Type="http://schemas.openxmlformats.org/officeDocument/2006/relationships/slide" Target="/ppt/slides/slide2.xml" Id="R125013b41e684bbe" /><Relationship Type="http://schemas.openxmlformats.org/officeDocument/2006/relationships/slide" Target="/ppt/slides/slide3.xml" Id="Rf9eed296d5694569" /><Relationship Type="http://schemas.openxmlformats.org/officeDocument/2006/relationships/slide" Target="/ppt/slides/slide4.xml" Id="Rb63be70bfca6417e" /><Relationship Type="http://schemas.openxmlformats.org/officeDocument/2006/relationships/slide" Target="/ppt/slides/slide5.xml" Id="R1b23b4213704423b" /><Relationship Type="http://schemas.openxmlformats.org/officeDocument/2006/relationships/slide" Target="/ppt/slides/slide6.xml" Id="R54edfb4cfefd4d32" /><Relationship Type="http://schemas.openxmlformats.org/officeDocument/2006/relationships/slide" Target="/ppt/slides/slide7.xml" Id="R29f524510f4d4c87" /><Relationship Type="http://schemas.openxmlformats.org/officeDocument/2006/relationships/slide" Target="/ppt/slides/slide8.xml" Id="R0da5734f31b54602" /><Relationship Type="http://schemas.openxmlformats.org/officeDocument/2006/relationships/slide" Target="/ppt/slides/slide9.xml" Id="R35d221518bf44014" /><Relationship Type="http://schemas.openxmlformats.org/officeDocument/2006/relationships/slide" Target="/ppt/slides/slide10.xml" Id="R053fb5cb64de4805" /><Relationship Type="http://schemas.openxmlformats.org/officeDocument/2006/relationships/slide" Target="/ppt/slides/slide11.xml" Id="R51efd3fbbea04695" /><Relationship Type="http://schemas.openxmlformats.org/officeDocument/2006/relationships/slide" Target="/ppt/slides/slide12.xml" Id="R6e20221e47104cec" /><Relationship Type="http://schemas.openxmlformats.org/officeDocument/2006/relationships/slide" Target="/ppt/slides/slide13.xml" Id="R8d7198ffbb9a441e" /><Relationship Type="http://schemas.openxmlformats.org/officeDocument/2006/relationships/slide" Target="/ppt/slides/slide14.xml" Id="R1bb8faf085cc4e4e" /><Relationship Type="http://schemas.openxmlformats.org/officeDocument/2006/relationships/slide" Target="/ppt/slides/slide15.xml" Id="Rd697e6b77ff54ec0" /><Relationship Type="http://schemas.openxmlformats.org/officeDocument/2006/relationships/slide" Target="/ppt/slides/slide16.xml" Id="Rbe94cf142e67424d" /><Relationship Type="http://schemas.openxmlformats.org/officeDocument/2006/relationships/slide" Target="/ppt/slides/slide17.xml" Id="R70a7c735941f4604" /><Relationship Type="http://schemas.openxmlformats.org/officeDocument/2006/relationships/slide" Target="/ppt/slides/slide18.xml" Id="Rd6498cb88f744e6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833e49a5575477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09709c683ed4b5f" /><Relationship Type="http://schemas.openxmlformats.org/officeDocument/2006/relationships/notesMaster" Target="/ppt/notesMasters/notesMaster1.xml" Id="R2df53ca81fa04d30" /></Relationships>
</file>

<file path=ppt/notesSlides/_rels/notesSlide2.xml.rels>&#65279;<?xml version="1.0" encoding="utf-8"?><Relationships xmlns="http://schemas.openxmlformats.org/package/2006/relationships"><Relationship Type="http://schemas.openxmlformats.org/officeDocument/2006/relationships/slide" Target="/ppt/slides/slide2.xml" Id="Rd3d5ee9cb30743f8" /><Relationship Type="http://schemas.openxmlformats.org/officeDocument/2006/relationships/notesMaster" Target="/ppt/notesMasters/notesMaster1.xml" Id="R0d9df1c0ea784197" /></Relationships>
</file>

<file path=ppt/notesSlides/_rels/notesSlide3.xml.rels>&#65279;<?xml version="1.0" encoding="utf-8"?><Relationships xmlns="http://schemas.openxmlformats.org/package/2006/relationships"><Relationship Type="http://schemas.openxmlformats.org/officeDocument/2006/relationships/slide" Target="/ppt/slides/slide3.xml" Id="R1464a7a86ddd43e4" /><Relationship Type="http://schemas.openxmlformats.org/officeDocument/2006/relationships/notesMaster" Target="/ppt/notesMasters/notesMaster1.xml" Id="Rafdae30136514aa5" /></Relationships>
</file>

<file path=ppt/notesSlides/_rels/notesSlide4.xml.rels>&#65279;<?xml version="1.0" encoding="utf-8"?><Relationships xmlns="http://schemas.openxmlformats.org/package/2006/relationships"><Relationship Type="http://schemas.openxmlformats.org/officeDocument/2006/relationships/slide" Target="/ppt/slides/slide4.xml" Id="R2bd832ec36f3404f" /><Relationship Type="http://schemas.openxmlformats.org/officeDocument/2006/relationships/notesMaster" Target="/ppt/notesMasters/notesMaster1.xml" Id="R8a4c4f928f4f4890" /></Relationships>
</file>

<file path=ppt/notesSlides/_rels/notesSlide5.xml.rels>&#65279;<?xml version="1.0" encoding="utf-8"?><Relationships xmlns="http://schemas.openxmlformats.org/package/2006/relationships"><Relationship Type="http://schemas.openxmlformats.org/officeDocument/2006/relationships/slide" Target="/ppt/slides/slide5.xml" Id="R0ed3a9a705514d51" /><Relationship Type="http://schemas.openxmlformats.org/officeDocument/2006/relationships/notesMaster" Target="/ppt/notesMasters/notesMaster1.xml" Id="Rec31229d8a77446d" /></Relationships>
</file>

<file path=ppt/notesSlides/_rels/notesSlide6.xml.rels>&#65279;<?xml version="1.0" encoding="utf-8"?><Relationships xmlns="http://schemas.openxmlformats.org/package/2006/relationships"><Relationship Type="http://schemas.openxmlformats.org/officeDocument/2006/relationships/slide" Target="/ppt/slides/slide6.xml" Id="R6a7ceaef7a5c4225" /><Relationship Type="http://schemas.openxmlformats.org/officeDocument/2006/relationships/notesMaster" Target="/ppt/notesMasters/notesMaster1.xml" Id="Rcf604d7df6da4f26" /></Relationships>
</file>

<file path=ppt/notesSlides/_rels/notesSlide7.xml.rels>&#65279;<?xml version="1.0" encoding="utf-8"?><Relationships xmlns="http://schemas.openxmlformats.org/package/2006/relationships"><Relationship Type="http://schemas.openxmlformats.org/officeDocument/2006/relationships/slide" Target="/ppt/slides/slide7.xml" Id="Ra9814e0de7c944ad" /><Relationship Type="http://schemas.openxmlformats.org/officeDocument/2006/relationships/notesMaster" Target="/ppt/notesMasters/notesMaster1.xml" Id="Ra196b0c648574cfe" /></Relationships>
</file>

<file path=ppt/notesSlides/_rels/notesSlide8.xml.rels>&#65279;<?xml version="1.0" encoding="utf-8"?><Relationships xmlns="http://schemas.openxmlformats.org/package/2006/relationships"><Relationship Type="http://schemas.openxmlformats.org/officeDocument/2006/relationships/slide" Target="/ppt/slides/slide8.xml" Id="R01f18f661f844304" /><Relationship Type="http://schemas.openxmlformats.org/officeDocument/2006/relationships/notesMaster" Target="/ppt/notesMasters/notesMaster1.xml" Id="Raa0f683f8c8f4186" /></Relationships>
</file>

<file path=ppt/notesSlides/_rels/notesSlide9.xml.rels>&#65279;<?xml version="1.0" encoding="utf-8"?><Relationships xmlns="http://schemas.openxmlformats.org/package/2006/relationships"><Relationship Type="http://schemas.openxmlformats.org/officeDocument/2006/relationships/slide" Target="/ppt/slides/slide9.xml" Id="R7dc3ee54e69e4672" /><Relationship Type="http://schemas.openxmlformats.org/officeDocument/2006/relationships/notesMaster" Target="/ppt/notesMasters/notesMaster1.xml" Id="Reb00439a442c46a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1024424b25447f9" /><Relationship Type="http://schemas.openxmlformats.org/officeDocument/2006/relationships/notesMaster" Target="/ppt/notesMasters/notesMaster1.xml" Id="Rf6ba53c3206c4e5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73b257d801f449c" /><Relationship Type="http://schemas.openxmlformats.org/officeDocument/2006/relationships/notesMaster" Target="/ppt/notesMasters/notesMaster1.xml" Id="Raded45435c9645b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9e0be7fc3de4018" /><Relationship Type="http://schemas.openxmlformats.org/officeDocument/2006/relationships/notesMaster" Target="/ppt/notesMasters/notesMaster1.xml" Id="R150d4294d2fa42f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51aecdc32844cd7" /><Relationship Type="http://schemas.openxmlformats.org/officeDocument/2006/relationships/notesMaster" Target="/ppt/notesMasters/notesMaster1.xml" Id="R7f2f3fa04bd54a4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6040b919da2414e" /><Relationship Type="http://schemas.openxmlformats.org/officeDocument/2006/relationships/notesMaster" Target="/ppt/notesMasters/notesMaster1.xml" Id="R5a05778000f14a0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a74226271ad4a4f" /><Relationship Type="http://schemas.openxmlformats.org/officeDocument/2006/relationships/notesMaster" Target="/ppt/notesMasters/notesMaster1.xml" Id="R62344eec0fd24ef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f87d01bb14b4488" /><Relationship Type="http://schemas.openxmlformats.org/officeDocument/2006/relationships/notesMaster" Target="/ppt/notesMasters/notesMaster1.xml" Id="R4729f5fe79ab4e0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66a4901e8b8493b" /><Relationship Type="http://schemas.openxmlformats.org/officeDocument/2006/relationships/notesMaster" Target="/ppt/notesMasters/notesMaster1.xml" Id="R71431563aa41476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0630f5ee09147be" /><Relationship Type="http://schemas.openxmlformats.org/officeDocument/2006/relationships/notesMaster" Target="/ppt/notesMasters/notesMaster1.xml" Id="R12087f09a4f145f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Q-learning learns a greedy target policy from transitions gathered by a possibly exploratory behavior policy, without querying transition probabilities. This lesson treats the topic as both a formal method and an engineering component. We will state the model, trace the algorithm on concrete data, and identify the implementation contracts that preserve its guarantees. The goal is not to memorize isolated notation. The goal is to recognize which assumptions make the method valid, what evidence can expose a defect, and how the method connects to the rest of CMPSC 480. By the end, you should be able to explain the central result, reproduce the critical calculation or trace, and design a defensive implementation that behaves predictably on normal, boundary, and invalid inputs. Keep one question active throughout: what would a skeptical reviewer need to observe before trusting the result?</a:t>
            </a:r>
          </a:p>
          <a:p xmlns:a="http://schemas.openxmlformats.org/drawingml/2006/main">
            <a:r>
              <a:t/>
            </a:r>
          </a:p>
          <a:p xmlns:a="http://schemas.openxmlformats.org/drawingml/2006/main">
            <a:r>
              <a:t>[Sources]</a:t>
            </a:r>
          </a:p>
          <a:p xmlns:a="http://schemas.openxmlformats.org/drawingml/2006/main">
            <a:r>
              <a:t>- Repository prompt: week_05/Week_5_Lesson_2_Q_Learning.md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objectives define the evidence expected after the lesson. 1) Derive Q-learning from the Bellman optimality target. 2) Compute numeric Q updates including terminal cases. 3) Implement epsilon-greedy selection with deterministic tie handling. 4) Explain behavior versus target policy. 5) State sufficient exploration and learning-rate convergence conditions. 6) Design a defensible episodic training and evaluation loop. The sequence moves from vocabulary and assumptions to derivation, tracing, implementation, and judgment. As you work through the slides, attach every equation to the meaning of its variables and every algorithmic step to a data-structure operation. When a guarantee is stated, ask which precondition supports it. When an implementation choice is shown, ask which test would reveal a violation. That discipline turns the objectives into reusable engineering practice rather than a list of terms. You should finish able to explain both the successful case and the nearest counterexample.</a:t>
            </a:r>
          </a:p>
          <a:p xmlns:a="http://schemas.openxmlformats.org/drawingml/2006/main">
            <a:r>
              <a:t/>
            </a:r>
          </a:p>
          <a:p xmlns:a="http://schemas.openxmlformats.org/drawingml/2006/main">
            <a:r>
              <a:t>[Sources]</a:t>
            </a:r>
          </a:p>
          <a:p xmlns:a="http://schemas.openxmlformats.org/drawingml/2006/main">
            <a:r>
              <a:t>- Repository prompt: week_05/Week_5_Lesson_2_Q_Learning.md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update bootstraps from the maximum next-state action value, regardless of which next action the behavior policy takes. The supporting details make the claim operational. 1) The table stores one estimate per state-action pair. 2) The target uses max over next actions. 3) Terminal transitions do not bootstrap. The highlighted idea, Off-policy, is the part to retain when the surrounding notation changes. Behavior gathers coverage; the target defines the greedy policy being learned. A correct explanation should name the assumptions, describe the observable behavior, and distinguish the method from a superficially similar alternative. In code, this claim becomes a contract that can be exercised with a small counterexample as well as a representative case. Try to state the claim in one sentence, then identify the smallest input that would falsify an incorrect version.</a:t>
            </a:r>
          </a:p>
          <a:p xmlns:a="http://schemas.openxmlformats.org/drawingml/2006/main">
            <a:r>
              <a:t/>
            </a:r>
          </a:p>
          <a:p xmlns:a="http://schemas.openxmlformats.org/drawingml/2006/main">
            <a:r>
              <a:t>[Sources]</a:t>
            </a:r>
          </a:p>
          <a:p xmlns:a="http://schemas.openxmlformats.org/drawingml/2006/main">
            <a:r>
              <a:t>- Repository prompt: week_05/Week_5_Lesson_2_Q_Learning.md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displayed relation as a compact specification rather than decorative notation: Q(s,a) &lt;- Q(s,a) + alpha [r + gamma max_a' Q(s',a') - Q(s,a)]. The symbols mean the following. 1) alpha is the learning rate. 2) gamma discounts continuation. 3) r,s' are sampled from interaction. 4) The maximum defines the greedy target. The engineering implication is If s' is terminal, replace the maximum continuation term with zero. Work one term at a time, verify dimensions or domains before calculating, and separate the mathematical result from its numerical representation. A useful test case should make each term observable and should include a boundary condition that would fail if a sign, index, normalization, or termination rule were implemented incorrectly. Before substituting numbers, predict the sign, scale, and limiting behavior of the result. Then translate the relation into a function signature and identify which inputs must be validated before the arithmetic begins.</a:t>
            </a:r>
          </a:p>
          <a:p xmlns:a="http://schemas.openxmlformats.org/drawingml/2006/main">
            <a:r>
              <a:t/>
            </a:r>
          </a:p>
          <a:p xmlns:a="http://schemas.openxmlformats.org/drawingml/2006/main">
            <a:r>
              <a:t>[Sources]</a:t>
            </a:r>
          </a:p>
          <a:p xmlns:a="http://schemas.openxmlformats.org/drawingml/2006/main">
            <a:r>
              <a:t>- Repository prompt: week_05/Week_5_Lesson_2_Q_Learning.md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two columns separate related responsibilities. On the left, Behavior policy: Usually epsilon-greedy. Generates transitions. Must cover relevant actions. Changes as Q changes. On the right, Target policy: Greedy with respect to Q. Defines bootstrap target. Represents learned control. Used without exploration at evaluation. The distinction matters because combining these concerns prematurely often hides an assumption or duplicates logic. A strong implementation exposes the boundary through clear types or functions, then tests each side independently before testing the combined behavior. The key takeaway is to compare the columns by information used, result produced, and failure modes, not merely by their names. If a design mixes both roles, label where the handoff occurs and what invariant crosses it.</a:t>
            </a:r>
          </a:p>
          <a:p xmlns:a="http://schemas.openxmlformats.org/drawingml/2006/main">
            <a:r>
              <a:t/>
            </a:r>
          </a:p>
          <a:p xmlns:a="http://schemas.openxmlformats.org/drawingml/2006/main">
            <a:r>
              <a:t>[Sources]</a:t>
            </a:r>
          </a:p>
          <a:p xmlns:a="http://schemas.openxmlformats.org/drawingml/2006/main">
            <a:r>
              <a:t>- Repository prompt: week_05/Week_5_Lesson_2_Q_Learning.md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process gives a disciplined execution order. 1) Reset: Receive an initial state. 2) Choose: Sample epsilon-greedy action. 3) Step: Observe reward, successor, done. 4) Update: Apply terminal-aware target. 5) Decay: Adjust epsilon on schedule. The emphasized stage deserves extra attention because defects introduced there propagate to every later result. Update exactly once per observed transition and never bootstrap past terminal. When implementing the process, record the invariant that should hold after each stage and decide how failure will be represented. When analyzing it, trace a small instance all the way through before relying on an aggregate output. A useful review asks what state enters each stage, what state leaves it, and which later stage would expose corruption.</a:t>
            </a:r>
          </a:p>
          <a:p xmlns:a="http://schemas.openxmlformats.org/drawingml/2006/main">
            <a:r>
              <a:t/>
            </a:r>
          </a:p>
          <a:p xmlns:a="http://schemas.openxmlformats.org/drawingml/2006/main">
            <a:r>
              <a:t>[Sources]</a:t>
            </a:r>
          </a:p>
          <a:p xmlns:a="http://schemas.openxmlformats.org/drawingml/2006/main">
            <a:r>
              <a:t>- Repository prompt: week_05/Week_5_Lesson_2_Q_Learning.md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pseudocode shows the control structure while leaving language-specific details open. Read it from initialization through termination and identify the state that changes on each iteration. The rail lists the stable questions: Validate state indexes. Seed tie randomness. Cap episode length. Log epsilon and return. A faithful implementation should make those decisions explicit rather than depend on incidental container behavior. Trace the code on a minimal legal input, a boundary case, and a case that triggers its failure path. That three-part trace usually reveals incorrect initialization, update ordering, or termination earlier than a large demonstration does. Also estimate the dominant operation and choose a data structure whose cost matches the stated complexity.</a:t>
            </a:r>
          </a:p>
          <a:p xmlns:a="http://schemas.openxmlformats.org/drawingml/2006/main">
            <a:r>
              <a:t/>
            </a:r>
          </a:p>
          <a:p xmlns:a="http://schemas.openxmlformats.org/drawingml/2006/main">
            <a:r>
              <a:t>[Sources]</a:t>
            </a:r>
          </a:p>
          <a:p xmlns:a="http://schemas.openxmlformats.org/drawingml/2006/main">
            <a:r>
              <a:t>- Repository prompt: week_05/Week_5_Lesson_2_Q_Learning.md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scenario is Q(s,a)=2, reward=1, max Q(s',.)=4, gamma=0.9, and alpha=0.5. Work through it in the displayed order. 1) Target=1+0.9*4=4.6. 2) TD error=4.6-2=2.6. 3) Increment=0.5*2.6=1.3. 4) Set Q(s,a)=3.3. The resulting conclusion is Only the experienced state-action entry changes on this tabular update. This example is intentionally small enough to verify by hand. That makes it useful as an oracle for unit tests and for diagnosing discrepancies in a larger implementation. After reproducing the result, change one assumption or input and predict which intermediate quantity should change. If the output changes without the corresponding intermediate evidence, the implementation is not preserving the model. Record the trace in a table so that every update has a visible cause. Finally, state which theorem, invariant, or modeling assumption makes the result generalizable beyond this one instance.</a:t>
            </a:r>
          </a:p>
          <a:p xmlns:a="http://schemas.openxmlformats.org/drawingml/2006/main">
            <a:r>
              <a:t/>
            </a:r>
          </a:p>
          <a:p xmlns:a="http://schemas.openxmlformats.org/drawingml/2006/main">
            <a:r>
              <a:t>[Sources]</a:t>
            </a:r>
          </a:p>
          <a:p xmlns:a="http://schemas.openxmlformats.org/drawingml/2006/main">
            <a:r>
              <a:t>- Repository prompt: week_05/Week_5_Lesson_2_Q_Learning.md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comparison organizes the alternatives by the information they use and the guarantee they can support. Q-learning: Target uses max_a' Q. Learns greedy target. Behavior can explore. Can be optimistic near risk. In contrast, SARSA: Target uses chosen next action. Learns epsilon-greedy behavior value. Includes exploration consequences. Policy and data align. In contrast, Shared: One-step bootstrap. Need learning rate. Need repeated coverage. Terminal target is reward. Do not choose a column by familiarity alone. Match the choice to the problem assumptions, available resources, and required evidence. In an exam answer or design review, state one reason the selected method fits and one reason another method does not. In an implementation, keep the shared interface stable so that the alternatives can be tested on the same inputs and compared with the same metrics. A fair experiment changes one method choice while holding data, seed, budget, and evaluation criterion constant. Report not only the winner but also the condition under which the ranking could reverse.</a:t>
            </a:r>
          </a:p>
          <a:p xmlns:a="http://schemas.openxmlformats.org/drawingml/2006/main">
            <a:r>
              <a:t/>
            </a:r>
          </a:p>
          <a:p xmlns:a="http://schemas.openxmlformats.org/drawingml/2006/main">
            <a:r>
              <a:t>[Sources]</a:t>
            </a:r>
          </a:p>
          <a:p xmlns:a="http://schemas.openxmlformats.org/drawingml/2006/main">
            <a:r>
              <a:t>- Repository prompt: week_05/Week_5_Lesson_2_Q_Learning.md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before reading the guidance and answer the checkpoint: Q(s,a)=5, terminal reward=1, alpha=0.2, gamma=0.99. What is the new Q value? Use the prompts to structure the response. 1) Remove future bootstrap. 2) Compute error 1-5. 3) Apply alpha. The expected reasoning is The new value is 5+0.2*(-4)=4.2. Gamma does not appear because the successor is terminal. A complete answer should show the governing definition or equation, apply it to the supplied facts, and state any assumption needed to remove ambiguity. If your answer differs, identify the first inference where the reasoning diverges rather than changing only the final value. The point is diagnostic: a justified wrong step is easier to repair than an unexplained correct guess. After resolving it, invent one nearby variant that would change the answer and explain exactly why.</a:t>
            </a:r>
          </a:p>
          <a:p xmlns:a="http://schemas.openxmlformats.org/drawingml/2006/main">
            <a:r>
              <a:t/>
            </a:r>
          </a:p>
          <a:p xmlns:a="http://schemas.openxmlformats.org/drawingml/2006/main">
            <a:r>
              <a:t>[Sources]</a:t>
            </a:r>
          </a:p>
          <a:p xmlns:a="http://schemas.openxmlformats.org/drawingml/2006/main">
            <a:r>
              <a:t>- Repository prompt: week_05/Week_5_Lesson_2_Q_Learning.md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two columns separate related responsibilities. On the left, Exploration branch: Occurs with probability epsilon. Sample uniformly or by documented rule. Can choose the current greedy action too. Improves state-action coverage. On the right, Greedy branch: Occurs with probability 1-epsilon. Choose an argmax action. Tie handling changes behavior. Evaluation normally uses epsilon=0. The distinction matters because combining these concerns prematurely often hides an assumption or duplicates logic. A strong implementation exposes the boundary through clear types or functions, then tests each side independently before testing the combined behavior. The key takeaway is to compare the columns by information used, result produced, and failure modes, not merely by their names. If a design mixes both roles, label where the handoff occurs and what invariant crosses it.</a:t>
            </a:r>
          </a:p>
          <a:p xmlns:a="http://schemas.openxmlformats.org/drawingml/2006/main">
            <a:r>
              <a:t/>
            </a:r>
          </a:p>
          <a:p xmlns:a="http://schemas.openxmlformats.org/drawingml/2006/main">
            <a:r>
              <a:t>[Sources]</a:t>
            </a:r>
          </a:p>
          <a:p xmlns:a="http://schemas.openxmlformats.org/drawingml/2006/main">
            <a:r>
              <a:t>- Repository prompt: week_05/Week_5_Lesson_2_Q_Learning.md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displayed relation as a compact specification rather than decorative notation: visit every (s,a) infinitely often; sum_t alpha_t=infinity; sum_t alpha_t^2&lt;infinity. The symbols mean the following. 1) Coverage prevents permanently unknown actions. 2) Nonzero total step size permits correction. 3) Finite squared step size controls noise. 4) Finite MDP and bounded rewards are standard assumptions. The engineering implication is A practical finite run can only provide empirical evidence, not the asymptotic guarantee itself. Work one term at a time, verify dimensions or domains before calculating, and separate the mathematical result from its numerical representation. A useful test case should make each term observable and should include a boundary condition that would fail if a sign, index, normalization, or termination rule were implemented incorrectly. Before substituting numbers, predict the sign, scale, and limiting behavior of the result. Then translate the relation into a function signature and identify which inputs must be validated before the arithmetic begins.</a:t>
            </a:r>
          </a:p>
          <a:p xmlns:a="http://schemas.openxmlformats.org/drawingml/2006/main">
            <a:r>
              <a:t/>
            </a:r>
          </a:p>
          <a:p xmlns:a="http://schemas.openxmlformats.org/drawingml/2006/main">
            <a:r>
              <a:t>[Sources]</a:t>
            </a:r>
          </a:p>
          <a:p xmlns:a="http://schemas.openxmlformats.org/drawingml/2006/main">
            <a:r>
              <a:t>- Repository prompt: week_05/Week_5_Lesson_2_Q_Learning.md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scenario is A sparse-reward action is initially undervalued and requires repeated trials before its benefit appears. Work through it in the displayed order. 1) High initial epsilon explores the action. 2) Updates raise its Q estimate after success. 3) Gradual decay shifts behavior toward exploitation. 4) A too-fast decay may freeze the wrong policy. The resulting conclusion is Compare schedules across seeds and evaluate the final greedy policy separately. This example is intentionally small enough to verify by hand. That makes it useful as an oracle for unit tests and for diagnosing discrepancies in a larger implementation. After reproducing the result, change one assumption or input and predict which intermediate quantity should change. If the output changes without the corresponding intermediate evidence, the implementation is not preserving the model. Record the trace in a table so that every update has a visible cause. Finally, state which theorem, invariant, or modeling assumption makes the result generalizable beyond this one instance.</a:t>
            </a:r>
          </a:p>
          <a:p xmlns:a="http://schemas.openxmlformats.org/drawingml/2006/main">
            <a:r>
              <a:t/>
            </a:r>
          </a:p>
          <a:p xmlns:a="http://schemas.openxmlformats.org/drawingml/2006/main">
            <a:r>
              <a:t>[Sources]</a:t>
            </a:r>
          </a:p>
          <a:p xmlns:a="http://schemas.openxmlformats.org/drawingml/2006/main">
            <a:r>
              <a:t>- Repository prompt: week_05/Week_5_Lesson_2_Q_Learning.md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comparison organizes the alternatives by the information they use and the guarantee they can support. Learning rate: Too high oscillates. Too low learns slowly. Decay can stabilize. Log TD magnitude. In contrast, Discount: Low is myopic. High values delayed reward. Near one raises variance. Must match task. In contrast, Epsilon: High sacrifices reward. Low misses alternatives. Decay timing matters. Report schedule. Do not choose a column by familiarity alone. Match the choice to the problem assumptions, available resources, and required evidence. In an exam answer or design review, state one reason the selected method fits and one reason another method does not. In an implementation, keep the shared interface stable so that the alternatives can be tested on the same inputs and compared with the same metrics. A fair experiment changes one method choice while holding data, seed, budget, and evaluation criterion constant. Report not only the winner but also the condition under which the ranking could reverse.</a:t>
            </a:r>
          </a:p>
          <a:p xmlns:a="http://schemas.openxmlformats.org/drawingml/2006/main">
            <a:r>
              <a:t/>
            </a:r>
          </a:p>
          <a:p xmlns:a="http://schemas.openxmlformats.org/drawingml/2006/main">
            <a:r>
              <a:t>[Sources]</a:t>
            </a:r>
          </a:p>
          <a:p xmlns:a="http://schemas.openxmlformats.org/drawingml/2006/main">
            <a:r>
              <a:t>- Repository prompt: week_05/Week_5_Lesson_2_Q_Learning.md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before reading the guidance and answer the checkpoint: A Q-table stays zero in a sparse-reward maze; epsilon decays to zero after ten episodes. What is the likely problem and first experiment? Use the prompts to structure the response. 1) Separate update logic from data coverage. 2) Inspect visited actions and rewards. 3) Change one schedule variable. The expected reasoning is Exploration likely ended before reward was discovered. Log coverage and reward events, then use a slower decay or larger epsilon floor while keeping the update equation unchanged. A complete answer should show the governing definition or equation, apply it to the supplied facts, and state any assumption needed to remove ambiguity. If your answer differs, identify the first inference where the reasoning diverges rather than changing only the final value. The point is diagnostic: a justified wrong step is easier to repair than an unexplained correct guess. After resolving it, invent one nearby variant that would change the answer and explain exactly why.</a:t>
            </a:r>
          </a:p>
          <a:p xmlns:a="http://schemas.openxmlformats.org/drawingml/2006/main">
            <a:r>
              <a:t/>
            </a:r>
          </a:p>
          <a:p xmlns:a="http://schemas.openxmlformats.org/drawingml/2006/main">
            <a:r>
              <a:t>[Sources]</a:t>
            </a:r>
          </a:p>
          <a:p xmlns:a="http://schemas.openxmlformats.org/drawingml/2006/main">
            <a:r>
              <a:t>- Repository prompt: week_05/Week_5_Lesson_2_Q_Learning.md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 small environments, compare the learned greedy policy with value iteration while preserving agent-model separation. The supporting details make the claim operational. 1) Unit-test one-step updates with hand values. 2) Run multiple seeds and report mean plus variability. 3) Evaluate without exploration or learning and check terminal behavior. The highlighted idea, Ablation, is the part to retain when the surrounding notation changes. Controlled comparisons reveal whether exploration, update logic, or evaluation causes failure. A correct explanation should name the assumptions, describe the observable behavior, and distinguish the method from a superficially similar alternative. In code, this claim becomes a contract that can be exercised with a small counterexample as well as a representative case. Try to state the claim in one sentence, then identify the smallest input that would falsify an incorrect version.</a:t>
            </a:r>
          </a:p>
          <a:p xmlns:a="http://schemas.openxmlformats.org/drawingml/2006/main">
            <a:r>
              <a:t/>
            </a:r>
          </a:p>
          <a:p xmlns:a="http://schemas.openxmlformats.org/drawingml/2006/main">
            <a:r>
              <a:t>[Sources]</a:t>
            </a:r>
          </a:p>
          <a:p xmlns:a="http://schemas.openxmlformats.org/drawingml/2006/main">
            <a:r>
              <a:t>- Repository prompt: week_05/Week_5_Lesson_2_Q_Learning.md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lesson reduces to four reusable ideas. 1) Q-learning is off-policy TD control. 2) The target is reward plus discounted maximum next Q. 3) Terminal transitions never bootstrap. 4) Exploration, learning rate, and evaluation protocol determine credible results. These are connected: the formal model supplies the algorithm, the algorithm's invariant supports its guarantee, and the implementation contract makes that guarantee testable. The next topic is Week 6 replaces the Q-table with function approximation to generalize across large state spaces. Before moving on, make sure you can reproduce one worked trace without notes and can name one edge case that would distinguish a correct implementation from a plausible but defective one. Keep the summary as a checklist for the corresponding code lab and review questions.</a:t>
            </a:r>
          </a:p>
          <a:p xmlns:a="http://schemas.openxmlformats.org/drawingml/2006/main">
            <a:r>
              <a:t/>
            </a:r>
          </a:p>
          <a:p xmlns:a="http://schemas.openxmlformats.org/drawingml/2006/main">
            <a:r>
              <a:t>[Sources]</a:t>
            </a:r>
          </a:p>
          <a:p xmlns:a="http://schemas.openxmlformats.org/drawingml/2006/main">
            <a:r>
              <a:t>- Repository prompt: week_05/Week_5_Lesson_2_Q_Learning.md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questions as an exit check. 1) Compute two Q-learning updates. 2) Contrast Q-learning with SARSA. 3) Explain epsilon-greedy tie handling. 4) State convergence conditions. 5) Design a sparse-reward diagnostic experiment. Answer with definitions, calculations, traces, or design evidence rather than one-word labels. When a question asks for a comparison, hold the input and evaluation criterion constant. When it asks for a derivation, show the intermediate quantities. When it asks for an engineering decision, name the contract and the test that supports it. Any answer that depends on an unstated convention should make that convention explicit. A strong answer should be concise enough to audit yet complete enough to reproduce.</a:t>
            </a:r>
          </a:p>
          <a:p xmlns:a="http://schemas.openxmlformats.org/drawingml/2006/main">
            <a:r>
              <a:t/>
            </a:r>
          </a:p>
          <a:p xmlns:a="http://schemas.openxmlformats.org/drawingml/2006/main">
            <a:r>
              <a:t>[Sources]</a:t>
            </a:r>
          </a:p>
          <a:p xmlns:a="http://schemas.openxmlformats.org/drawingml/2006/main">
            <a:r>
              <a:t>- Repository prompt: week_05/Week_5_Lesson_2_Q_Learning.md</a:t>
            </a:r>
          </a:p>
          <a:p xmlns:a="http://schemas.openxmlformats.org/drawingml/2006/main">
            <a:r>
              <a:t>- Stuart Russell and Peter Norvig, Artificial Intelligence: A Modern Approach, 4th edition.</a:t>
            </a:r>
          </a:p>
          <a:p xmlns:a="http://schemas.openxmlformats.org/drawingml/2006/main">
            <a:r>
              <a:t>- Richard Sutton and Andrew Barto, Reinforcement Learning: An Introduction, 2nd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20c84500ca54b7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cd7578bc4f949c9" /><Relationship Type="http://schemas.openxmlformats.org/officeDocument/2006/relationships/slideLayout" Target="/ppt/slideLayouts/slideLayout1.xml" Id="R2af6c8eea780448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af6c8eea780448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1124e498c31497f" /><Relationship Type="http://schemas.openxmlformats.org/officeDocument/2006/relationships/notesSlide" Target="/ppt/notesSlides/notesSlide1.xml" Id="R628192ab2f8c403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529771746434a96" /><Relationship Type="http://schemas.openxmlformats.org/officeDocument/2006/relationships/notesSlide" Target="/ppt/notesSlides/notesSlide2.xml" Id="R6653a0947da5490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5adcc24c3e14b06" /><Relationship Type="http://schemas.openxmlformats.org/officeDocument/2006/relationships/notesSlide" Target="/ppt/notesSlides/notesSlide3.xml" Id="R88cf492485054cc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9e505eae3a54c2b" /><Relationship Type="http://schemas.openxmlformats.org/officeDocument/2006/relationships/notesSlide" Target="/ppt/notesSlides/notesSlide4.xml" Id="Red8f22d8e22e489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93a6f8d58b54b8f" /><Relationship Type="http://schemas.openxmlformats.org/officeDocument/2006/relationships/notesSlide" Target="/ppt/notesSlides/notesSlide5.xml" Id="Rfe607e134aef4d6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39444bb60bc4b7b" /><Relationship Type="http://schemas.openxmlformats.org/officeDocument/2006/relationships/notesSlide" Target="/ppt/notesSlides/notesSlide6.xml" Id="R3b40b34b060c45e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87a0b46dff24d21" /><Relationship Type="http://schemas.openxmlformats.org/officeDocument/2006/relationships/notesSlide" Target="/ppt/notesSlides/notesSlide7.xml" Id="R32f3440b7a30471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68031ae99f542b3" /><Relationship Type="http://schemas.openxmlformats.org/officeDocument/2006/relationships/notesSlide" Target="/ppt/notesSlides/notesSlide8.xml" Id="Rf6e2c241536f4c5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6857862793f411b" /><Relationship Type="http://schemas.openxmlformats.org/officeDocument/2006/relationships/notesSlide" Target="/ppt/notesSlides/notesSlide9.xml" Id="R281ea6bf90584e1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085b35916a14920" /><Relationship Type="http://schemas.openxmlformats.org/officeDocument/2006/relationships/notesSlide" Target="/ppt/notesSlides/notesSlide10.xml" Id="R9d6bbcfa26af4f6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a53be204c7e4e78" /><Relationship Type="http://schemas.openxmlformats.org/officeDocument/2006/relationships/notesSlide" Target="/ppt/notesSlides/notesSlide11.xml" Id="R07d63a1f84e74e0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d2f94cbc08543fc" /><Relationship Type="http://schemas.openxmlformats.org/officeDocument/2006/relationships/notesSlide" Target="/ppt/notesSlides/notesSlide12.xml" Id="Re1d78066ee0c461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9e9df884a514e34" /><Relationship Type="http://schemas.openxmlformats.org/officeDocument/2006/relationships/notesSlide" Target="/ppt/notesSlides/notesSlide13.xml" Id="R595c334741d5460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80f74c5a0824d95" /><Relationship Type="http://schemas.openxmlformats.org/officeDocument/2006/relationships/notesSlide" Target="/ppt/notesSlides/notesSlide14.xml" Id="Rf5d3d849cd6c4f8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57c7c6ffc454ff1" /><Relationship Type="http://schemas.openxmlformats.org/officeDocument/2006/relationships/notesSlide" Target="/ppt/notesSlides/notesSlide15.xml" Id="Rf8ec84daacc745d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42c175ce6e446df" /><Relationship Type="http://schemas.openxmlformats.org/officeDocument/2006/relationships/notesSlide" Target="/ppt/notesSlides/notesSlide16.xml" Id="Rbd29be14a5ce47b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7a52068a9de4f90" /><Relationship Type="http://schemas.openxmlformats.org/officeDocument/2006/relationships/notesSlide" Target="/ppt/notesSlides/notesSlide17.xml" Id="Ra2ee35e83d5044a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fa52af0bf0e4894" /><Relationship Type="http://schemas.openxmlformats.org/officeDocument/2006/relationships/notesSlide" Target="/ppt/notesSlides/notesSlide18.xml" Id="R0800366caf90414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course-eyebrow">
            <a:extLst xmlns:a="http://schemas.openxmlformats.org/drawingml/2006/main">
              <a:ext uri="{FF2B5EF4-FFF2-40B4-BE49-F238E27FC236}">
                <a16:creationId xmlns:a16="http://schemas.microsoft.com/office/drawing/2014/main" id="{3CBAB185-A85D-46D8-82F4-DCDF84AFE2F3}"/>
              </a:ext>
            </a:extLst>
          </p:cNvPr>
          <p:cNvSpPr>
            <a:spLocks xmlns:a="http://schemas.openxmlformats.org/drawingml/2006/main" noGrp="1"/>
          </p:cNvSpPr>
          <p:nvPr/>
        </p:nvSpPr>
        <p:spPr>
          <a:xfrm xmlns:a="http://schemas.openxmlformats.org/drawingml/2006/main">
            <a:off x="400050" y="419100"/>
            <a:ext cx="7429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5C6470"/>
                </a:solidFill>
                <a:latin typeface="Arial"/>
                <a:ea typeface="Arial"/>
                <a:cs typeface="Arial"/>
              </a:defRPr>
            </a:pPr>
            <a:r>
              <a:rPr sz="1500" b="1">
                <a:solidFill>
                  <a:srgbClr val="5C6470"/>
                </a:solidFill>
                <a:latin typeface="Arial"/>
                <a:ea typeface="Arial"/>
                <a:cs typeface="Arial"/>
              </a:rPr>
              <a:t>CMPSC 480  |  WEEK 05  |  LESSON 2</a:t>
            </a:r>
          </a:p>
        </p:txBody>
      </p:sp>
      <p:sp>
        <p:nvSpPr>
          <p:cNvPr id="2" name="title-accent-field">
            <a:extLst xmlns:a="http://schemas.openxmlformats.org/drawingml/2006/main">
              <a:ext uri="{FF2B5EF4-FFF2-40B4-BE49-F238E27FC236}">
                <a16:creationId xmlns:a16="http://schemas.microsoft.com/office/drawing/2014/main" id="{14CB0081-D536-4209-A4BA-307CE7279774}"/>
              </a:ext>
            </a:extLst>
          </p:cNvPr>
          <p:cNvSpPr>
            <a:spLocks xmlns:a="http://schemas.openxmlformats.org/drawingml/2006/main" noGrp="1"/>
          </p:cNvSpPr>
          <p:nvPr/>
        </p:nvSpPr>
        <p:spPr>
          <a:xfrm xmlns:a="http://schemas.openxmlformats.org/drawingml/2006/main">
            <a:off x="400050" y="1266825"/>
            <a:ext cx="152400" cy="33337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3" name="deck-title">
            <a:extLst xmlns:a="http://schemas.openxmlformats.org/drawingml/2006/main">
              <a:ext uri="{FF2B5EF4-FFF2-40B4-BE49-F238E27FC236}">
                <a16:creationId xmlns:a16="http://schemas.microsoft.com/office/drawing/2014/main" id="{6A5D45FA-2DA4-4FD0-BF91-B2F8E9BC5ABD}"/>
              </a:ext>
            </a:extLst>
          </p:cNvPr>
          <p:cNvSpPr>
            <a:spLocks xmlns:a="http://schemas.openxmlformats.org/drawingml/2006/main" noGrp="1"/>
          </p:cNvSpPr>
          <p:nvPr/>
        </p:nvSpPr>
        <p:spPr>
          <a:xfrm xmlns:a="http://schemas.openxmlformats.org/drawingml/2006/main">
            <a:off x="838200" y="1200150"/>
            <a:ext cx="10096500" cy="2714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4800" b="1">
                <a:solidFill>
                  <a:srgbClr val="111111"/>
                </a:solidFill>
                <a:latin typeface="Arial"/>
                <a:ea typeface="Arial"/>
                <a:cs typeface="Arial"/>
              </a:defRPr>
            </a:pPr>
            <a:r>
              <a:rPr sz="4800" b="1">
                <a:solidFill>
                  <a:srgbClr val="111111"/>
                </a:solidFill>
                <a:latin typeface="Arial"/>
                <a:ea typeface="Arial"/>
                <a:cs typeface="Arial"/>
              </a:rPr>
              <a:t>Q-Learning: Off-Policy Temporal-Difference Control</a:t>
            </a:r>
          </a:p>
        </p:txBody>
      </p:sp>
      <p:sp>
        <p:nvSpPr>
          <p:cNvPr id="4" name="deck-subtitle">
            <a:extLst xmlns:a="http://schemas.openxmlformats.org/drawingml/2006/main">
              <a:ext uri="{FF2B5EF4-FFF2-40B4-BE49-F238E27FC236}">
                <a16:creationId xmlns:a16="http://schemas.microsoft.com/office/drawing/2014/main" id="{4368D1FB-616A-4697-971E-4D6098F04BA5}"/>
              </a:ext>
            </a:extLst>
          </p:cNvPr>
          <p:cNvSpPr>
            <a:spLocks xmlns:a="http://schemas.openxmlformats.org/drawingml/2006/main" noGrp="1"/>
          </p:cNvSpPr>
          <p:nvPr/>
        </p:nvSpPr>
        <p:spPr>
          <a:xfrm xmlns:a="http://schemas.openxmlformats.org/drawingml/2006/main">
            <a:off x="838200" y="4171950"/>
            <a:ext cx="7620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0">
                <a:solidFill>
                  <a:srgbClr val="5C6470"/>
                </a:solidFill>
                <a:latin typeface="Arial"/>
                <a:ea typeface="Arial"/>
                <a:cs typeface="Arial"/>
              </a:defRPr>
            </a:pPr>
            <a:r>
              <a:rPr sz="2100" b="0">
                <a:solidFill>
                  <a:srgbClr val="5C6470"/>
                </a:solidFill>
                <a:latin typeface="Arial"/>
                <a:ea typeface="Arial"/>
                <a:cs typeface="Arial"/>
              </a:rPr>
              <a:t>Learning optimal action values with epsilon-greedy experience</a:t>
            </a:r>
          </a:p>
        </p:txBody>
      </p:sp>
      <p:cxnSp>
        <p:nvCxnSpPr>
          <p:cNvPr id="12" name="title-bottom-rule"/>
          <p:cNvCxnSpPr/>
          <p:nvPr/>
        </p:nvCxnSpPr>
        <p:spPr>
          <a:xfrm xmlns:a="http://schemas.openxmlformats.org/drawingml/2006/main">
            <a:off x="400050" y="5953125"/>
            <a:ext cx="11391900" cy="0"/>
          </a:xfrm>
          <a:prstGeom xmlns:a="http://schemas.openxmlformats.org/drawingml/2006/main" prst="straightConnector1">
            <a:avLst/>
          </a:prstGeom>
          <a:ln xmlns:a="http://schemas.openxmlformats.org/drawingml/2006/main" w="9525">
            <a:solidFill>
              <a:srgbClr val="B8BCC4"/>
            </a:solidFill>
            <a:prstDash val="solid"/>
          </a:ln>
        </p:spPr>
      </p:cxnSp>
      <p:sp>
        <p:nvSpPr>
          <p:cNvPr id="6" name="title-duration">
            <a:extLst xmlns:a="http://schemas.openxmlformats.org/drawingml/2006/main">
              <a:ext uri="{FF2B5EF4-FFF2-40B4-BE49-F238E27FC236}">
                <a16:creationId xmlns:a16="http://schemas.microsoft.com/office/drawing/2014/main" id="{684D67F3-B599-4F81-B310-0E6262157F85}"/>
              </a:ext>
            </a:extLst>
          </p:cNvPr>
          <p:cNvSpPr>
            <a:spLocks xmlns:a="http://schemas.openxmlformats.org/drawingml/2006/main" noGrp="1"/>
          </p:cNvSpPr>
          <p:nvPr/>
        </p:nvSpPr>
        <p:spPr>
          <a:xfrm xmlns:a="http://schemas.openxmlformats.org/drawingml/2006/main">
            <a:off x="400050" y="61341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C6470"/>
                </a:solidFill>
                <a:latin typeface="Arial"/>
                <a:ea typeface="Arial"/>
                <a:cs typeface="Arial"/>
              </a:defRPr>
            </a:pPr>
            <a:r>
              <a:rPr sz="1125" b="0">
                <a:solidFill>
                  <a:srgbClr val="5C6470"/>
                </a:solidFill>
                <a:latin typeface="Arial"/>
                <a:ea typeface="Arial"/>
                <a:cs typeface="Arial"/>
              </a:rPr>
              <a:t>Approximately 50 minutes</a:t>
            </a:r>
          </a:p>
        </p:txBody>
      </p:sp>
      <p:sp>
        <p:nvSpPr>
          <p:cNvPr id="7" name="title-slide-number">
            <a:extLst xmlns:a="http://schemas.openxmlformats.org/drawingml/2006/main">
              <a:ext uri="{FF2B5EF4-FFF2-40B4-BE49-F238E27FC236}">
                <a16:creationId xmlns:a16="http://schemas.microsoft.com/office/drawing/2014/main" id="{075834CF-D7FC-4C17-B05F-B4EA61C11FF5}"/>
              </a:ext>
            </a:extLst>
          </p:cNvPr>
          <p:cNvSpPr>
            <a:spLocks xmlns:a="http://schemas.openxmlformats.org/drawingml/2006/main" noGrp="1"/>
          </p:cNvSpPr>
          <p:nvPr/>
        </p:nvSpPr>
        <p:spPr>
          <a:xfrm xmlns:a="http://schemas.openxmlformats.org/drawingml/2006/main">
            <a:off x="11239500" y="6134100"/>
            <a:ext cx="552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a:t>
            </a:r>
          </a:p>
        </p:txBody>
      </p:sp>
    </p:spTree>
    <p:extLst>
      <p:ext uri="{BB962C8B-B14F-4D97-AF65-F5344CB8AC3E}">
        <p14:creationId xmlns:p14="http://schemas.microsoft.com/office/powerpoint/2010/main" val="214091366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lide-title-2">
            <a:extLst xmlns:a="http://schemas.openxmlformats.org/drawingml/2006/main">
              <a:ext uri="{FF2B5EF4-FFF2-40B4-BE49-F238E27FC236}">
                <a16:creationId xmlns:a16="http://schemas.microsoft.com/office/drawing/2014/main" id="{42C64D85-D0CF-4374-A51F-E0E867768E29}"/>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Learning objectives</a:t>
            </a:r>
          </a:p>
        </p:txBody>
      </p:sp>
      <p:sp>
        <p:nvSpPr>
          <p:cNvPr id="2" name="title-accent-2">
            <a:extLst xmlns:a="http://schemas.openxmlformats.org/drawingml/2006/main">
              <a:ext uri="{FF2B5EF4-FFF2-40B4-BE49-F238E27FC236}">
                <a16:creationId xmlns:a16="http://schemas.microsoft.com/office/drawing/2014/main" id="{0884990C-3465-4E29-8AAA-7C314CADFD02}"/>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7" name="title-rule-2"/>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2">
            <a:extLst xmlns:a="http://schemas.openxmlformats.org/drawingml/2006/main">
              <a:ext uri="{FF2B5EF4-FFF2-40B4-BE49-F238E27FC236}">
                <a16:creationId xmlns:a16="http://schemas.microsoft.com/office/drawing/2014/main" id="{035222EE-9FDF-400C-A199-766EC3398820}"/>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5  |  Lesson 2</a:t>
            </a:r>
          </a:p>
        </p:txBody>
      </p:sp>
      <p:sp>
        <p:nvSpPr>
          <p:cNvPr id="5" name="footer-number-2">
            <a:extLst xmlns:a="http://schemas.openxmlformats.org/drawingml/2006/main">
              <a:ext uri="{FF2B5EF4-FFF2-40B4-BE49-F238E27FC236}">
                <a16:creationId xmlns:a16="http://schemas.microsoft.com/office/drawing/2014/main" id="{F7BD93B9-297D-4CDA-887F-D58619E3DF9A}"/>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2</a:t>
            </a:r>
          </a:p>
        </p:txBody>
      </p:sp>
      <p:sp>
        <p:nvSpPr>
          <p:cNvPr id="6" name="objective-intro-2">
            <a:extLst xmlns:a="http://schemas.openxmlformats.org/drawingml/2006/main">
              <a:ext uri="{FF2B5EF4-FFF2-40B4-BE49-F238E27FC236}">
                <a16:creationId xmlns:a16="http://schemas.microsoft.com/office/drawing/2014/main" id="{D1122316-46D0-41FA-A841-ADA2ED133F19}"/>
              </a:ext>
            </a:extLst>
          </p:cNvPr>
          <p:cNvSpPr>
            <a:spLocks xmlns:a="http://schemas.openxmlformats.org/drawingml/2006/main" noGrp="1"/>
          </p:cNvSpPr>
          <p:nvPr/>
        </p:nvSpPr>
        <p:spPr>
          <a:xfrm xmlns:a="http://schemas.openxmlformats.org/drawingml/2006/main">
            <a:off x="400050" y="1428750"/>
            <a:ext cx="1104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5C6470"/>
                </a:solidFill>
                <a:latin typeface="Arial"/>
                <a:ea typeface="Arial"/>
                <a:cs typeface="Arial"/>
              </a:defRPr>
            </a:pPr>
            <a:r>
              <a:rPr sz="1650" b="0">
                <a:solidFill>
                  <a:srgbClr val="5C6470"/>
                </a:solidFill>
                <a:latin typeface="Arial"/>
                <a:ea typeface="Arial"/>
                <a:cs typeface="Arial"/>
              </a:rPr>
              <a:t>By the end of this lesson, you should be able to:</a:t>
            </a:r>
          </a:p>
        </p:txBody>
      </p:sp>
      <p:sp>
        <p:nvSpPr>
          <p:cNvPr id="7" name="objective-number-1">
            <a:extLst xmlns:a="http://schemas.openxmlformats.org/drawingml/2006/main">
              <a:ext uri="{FF2B5EF4-FFF2-40B4-BE49-F238E27FC236}">
                <a16:creationId xmlns:a16="http://schemas.microsoft.com/office/drawing/2014/main" id="{F0B5BA55-6356-4C36-B6AD-657AB9749309}"/>
              </a:ext>
            </a:extLst>
          </p:cNvPr>
          <p:cNvSpPr>
            <a:spLocks xmlns:a="http://schemas.openxmlformats.org/drawingml/2006/main" noGrp="1"/>
          </p:cNvSpPr>
          <p:nvPr/>
        </p:nvSpPr>
        <p:spPr>
          <a:xfrm xmlns:a="http://schemas.openxmlformats.org/drawingml/2006/main">
            <a:off x="400050" y="2047875"/>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01</a:t>
            </a:r>
          </a:p>
        </p:txBody>
      </p:sp>
      <p:cxnSp>
        <p:nvCxnSpPr>
          <p:cNvPr id="32" name="objective-rule-1"/>
          <p:cNvCxnSpPr/>
          <p:nvPr/>
        </p:nvCxnSpPr>
        <p:spPr>
          <a:xfrm xmlns:a="http://schemas.openxmlformats.org/drawingml/2006/main">
            <a:off x="1076325" y="2276475"/>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9" name="objective-text-1">
            <a:extLst xmlns:a="http://schemas.openxmlformats.org/drawingml/2006/main">
              <a:ext uri="{FF2B5EF4-FFF2-40B4-BE49-F238E27FC236}">
                <a16:creationId xmlns:a16="http://schemas.microsoft.com/office/drawing/2014/main" id="{043FD6D3-36B0-4011-ADB8-27AC87176A03}"/>
              </a:ext>
            </a:extLst>
          </p:cNvPr>
          <p:cNvSpPr>
            <a:spLocks xmlns:a="http://schemas.openxmlformats.org/drawingml/2006/main" noGrp="1"/>
          </p:cNvSpPr>
          <p:nvPr/>
        </p:nvSpPr>
        <p:spPr>
          <a:xfrm xmlns:a="http://schemas.openxmlformats.org/drawingml/2006/main">
            <a:off x="2047875" y="2047875"/>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Derive Q-learning from the Bellman optimality target.</a:t>
            </a:r>
          </a:p>
        </p:txBody>
      </p:sp>
      <p:sp>
        <p:nvSpPr>
          <p:cNvPr id="10" name="objective-number-2">
            <a:extLst xmlns:a="http://schemas.openxmlformats.org/drawingml/2006/main">
              <a:ext uri="{FF2B5EF4-FFF2-40B4-BE49-F238E27FC236}">
                <a16:creationId xmlns:a16="http://schemas.microsoft.com/office/drawing/2014/main" id="{48A1ED06-E45A-49E0-B652-A093B3750601}"/>
              </a:ext>
            </a:extLst>
          </p:cNvPr>
          <p:cNvSpPr>
            <a:spLocks xmlns:a="http://schemas.openxmlformats.org/drawingml/2006/main" noGrp="1"/>
          </p:cNvSpPr>
          <p:nvPr/>
        </p:nvSpPr>
        <p:spPr>
          <a:xfrm xmlns:a="http://schemas.openxmlformats.org/drawingml/2006/main">
            <a:off x="400050" y="2724150"/>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02</a:t>
            </a:r>
          </a:p>
        </p:txBody>
      </p:sp>
      <p:cxnSp>
        <p:nvCxnSpPr>
          <p:cNvPr id="35" name="objective-rule-2"/>
          <p:cNvCxnSpPr/>
          <p:nvPr/>
        </p:nvCxnSpPr>
        <p:spPr>
          <a:xfrm xmlns:a="http://schemas.openxmlformats.org/drawingml/2006/main">
            <a:off x="1076325" y="2952750"/>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12" name="objective-text-2">
            <a:extLst xmlns:a="http://schemas.openxmlformats.org/drawingml/2006/main">
              <a:ext uri="{FF2B5EF4-FFF2-40B4-BE49-F238E27FC236}">
                <a16:creationId xmlns:a16="http://schemas.microsoft.com/office/drawing/2014/main" id="{62A57431-237A-456B-9817-17B2C5669A83}"/>
              </a:ext>
            </a:extLst>
          </p:cNvPr>
          <p:cNvSpPr>
            <a:spLocks xmlns:a="http://schemas.openxmlformats.org/drawingml/2006/main" noGrp="1"/>
          </p:cNvSpPr>
          <p:nvPr/>
        </p:nvSpPr>
        <p:spPr>
          <a:xfrm xmlns:a="http://schemas.openxmlformats.org/drawingml/2006/main">
            <a:off x="2047875" y="2724150"/>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Compute numeric Q updates including terminal cases.</a:t>
            </a:r>
          </a:p>
        </p:txBody>
      </p:sp>
      <p:sp>
        <p:nvSpPr>
          <p:cNvPr id="13" name="objective-number-3">
            <a:extLst xmlns:a="http://schemas.openxmlformats.org/drawingml/2006/main">
              <a:ext uri="{FF2B5EF4-FFF2-40B4-BE49-F238E27FC236}">
                <a16:creationId xmlns:a16="http://schemas.microsoft.com/office/drawing/2014/main" id="{CD964B2B-4773-44BE-A384-5A662C7300AA}"/>
              </a:ext>
            </a:extLst>
          </p:cNvPr>
          <p:cNvSpPr>
            <a:spLocks xmlns:a="http://schemas.openxmlformats.org/drawingml/2006/main" noGrp="1"/>
          </p:cNvSpPr>
          <p:nvPr/>
        </p:nvSpPr>
        <p:spPr>
          <a:xfrm xmlns:a="http://schemas.openxmlformats.org/drawingml/2006/main">
            <a:off x="400050" y="3400425"/>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03</a:t>
            </a:r>
          </a:p>
        </p:txBody>
      </p:sp>
      <p:cxnSp>
        <p:nvCxnSpPr>
          <p:cNvPr id="38" name="objective-rule-3"/>
          <p:cNvCxnSpPr/>
          <p:nvPr/>
        </p:nvCxnSpPr>
        <p:spPr>
          <a:xfrm xmlns:a="http://schemas.openxmlformats.org/drawingml/2006/main">
            <a:off x="1076325" y="3629025"/>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15" name="objective-text-3">
            <a:extLst xmlns:a="http://schemas.openxmlformats.org/drawingml/2006/main">
              <a:ext uri="{FF2B5EF4-FFF2-40B4-BE49-F238E27FC236}">
                <a16:creationId xmlns:a16="http://schemas.microsoft.com/office/drawing/2014/main" id="{F3D190BC-8334-4E7F-BD26-0E1438A7EF20}"/>
              </a:ext>
            </a:extLst>
          </p:cNvPr>
          <p:cNvSpPr>
            <a:spLocks xmlns:a="http://schemas.openxmlformats.org/drawingml/2006/main" noGrp="1"/>
          </p:cNvSpPr>
          <p:nvPr/>
        </p:nvSpPr>
        <p:spPr>
          <a:xfrm xmlns:a="http://schemas.openxmlformats.org/drawingml/2006/main">
            <a:off x="2047875" y="3400425"/>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Implement epsilon-greedy selection with deterministic tie handling.</a:t>
            </a:r>
          </a:p>
        </p:txBody>
      </p:sp>
      <p:sp>
        <p:nvSpPr>
          <p:cNvPr id="16" name="objective-number-4">
            <a:extLst xmlns:a="http://schemas.openxmlformats.org/drawingml/2006/main">
              <a:ext uri="{FF2B5EF4-FFF2-40B4-BE49-F238E27FC236}">
                <a16:creationId xmlns:a16="http://schemas.microsoft.com/office/drawing/2014/main" id="{C5A602FE-0ADF-4082-9327-BE357E0B0906}"/>
              </a:ext>
            </a:extLst>
          </p:cNvPr>
          <p:cNvSpPr>
            <a:spLocks xmlns:a="http://schemas.openxmlformats.org/drawingml/2006/main" noGrp="1"/>
          </p:cNvSpPr>
          <p:nvPr/>
        </p:nvSpPr>
        <p:spPr>
          <a:xfrm xmlns:a="http://schemas.openxmlformats.org/drawingml/2006/main">
            <a:off x="400050" y="4076700"/>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04</a:t>
            </a:r>
          </a:p>
        </p:txBody>
      </p:sp>
      <p:cxnSp>
        <p:nvCxnSpPr>
          <p:cNvPr id="41" name="objective-rule-4"/>
          <p:cNvCxnSpPr/>
          <p:nvPr/>
        </p:nvCxnSpPr>
        <p:spPr>
          <a:xfrm xmlns:a="http://schemas.openxmlformats.org/drawingml/2006/main">
            <a:off x="1076325" y="4305300"/>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18" name="objective-text-4">
            <a:extLst xmlns:a="http://schemas.openxmlformats.org/drawingml/2006/main">
              <a:ext uri="{FF2B5EF4-FFF2-40B4-BE49-F238E27FC236}">
                <a16:creationId xmlns:a16="http://schemas.microsoft.com/office/drawing/2014/main" id="{DD7210A7-D77B-4FD8-A263-84E82494D8A8}"/>
              </a:ext>
            </a:extLst>
          </p:cNvPr>
          <p:cNvSpPr>
            <a:spLocks xmlns:a="http://schemas.openxmlformats.org/drawingml/2006/main" noGrp="1"/>
          </p:cNvSpPr>
          <p:nvPr/>
        </p:nvSpPr>
        <p:spPr>
          <a:xfrm xmlns:a="http://schemas.openxmlformats.org/drawingml/2006/main">
            <a:off x="2047875" y="4076700"/>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Explain behavior versus target policy.</a:t>
            </a:r>
          </a:p>
        </p:txBody>
      </p:sp>
      <p:sp>
        <p:nvSpPr>
          <p:cNvPr id="19" name="objective-number-5">
            <a:extLst xmlns:a="http://schemas.openxmlformats.org/drawingml/2006/main">
              <a:ext uri="{FF2B5EF4-FFF2-40B4-BE49-F238E27FC236}">
                <a16:creationId xmlns:a16="http://schemas.microsoft.com/office/drawing/2014/main" id="{A0760ACF-4409-48E1-9997-9A79C852C87B}"/>
              </a:ext>
            </a:extLst>
          </p:cNvPr>
          <p:cNvSpPr>
            <a:spLocks xmlns:a="http://schemas.openxmlformats.org/drawingml/2006/main" noGrp="1"/>
          </p:cNvSpPr>
          <p:nvPr/>
        </p:nvSpPr>
        <p:spPr>
          <a:xfrm xmlns:a="http://schemas.openxmlformats.org/drawingml/2006/main">
            <a:off x="400050" y="4752975"/>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05</a:t>
            </a:r>
          </a:p>
        </p:txBody>
      </p:sp>
      <p:cxnSp>
        <p:nvCxnSpPr>
          <p:cNvPr id="44" name="objective-rule-5"/>
          <p:cNvCxnSpPr/>
          <p:nvPr/>
        </p:nvCxnSpPr>
        <p:spPr>
          <a:xfrm xmlns:a="http://schemas.openxmlformats.org/drawingml/2006/main">
            <a:off x="1076325" y="4981575"/>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21" name="objective-text-5">
            <a:extLst xmlns:a="http://schemas.openxmlformats.org/drawingml/2006/main">
              <a:ext uri="{FF2B5EF4-FFF2-40B4-BE49-F238E27FC236}">
                <a16:creationId xmlns:a16="http://schemas.microsoft.com/office/drawing/2014/main" id="{5D1DDA46-9B23-4EBC-AF81-BB0BC2728399}"/>
              </a:ext>
            </a:extLst>
          </p:cNvPr>
          <p:cNvSpPr>
            <a:spLocks xmlns:a="http://schemas.openxmlformats.org/drawingml/2006/main" noGrp="1"/>
          </p:cNvSpPr>
          <p:nvPr/>
        </p:nvSpPr>
        <p:spPr>
          <a:xfrm xmlns:a="http://schemas.openxmlformats.org/drawingml/2006/main">
            <a:off x="2047875" y="4752975"/>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State sufficient exploration and learning-rate convergence conditions.</a:t>
            </a:r>
          </a:p>
        </p:txBody>
      </p:sp>
      <p:sp>
        <p:nvSpPr>
          <p:cNvPr id="22" name="objective-number-6">
            <a:extLst xmlns:a="http://schemas.openxmlformats.org/drawingml/2006/main">
              <a:ext uri="{FF2B5EF4-FFF2-40B4-BE49-F238E27FC236}">
                <a16:creationId xmlns:a16="http://schemas.microsoft.com/office/drawing/2014/main" id="{B58BBA1F-B50A-47B8-9311-579912EBCE70}"/>
              </a:ext>
            </a:extLst>
          </p:cNvPr>
          <p:cNvSpPr>
            <a:spLocks xmlns:a="http://schemas.openxmlformats.org/drawingml/2006/main" noGrp="1"/>
          </p:cNvSpPr>
          <p:nvPr/>
        </p:nvSpPr>
        <p:spPr>
          <a:xfrm xmlns:a="http://schemas.openxmlformats.org/drawingml/2006/main">
            <a:off x="400050" y="5429250"/>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06</a:t>
            </a:r>
          </a:p>
        </p:txBody>
      </p:sp>
      <p:cxnSp>
        <p:nvCxnSpPr>
          <p:cNvPr id="47" name="objective-rule-6"/>
          <p:cNvCxnSpPr/>
          <p:nvPr/>
        </p:nvCxnSpPr>
        <p:spPr>
          <a:xfrm xmlns:a="http://schemas.openxmlformats.org/drawingml/2006/main">
            <a:off x="1076325" y="5657850"/>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24" name="objective-text-6">
            <a:extLst xmlns:a="http://schemas.openxmlformats.org/drawingml/2006/main">
              <a:ext uri="{FF2B5EF4-FFF2-40B4-BE49-F238E27FC236}">
                <a16:creationId xmlns:a16="http://schemas.microsoft.com/office/drawing/2014/main" id="{04112264-52D8-4F54-A5EF-79293141F5D7}"/>
              </a:ext>
            </a:extLst>
          </p:cNvPr>
          <p:cNvSpPr>
            <a:spLocks xmlns:a="http://schemas.openxmlformats.org/drawingml/2006/main" noGrp="1"/>
          </p:cNvSpPr>
          <p:nvPr/>
        </p:nvSpPr>
        <p:spPr>
          <a:xfrm xmlns:a="http://schemas.openxmlformats.org/drawingml/2006/main">
            <a:off x="2047875" y="5429250"/>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Design a defensible episodic training and evaluation loop.</a:t>
            </a:r>
          </a:p>
        </p:txBody>
      </p:sp>
    </p:spTree>
    <p:extLst>
      <p:ext uri="{BB962C8B-B14F-4D97-AF65-F5344CB8AC3E}">
        <p14:creationId xmlns:p14="http://schemas.microsoft.com/office/powerpoint/2010/main" val="56602227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title-3">
            <a:extLst xmlns:a="http://schemas.openxmlformats.org/drawingml/2006/main">
              <a:ext uri="{FF2B5EF4-FFF2-40B4-BE49-F238E27FC236}">
                <a16:creationId xmlns:a16="http://schemas.microsoft.com/office/drawing/2014/main" id="{8D27D2B5-6511-4F95-99D2-E9A7126139BB}"/>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Q-learning targets greedy control while behaving exploratorily</a:t>
            </a:r>
          </a:p>
        </p:txBody>
      </p:sp>
      <p:sp>
        <p:nvSpPr>
          <p:cNvPr id="2" name="title-accent-3">
            <a:extLst xmlns:a="http://schemas.openxmlformats.org/drawingml/2006/main">
              <a:ext uri="{FF2B5EF4-FFF2-40B4-BE49-F238E27FC236}">
                <a16:creationId xmlns:a16="http://schemas.microsoft.com/office/drawing/2014/main" id="{62555736-064D-4C06-ACC3-101D1BA7783D}"/>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8" name="title-rule-3"/>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3">
            <a:extLst xmlns:a="http://schemas.openxmlformats.org/drawingml/2006/main">
              <a:ext uri="{FF2B5EF4-FFF2-40B4-BE49-F238E27FC236}">
                <a16:creationId xmlns:a16="http://schemas.microsoft.com/office/drawing/2014/main" id="{1BCEA33A-4297-4B71-A3E2-9995D54F22EB}"/>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5  |  Lesson 2</a:t>
            </a:r>
          </a:p>
        </p:txBody>
      </p:sp>
      <p:sp>
        <p:nvSpPr>
          <p:cNvPr id="5" name="footer-number-3">
            <a:extLst xmlns:a="http://schemas.openxmlformats.org/drawingml/2006/main">
              <a:ext uri="{FF2B5EF4-FFF2-40B4-BE49-F238E27FC236}">
                <a16:creationId xmlns:a16="http://schemas.microsoft.com/office/drawing/2014/main" id="{D5121702-02DF-4BAC-9E40-F7A92B1AE78F}"/>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3</a:t>
            </a:r>
          </a:p>
        </p:txBody>
      </p:sp>
      <p:sp>
        <p:nvSpPr>
          <p:cNvPr id="6" name="claim-3">
            <a:extLst xmlns:a="http://schemas.openxmlformats.org/drawingml/2006/main">
              <a:ext uri="{FF2B5EF4-FFF2-40B4-BE49-F238E27FC236}">
                <a16:creationId xmlns:a16="http://schemas.microsoft.com/office/drawing/2014/main" id="{9228FDAF-10E9-4814-9209-DF8F409790CE}"/>
              </a:ext>
            </a:extLst>
          </p:cNvPr>
          <p:cNvSpPr>
            <a:spLocks xmlns:a="http://schemas.openxmlformats.org/drawingml/2006/main" noGrp="1"/>
          </p:cNvSpPr>
          <p:nvPr/>
        </p:nvSpPr>
        <p:spPr>
          <a:xfrm xmlns:a="http://schemas.openxmlformats.org/drawingml/2006/main">
            <a:off x="400050" y="1581150"/>
            <a:ext cx="7429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150" b="1">
                <a:solidFill>
                  <a:srgbClr val="111111"/>
                </a:solidFill>
                <a:latin typeface="Arial"/>
                <a:ea typeface="Arial"/>
                <a:cs typeface="Arial"/>
              </a:defRPr>
            </a:pPr>
            <a:r>
              <a:rPr sz="3150" b="1">
                <a:solidFill>
                  <a:srgbClr val="111111"/>
                </a:solidFill>
                <a:latin typeface="Arial"/>
                <a:ea typeface="Arial"/>
                <a:cs typeface="Arial"/>
              </a:rPr>
              <a:t>The update bootstraps from the maximum next-state action value, regardless of which next action the behavior policy takes.</a:t>
            </a:r>
          </a:p>
        </p:txBody>
      </p:sp>
      <p:sp>
        <p:nvSpPr>
          <p:cNvPr id="7" name="claim-panel-3">
            <a:extLst xmlns:a="http://schemas.openxmlformats.org/drawingml/2006/main">
              <a:ext uri="{FF2B5EF4-FFF2-40B4-BE49-F238E27FC236}">
                <a16:creationId xmlns:a16="http://schemas.microsoft.com/office/drawing/2014/main" id="{570708AD-2EFF-4E72-AB01-93FC734AD1E8}"/>
              </a:ext>
            </a:extLst>
          </p:cNvPr>
          <p:cNvSpPr>
            <a:spLocks xmlns:a="http://schemas.openxmlformats.org/drawingml/2006/main" noGrp="1"/>
          </p:cNvSpPr>
          <p:nvPr/>
        </p:nvSpPr>
        <p:spPr>
          <a:xfrm xmlns:a="http://schemas.openxmlformats.org/drawingml/2006/main">
            <a:off x="8191500" y="1581150"/>
            <a:ext cx="3600450" cy="1809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8" name="claim-keyword-3">
            <a:extLst xmlns:a="http://schemas.openxmlformats.org/drawingml/2006/main">
              <a:ext uri="{FF2B5EF4-FFF2-40B4-BE49-F238E27FC236}">
                <a16:creationId xmlns:a16="http://schemas.microsoft.com/office/drawing/2014/main" id="{1BF82343-F101-4911-9A12-374B2B033E6C}"/>
              </a:ext>
            </a:extLst>
          </p:cNvPr>
          <p:cNvSpPr>
            <a:spLocks xmlns:a="http://schemas.openxmlformats.org/drawingml/2006/main" noGrp="1"/>
          </p:cNvSpPr>
          <p:nvPr/>
        </p:nvSpPr>
        <p:spPr>
          <a:xfrm xmlns:a="http://schemas.openxmlformats.org/drawingml/2006/main">
            <a:off x="8524875" y="1885950"/>
            <a:ext cx="295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700" b="1">
                <a:solidFill>
                  <a:srgbClr val="3D8DFF"/>
                </a:solidFill>
                <a:latin typeface="Arial"/>
                <a:ea typeface="Arial"/>
                <a:cs typeface="Arial"/>
              </a:defRPr>
            </a:pPr>
            <a:r>
              <a:rPr sz="2700" b="1">
                <a:solidFill>
                  <a:srgbClr val="3D8DFF"/>
                </a:solidFill>
                <a:latin typeface="Arial"/>
                <a:ea typeface="Arial"/>
                <a:cs typeface="Arial"/>
              </a:rPr>
              <a:t>Off-policy</a:t>
            </a:r>
          </a:p>
        </p:txBody>
      </p:sp>
      <p:sp>
        <p:nvSpPr>
          <p:cNvPr id="9" name="claim-keyword-detail-3">
            <a:extLst xmlns:a="http://schemas.openxmlformats.org/drawingml/2006/main">
              <a:ext uri="{FF2B5EF4-FFF2-40B4-BE49-F238E27FC236}">
                <a16:creationId xmlns:a16="http://schemas.microsoft.com/office/drawing/2014/main" id="{C16EE556-83FF-478C-AD05-8ADDD124D2A0}"/>
              </a:ext>
            </a:extLst>
          </p:cNvPr>
          <p:cNvSpPr>
            <a:spLocks xmlns:a="http://schemas.openxmlformats.org/drawingml/2006/main" noGrp="1"/>
          </p:cNvSpPr>
          <p:nvPr/>
        </p:nvSpPr>
        <p:spPr>
          <a:xfrm xmlns:a="http://schemas.openxmlformats.org/drawingml/2006/main">
            <a:off x="8524875" y="2609850"/>
            <a:ext cx="295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111111"/>
                </a:solidFill>
                <a:latin typeface="Arial"/>
                <a:ea typeface="Arial"/>
                <a:cs typeface="Arial"/>
              </a:defRPr>
            </a:pPr>
            <a:r>
              <a:rPr sz="1425" b="0">
                <a:solidFill>
                  <a:srgbClr val="111111"/>
                </a:solidFill>
                <a:latin typeface="Arial"/>
                <a:ea typeface="Arial"/>
                <a:cs typeface="Arial"/>
              </a:rPr>
              <a:t>Behavior gathers coverage; the target defines the greedy policy being learned.</a:t>
            </a:r>
          </a:p>
        </p:txBody>
      </p:sp>
      <p:sp>
        <p:nvSpPr>
          <p:cNvPr id="10" name="claim-detail-3-marker-1">
            <a:extLst xmlns:a="http://schemas.openxmlformats.org/drawingml/2006/main">
              <a:ext uri="{FF2B5EF4-FFF2-40B4-BE49-F238E27FC236}">
                <a16:creationId xmlns:a16="http://schemas.microsoft.com/office/drawing/2014/main" id="{CBBCB770-4D95-443B-8FF0-A4C432BA96D9}"/>
              </a:ext>
            </a:extLst>
          </p:cNvPr>
          <p:cNvSpPr>
            <a:spLocks xmlns:a="http://schemas.openxmlformats.org/drawingml/2006/main" noGrp="1"/>
          </p:cNvSpPr>
          <p:nvPr/>
        </p:nvSpPr>
        <p:spPr>
          <a:xfrm xmlns:a="http://schemas.openxmlformats.org/drawingml/2006/main">
            <a:off x="400050" y="38481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claim-detail-3-text-1">
            <a:extLst xmlns:a="http://schemas.openxmlformats.org/drawingml/2006/main">
              <a:ext uri="{FF2B5EF4-FFF2-40B4-BE49-F238E27FC236}">
                <a16:creationId xmlns:a16="http://schemas.microsoft.com/office/drawing/2014/main" id="{7F2C45C1-3941-4FFA-B779-11F66DA1A943}"/>
              </a:ext>
            </a:extLst>
          </p:cNvPr>
          <p:cNvSpPr>
            <a:spLocks xmlns:a="http://schemas.openxmlformats.org/drawingml/2006/main" noGrp="1"/>
          </p:cNvSpPr>
          <p:nvPr/>
        </p:nvSpPr>
        <p:spPr>
          <a:xfrm xmlns:a="http://schemas.openxmlformats.org/drawingml/2006/main">
            <a:off x="628650" y="37623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The table stores one estimate per state-action pair.</a:t>
            </a:r>
          </a:p>
        </p:txBody>
      </p:sp>
      <p:sp>
        <p:nvSpPr>
          <p:cNvPr id="12" name="claim-detail-3-marker-2">
            <a:extLst xmlns:a="http://schemas.openxmlformats.org/drawingml/2006/main">
              <a:ext uri="{FF2B5EF4-FFF2-40B4-BE49-F238E27FC236}">
                <a16:creationId xmlns:a16="http://schemas.microsoft.com/office/drawing/2014/main" id="{C1ABACE3-EDC8-42E0-A73E-1FC0D216A685}"/>
              </a:ext>
            </a:extLst>
          </p:cNvPr>
          <p:cNvSpPr>
            <a:spLocks xmlns:a="http://schemas.openxmlformats.org/drawingml/2006/main" noGrp="1"/>
          </p:cNvSpPr>
          <p:nvPr/>
        </p:nvSpPr>
        <p:spPr>
          <a:xfrm xmlns:a="http://schemas.openxmlformats.org/drawingml/2006/main">
            <a:off x="400050" y="44577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claim-detail-3-text-2">
            <a:extLst xmlns:a="http://schemas.openxmlformats.org/drawingml/2006/main">
              <a:ext uri="{FF2B5EF4-FFF2-40B4-BE49-F238E27FC236}">
                <a16:creationId xmlns:a16="http://schemas.microsoft.com/office/drawing/2014/main" id="{2CF9CE38-C845-4E83-9905-28EDE6D78452}"/>
              </a:ext>
            </a:extLst>
          </p:cNvPr>
          <p:cNvSpPr>
            <a:spLocks xmlns:a="http://schemas.openxmlformats.org/drawingml/2006/main" noGrp="1"/>
          </p:cNvSpPr>
          <p:nvPr/>
        </p:nvSpPr>
        <p:spPr>
          <a:xfrm xmlns:a="http://schemas.openxmlformats.org/drawingml/2006/main">
            <a:off x="628650" y="43719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The target uses max over next actions.</a:t>
            </a:r>
          </a:p>
        </p:txBody>
      </p:sp>
      <p:sp>
        <p:nvSpPr>
          <p:cNvPr id="14" name="claim-detail-3-marker-3">
            <a:extLst xmlns:a="http://schemas.openxmlformats.org/drawingml/2006/main">
              <a:ext uri="{FF2B5EF4-FFF2-40B4-BE49-F238E27FC236}">
                <a16:creationId xmlns:a16="http://schemas.microsoft.com/office/drawing/2014/main" id="{855B42AF-287E-44A1-B86B-58516E0F0943}"/>
              </a:ext>
            </a:extLst>
          </p:cNvPr>
          <p:cNvSpPr>
            <a:spLocks xmlns:a="http://schemas.openxmlformats.org/drawingml/2006/main" noGrp="1"/>
          </p:cNvSpPr>
          <p:nvPr/>
        </p:nvSpPr>
        <p:spPr>
          <a:xfrm xmlns:a="http://schemas.openxmlformats.org/drawingml/2006/main">
            <a:off x="400050" y="50673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claim-detail-3-text-3">
            <a:extLst xmlns:a="http://schemas.openxmlformats.org/drawingml/2006/main">
              <a:ext uri="{FF2B5EF4-FFF2-40B4-BE49-F238E27FC236}">
                <a16:creationId xmlns:a16="http://schemas.microsoft.com/office/drawing/2014/main" id="{0FD60BAE-096F-49DB-8235-3678CD3D1CC1}"/>
              </a:ext>
            </a:extLst>
          </p:cNvPr>
          <p:cNvSpPr>
            <a:spLocks xmlns:a="http://schemas.openxmlformats.org/drawingml/2006/main" noGrp="1"/>
          </p:cNvSpPr>
          <p:nvPr/>
        </p:nvSpPr>
        <p:spPr>
          <a:xfrm xmlns:a="http://schemas.openxmlformats.org/drawingml/2006/main">
            <a:off x="628650" y="49815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Terminal transitions do not bootstrap.</a:t>
            </a:r>
          </a:p>
        </p:txBody>
      </p:sp>
    </p:spTree>
    <p:extLst>
      <p:ext uri="{BB962C8B-B14F-4D97-AF65-F5344CB8AC3E}">
        <p14:creationId xmlns:p14="http://schemas.microsoft.com/office/powerpoint/2010/main" val="211789727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4">
            <a:extLst xmlns:a="http://schemas.openxmlformats.org/drawingml/2006/main">
              <a:ext uri="{FF2B5EF4-FFF2-40B4-BE49-F238E27FC236}">
                <a16:creationId xmlns:a16="http://schemas.microsoft.com/office/drawing/2014/main" id="{5633E009-D255-4E26-BC45-F6F082F94D27}"/>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The Q-learning update samples Bellman optimality</a:t>
            </a:r>
          </a:p>
        </p:txBody>
      </p:sp>
      <p:sp>
        <p:nvSpPr>
          <p:cNvPr id="2" name="title-accent-4">
            <a:extLst xmlns:a="http://schemas.openxmlformats.org/drawingml/2006/main">
              <a:ext uri="{FF2B5EF4-FFF2-40B4-BE49-F238E27FC236}">
                <a16:creationId xmlns:a16="http://schemas.microsoft.com/office/drawing/2014/main" id="{B7C16990-C60E-4C03-80AE-D8FEFC419CEB}"/>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1" name="title-rule-4"/>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4">
            <a:extLst xmlns:a="http://schemas.openxmlformats.org/drawingml/2006/main">
              <a:ext uri="{FF2B5EF4-FFF2-40B4-BE49-F238E27FC236}">
                <a16:creationId xmlns:a16="http://schemas.microsoft.com/office/drawing/2014/main" id="{8A602360-077C-4333-A918-6379E6FA976D}"/>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5  |  Lesson 2</a:t>
            </a:r>
          </a:p>
        </p:txBody>
      </p:sp>
      <p:sp>
        <p:nvSpPr>
          <p:cNvPr id="5" name="footer-number-4">
            <a:extLst xmlns:a="http://schemas.openxmlformats.org/drawingml/2006/main">
              <a:ext uri="{FF2B5EF4-FFF2-40B4-BE49-F238E27FC236}">
                <a16:creationId xmlns:a16="http://schemas.microsoft.com/office/drawing/2014/main" id="{D196CEC2-B8D7-4F99-B868-8F3969ED86AA}"/>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4</a:t>
            </a:r>
          </a:p>
        </p:txBody>
      </p:sp>
      <p:sp>
        <p:nvSpPr>
          <p:cNvPr id="6" name="formula-panel-4">
            <a:extLst xmlns:a="http://schemas.openxmlformats.org/drawingml/2006/main">
              <a:ext uri="{FF2B5EF4-FFF2-40B4-BE49-F238E27FC236}">
                <a16:creationId xmlns:a16="http://schemas.microsoft.com/office/drawing/2014/main" id="{D3D31B0A-9DB0-4D32-88E0-FB8CFEE36189}"/>
              </a:ext>
            </a:extLst>
          </p:cNvPr>
          <p:cNvSpPr>
            <a:spLocks xmlns:a="http://schemas.openxmlformats.org/drawingml/2006/main" noGrp="1"/>
          </p:cNvSpPr>
          <p:nvPr/>
        </p:nvSpPr>
        <p:spPr>
          <a:xfrm xmlns:a="http://schemas.openxmlformats.org/drawingml/2006/main">
            <a:off x="400050" y="1657350"/>
            <a:ext cx="11391900" cy="1666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7" name="formula-4">
            <a:extLst xmlns:a="http://schemas.openxmlformats.org/drawingml/2006/main">
              <a:ext uri="{FF2B5EF4-FFF2-40B4-BE49-F238E27FC236}">
                <a16:creationId xmlns:a16="http://schemas.microsoft.com/office/drawing/2014/main" id="{48E5077D-2B91-49A3-9015-25E474345A21}"/>
              </a:ext>
            </a:extLst>
          </p:cNvPr>
          <p:cNvSpPr>
            <a:spLocks xmlns:a="http://schemas.openxmlformats.org/drawingml/2006/main" noGrp="1"/>
          </p:cNvSpPr>
          <p:nvPr/>
        </p:nvSpPr>
        <p:spPr>
          <a:xfrm xmlns:a="http://schemas.openxmlformats.org/drawingml/2006/main">
            <a:off x="781050" y="1952625"/>
            <a:ext cx="106299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3300" b="1">
                <a:solidFill>
                  <a:srgbClr val="111111"/>
                </a:solidFill>
                <a:latin typeface="Cambria Math"/>
                <a:ea typeface="Cambria Math"/>
                <a:cs typeface="Cambria Math"/>
              </a:defRPr>
            </a:pPr>
            <a:r>
              <a:rPr sz="3300" b="1">
                <a:solidFill>
                  <a:srgbClr val="111111"/>
                </a:solidFill>
                <a:latin typeface="Cambria Math"/>
                <a:ea typeface="Cambria Math"/>
                <a:cs typeface="Cambria Math"/>
              </a:rPr>
              <a:t>Q(s,a) &lt;- Q(s,a) + alpha [r + gamma max_a' Q(s',a') - Q(s,a)]</a:t>
            </a:r>
          </a:p>
        </p:txBody>
      </p:sp>
      <p:sp>
        <p:nvSpPr>
          <p:cNvPr id="8" name="formula-definition-4-marker-1">
            <a:extLst xmlns:a="http://schemas.openxmlformats.org/drawingml/2006/main">
              <a:ext uri="{FF2B5EF4-FFF2-40B4-BE49-F238E27FC236}">
                <a16:creationId xmlns:a16="http://schemas.microsoft.com/office/drawing/2014/main" id="{FBE94E9A-9843-4DD9-9303-4952DEF3706F}"/>
              </a:ext>
            </a:extLst>
          </p:cNvPr>
          <p:cNvSpPr>
            <a:spLocks xmlns:a="http://schemas.openxmlformats.org/drawingml/2006/main" noGrp="1"/>
          </p:cNvSpPr>
          <p:nvPr/>
        </p:nvSpPr>
        <p:spPr>
          <a:xfrm xmlns:a="http://schemas.openxmlformats.org/drawingml/2006/main">
            <a:off x="400050" y="38195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9" name="formula-definition-4-text-1">
            <a:extLst xmlns:a="http://schemas.openxmlformats.org/drawingml/2006/main">
              <a:ext uri="{FF2B5EF4-FFF2-40B4-BE49-F238E27FC236}">
                <a16:creationId xmlns:a16="http://schemas.microsoft.com/office/drawing/2014/main" id="{02588A1C-FF67-4561-80D1-E036350BEBD4}"/>
              </a:ext>
            </a:extLst>
          </p:cNvPr>
          <p:cNvSpPr>
            <a:spLocks xmlns:a="http://schemas.openxmlformats.org/drawingml/2006/main" noGrp="1"/>
          </p:cNvSpPr>
          <p:nvPr/>
        </p:nvSpPr>
        <p:spPr>
          <a:xfrm xmlns:a="http://schemas.openxmlformats.org/drawingml/2006/main">
            <a:off x="628650" y="373380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alpha is the learning rate.</a:t>
            </a:r>
          </a:p>
        </p:txBody>
      </p:sp>
      <p:sp>
        <p:nvSpPr>
          <p:cNvPr id="10" name="formula-definition-4-marker-2">
            <a:extLst xmlns:a="http://schemas.openxmlformats.org/drawingml/2006/main">
              <a:ext uri="{FF2B5EF4-FFF2-40B4-BE49-F238E27FC236}">
                <a16:creationId xmlns:a16="http://schemas.microsoft.com/office/drawing/2014/main" id="{E5FDCDCB-6987-4825-A0F4-1D9E1076B4BF}"/>
              </a:ext>
            </a:extLst>
          </p:cNvPr>
          <p:cNvSpPr>
            <a:spLocks xmlns:a="http://schemas.openxmlformats.org/drawingml/2006/main" noGrp="1"/>
          </p:cNvSpPr>
          <p:nvPr/>
        </p:nvSpPr>
        <p:spPr>
          <a:xfrm xmlns:a="http://schemas.openxmlformats.org/drawingml/2006/main">
            <a:off x="400050" y="44481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formula-definition-4-text-2">
            <a:extLst xmlns:a="http://schemas.openxmlformats.org/drawingml/2006/main">
              <a:ext uri="{FF2B5EF4-FFF2-40B4-BE49-F238E27FC236}">
                <a16:creationId xmlns:a16="http://schemas.microsoft.com/office/drawing/2014/main" id="{AAD81818-86E6-4BD1-BEEC-0C41BA17E659}"/>
              </a:ext>
            </a:extLst>
          </p:cNvPr>
          <p:cNvSpPr>
            <a:spLocks xmlns:a="http://schemas.openxmlformats.org/drawingml/2006/main" noGrp="1"/>
          </p:cNvSpPr>
          <p:nvPr/>
        </p:nvSpPr>
        <p:spPr>
          <a:xfrm xmlns:a="http://schemas.openxmlformats.org/drawingml/2006/main">
            <a:off x="628650" y="436245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gamma discounts continuation.</a:t>
            </a:r>
          </a:p>
        </p:txBody>
      </p:sp>
      <p:sp>
        <p:nvSpPr>
          <p:cNvPr id="12" name="formula-definition-4-marker-3">
            <a:extLst xmlns:a="http://schemas.openxmlformats.org/drawingml/2006/main">
              <a:ext uri="{FF2B5EF4-FFF2-40B4-BE49-F238E27FC236}">
                <a16:creationId xmlns:a16="http://schemas.microsoft.com/office/drawing/2014/main" id="{FA585B0A-2C7A-4C47-B841-CF9A12649481}"/>
              </a:ext>
            </a:extLst>
          </p:cNvPr>
          <p:cNvSpPr>
            <a:spLocks xmlns:a="http://schemas.openxmlformats.org/drawingml/2006/main" noGrp="1"/>
          </p:cNvSpPr>
          <p:nvPr/>
        </p:nvSpPr>
        <p:spPr>
          <a:xfrm xmlns:a="http://schemas.openxmlformats.org/drawingml/2006/main">
            <a:off x="400050" y="50768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formula-definition-4-text-3">
            <a:extLst xmlns:a="http://schemas.openxmlformats.org/drawingml/2006/main">
              <a:ext uri="{FF2B5EF4-FFF2-40B4-BE49-F238E27FC236}">
                <a16:creationId xmlns:a16="http://schemas.microsoft.com/office/drawing/2014/main" id="{F1612E48-3C16-49E4-A3E8-2EBC01554829}"/>
              </a:ext>
            </a:extLst>
          </p:cNvPr>
          <p:cNvSpPr>
            <a:spLocks xmlns:a="http://schemas.openxmlformats.org/drawingml/2006/main" noGrp="1"/>
          </p:cNvSpPr>
          <p:nvPr/>
        </p:nvSpPr>
        <p:spPr>
          <a:xfrm xmlns:a="http://schemas.openxmlformats.org/drawingml/2006/main">
            <a:off x="628650" y="499110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r,s' are sampled from interaction.</a:t>
            </a:r>
          </a:p>
        </p:txBody>
      </p:sp>
      <p:sp>
        <p:nvSpPr>
          <p:cNvPr id="14" name="formula-definition-4-marker-4">
            <a:extLst xmlns:a="http://schemas.openxmlformats.org/drawingml/2006/main">
              <a:ext uri="{FF2B5EF4-FFF2-40B4-BE49-F238E27FC236}">
                <a16:creationId xmlns:a16="http://schemas.microsoft.com/office/drawing/2014/main" id="{B5658B65-C29C-4AE0-A462-D243C84AAF12}"/>
              </a:ext>
            </a:extLst>
          </p:cNvPr>
          <p:cNvSpPr>
            <a:spLocks xmlns:a="http://schemas.openxmlformats.org/drawingml/2006/main" noGrp="1"/>
          </p:cNvSpPr>
          <p:nvPr/>
        </p:nvSpPr>
        <p:spPr>
          <a:xfrm xmlns:a="http://schemas.openxmlformats.org/drawingml/2006/main">
            <a:off x="400050" y="57054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formula-definition-4-text-4">
            <a:extLst xmlns:a="http://schemas.openxmlformats.org/drawingml/2006/main">
              <a:ext uri="{FF2B5EF4-FFF2-40B4-BE49-F238E27FC236}">
                <a16:creationId xmlns:a16="http://schemas.microsoft.com/office/drawing/2014/main" id="{5768D222-AC9E-4C54-A70D-18B3026448FF}"/>
              </a:ext>
            </a:extLst>
          </p:cNvPr>
          <p:cNvSpPr>
            <a:spLocks xmlns:a="http://schemas.openxmlformats.org/drawingml/2006/main" noGrp="1"/>
          </p:cNvSpPr>
          <p:nvPr/>
        </p:nvSpPr>
        <p:spPr>
          <a:xfrm xmlns:a="http://schemas.openxmlformats.org/drawingml/2006/main">
            <a:off x="628650" y="561975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The maximum defines the greedy target.</a:t>
            </a:r>
          </a:p>
        </p:txBody>
      </p:sp>
      <p:sp>
        <p:nvSpPr>
          <p:cNvPr id="16" name="formula-implication-panel-4">
            <a:extLst xmlns:a="http://schemas.openxmlformats.org/drawingml/2006/main">
              <a:ext uri="{FF2B5EF4-FFF2-40B4-BE49-F238E27FC236}">
                <a16:creationId xmlns:a16="http://schemas.microsoft.com/office/drawing/2014/main" id="{DCEE63CC-4E17-430C-A7E6-07B2A7EFE7F8}"/>
              </a:ext>
            </a:extLst>
          </p:cNvPr>
          <p:cNvSpPr>
            <a:spLocks xmlns:a="http://schemas.openxmlformats.org/drawingml/2006/main" noGrp="1"/>
          </p:cNvSpPr>
          <p:nvPr/>
        </p:nvSpPr>
        <p:spPr>
          <a:xfrm xmlns:a="http://schemas.openxmlformats.org/drawingml/2006/main">
            <a:off x="8191500" y="3733800"/>
            <a:ext cx="3600450" cy="18859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7" name="formula-implication-label-4">
            <a:extLst xmlns:a="http://schemas.openxmlformats.org/drawingml/2006/main">
              <a:ext uri="{FF2B5EF4-FFF2-40B4-BE49-F238E27FC236}">
                <a16:creationId xmlns:a16="http://schemas.microsoft.com/office/drawing/2014/main" id="{BD307D4E-9BD0-4C6B-8904-FEBC13384B9B}"/>
              </a:ext>
            </a:extLst>
          </p:cNvPr>
          <p:cNvSpPr>
            <a:spLocks xmlns:a="http://schemas.openxmlformats.org/drawingml/2006/main" noGrp="1"/>
          </p:cNvSpPr>
          <p:nvPr/>
        </p:nvSpPr>
        <p:spPr>
          <a:xfrm xmlns:a="http://schemas.openxmlformats.org/drawingml/2006/main">
            <a:off x="8458200" y="3990975"/>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ENGINEERING IMPLICATION</a:t>
            </a:r>
          </a:p>
        </p:txBody>
      </p:sp>
      <p:sp>
        <p:nvSpPr>
          <p:cNvPr id="18" name="formula-implication-4">
            <a:extLst xmlns:a="http://schemas.openxmlformats.org/drawingml/2006/main">
              <a:ext uri="{FF2B5EF4-FFF2-40B4-BE49-F238E27FC236}">
                <a16:creationId xmlns:a16="http://schemas.microsoft.com/office/drawing/2014/main" id="{E2137831-353D-4328-9A61-A2C15D0E0A38}"/>
              </a:ext>
            </a:extLst>
          </p:cNvPr>
          <p:cNvSpPr>
            <a:spLocks xmlns:a="http://schemas.openxmlformats.org/drawingml/2006/main" noGrp="1"/>
          </p:cNvSpPr>
          <p:nvPr/>
        </p:nvSpPr>
        <p:spPr>
          <a:xfrm xmlns:a="http://schemas.openxmlformats.org/drawingml/2006/main">
            <a:off x="8458200" y="4438650"/>
            <a:ext cx="3048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111111"/>
                </a:solidFill>
                <a:latin typeface="Arial"/>
                <a:ea typeface="Arial"/>
                <a:cs typeface="Arial"/>
              </a:defRPr>
            </a:pPr>
            <a:r>
              <a:rPr sz="1575" b="1">
                <a:solidFill>
                  <a:srgbClr val="111111"/>
                </a:solidFill>
                <a:latin typeface="Arial"/>
                <a:ea typeface="Arial"/>
                <a:cs typeface="Arial"/>
              </a:rPr>
              <a:t>If s' is terminal, replace the maximum continuation term with zero.</a:t>
            </a:r>
          </a:p>
        </p:txBody>
      </p:sp>
    </p:spTree>
    <p:extLst>
      <p:ext uri="{BB962C8B-B14F-4D97-AF65-F5344CB8AC3E}">
        <p14:creationId xmlns:p14="http://schemas.microsoft.com/office/powerpoint/2010/main" val="178917719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lide-title-5">
            <a:extLst xmlns:a="http://schemas.openxmlformats.org/drawingml/2006/main">
              <a:ext uri="{FF2B5EF4-FFF2-40B4-BE49-F238E27FC236}">
                <a16:creationId xmlns:a16="http://schemas.microsoft.com/office/drawing/2014/main" id="{DDA94341-7145-4D2B-B16A-C51D35EBF731}"/>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Behavior and target policies have separate jobs</a:t>
            </a:r>
          </a:p>
        </p:txBody>
      </p:sp>
      <p:sp>
        <p:nvSpPr>
          <p:cNvPr id="2" name="title-accent-5">
            <a:extLst xmlns:a="http://schemas.openxmlformats.org/drawingml/2006/main">
              <a:ext uri="{FF2B5EF4-FFF2-40B4-BE49-F238E27FC236}">
                <a16:creationId xmlns:a16="http://schemas.microsoft.com/office/drawing/2014/main" id="{105A534F-0F7A-48EB-BDF9-E7BC664A0A3A}"/>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7" name="title-rule-5"/>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5">
            <a:extLst xmlns:a="http://schemas.openxmlformats.org/drawingml/2006/main">
              <a:ext uri="{FF2B5EF4-FFF2-40B4-BE49-F238E27FC236}">
                <a16:creationId xmlns:a16="http://schemas.microsoft.com/office/drawing/2014/main" id="{8C7EAC26-E887-4196-BACE-36EBE4251B1C}"/>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5  |  Lesson 2</a:t>
            </a:r>
          </a:p>
        </p:txBody>
      </p:sp>
      <p:sp>
        <p:nvSpPr>
          <p:cNvPr id="5" name="footer-number-5">
            <a:extLst xmlns:a="http://schemas.openxmlformats.org/drawingml/2006/main">
              <a:ext uri="{FF2B5EF4-FFF2-40B4-BE49-F238E27FC236}">
                <a16:creationId xmlns:a16="http://schemas.microsoft.com/office/drawing/2014/main" id="{01E8784A-B651-42CB-8ECC-DDF745D39B81}"/>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5</a:t>
            </a:r>
          </a:p>
        </p:txBody>
      </p:sp>
      <p:cxnSp>
        <p:nvCxnSpPr>
          <p:cNvPr id="30" name="column-divider-5"/>
          <p:cNvCxnSpPr/>
          <p:nvPr/>
        </p:nvCxnSpPr>
        <p:spPr>
          <a:xfrm xmlns:a="http://schemas.openxmlformats.org/drawingml/2006/main">
            <a:off x="6096000" y="1638300"/>
            <a:ext cx="0" cy="4095750"/>
          </a:xfrm>
          <a:prstGeom xmlns:a="http://schemas.openxmlformats.org/drawingml/2006/main" prst="straightConnector1">
            <a:avLst/>
          </a:prstGeom>
          <a:ln xmlns:a="http://schemas.openxmlformats.org/drawingml/2006/main" w="9525">
            <a:solidFill>
              <a:srgbClr val="B8BCC4"/>
            </a:solidFill>
            <a:prstDash val="solid"/>
          </a:ln>
        </p:spPr>
      </p:cxnSp>
      <p:sp>
        <p:nvSpPr>
          <p:cNvPr id="7" name="left-title-5">
            <a:extLst xmlns:a="http://schemas.openxmlformats.org/drawingml/2006/main">
              <a:ext uri="{FF2B5EF4-FFF2-40B4-BE49-F238E27FC236}">
                <a16:creationId xmlns:a16="http://schemas.microsoft.com/office/drawing/2014/main" id="{9229F433-2050-4803-86C7-D5CE492A4E7A}"/>
              </a:ext>
            </a:extLst>
          </p:cNvPr>
          <p:cNvSpPr>
            <a:spLocks xmlns:a="http://schemas.openxmlformats.org/drawingml/2006/main" noGrp="1"/>
          </p:cNvSpPr>
          <p:nvPr/>
        </p:nvSpPr>
        <p:spPr>
          <a:xfrm xmlns:a="http://schemas.openxmlformats.org/drawingml/2006/main">
            <a:off x="400050" y="1571625"/>
            <a:ext cx="523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Behavior policy</a:t>
            </a:r>
          </a:p>
        </p:txBody>
      </p:sp>
      <p:sp>
        <p:nvSpPr>
          <p:cNvPr id="8" name="right-title-5">
            <a:extLst xmlns:a="http://schemas.openxmlformats.org/drawingml/2006/main">
              <a:ext uri="{FF2B5EF4-FFF2-40B4-BE49-F238E27FC236}">
                <a16:creationId xmlns:a16="http://schemas.microsoft.com/office/drawing/2014/main" id="{3B857D83-D14B-49F4-A6C2-138B6671D2DF}"/>
              </a:ext>
            </a:extLst>
          </p:cNvPr>
          <p:cNvSpPr>
            <a:spLocks xmlns:a="http://schemas.openxmlformats.org/drawingml/2006/main" noGrp="1"/>
          </p:cNvSpPr>
          <p:nvPr/>
        </p:nvSpPr>
        <p:spPr>
          <a:xfrm xmlns:a="http://schemas.openxmlformats.org/drawingml/2006/main">
            <a:off x="6496050" y="1571625"/>
            <a:ext cx="523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Target policy</a:t>
            </a:r>
          </a:p>
        </p:txBody>
      </p:sp>
      <p:sp>
        <p:nvSpPr>
          <p:cNvPr id="9" name="left-bullet-5-marker-1">
            <a:extLst xmlns:a="http://schemas.openxmlformats.org/drawingml/2006/main">
              <a:ext uri="{FF2B5EF4-FFF2-40B4-BE49-F238E27FC236}">
                <a16:creationId xmlns:a16="http://schemas.microsoft.com/office/drawing/2014/main" id="{7D92111F-F2DA-471F-B4CE-8C475E2045AD}"/>
              </a:ext>
            </a:extLst>
          </p:cNvPr>
          <p:cNvSpPr>
            <a:spLocks xmlns:a="http://schemas.openxmlformats.org/drawingml/2006/main" noGrp="1"/>
          </p:cNvSpPr>
          <p:nvPr/>
        </p:nvSpPr>
        <p:spPr>
          <a:xfrm xmlns:a="http://schemas.openxmlformats.org/drawingml/2006/main">
            <a:off x="400050" y="23717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left-bullet-5-text-1">
            <a:extLst xmlns:a="http://schemas.openxmlformats.org/drawingml/2006/main">
              <a:ext uri="{FF2B5EF4-FFF2-40B4-BE49-F238E27FC236}">
                <a16:creationId xmlns:a16="http://schemas.microsoft.com/office/drawing/2014/main" id="{4CF90D6F-46B0-4560-B219-648FC61BC44B}"/>
              </a:ext>
            </a:extLst>
          </p:cNvPr>
          <p:cNvSpPr>
            <a:spLocks xmlns:a="http://schemas.openxmlformats.org/drawingml/2006/main" noGrp="1"/>
          </p:cNvSpPr>
          <p:nvPr/>
        </p:nvSpPr>
        <p:spPr>
          <a:xfrm xmlns:a="http://schemas.openxmlformats.org/drawingml/2006/main">
            <a:off x="628650" y="22860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Usually epsilon-greedy.</a:t>
            </a:r>
          </a:p>
        </p:txBody>
      </p:sp>
      <p:sp>
        <p:nvSpPr>
          <p:cNvPr id="11" name="left-bullet-5-marker-2">
            <a:extLst xmlns:a="http://schemas.openxmlformats.org/drawingml/2006/main">
              <a:ext uri="{FF2B5EF4-FFF2-40B4-BE49-F238E27FC236}">
                <a16:creationId xmlns:a16="http://schemas.microsoft.com/office/drawing/2014/main" id="{EFD363B7-07B5-44D6-AD00-C281318AC7DE}"/>
              </a:ext>
            </a:extLst>
          </p:cNvPr>
          <p:cNvSpPr>
            <a:spLocks xmlns:a="http://schemas.openxmlformats.org/drawingml/2006/main" noGrp="1"/>
          </p:cNvSpPr>
          <p:nvPr/>
        </p:nvSpPr>
        <p:spPr>
          <a:xfrm xmlns:a="http://schemas.openxmlformats.org/drawingml/2006/main">
            <a:off x="400050" y="30765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left-bullet-5-text-2">
            <a:extLst xmlns:a="http://schemas.openxmlformats.org/drawingml/2006/main">
              <a:ext uri="{FF2B5EF4-FFF2-40B4-BE49-F238E27FC236}">
                <a16:creationId xmlns:a16="http://schemas.microsoft.com/office/drawing/2014/main" id="{3AB44CDB-C1D6-457D-B983-AF4575225A64}"/>
              </a:ext>
            </a:extLst>
          </p:cNvPr>
          <p:cNvSpPr>
            <a:spLocks xmlns:a="http://schemas.openxmlformats.org/drawingml/2006/main" noGrp="1"/>
          </p:cNvSpPr>
          <p:nvPr/>
        </p:nvSpPr>
        <p:spPr>
          <a:xfrm xmlns:a="http://schemas.openxmlformats.org/drawingml/2006/main">
            <a:off x="628650" y="29908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Generates transitions.</a:t>
            </a:r>
          </a:p>
        </p:txBody>
      </p:sp>
      <p:sp>
        <p:nvSpPr>
          <p:cNvPr id="13" name="left-bullet-5-marker-3">
            <a:extLst xmlns:a="http://schemas.openxmlformats.org/drawingml/2006/main">
              <a:ext uri="{FF2B5EF4-FFF2-40B4-BE49-F238E27FC236}">
                <a16:creationId xmlns:a16="http://schemas.microsoft.com/office/drawing/2014/main" id="{67A82FD8-C75A-4580-A591-700A237BB2FB}"/>
              </a:ext>
            </a:extLst>
          </p:cNvPr>
          <p:cNvSpPr>
            <a:spLocks xmlns:a="http://schemas.openxmlformats.org/drawingml/2006/main" noGrp="1"/>
          </p:cNvSpPr>
          <p:nvPr/>
        </p:nvSpPr>
        <p:spPr>
          <a:xfrm xmlns:a="http://schemas.openxmlformats.org/drawingml/2006/main">
            <a:off x="400050" y="37814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left-bullet-5-text-3">
            <a:extLst xmlns:a="http://schemas.openxmlformats.org/drawingml/2006/main">
              <a:ext uri="{FF2B5EF4-FFF2-40B4-BE49-F238E27FC236}">
                <a16:creationId xmlns:a16="http://schemas.microsoft.com/office/drawing/2014/main" id="{D1FCB86C-5117-4A24-ACE5-84776E4F17E1}"/>
              </a:ext>
            </a:extLst>
          </p:cNvPr>
          <p:cNvSpPr>
            <a:spLocks xmlns:a="http://schemas.openxmlformats.org/drawingml/2006/main" noGrp="1"/>
          </p:cNvSpPr>
          <p:nvPr/>
        </p:nvSpPr>
        <p:spPr>
          <a:xfrm xmlns:a="http://schemas.openxmlformats.org/drawingml/2006/main">
            <a:off x="628650" y="36957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Must cover relevant actions.</a:t>
            </a:r>
          </a:p>
        </p:txBody>
      </p:sp>
      <p:sp>
        <p:nvSpPr>
          <p:cNvPr id="15" name="left-bullet-5-marker-4">
            <a:extLst xmlns:a="http://schemas.openxmlformats.org/drawingml/2006/main">
              <a:ext uri="{FF2B5EF4-FFF2-40B4-BE49-F238E27FC236}">
                <a16:creationId xmlns:a16="http://schemas.microsoft.com/office/drawing/2014/main" id="{C67AEB26-6B37-437E-97A2-18226919C9A9}"/>
              </a:ext>
            </a:extLst>
          </p:cNvPr>
          <p:cNvSpPr>
            <a:spLocks xmlns:a="http://schemas.openxmlformats.org/drawingml/2006/main" noGrp="1"/>
          </p:cNvSpPr>
          <p:nvPr/>
        </p:nvSpPr>
        <p:spPr>
          <a:xfrm xmlns:a="http://schemas.openxmlformats.org/drawingml/2006/main">
            <a:off x="400050" y="44862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left-bullet-5-text-4">
            <a:extLst xmlns:a="http://schemas.openxmlformats.org/drawingml/2006/main">
              <a:ext uri="{FF2B5EF4-FFF2-40B4-BE49-F238E27FC236}">
                <a16:creationId xmlns:a16="http://schemas.microsoft.com/office/drawing/2014/main" id="{13527260-F017-47E1-95B6-48130DAD7AB1}"/>
              </a:ext>
            </a:extLst>
          </p:cNvPr>
          <p:cNvSpPr>
            <a:spLocks xmlns:a="http://schemas.openxmlformats.org/drawingml/2006/main" noGrp="1"/>
          </p:cNvSpPr>
          <p:nvPr/>
        </p:nvSpPr>
        <p:spPr>
          <a:xfrm xmlns:a="http://schemas.openxmlformats.org/drawingml/2006/main">
            <a:off x="628650" y="44005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Changes as Q changes.</a:t>
            </a:r>
          </a:p>
        </p:txBody>
      </p:sp>
      <p:sp>
        <p:nvSpPr>
          <p:cNvPr id="17" name="right-bullet-5-marker-1">
            <a:extLst xmlns:a="http://schemas.openxmlformats.org/drawingml/2006/main">
              <a:ext uri="{FF2B5EF4-FFF2-40B4-BE49-F238E27FC236}">
                <a16:creationId xmlns:a16="http://schemas.microsoft.com/office/drawing/2014/main" id="{E7F08099-AE51-4B14-8414-C6E282BD34F0}"/>
              </a:ext>
            </a:extLst>
          </p:cNvPr>
          <p:cNvSpPr>
            <a:spLocks xmlns:a="http://schemas.openxmlformats.org/drawingml/2006/main" noGrp="1"/>
          </p:cNvSpPr>
          <p:nvPr/>
        </p:nvSpPr>
        <p:spPr>
          <a:xfrm xmlns:a="http://schemas.openxmlformats.org/drawingml/2006/main">
            <a:off x="6496050" y="23717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8" name="right-bullet-5-text-1">
            <a:extLst xmlns:a="http://schemas.openxmlformats.org/drawingml/2006/main">
              <a:ext uri="{FF2B5EF4-FFF2-40B4-BE49-F238E27FC236}">
                <a16:creationId xmlns:a16="http://schemas.microsoft.com/office/drawing/2014/main" id="{B8A9AC70-AF00-476E-B597-5A8F3F1AAE3B}"/>
              </a:ext>
            </a:extLst>
          </p:cNvPr>
          <p:cNvSpPr>
            <a:spLocks xmlns:a="http://schemas.openxmlformats.org/drawingml/2006/main" noGrp="1"/>
          </p:cNvSpPr>
          <p:nvPr/>
        </p:nvSpPr>
        <p:spPr>
          <a:xfrm xmlns:a="http://schemas.openxmlformats.org/drawingml/2006/main">
            <a:off x="6724650" y="22860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Greedy with respect to Q.</a:t>
            </a:r>
          </a:p>
        </p:txBody>
      </p:sp>
      <p:sp>
        <p:nvSpPr>
          <p:cNvPr id="19" name="right-bullet-5-marker-2">
            <a:extLst xmlns:a="http://schemas.openxmlformats.org/drawingml/2006/main">
              <a:ext uri="{FF2B5EF4-FFF2-40B4-BE49-F238E27FC236}">
                <a16:creationId xmlns:a16="http://schemas.microsoft.com/office/drawing/2014/main" id="{201E750C-31EF-47DE-98F2-3056B081E3E6}"/>
              </a:ext>
            </a:extLst>
          </p:cNvPr>
          <p:cNvSpPr>
            <a:spLocks xmlns:a="http://schemas.openxmlformats.org/drawingml/2006/main" noGrp="1"/>
          </p:cNvSpPr>
          <p:nvPr/>
        </p:nvSpPr>
        <p:spPr>
          <a:xfrm xmlns:a="http://schemas.openxmlformats.org/drawingml/2006/main">
            <a:off x="6496050" y="30765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0" name="right-bullet-5-text-2">
            <a:extLst xmlns:a="http://schemas.openxmlformats.org/drawingml/2006/main">
              <a:ext uri="{FF2B5EF4-FFF2-40B4-BE49-F238E27FC236}">
                <a16:creationId xmlns:a16="http://schemas.microsoft.com/office/drawing/2014/main" id="{77D5B03F-8A2B-42C7-9048-658CE462B8AB}"/>
              </a:ext>
            </a:extLst>
          </p:cNvPr>
          <p:cNvSpPr>
            <a:spLocks xmlns:a="http://schemas.openxmlformats.org/drawingml/2006/main" noGrp="1"/>
          </p:cNvSpPr>
          <p:nvPr/>
        </p:nvSpPr>
        <p:spPr>
          <a:xfrm xmlns:a="http://schemas.openxmlformats.org/drawingml/2006/main">
            <a:off x="6724650" y="29908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Defines bootstrap target.</a:t>
            </a:r>
          </a:p>
        </p:txBody>
      </p:sp>
      <p:sp>
        <p:nvSpPr>
          <p:cNvPr id="21" name="right-bullet-5-marker-3">
            <a:extLst xmlns:a="http://schemas.openxmlformats.org/drawingml/2006/main">
              <a:ext uri="{FF2B5EF4-FFF2-40B4-BE49-F238E27FC236}">
                <a16:creationId xmlns:a16="http://schemas.microsoft.com/office/drawing/2014/main" id="{99459EEE-3BD3-4FF4-82C6-12684F40A69A}"/>
              </a:ext>
            </a:extLst>
          </p:cNvPr>
          <p:cNvSpPr>
            <a:spLocks xmlns:a="http://schemas.openxmlformats.org/drawingml/2006/main" noGrp="1"/>
          </p:cNvSpPr>
          <p:nvPr/>
        </p:nvSpPr>
        <p:spPr>
          <a:xfrm xmlns:a="http://schemas.openxmlformats.org/drawingml/2006/main">
            <a:off x="6496050" y="37814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2" name="right-bullet-5-text-3">
            <a:extLst xmlns:a="http://schemas.openxmlformats.org/drawingml/2006/main">
              <a:ext uri="{FF2B5EF4-FFF2-40B4-BE49-F238E27FC236}">
                <a16:creationId xmlns:a16="http://schemas.microsoft.com/office/drawing/2014/main" id="{E0759F51-77FE-40B4-A531-5621B1DB18C5}"/>
              </a:ext>
            </a:extLst>
          </p:cNvPr>
          <p:cNvSpPr>
            <a:spLocks xmlns:a="http://schemas.openxmlformats.org/drawingml/2006/main" noGrp="1"/>
          </p:cNvSpPr>
          <p:nvPr/>
        </p:nvSpPr>
        <p:spPr>
          <a:xfrm xmlns:a="http://schemas.openxmlformats.org/drawingml/2006/main">
            <a:off x="6724650" y="36957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Represents learned control.</a:t>
            </a:r>
          </a:p>
        </p:txBody>
      </p:sp>
      <p:sp>
        <p:nvSpPr>
          <p:cNvPr id="23" name="right-bullet-5-marker-4">
            <a:extLst xmlns:a="http://schemas.openxmlformats.org/drawingml/2006/main">
              <a:ext uri="{FF2B5EF4-FFF2-40B4-BE49-F238E27FC236}">
                <a16:creationId xmlns:a16="http://schemas.microsoft.com/office/drawing/2014/main" id="{9EA067B4-A0AD-4298-BB6F-2891132B137F}"/>
              </a:ext>
            </a:extLst>
          </p:cNvPr>
          <p:cNvSpPr>
            <a:spLocks xmlns:a="http://schemas.openxmlformats.org/drawingml/2006/main" noGrp="1"/>
          </p:cNvSpPr>
          <p:nvPr/>
        </p:nvSpPr>
        <p:spPr>
          <a:xfrm xmlns:a="http://schemas.openxmlformats.org/drawingml/2006/main">
            <a:off x="6496050" y="44862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4" name="right-bullet-5-text-4">
            <a:extLst xmlns:a="http://schemas.openxmlformats.org/drawingml/2006/main">
              <a:ext uri="{FF2B5EF4-FFF2-40B4-BE49-F238E27FC236}">
                <a16:creationId xmlns:a16="http://schemas.microsoft.com/office/drawing/2014/main" id="{B7952F7B-0059-4672-A402-C98A9C9C25CF}"/>
              </a:ext>
            </a:extLst>
          </p:cNvPr>
          <p:cNvSpPr>
            <a:spLocks xmlns:a="http://schemas.openxmlformats.org/drawingml/2006/main" noGrp="1"/>
          </p:cNvSpPr>
          <p:nvPr/>
        </p:nvSpPr>
        <p:spPr>
          <a:xfrm xmlns:a="http://schemas.openxmlformats.org/drawingml/2006/main">
            <a:off x="6724650" y="44005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Used without exploration at evaluation.</a:t>
            </a:r>
          </a:p>
        </p:txBody>
      </p:sp>
    </p:spTree>
    <p:extLst>
      <p:ext uri="{BB962C8B-B14F-4D97-AF65-F5344CB8AC3E}">
        <p14:creationId xmlns:p14="http://schemas.microsoft.com/office/powerpoint/2010/main" val="128501035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slide-title-6">
            <a:extLst xmlns:a="http://schemas.openxmlformats.org/drawingml/2006/main">
              <a:ext uri="{FF2B5EF4-FFF2-40B4-BE49-F238E27FC236}">
                <a16:creationId xmlns:a16="http://schemas.microsoft.com/office/drawing/2014/main" id="{65338B5A-F257-43C6-B2B9-24183CBCB3B9}"/>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A Q-learning episode alternates action and update</a:t>
            </a:r>
          </a:p>
        </p:txBody>
      </p:sp>
      <p:sp>
        <p:nvSpPr>
          <p:cNvPr id="2" name="title-accent-6">
            <a:extLst xmlns:a="http://schemas.openxmlformats.org/drawingml/2006/main">
              <a:ext uri="{FF2B5EF4-FFF2-40B4-BE49-F238E27FC236}">
                <a16:creationId xmlns:a16="http://schemas.microsoft.com/office/drawing/2014/main" id="{676FEBE7-2AE3-409A-A677-F4D7C67BB920}"/>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33" name="title-rule-6"/>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6">
            <a:extLst xmlns:a="http://schemas.openxmlformats.org/drawingml/2006/main">
              <a:ext uri="{FF2B5EF4-FFF2-40B4-BE49-F238E27FC236}">
                <a16:creationId xmlns:a16="http://schemas.microsoft.com/office/drawing/2014/main" id="{58CE6000-33DF-430F-9442-CEA123569F25}"/>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5  |  Lesson 2</a:t>
            </a:r>
          </a:p>
        </p:txBody>
      </p:sp>
      <p:sp>
        <p:nvSpPr>
          <p:cNvPr id="5" name="footer-number-6">
            <a:extLst xmlns:a="http://schemas.openxmlformats.org/drawingml/2006/main">
              <a:ext uri="{FF2B5EF4-FFF2-40B4-BE49-F238E27FC236}">
                <a16:creationId xmlns:a16="http://schemas.microsoft.com/office/drawing/2014/main" id="{C9032958-E442-460E-828A-B44CA125C7C3}"/>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6</a:t>
            </a:r>
          </a:p>
        </p:txBody>
      </p:sp>
      <p:cxnSp>
        <p:nvCxnSpPr>
          <p:cNvPr id="36" name="process-connector-6-1"/>
          <p:cNvCxnSpPr/>
          <p:nvPr/>
        </p:nvCxnSpPr>
        <p:spPr>
          <a:xfrm xmlns:a="http://schemas.openxmlformats.org/drawingml/2006/main">
            <a:off x="2524125" y="3114675"/>
            <a:ext cx="171450" cy="0"/>
          </a:xfrm>
          <a:prstGeom xmlns:a="http://schemas.openxmlformats.org/drawingml/2006/main" prst="straightConnector1">
            <a:avLst/>
          </a:prstGeom>
          <a:ln xmlns:a="http://schemas.openxmlformats.org/drawingml/2006/main" w="19050">
            <a:solidFill>
              <a:srgbClr val="3D8DFF"/>
            </a:solidFill>
            <a:prstDash val="solid"/>
          </a:ln>
        </p:spPr>
      </p:cxnSp>
      <p:cxnSp>
        <p:nvCxnSpPr>
          <p:cNvPr id="37" name="process-connector-6-2"/>
          <p:cNvCxnSpPr/>
          <p:nvPr/>
        </p:nvCxnSpPr>
        <p:spPr>
          <a:xfrm xmlns:a="http://schemas.openxmlformats.org/drawingml/2006/main">
            <a:off x="4848225" y="3114675"/>
            <a:ext cx="171450" cy="0"/>
          </a:xfrm>
          <a:prstGeom xmlns:a="http://schemas.openxmlformats.org/drawingml/2006/main" prst="straightConnector1">
            <a:avLst/>
          </a:prstGeom>
          <a:ln xmlns:a="http://schemas.openxmlformats.org/drawingml/2006/main" w="19050">
            <a:solidFill>
              <a:srgbClr val="3D8DFF"/>
            </a:solidFill>
            <a:prstDash val="solid"/>
          </a:ln>
        </p:spPr>
      </p:cxnSp>
      <p:cxnSp>
        <p:nvCxnSpPr>
          <p:cNvPr id="38" name="process-connector-6-3"/>
          <p:cNvCxnSpPr/>
          <p:nvPr/>
        </p:nvCxnSpPr>
        <p:spPr>
          <a:xfrm xmlns:a="http://schemas.openxmlformats.org/drawingml/2006/main">
            <a:off x="7172325" y="3114675"/>
            <a:ext cx="171450" cy="0"/>
          </a:xfrm>
          <a:prstGeom xmlns:a="http://schemas.openxmlformats.org/drawingml/2006/main" prst="straightConnector1">
            <a:avLst/>
          </a:prstGeom>
          <a:ln xmlns:a="http://schemas.openxmlformats.org/drawingml/2006/main" w="19050">
            <a:solidFill>
              <a:srgbClr val="3D8DFF"/>
            </a:solidFill>
            <a:prstDash val="solid"/>
          </a:ln>
        </p:spPr>
      </p:cxnSp>
      <p:cxnSp>
        <p:nvCxnSpPr>
          <p:cNvPr id="39" name="process-connector-6-4"/>
          <p:cNvCxnSpPr/>
          <p:nvPr/>
        </p:nvCxnSpPr>
        <p:spPr>
          <a:xfrm xmlns:a="http://schemas.openxmlformats.org/drawingml/2006/main">
            <a:off x="9496425" y="3114675"/>
            <a:ext cx="171450" cy="0"/>
          </a:xfrm>
          <a:prstGeom xmlns:a="http://schemas.openxmlformats.org/drawingml/2006/main" prst="straightConnector1">
            <a:avLst/>
          </a:prstGeom>
          <a:ln xmlns:a="http://schemas.openxmlformats.org/drawingml/2006/main" w="19050">
            <a:solidFill>
              <a:srgbClr val="3D8DFF"/>
            </a:solidFill>
            <a:prstDash val="solid"/>
          </a:ln>
        </p:spPr>
      </p:cxnSp>
      <p:sp>
        <p:nvSpPr>
          <p:cNvPr id="10" name="process-node-6-1">
            <a:extLst xmlns:a="http://schemas.openxmlformats.org/drawingml/2006/main">
              <a:ext uri="{FF2B5EF4-FFF2-40B4-BE49-F238E27FC236}">
                <a16:creationId xmlns:a16="http://schemas.microsoft.com/office/drawing/2014/main" id="{63C0ED46-BFF2-4739-A701-C9947898DCA7}"/>
              </a:ext>
            </a:extLst>
          </p:cNvPr>
          <p:cNvSpPr>
            <a:spLocks xmlns:a="http://schemas.openxmlformats.org/drawingml/2006/main" noGrp="1"/>
          </p:cNvSpPr>
          <p:nvPr/>
        </p:nvSpPr>
        <p:spPr>
          <a:xfrm xmlns:a="http://schemas.openxmlformats.org/drawingml/2006/main">
            <a:off x="400050" y="2238375"/>
            <a:ext cx="2095500" cy="2381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1" name="process-number-6-1">
            <a:extLst xmlns:a="http://schemas.openxmlformats.org/drawingml/2006/main">
              <a:ext uri="{FF2B5EF4-FFF2-40B4-BE49-F238E27FC236}">
                <a16:creationId xmlns:a16="http://schemas.microsoft.com/office/drawing/2014/main" id="{E912C80B-93F9-4151-9F64-594D05BE3BAB}"/>
              </a:ext>
            </a:extLst>
          </p:cNvPr>
          <p:cNvSpPr>
            <a:spLocks xmlns:a="http://schemas.openxmlformats.org/drawingml/2006/main" noGrp="1"/>
          </p:cNvSpPr>
          <p:nvPr/>
        </p:nvSpPr>
        <p:spPr>
          <a:xfrm xmlns:a="http://schemas.openxmlformats.org/drawingml/2006/main">
            <a:off x="571500"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01</a:t>
            </a:r>
          </a:p>
        </p:txBody>
      </p:sp>
      <p:sp>
        <p:nvSpPr>
          <p:cNvPr id="12" name="process-title-6-1">
            <a:extLst xmlns:a="http://schemas.openxmlformats.org/drawingml/2006/main">
              <a:ext uri="{FF2B5EF4-FFF2-40B4-BE49-F238E27FC236}">
                <a16:creationId xmlns:a16="http://schemas.microsoft.com/office/drawing/2014/main" id="{C327211E-EBA5-4F56-832F-3B99A1F3F061}"/>
              </a:ext>
            </a:extLst>
          </p:cNvPr>
          <p:cNvSpPr>
            <a:spLocks xmlns:a="http://schemas.openxmlformats.org/drawingml/2006/main" noGrp="1"/>
          </p:cNvSpPr>
          <p:nvPr/>
        </p:nvSpPr>
        <p:spPr>
          <a:xfrm xmlns:a="http://schemas.openxmlformats.org/drawingml/2006/main">
            <a:off x="571500" y="2886075"/>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Reset</a:t>
            </a:r>
          </a:p>
        </p:txBody>
      </p:sp>
      <p:sp>
        <p:nvSpPr>
          <p:cNvPr id="13" name="process-detail-6-1">
            <a:extLst xmlns:a="http://schemas.openxmlformats.org/drawingml/2006/main">
              <a:ext uri="{FF2B5EF4-FFF2-40B4-BE49-F238E27FC236}">
                <a16:creationId xmlns:a16="http://schemas.microsoft.com/office/drawing/2014/main" id="{4E5C8004-B4FD-4ABF-B0DE-67986717BE23}"/>
              </a:ext>
            </a:extLst>
          </p:cNvPr>
          <p:cNvSpPr>
            <a:spLocks xmlns:a="http://schemas.openxmlformats.org/drawingml/2006/main" noGrp="1"/>
          </p:cNvSpPr>
          <p:nvPr/>
        </p:nvSpPr>
        <p:spPr>
          <a:xfrm xmlns:a="http://schemas.openxmlformats.org/drawingml/2006/main">
            <a:off x="571500" y="3590925"/>
            <a:ext cx="1752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Receive an initial state.</a:t>
            </a:r>
          </a:p>
        </p:txBody>
      </p:sp>
      <p:sp>
        <p:nvSpPr>
          <p:cNvPr id="14" name="process-node-6-2">
            <a:extLst xmlns:a="http://schemas.openxmlformats.org/drawingml/2006/main">
              <a:ext uri="{FF2B5EF4-FFF2-40B4-BE49-F238E27FC236}">
                <a16:creationId xmlns:a16="http://schemas.microsoft.com/office/drawing/2014/main" id="{CB0D883E-B519-42FD-9DC2-019F5A04A6E1}"/>
              </a:ext>
            </a:extLst>
          </p:cNvPr>
          <p:cNvSpPr>
            <a:spLocks xmlns:a="http://schemas.openxmlformats.org/drawingml/2006/main" noGrp="1"/>
          </p:cNvSpPr>
          <p:nvPr/>
        </p:nvSpPr>
        <p:spPr>
          <a:xfrm xmlns:a="http://schemas.openxmlformats.org/drawingml/2006/main">
            <a:off x="2724150" y="2238375"/>
            <a:ext cx="2095500" cy="2381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5" name="process-number-6-2">
            <a:extLst xmlns:a="http://schemas.openxmlformats.org/drawingml/2006/main">
              <a:ext uri="{FF2B5EF4-FFF2-40B4-BE49-F238E27FC236}">
                <a16:creationId xmlns:a16="http://schemas.microsoft.com/office/drawing/2014/main" id="{EB3CC05B-5702-4CB0-9E14-CA80CAE65371}"/>
              </a:ext>
            </a:extLst>
          </p:cNvPr>
          <p:cNvSpPr>
            <a:spLocks xmlns:a="http://schemas.openxmlformats.org/drawingml/2006/main" noGrp="1"/>
          </p:cNvSpPr>
          <p:nvPr/>
        </p:nvSpPr>
        <p:spPr>
          <a:xfrm xmlns:a="http://schemas.openxmlformats.org/drawingml/2006/main">
            <a:off x="2895600"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02</a:t>
            </a:r>
          </a:p>
        </p:txBody>
      </p:sp>
      <p:sp>
        <p:nvSpPr>
          <p:cNvPr id="16" name="process-title-6-2">
            <a:extLst xmlns:a="http://schemas.openxmlformats.org/drawingml/2006/main">
              <a:ext uri="{FF2B5EF4-FFF2-40B4-BE49-F238E27FC236}">
                <a16:creationId xmlns:a16="http://schemas.microsoft.com/office/drawing/2014/main" id="{9637AF5A-2D95-48D6-848E-2123D13AC06D}"/>
              </a:ext>
            </a:extLst>
          </p:cNvPr>
          <p:cNvSpPr>
            <a:spLocks xmlns:a="http://schemas.openxmlformats.org/drawingml/2006/main" noGrp="1"/>
          </p:cNvSpPr>
          <p:nvPr/>
        </p:nvSpPr>
        <p:spPr>
          <a:xfrm xmlns:a="http://schemas.openxmlformats.org/drawingml/2006/main">
            <a:off x="2895600" y="2886075"/>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Choose</a:t>
            </a:r>
          </a:p>
        </p:txBody>
      </p:sp>
      <p:sp>
        <p:nvSpPr>
          <p:cNvPr id="17" name="process-detail-6-2">
            <a:extLst xmlns:a="http://schemas.openxmlformats.org/drawingml/2006/main">
              <a:ext uri="{FF2B5EF4-FFF2-40B4-BE49-F238E27FC236}">
                <a16:creationId xmlns:a16="http://schemas.microsoft.com/office/drawing/2014/main" id="{267267EB-C5CD-404B-AECC-2F79A6DE7E2C}"/>
              </a:ext>
            </a:extLst>
          </p:cNvPr>
          <p:cNvSpPr>
            <a:spLocks xmlns:a="http://schemas.openxmlformats.org/drawingml/2006/main" noGrp="1"/>
          </p:cNvSpPr>
          <p:nvPr/>
        </p:nvSpPr>
        <p:spPr>
          <a:xfrm xmlns:a="http://schemas.openxmlformats.org/drawingml/2006/main">
            <a:off x="2895600" y="3590925"/>
            <a:ext cx="1752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Sample epsilon-greedy action.</a:t>
            </a:r>
          </a:p>
        </p:txBody>
      </p:sp>
      <p:sp>
        <p:nvSpPr>
          <p:cNvPr id="18" name="process-node-6-3">
            <a:extLst xmlns:a="http://schemas.openxmlformats.org/drawingml/2006/main">
              <a:ext uri="{FF2B5EF4-FFF2-40B4-BE49-F238E27FC236}">
                <a16:creationId xmlns:a16="http://schemas.microsoft.com/office/drawing/2014/main" id="{6955F781-5DB9-4CEF-B65E-2E26854CC66A}"/>
              </a:ext>
            </a:extLst>
          </p:cNvPr>
          <p:cNvSpPr>
            <a:spLocks xmlns:a="http://schemas.openxmlformats.org/drawingml/2006/main" noGrp="1"/>
          </p:cNvSpPr>
          <p:nvPr/>
        </p:nvSpPr>
        <p:spPr>
          <a:xfrm xmlns:a="http://schemas.openxmlformats.org/drawingml/2006/main">
            <a:off x="5048250" y="2238375"/>
            <a:ext cx="2095500" cy="2381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9" name="process-number-6-3">
            <a:extLst xmlns:a="http://schemas.openxmlformats.org/drawingml/2006/main">
              <a:ext uri="{FF2B5EF4-FFF2-40B4-BE49-F238E27FC236}">
                <a16:creationId xmlns:a16="http://schemas.microsoft.com/office/drawing/2014/main" id="{2A457074-8A9E-41BA-9B5F-FDEAF3A2CA8A}"/>
              </a:ext>
            </a:extLst>
          </p:cNvPr>
          <p:cNvSpPr>
            <a:spLocks xmlns:a="http://schemas.openxmlformats.org/drawingml/2006/main" noGrp="1"/>
          </p:cNvSpPr>
          <p:nvPr/>
        </p:nvSpPr>
        <p:spPr>
          <a:xfrm xmlns:a="http://schemas.openxmlformats.org/drawingml/2006/main">
            <a:off x="5219700"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03</a:t>
            </a:r>
          </a:p>
        </p:txBody>
      </p:sp>
      <p:sp>
        <p:nvSpPr>
          <p:cNvPr id="20" name="process-title-6-3">
            <a:extLst xmlns:a="http://schemas.openxmlformats.org/drawingml/2006/main">
              <a:ext uri="{FF2B5EF4-FFF2-40B4-BE49-F238E27FC236}">
                <a16:creationId xmlns:a16="http://schemas.microsoft.com/office/drawing/2014/main" id="{053A8CDC-1AC4-45FA-92E5-40FF83B80D2F}"/>
              </a:ext>
            </a:extLst>
          </p:cNvPr>
          <p:cNvSpPr>
            <a:spLocks xmlns:a="http://schemas.openxmlformats.org/drawingml/2006/main" noGrp="1"/>
          </p:cNvSpPr>
          <p:nvPr/>
        </p:nvSpPr>
        <p:spPr>
          <a:xfrm xmlns:a="http://schemas.openxmlformats.org/drawingml/2006/main">
            <a:off x="5219700" y="2886075"/>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Step</a:t>
            </a:r>
          </a:p>
        </p:txBody>
      </p:sp>
      <p:sp>
        <p:nvSpPr>
          <p:cNvPr id="21" name="process-detail-6-3">
            <a:extLst xmlns:a="http://schemas.openxmlformats.org/drawingml/2006/main">
              <a:ext uri="{FF2B5EF4-FFF2-40B4-BE49-F238E27FC236}">
                <a16:creationId xmlns:a16="http://schemas.microsoft.com/office/drawing/2014/main" id="{6745CA57-C0D6-447B-8435-56549ACDF032}"/>
              </a:ext>
            </a:extLst>
          </p:cNvPr>
          <p:cNvSpPr>
            <a:spLocks xmlns:a="http://schemas.openxmlformats.org/drawingml/2006/main" noGrp="1"/>
          </p:cNvSpPr>
          <p:nvPr/>
        </p:nvSpPr>
        <p:spPr>
          <a:xfrm xmlns:a="http://schemas.openxmlformats.org/drawingml/2006/main">
            <a:off x="5219700" y="3590925"/>
            <a:ext cx="1752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Observe reward, successor, done.</a:t>
            </a:r>
          </a:p>
        </p:txBody>
      </p:sp>
      <p:sp>
        <p:nvSpPr>
          <p:cNvPr id="22" name="process-node-6-4">
            <a:extLst xmlns:a="http://schemas.openxmlformats.org/drawingml/2006/main">
              <a:ext uri="{FF2B5EF4-FFF2-40B4-BE49-F238E27FC236}">
                <a16:creationId xmlns:a16="http://schemas.microsoft.com/office/drawing/2014/main" id="{902FD230-E750-4E35-832D-C4B3DB365C9C}"/>
              </a:ext>
            </a:extLst>
          </p:cNvPr>
          <p:cNvSpPr>
            <a:spLocks xmlns:a="http://schemas.openxmlformats.org/drawingml/2006/main" noGrp="1"/>
          </p:cNvSpPr>
          <p:nvPr/>
        </p:nvSpPr>
        <p:spPr>
          <a:xfrm xmlns:a="http://schemas.openxmlformats.org/drawingml/2006/main">
            <a:off x="7372350" y="2238375"/>
            <a:ext cx="2095500" cy="23812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23" name="process-number-6-4">
            <a:extLst xmlns:a="http://schemas.openxmlformats.org/drawingml/2006/main">
              <a:ext uri="{FF2B5EF4-FFF2-40B4-BE49-F238E27FC236}">
                <a16:creationId xmlns:a16="http://schemas.microsoft.com/office/drawing/2014/main" id="{D81F0180-3911-496B-91D2-A72CB74B5CEB}"/>
              </a:ext>
            </a:extLst>
          </p:cNvPr>
          <p:cNvSpPr>
            <a:spLocks xmlns:a="http://schemas.openxmlformats.org/drawingml/2006/main" noGrp="1"/>
          </p:cNvSpPr>
          <p:nvPr/>
        </p:nvSpPr>
        <p:spPr>
          <a:xfrm xmlns:a="http://schemas.openxmlformats.org/drawingml/2006/main">
            <a:off x="7543800"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04</a:t>
            </a:r>
          </a:p>
        </p:txBody>
      </p:sp>
      <p:sp>
        <p:nvSpPr>
          <p:cNvPr id="24" name="process-title-6-4">
            <a:extLst xmlns:a="http://schemas.openxmlformats.org/drawingml/2006/main">
              <a:ext uri="{FF2B5EF4-FFF2-40B4-BE49-F238E27FC236}">
                <a16:creationId xmlns:a16="http://schemas.microsoft.com/office/drawing/2014/main" id="{08FCB5C5-E11C-4C42-816F-50AFBEDE7E17}"/>
              </a:ext>
            </a:extLst>
          </p:cNvPr>
          <p:cNvSpPr>
            <a:spLocks xmlns:a="http://schemas.openxmlformats.org/drawingml/2006/main" noGrp="1"/>
          </p:cNvSpPr>
          <p:nvPr/>
        </p:nvSpPr>
        <p:spPr>
          <a:xfrm xmlns:a="http://schemas.openxmlformats.org/drawingml/2006/main">
            <a:off x="7543800" y="2886075"/>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Update</a:t>
            </a:r>
          </a:p>
        </p:txBody>
      </p:sp>
      <p:sp>
        <p:nvSpPr>
          <p:cNvPr id="25" name="process-detail-6-4">
            <a:extLst xmlns:a="http://schemas.openxmlformats.org/drawingml/2006/main">
              <a:ext uri="{FF2B5EF4-FFF2-40B4-BE49-F238E27FC236}">
                <a16:creationId xmlns:a16="http://schemas.microsoft.com/office/drawing/2014/main" id="{3B672880-C96F-480D-A405-AD8F8A038E07}"/>
              </a:ext>
            </a:extLst>
          </p:cNvPr>
          <p:cNvSpPr>
            <a:spLocks xmlns:a="http://schemas.openxmlformats.org/drawingml/2006/main" noGrp="1"/>
          </p:cNvSpPr>
          <p:nvPr/>
        </p:nvSpPr>
        <p:spPr>
          <a:xfrm xmlns:a="http://schemas.openxmlformats.org/drawingml/2006/main">
            <a:off x="7543800" y="3590925"/>
            <a:ext cx="1752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Apply terminal-aware target.</a:t>
            </a:r>
          </a:p>
        </p:txBody>
      </p:sp>
      <p:sp>
        <p:nvSpPr>
          <p:cNvPr id="26" name="process-node-6-5">
            <a:extLst xmlns:a="http://schemas.openxmlformats.org/drawingml/2006/main">
              <a:ext uri="{FF2B5EF4-FFF2-40B4-BE49-F238E27FC236}">
                <a16:creationId xmlns:a16="http://schemas.microsoft.com/office/drawing/2014/main" id="{689DFAC7-8128-4087-8587-D0EA98A71A0D}"/>
              </a:ext>
            </a:extLst>
          </p:cNvPr>
          <p:cNvSpPr>
            <a:spLocks xmlns:a="http://schemas.openxmlformats.org/drawingml/2006/main" noGrp="1"/>
          </p:cNvSpPr>
          <p:nvPr/>
        </p:nvSpPr>
        <p:spPr>
          <a:xfrm xmlns:a="http://schemas.openxmlformats.org/drawingml/2006/main">
            <a:off x="9696450" y="2238375"/>
            <a:ext cx="2095500" cy="2381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27" name="process-number-6-5">
            <a:extLst xmlns:a="http://schemas.openxmlformats.org/drawingml/2006/main">
              <a:ext uri="{FF2B5EF4-FFF2-40B4-BE49-F238E27FC236}">
                <a16:creationId xmlns:a16="http://schemas.microsoft.com/office/drawing/2014/main" id="{F7EC600D-0C8D-4A44-B13D-B3F66FDF8DD4}"/>
              </a:ext>
            </a:extLst>
          </p:cNvPr>
          <p:cNvSpPr>
            <a:spLocks xmlns:a="http://schemas.openxmlformats.org/drawingml/2006/main" noGrp="1"/>
          </p:cNvSpPr>
          <p:nvPr/>
        </p:nvSpPr>
        <p:spPr>
          <a:xfrm xmlns:a="http://schemas.openxmlformats.org/drawingml/2006/main">
            <a:off x="9867900"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05</a:t>
            </a:r>
          </a:p>
        </p:txBody>
      </p:sp>
      <p:sp>
        <p:nvSpPr>
          <p:cNvPr id="28" name="process-title-6-5">
            <a:extLst xmlns:a="http://schemas.openxmlformats.org/drawingml/2006/main">
              <a:ext uri="{FF2B5EF4-FFF2-40B4-BE49-F238E27FC236}">
                <a16:creationId xmlns:a16="http://schemas.microsoft.com/office/drawing/2014/main" id="{E718BD85-D2C2-4394-8111-33D74D8F5CE5}"/>
              </a:ext>
            </a:extLst>
          </p:cNvPr>
          <p:cNvSpPr>
            <a:spLocks xmlns:a="http://schemas.openxmlformats.org/drawingml/2006/main" noGrp="1"/>
          </p:cNvSpPr>
          <p:nvPr/>
        </p:nvSpPr>
        <p:spPr>
          <a:xfrm xmlns:a="http://schemas.openxmlformats.org/drawingml/2006/main">
            <a:off x="9867900" y="2886075"/>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Decay</a:t>
            </a:r>
          </a:p>
        </p:txBody>
      </p:sp>
      <p:sp>
        <p:nvSpPr>
          <p:cNvPr id="29" name="process-detail-6-5">
            <a:extLst xmlns:a="http://schemas.openxmlformats.org/drawingml/2006/main">
              <a:ext uri="{FF2B5EF4-FFF2-40B4-BE49-F238E27FC236}">
                <a16:creationId xmlns:a16="http://schemas.microsoft.com/office/drawing/2014/main" id="{99D6B642-660D-409F-B93B-C356D0BC3F4F}"/>
              </a:ext>
            </a:extLst>
          </p:cNvPr>
          <p:cNvSpPr>
            <a:spLocks xmlns:a="http://schemas.openxmlformats.org/drawingml/2006/main" noGrp="1"/>
          </p:cNvSpPr>
          <p:nvPr/>
        </p:nvSpPr>
        <p:spPr>
          <a:xfrm xmlns:a="http://schemas.openxmlformats.org/drawingml/2006/main">
            <a:off x="9867900" y="3590925"/>
            <a:ext cx="1752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Adjust epsilon on schedule.</a:t>
            </a:r>
          </a:p>
        </p:txBody>
      </p:sp>
      <p:sp>
        <p:nvSpPr>
          <p:cNvPr id="30" name="process-takeaway-6">
            <a:extLst xmlns:a="http://schemas.openxmlformats.org/drawingml/2006/main">
              <a:ext uri="{FF2B5EF4-FFF2-40B4-BE49-F238E27FC236}">
                <a16:creationId xmlns:a16="http://schemas.microsoft.com/office/drawing/2014/main" id="{BCBC673A-8FE6-49F7-9A60-C9B9D1FD8122}"/>
              </a:ext>
            </a:extLst>
          </p:cNvPr>
          <p:cNvSpPr>
            <a:spLocks xmlns:a="http://schemas.openxmlformats.org/drawingml/2006/main" noGrp="1"/>
          </p:cNvSpPr>
          <p:nvPr/>
        </p:nvSpPr>
        <p:spPr>
          <a:xfrm xmlns:a="http://schemas.openxmlformats.org/drawingml/2006/main">
            <a:off x="400050" y="5095875"/>
            <a:ext cx="11391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Update exactly once per observed transition and never bootstrap past terminal.</a:t>
            </a:r>
          </a:p>
        </p:txBody>
      </p:sp>
    </p:spTree>
    <p:extLst>
      <p:ext uri="{BB962C8B-B14F-4D97-AF65-F5344CB8AC3E}">
        <p14:creationId xmlns:p14="http://schemas.microsoft.com/office/powerpoint/2010/main" val="88866230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lide-title-7">
            <a:extLst xmlns:a="http://schemas.openxmlformats.org/drawingml/2006/main">
              <a:ext uri="{FF2B5EF4-FFF2-40B4-BE49-F238E27FC236}">
                <a16:creationId xmlns:a16="http://schemas.microsoft.com/office/drawing/2014/main" id="{7038040A-AE6E-4EED-8AFC-DF311F025C3A}"/>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The training loop keeps environment and agent separate</a:t>
            </a:r>
          </a:p>
        </p:txBody>
      </p:sp>
      <p:sp>
        <p:nvSpPr>
          <p:cNvPr id="2" name="title-accent-7">
            <a:extLst xmlns:a="http://schemas.openxmlformats.org/drawingml/2006/main">
              <a:ext uri="{FF2B5EF4-FFF2-40B4-BE49-F238E27FC236}">
                <a16:creationId xmlns:a16="http://schemas.microsoft.com/office/drawing/2014/main" id="{B2DC14A8-69C6-4F61-9995-51FAB358EA7A}"/>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9" name="title-rule-7"/>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7">
            <a:extLst xmlns:a="http://schemas.openxmlformats.org/drawingml/2006/main">
              <a:ext uri="{FF2B5EF4-FFF2-40B4-BE49-F238E27FC236}">
                <a16:creationId xmlns:a16="http://schemas.microsoft.com/office/drawing/2014/main" id="{F440F9B9-08A7-4295-BE00-3E339644F23F}"/>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5  |  Lesson 2</a:t>
            </a:r>
          </a:p>
        </p:txBody>
      </p:sp>
      <p:sp>
        <p:nvSpPr>
          <p:cNvPr id="5" name="footer-number-7">
            <a:extLst xmlns:a="http://schemas.openxmlformats.org/drawingml/2006/main">
              <a:ext uri="{FF2B5EF4-FFF2-40B4-BE49-F238E27FC236}">
                <a16:creationId xmlns:a16="http://schemas.microsoft.com/office/drawing/2014/main" id="{B34B9FDB-E0B1-4319-A6E9-1FD931AA6B80}"/>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7</a:t>
            </a:r>
          </a:p>
        </p:txBody>
      </p:sp>
      <p:sp>
        <p:nvSpPr>
          <p:cNvPr id="6" name="code-panel-7">
            <a:extLst xmlns:a="http://schemas.openxmlformats.org/drawingml/2006/main">
              <a:ext uri="{FF2B5EF4-FFF2-40B4-BE49-F238E27FC236}">
                <a16:creationId xmlns:a16="http://schemas.microsoft.com/office/drawing/2014/main" id="{04827EE0-80EA-47D1-9607-F867790FB8F8}"/>
              </a:ext>
            </a:extLst>
          </p:cNvPr>
          <p:cNvSpPr>
            <a:spLocks xmlns:a="http://schemas.openxmlformats.org/drawingml/2006/main" noGrp="1"/>
          </p:cNvSpPr>
          <p:nvPr/>
        </p:nvSpPr>
        <p:spPr>
          <a:xfrm xmlns:a="http://schemas.openxmlformats.org/drawingml/2006/main">
            <a:off x="400050" y="1600200"/>
            <a:ext cx="7410450" cy="4095750"/>
          </a:xfrm>
          <a:prstGeom xmlns:a="http://schemas.openxmlformats.org/drawingml/2006/main" prst="rect">
            <a:avLst/>
          </a:prstGeom>
          <a:solidFill xmlns:a="http://schemas.openxmlformats.org/drawingml/2006/main">
            <a:srgbClr val="F5F6F7"/>
          </a:solidFill>
          <a:ln xmlns:a="http://schemas.openxmlformats.org/drawingml/2006/main" w="9525">
            <a:solidFill>
              <a:srgbClr val="B8BCC4"/>
            </a:solidFill>
            <a:prstDash val="solid"/>
          </a:ln>
        </p:spPr>
      </p:sp>
      <p:sp>
        <p:nvSpPr>
          <p:cNvPr id="7" name="code-7">
            <a:extLst xmlns:a="http://schemas.openxmlformats.org/drawingml/2006/main">
              <a:ext uri="{FF2B5EF4-FFF2-40B4-BE49-F238E27FC236}">
                <a16:creationId xmlns:a16="http://schemas.microsoft.com/office/drawing/2014/main" id="{1283EFB5-EB87-483D-9F88-9810724965E4}"/>
              </a:ext>
            </a:extLst>
          </p:cNvPr>
          <p:cNvSpPr>
            <a:spLocks xmlns:a="http://schemas.openxmlformats.org/drawingml/2006/main" noGrp="1"/>
          </p:cNvSpPr>
          <p:nvPr/>
        </p:nvSpPr>
        <p:spPr>
          <a:xfrm xmlns:a="http://schemas.openxmlformats.org/drawingml/2006/main">
            <a:off x="647700" y="1838325"/>
            <a:ext cx="6915150" cy="3619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for episode in range(n_episodes):</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state = env.reset()</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for step in range(max_steps):</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action = epsilon_greedy(Q[state], epsilon)</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next_state, reward, done = env.step(action)</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target = reward if done else (</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reward + gamma * max(Q[next_state])</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Q[state, action] += alpha * (</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target - Q[state, action]</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state = next_state</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if done: break</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epsilon = decay(epsilon)</a:t>
            </a:r>
          </a:p>
        </p:txBody>
      </p:sp>
      <p:sp>
        <p:nvSpPr>
          <p:cNvPr id="8" name="code-rail-title-7">
            <a:extLst xmlns:a="http://schemas.openxmlformats.org/drawingml/2006/main">
              <a:ext uri="{FF2B5EF4-FFF2-40B4-BE49-F238E27FC236}">
                <a16:creationId xmlns:a16="http://schemas.microsoft.com/office/drawing/2014/main" id="{C6A47946-502D-4294-9EFC-078390FE39D3}"/>
              </a:ext>
            </a:extLst>
          </p:cNvPr>
          <p:cNvSpPr>
            <a:spLocks xmlns:a="http://schemas.openxmlformats.org/drawingml/2006/main" noGrp="1"/>
          </p:cNvSpPr>
          <p:nvPr/>
        </p:nvSpPr>
        <p:spPr>
          <a:xfrm xmlns:a="http://schemas.openxmlformats.org/drawingml/2006/main">
            <a:off x="8191500" y="1685925"/>
            <a:ext cx="333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111111"/>
                </a:solidFill>
                <a:latin typeface="Arial"/>
                <a:ea typeface="Arial"/>
                <a:cs typeface="Arial"/>
              </a:defRPr>
            </a:pPr>
            <a:r>
              <a:rPr sz="2025" b="1">
                <a:solidFill>
                  <a:srgbClr val="111111"/>
                </a:solidFill>
                <a:latin typeface="Arial"/>
                <a:ea typeface="Arial"/>
                <a:cs typeface="Arial"/>
              </a:rPr>
              <a:t>Defensive controls</a:t>
            </a:r>
          </a:p>
        </p:txBody>
      </p:sp>
      <p:sp>
        <p:nvSpPr>
          <p:cNvPr id="9" name="code-rail-7-marker-1">
            <a:extLst xmlns:a="http://schemas.openxmlformats.org/drawingml/2006/main">
              <a:ext uri="{FF2B5EF4-FFF2-40B4-BE49-F238E27FC236}">
                <a16:creationId xmlns:a16="http://schemas.microsoft.com/office/drawing/2014/main" id="{ABAD2FFF-E1D1-4466-9BB3-B59AC41A363B}"/>
              </a:ext>
            </a:extLst>
          </p:cNvPr>
          <p:cNvSpPr>
            <a:spLocks xmlns:a="http://schemas.openxmlformats.org/drawingml/2006/main" noGrp="1"/>
          </p:cNvSpPr>
          <p:nvPr/>
        </p:nvSpPr>
        <p:spPr>
          <a:xfrm xmlns:a="http://schemas.openxmlformats.org/drawingml/2006/main">
            <a:off x="8191500" y="24669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code-rail-7-text-1">
            <a:extLst xmlns:a="http://schemas.openxmlformats.org/drawingml/2006/main">
              <a:ext uri="{FF2B5EF4-FFF2-40B4-BE49-F238E27FC236}">
                <a16:creationId xmlns:a16="http://schemas.microsoft.com/office/drawing/2014/main" id="{17A05774-B66D-4948-9DB6-B172D7824576}"/>
              </a:ext>
            </a:extLst>
          </p:cNvPr>
          <p:cNvSpPr>
            <a:spLocks xmlns:a="http://schemas.openxmlformats.org/drawingml/2006/main" noGrp="1"/>
          </p:cNvSpPr>
          <p:nvPr/>
        </p:nvSpPr>
        <p:spPr>
          <a:xfrm xmlns:a="http://schemas.openxmlformats.org/drawingml/2006/main">
            <a:off x="8420100" y="2381250"/>
            <a:ext cx="320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Validate state indexes.</a:t>
            </a:r>
          </a:p>
        </p:txBody>
      </p:sp>
      <p:sp>
        <p:nvSpPr>
          <p:cNvPr id="11" name="code-rail-7-marker-2">
            <a:extLst xmlns:a="http://schemas.openxmlformats.org/drawingml/2006/main">
              <a:ext uri="{FF2B5EF4-FFF2-40B4-BE49-F238E27FC236}">
                <a16:creationId xmlns:a16="http://schemas.microsoft.com/office/drawing/2014/main" id="{0EEA8448-F81E-4D4A-8B03-BF117364B228}"/>
              </a:ext>
            </a:extLst>
          </p:cNvPr>
          <p:cNvSpPr>
            <a:spLocks xmlns:a="http://schemas.openxmlformats.org/drawingml/2006/main" noGrp="1"/>
          </p:cNvSpPr>
          <p:nvPr/>
        </p:nvSpPr>
        <p:spPr>
          <a:xfrm xmlns:a="http://schemas.openxmlformats.org/drawingml/2006/main">
            <a:off x="8191500" y="32099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code-rail-7-text-2">
            <a:extLst xmlns:a="http://schemas.openxmlformats.org/drawingml/2006/main">
              <a:ext uri="{FF2B5EF4-FFF2-40B4-BE49-F238E27FC236}">
                <a16:creationId xmlns:a16="http://schemas.microsoft.com/office/drawing/2014/main" id="{93338B27-DFCC-491E-BFAA-B3C3550F1452}"/>
              </a:ext>
            </a:extLst>
          </p:cNvPr>
          <p:cNvSpPr>
            <a:spLocks xmlns:a="http://schemas.openxmlformats.org/drawingml/2006/main" noGrp="1"/>
          </p:cNvSpPr>
          <p:nvPr/>
        </p:nvSpPr>
        <p:spPr>
          <a:xfrm xmlns:a="http://schemas.openxmlformats.org/drawingml/2006/main">
            <a:off x="8420100" y="3124200"/>
            <a:ext cx="320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Seed tie randomness.</a:t>
            </a:r>
          </a:p>
        </p:txBody>
      </p:sp>
      <p:sp>
        <p:nvSpPr>
          <p:cNvPr id="13" name="code-rail-7-marker-3">
            <a:extLst xmlns:a="http://schemas.openxmlformats.org/drawingml/2006/main">
              <a:ext uri="{FF2B5EF4-FFF2-40B4-BE49-F238E27FC236}">
                <a16:creationId xmlns:a16="http://schemas.microsoft.com/office/drawing/2014/main" id="{D863B59C-4135-49A4-A2E0-58F09A30D7DD}"/>
              </a:ext>
            </a:extLst>
          </p:cNvPr>
          <p:cNvSpPr>
            <a:spLocks xmlns:a="http://schemas.openxmlformats.org/drawingml/2006/main" noGrp="1"/>
          </p:cNvSpPr>
          <p:nvPr/>
        </p:nvSpPr>
        <p:spPr>
          <a:xfrm xmlns:a="http://schemas.openxmlformats.org/drawingml/2006/main">
            <a:off x="8191500" y="39528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code-rail-7-text-3">
            <a:extLst xmlns:a="http://schemas.openxmlformats.org/drawingml/2006/main">
              <a:ext uri="{FF2B5EF4-FFF2-40B4-BE49-F238E27FC236}">
                <a16:creationId xmlns:a16="http://schemas.microsoft.com/office/drawing/2014/main" id="{284BCEA6-D56D-4598-9169-7F55762B4C34}"/>
              </a:ext>
            </a:extLst>
          </p:cNvPr>
          <p:cNvSpPr>
            <a:spLocks xmlns:a="http://schemas.openxmlformats.org/drawingml/2006/main" noGrp="1"/>
          </p:cNvSpPr>
          <p:nvPr/>
        </p:nvSpPr>
        <p:spPr>
          <a:xfrm xmlns:a="http://schemas.openxmlformats.org/drawingml/2006/main">
            <a:off x="8420100" y="3867150"/>
            <a:ext cx="320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Cap episode length.</a:t>
            </a:r>
          </a:p>
        </p:txBody>
      </p:sp>
      <p:sp>
        <p:nvSpPr>
          <p:cNvPr id="15" name="code-rail-7-marker-4">
            <a:extLst xmlns:a="http://schemas.openxmlformats.org/drawingml/2006/main">
              <a:ext uri="{FF2B5EF4-FFF2-40B4-BE49-F238E27FC236}">
                <a16:creationId xmlns:a16="http://schemas.microsoft.com/office/drawing/2014/main" id="{3DBC4F26-FFC4-4DFE-87F3-1452C33DB2C2}"/>
              </a:ext>
            </a:extLst>
          </p:cNvPr>
          <p:cNvSpPr>
            <a:spLocks xmlns:a="http://schemas.openxmlformats.org/drawingml/2006/main" noGrp="1"/>
          </p:cNvSpPr>
          <p:nvPr/>
        </p:nvSpPr>
        <p:spPr>
          <a:xfrm xmlns:a="http://schemas.openxmlformats.org/drawingml/2006/main">
            <a:off x="8191500" y="46958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code-rail-7-text-4">
            <a:extLst xmlns:a="http://schemas.openxmlformats.org/drawingml/2006/main">
              <a:ext uri="{FF2B5EF4-FFF2-40B4-BE49-F238E27FC236}">
                <a16:creationId xmlns:a16="http://schemas.microsoft.com/office/drawing/2014/main" id="{F7579CCE-6F0E-4704-8F67-43494AA5F89E}"/>
              </a:ext>
            </a:extLst>
          </p:cNvPr>
          <p:cNvSpPr>
            <a:spLocks xmlns:a="http://schemas.openxmlformats.org/drawingml/2006/main" noGrp="1"/>
          </p:cNvSpPr>
          <p:nvPr/>
        </p:nvSpPr>
        <p:spPr>
          <a:xfrm xmlns:a="http://schemas.openxmlformats.org/drawingml/2006/main">
            <a:off x="8420100" y="4610100"/>
            <a:ext cx="320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Log epsilon and return.</a:t>
            </a:r>
          </a:p>
        </p:txBody>
      </p:sp>
    </p:spTree>
    <p:extLst>
      <p:ext uri="{BB962C8B-B14F-4D97-AF65-F5344CB8AC3E}">
        <p14:creationId xmlns:p14="http://schemas.microsoft.com/office/powerpoint/2010/main" val="83354766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8">
            <a:extLst xmlns:a="http://schemas.openxmlformats.org/drawingml/2006/main">
              <a:ext uri="{FF2B5EF4-FFF2-40B4-BE49-F238E27FC236}">
                <a16:creationId xmlns:a16="http://schemas.microsoft.com/office/drawing/2014/main" id="{CBEC9403-7D50-4B92-A945-7A0080079CDA}"/>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Worked Q update</a:t>
            </a:r>
          </a:p>
        </p:txBody>
      </p:sp>
      <p:sp>
        <p:nvSpPr>
          <p:cNvPr id="2" name="title-accent-8">
            <a:extLst xmlns:a="http://schemas.openxmlformats.org/drawingml/2006/main">
              <a:ext uri="{FF2B5EF4-FFF2-40B4-BE49-F238E27FC236}">
                <a16:creationId xmlns:a16="http://schemas.microsoft.com/office/drawing/2014/main" id="{51210941-322B-419D-B00A-1D0577E740F3}"/>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1" name="title-rule-8"/>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8">
            <a:extLst xmlns:a="http://schemas.openxmlformats.org/drawingml/2006/main">
              <a:ext uri="{FF2B5EF4-FFF2-40B4-BE49-F238E27FC236}">
                <a16:creationId xmlns:a16="http://schemas.microsoft.com/office/drawing/2014/main" id="{5389F3DE-8C89-43E3-92F5-48914E82930A}"/>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5  |  Lesson 2</a:t>
            </a:r>
          </a:p>
        </p:txBody>
      </p:sp>
      <p:sp>
        <p:nvSpPr>
          <p:cNvPr id="5" name="footer-number-8">
            <a:extLst xmlns:a="http://schemas.openxmlformats.org/drawingml/2006/main">
              <a:ext uri="{FF2B5EF4-FFF2-40B4-BE49-F238E27FC236}">
                <a16:creationId xmlns:a16="http://schemas.microsoft.com/office/drawing/2014/main" id="{4CDEB63A-547C-450B-BAC8-3B8AB868180D}"/>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8</a:t>
            </a:r>
          </a:p>
        </p:txBody>
      </p:sp>
      <p:sp>
        <p:nvSpPr>
          <p:cNvPr id="6" name="example-label-8">
            <a:extLst xmlns:a="http://schemas.openxmlformats.org/drawingml/2006/main">
              <a:ext uri="{FF2B5EF4-FFF2-40B4-BE49-F238E27FC236}">
                <a16:creationId xmlns:a16="http://schemas.microsoft.com/office/drawing/2014/main" id="{251832D4-F9D4-41F8-861C-9D529DAFA06E}"/>
              </a:ext>
            </a:extLst>
          </p:cNvPr>
          <p:cNvSpPr>
            <a:spLocks xmlns:a="http://schemas.openxmlformats.org/drawingml/2006/main" noGrp="1"/>
          </p:cNvSpPr>
          <p:nvPr/>
        </p:nvSpPr>
        <p:spPr>
          <a:xfrm xmlns:a="http://schemas.openxmlformats.org/drawingml/2006/main">
            <a:off x="400050" y="15621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SCENARIO</a:t>
            </a:r>
          </a:p>
        </p:txBody>
      </p:sp>
      <p:sp>
        <p:nvSpPr>
          <p:cNvPr id="7" name="example-scenario-8">
            <a:extLst xmlns:a="http://schemas.openxmlformats.org/drawingml/2006/main">
              <a:ext uri="{FF2B5EF4-FFF2-40B4-BE49-F238E27FC236}">
                <a16:creationId xmlns:a16="http://schemas.microsoft.com/office/drawing/2014/main" id="{BE354A55-35A4-4DF0-8456-E93397ABC0A4}"/>
              </a:ext>
            </a:extLst>
          </p:cNvPr>
          <p:cNvSpPr>
            <a:spLocks xmlns:a="http://schemas.openxmlformats.org/drawingml/2006/main" noGrp="1"/>
          </p:cNvSpPr>
          <p:nvPr/>
        </p:nvSpPr>
        <p:spPr>
          <a:xfrm xmlns:a="http://schemas.openxmlformats.org/drawingml/2006/main">
            <a:off x="400050" y="1952625"/>
            <a:ext cx="44767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Q(s,a)=2, reward=1, max Q(s',.)=4, gamma=0.9, and alpha=0.5.</a:t>
            </a:r>
          </a:p>
        </p:txBody>
      </p:sp>
      <p:cxnSp>
        <p:nvCxnSpPr>
          <p:cNvPr id="26" name="example-divider-8"/>
          <p:cNvCxnSpPr/>
          <p:nvPr/>
        </p:nvCxnSpPr>
        <p:spPr>
          <a:xfrm xmlns:a="http://schemas.openxmlformats.org/drawingml/2006/main">
            <a:off x="5238750" y="1657350"/>
            <a:ext cx="0" cy="3048000"/>
          </a:xfrm>
          <a:prstGeom xmlns:a="http://schemas.openxmlformats.org/drawingml/2006/main" prst="straightConnector1">
            <a:avLst/>
          </a:prstGeom>
          <a:ln xmlns:a="http://schemas.openxmlformats.org/drawingml/2006/main" w="9525">
            <a:solidFill>
              <a:srgbClr val="B8BCC4"/>
            </a:solidFill>
            <a:prstDash val="solid"/>
          </a:ln>
        </p:spPr>
      </p:cxnSp>
      <p:sp>
        <p:nvSpPr>
          <p:cNvPr id="9" name="example-step-8-marker-1">
            <a:extLst xmlns:a="http://schemas.openxmlformats.org/drawingml/2006/main">
              <a:ext uri="{FF2B5EF4-FFF2-40B4-BE49-F238E27FC236}">
                <a16:creationId xmlns:a16="http://schemas.microsoft.com/office/drawing/2014/main" id="{D91FFB4F-125F-48FB-B499-89F88C94F8B9}"/>
              </a:ext>
            </a:extLst>
          </p:cNvPr>
          <p:cNvSpPr>
            <a:spLocks xmlns:a="http://schemas.openxmlformats.org/drawingml/2006/main" noGrp="1"/>
          </p:cNvSpPr>
          <p:nvPr/>
        </p:nvSpPr>
        <p:spPr>
          <a:xfrm xmlns:a="http://schemas.openxmlformats.org/drawingml/2006/main">
            <a:off x="5667375" y="18478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example-step-8-text-1">
            <a:extLst xmlns:a="http://schemas.openxmlformats.org/drawingml/2006/main">
              <a:ext uri="{FF2B5EF4-FFF2-40B4-BE49-F238E27FC236}">
                <a16:creationId xmlns:a16="http://schemas.microsoft.com/office/drawing/2014/main" id="{67B5F592-A4A2-4C3B-9A0B-F6C0F5DDEBAA}"/>
              </a:ext>
            </a:extLst>
          </p:cNvPr>
          <p:cNvSpPr>
            <a:spLocks xmlns:a="http://schemas.openxmlformats.org/drawingml/2006/main" noGrp="1"/>
          </p:cNvSpPr>
          <p:nvPr/>
        </p:nvSpPr>
        <p:spPr>
          <a:xfrm xmlns:a="http://schemas.openxmlformats.org/drawingml/2006/main">
            <a:off x="5895975" y="17621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Target=1+0.9*4=4.6.</a:t>
            </a:r>
          </a:p>
        </p:txBody>
      </p:sp>
      <p:sp>
        <p:nvSpPr>
          <p:cNvPr id="11" name="example-step-8-marker-2">
            <a:extLst xmlns:a="http://schemas.openxmlformats.org/drawingml/2006/main">
              <a:ext uri="{FF2B5EF4-FFF2-40B4-BE49-F238E27FC236}">
                <a16:creationId xmlns:a16="http://schemas.microsoft.com/office/drawing/2014/main" id="{1E32E10F-2DF0-4264-9C96-D890AED3CEBF}"/>
              </a:ext>
            </a:extLst>
          </p:cNvPr>
          <p:cNvSpPr>
            <a:spLocks xmlns:a="http://schemas.openxmlformats.org/drawingml/2006/main" noGrp="1"/>
          </p:cNvSpPr>
          <p:nvPr/>
        </p:nvSpPr>
        <p:spPr>
          <a:xfrm xmlns:a="http://schemas.openxmlformats.org/drawingml/2006/main">
            <a:off x="5667375" y="25336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example-step-8-text-2">
            <a:extLst xmlns:a="http://schemas.openxmlformats.org/drawingml/2006/main">
              <a:ext uri="{FF2B5EF4-FFF2-40B4-BE49-F238E27FC236}">
                <a16:creationId xmlns:a16="http://schemas.microsoft.com/office/drawing/2014/main" id="{3C6090F8-DEAA-482D-87AB-836C6E52EA31}"/>
              </a:ext>
            </a:extLst>
          </p:cNvPr>
          <p:cNvSpPr>
            <a:spLocks xmlns:a="http://schemas.openxmlformats.org/drawingml/2006/main" noGrp="1"/>
          </p:cNvSpPr>
          <p:nvPr/>
        </p:nvSpPr>
        <p:spPr>
          <a:xfrm xmlns:a="http://schemas.openxmlformats.org/drawingml/2006/main">
            <a:off x="5895975" y="24479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TD error=4.6-2=2.6.</a:t>
            </a:r>
          </a:p>
        </p:txBody>
      </p:sp>
      <p:sp>
        <p:nvSpPr>
          <p:cNvPr id="13" name="example-step-8-marker-3">
            <a:extLst xmlns:a="http://schemas.openxmlformats.org/drawingml/2006/main">
              <a:ext uri="{FF2B5EF4-FFF2-40B4-BE49-F238E27FC236}">
                <a16:creationId xmlns:a16="http://schemas.microsoft.com/office/drawing/2014/main" id="{D504BC5D-F4B2-49FE-AAA5-2B7EAEE44B1B}"/>
              </a:ext>
            </a:extLst>
          </p:cNvPr>
          <p:cNvSpPr>
            <a:spLocks xmlns:a="http://schemas.openxmlformats.org/drawingml/2006/main" noGrp="1"/>
          </p:cNvSpPr>
          <p:nvPr/>
        </p:nvSpPr>
        <p:spPr>
          <a:xfrm xmlns:a="http://schemas.openxmlformats.org/drawingml/2006/main">
            <a:off x="5667375" y="32194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example-step-8-text-3">
            <a:extLst xmlns:a="http://schemas.openxmlformats.org/drawingml/2006/main">
              <a:ext uri="{FF2B5EF4-FFF2-40B4-BE49-F238E27FC236}">
                <a16:creationId xmlns:a16="http://schemas.microsoft.com/office/drawing/2014/main" id="{BD1E4CAC-2D9C-4A51-91E6-4BCECE6EB091}"/>
              </a:ext>
            </a:extLst>
          </p:cNvPr>
          <p:cNvSpPr>
            <a:spLocks xmlns:a="http://schemas.openxmlformats.org/drawingml/2006/main" noGrp="1"/>
          </p:cNvSpPr>
          <p:nvPr/>
        </p:nvSpPr>
        <p:spPr>
          <a:xfrm xmlns:a="http://schemas.openxmlformats.org/drawingml/2006/main">
            <a:off x="5895975" y="31337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Increment=0.5*2.6=1.3.</a:t>
            </a:r>
          </a:p>
        </p:txBody>
      </p:sp>
      <p:sp>
        <p:nvSpPr>
          <p:cNvPr id="15" name="example-step-8-marker-4">
            <a:extLst xmlns:a="http://schemas.openxmlformats.org/drawingml/2006/main">
              <a:ext uri="{FF2B5EF4-FFF2-40B4-BE49-F238E27FC236}">
                <a16:creationId xmlns:a16="http://schemas.microsoft.com/office/drawing/2014/main" id="{C0E4F9E1-FF5C-41D5-980E-327441C93CEF}"/>
              </a:ext>
            </a:extLst>
          </p:cNvPr>
          <p:cNvSpPr>
            <a:spLocks xmlns:a="http://schemas.openxmlformats.org/drawingml/2006/main" noGrp="1"/>
          </p:cNvSpPr>
          <p:nvPr/>
        </p:nvSpPr>
        <p:spPr>
          <a:xfrm xmlns:a="http://schemas.openxmlformats.org/drawingml/2006/main">
            <a:off x="5667375" y="39052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example-step-8-text-4">
            <a:extLst xmlns:a="http://schemas.openxmlformats.org/drawingml/2006/main">
              <a:ext uri="{FF2B5EF4-FFF2-40B4-BE49-F238E27FC236}">
                <a16:creationId xmlns:a16="http://schemas.microsoft.com/office/drawing/2014/main" id="{7AD9989C-B8E2-4215-8C81-9FB5B8E24D7A}"/>
              </a:ext>
            </a:extLst>
          </p:cNvPr>
          <p:cNvSpPr>
            <a:spLocks xmlns:a="http://schemas.openxmlformats.org/drawingml/2006/main" noGrp="1"/>
          </p:cNvSpPr>
          <p:nvPr/>
        </p:nvSpPr>
        <p:spPr>
          <a:xfrm xmlns:a="http://schemas.openxmlformats.org/drawingml/2006/main">
            <a:off x="5895975" y="38195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Set Q(s,a)=3.3.</a:t>
            </a:r>
          </a:p>
        </p:txBody>
      </p:sp>
      <p:sp>
        <p:nvSpPr>
          <p:cNvPr id="17" name="example-result-panel-8">
            <a:extLst xmlns:a="http://schemas.openxmlformats.org/drawingml/2006/main">
              <a:ext uri="{FF2B5EF4-FFF2-40B4-BE49-F238E27FC236}">
                <a16:creationId xmlns:a16="http://schemas.microsoft.com/office/drawing/2014/main" id="{038CB858-75CF-4844-8839-636531236F19}"/>
              </a:ext>
            </a:extLst>
          </p:cNvPr>
          <p:cNvSpPr>
            <a:spLocks xmlns:a="http://schemas.openxmlformats.org/drawingml/2006/main" noGrp="1"/>
          </p:cNvSpPr>
          <p:nvPr/>
        </p:nvSpPr>
        <p:spPr>
          <a:xfrm xmlns:a="http://schemas.openxmlformats.org/drawingml/2006/main">
            <a:off x="400050" y="5000625"/>
            <a:ext cx="11391900" cy="8001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8" name="example-result-8">
            <a:extLst xmlns:a="http://schemas.openxmlformats.org/drawingml/2006/main">
              <a:ext uri="{FF2B5EF4-FFF2-40B4-BE49-F238E27FC236}">
                <a16:creationId xmlns:a16="http://schemas.microsoft.com/office/drawing/2014/main" id="{027510A8-FF63-4F08-8CD5-655583E797AF}"/>
              </a:ext>
            </a:extLst>
          </p:cNvPr>
          <p:cNvSpPr>
            <a:spLocks xmlns:a="http://schemas.openxmlformats.org/drawingml/2006/main" noGrp="1"/>
          </p:cNvSpPr>
          <p:nvPr/>
        </p:nvSpPr>
        <p:spPr>
          <a:xfrm xmlns:a="http://schemas.openxmlformats.org/drawingml/2006/main">
            <a:off x="685800" y="5181600"/>
            <a:ext cx="10820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1">
                <a:solidFill>
                  <a:srgbClr val="111111"/>
                </a:solidFill>
                <a:latin typeface="Arial"/>
                <a:ea typeface="Arial"/>
                <a:cs typeface="Arial"/>
              </a:defRPr>
            </a:pPr>
            <a:r>
              <a:rPr sz="1725" b="1">
                <a:solidFill>
                  <a:srgbClr val="111111"/>
                </a:solidFill>
                <a:latin typeface="Arial"/>
                <a:ea typeface="Arial"/>
                <a:cs typeface="Arial"/>
              </a:rPr>
              <a:t>Only the experienced state-action entry changes on this tabular update.</a:t>
            </a:r>
          </a:p>
        </p:txBody>
      </p:sp>
    </p:spTree>
    <p:extLst>
      <p:ext uri="{BB962C8B-B14F-4D97-AF65-F5344CB8AC3E}">
        <p14:creationId xmlns:p14="http://schemas.microsoft.com/office/powerpoint/2010/main" val="187377710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slide-title-9">
            <a:extLst xmlns:a="http://schemas.openxmlformats.org/drawingml/2006/main">
              <a:ext uri="{FF2B5EF4-FFF2-40B4-BE49-F238E27FC236}">
                <a16:creationId xmlns:a16="http://schemas.microsoft.com/office/drawing/2014/main" id="{93FB41AD-152E-4D1E-8371-52AE1CFAB82A}"/>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Q-learning and SARSA use different next-action targets</a:t>
            </a:r>
          </a:p>
        </p:txBody>
      </p:sp>
      <p:sp>
        <p:nvSpPr>
          <p:cNvPr id="2" name="title-accent-9">
            <a:extLst xmlns:a="http://schemas.openxmlformats.org/drawingml/2006/main">
              <a:ext uri="{FF2B5EF4-FFF2-40B4-BE49-F238E27FC236}">
                <a16:creationId xmlns:a16="http://schemas.microsoft.com/office/drawing/2014/main" id="{DED1B62E-4756-4D5C-804B-B1DD33664F90}"/>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40" name="title-rule-9"/>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9">
            <a:extLst xmlns:a="http://schemas.openxmlformats.org/drawingml/2006/main">
              <a:ext uri="{FF2B5EF4-FFF2-40B4-BE49-F238E27FC236}">
                <a16:creationId xmlns:a16="http://schemas.microsoft.com/office/drawing/2014/main" id="{813A9020-6E84-4551-81FF-D239F7469C9F}"/>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5  |  Lesson 2</a:t>
            </a:r>
          </a:p>
        </p:txBody>
      </p:sp>
      <p:sp>
        <p:nvSpPr>
          <p:cNvPr id="5" name="footer-number-9">
            <a:extLst xmlns:a="http://schemas.openxmlformats.org/drawingml/2006/main">
              <a:ext uri="{FF2B5EF4-FFF2-40B4-BE49-F238E27FC236}">
                <a16:creationId xmlns:a16="http://schemas.microsoft.com/office/drawing/2014/main" id="{46C2B953-0EEC-4191-B66D-044B80B5A17D}"/>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9</a:t>
            </a:r>
          </a:p>
        </p:txBody>
      </p:sp>
      <p:sp>
        <p:nvSpPr>
          <p:cNvPr id="6" name="comparison-title-9-1">
            <a:extLst xmlns:a="http://schemas.openxmlformats.org/drawingml/2006/main">
              <a:ext uri="{FF2B5EF4-FFF2-40B4-BE49-F238E27FC236}">
                <a16:creationId xmlns:a16="http://schemas.microsoft.com/office/drawing/2014/main" id="{8C2C9522-DB5E-424D-8727-E0E9C9993B1F}"/>
              </a:ext>
            </a:extLst>
          </p:cNvPr>
          <p:cNvSpPr>
            <a:spLocks xmlns:a="http://schemas.openxmlformats.org/drawingml/2006/main" noGrp="1"/>
          </p:cNvSpPr>
          <p:nvPr/>
        </p:nvSpPr>
        <p:spPr>
          <a:xfrm xmlns:a="http://schemas.openxmlformats.org/drawingml/2006/main">
            <a:off x="4000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3D8DFF"/>
                </a:solidFill>
                <a:latin typeface="Arial"/>
                <a:ea typeface="Arial"/>
                <a:cs typeface="Arial"/>
              </a:defRPr>
            </a:pPr>
            <a:r>
              <a:rPr sz="2025" b="1">
                <a:solidFill>
                  <a:srgbClr val="3D8DFF"/>
                </a:solidFill>
                <a:latin typeface="Arial"/>
                <a:ea typeface="Arial"/>
                <a:cs typeface="Arial"/>
              </a:rPr>
              <a:t>Q-learning</a:t>
            </a:r>
          </a:p>
        </p:txBody>
      </p:sp>
      <p:sp>
        <p:nvSpPr>
          <p:cNvPr id="7" name="comparison-tagline-9-1">
            <a:extLst xmlns:a="http://schemas.openxmlformats.org/drawingml/2006/main">
              <a:ext uri="{FF2B5EF4-FFF2-40B4-BE49-F238E27FC236}">
                <a16:creationId xmlns:a16="http://schemas.microsoft.com/office/drawing/2014/main" id="{05DCD86E-2D61-48AD-8880-F549AE2BDFC6}"/>
              </a:ext>
            </a:extLst>
          </p:cNvPr>
          <p:cNvSpPr>
            <a:spLocks xmlns:a="http://schemas.openxmlformats.org/drawingml/2006/main" noGrp="1"/>
          </p:cNvSpPr>
          <p:nvPr/>
        </p:nvSpPr>
        <p:spPr>
          <a:xfrm xmlns:a="http://schemas.openxmlformats.org/drawingml/2006/main">
            <a:off x="4000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Off-policy</a:t>
            </a:r>
          </a:p>
        </p:txBody>
      </p:sp>
      <p:sp>
        <p:nvSpPr>
          <p:cNvPr id="8" name="comparison-bullet-9-1-marker-1">
            <a:extLst xmlns:a="http://schemas.openxmlformats.org/drawingml/2006/main">
              <a:ext uri="{FF2B5EF4-FFF2-40B4-BE49-F238E27FC236}">
                <a16:creationId xmlns:a16="http://schemas.microsoft.com/office/drawing/2014/main" id="{CA1A2A14-AA02-4481-87A9-1FBE3CBA7179}"/>
              </a:ext>
            </a:extLst>
          </p:cNvPr>
          <p:cNvSpPr>
            <a:spLocks xmlns:a="http://schemas.openxmlformats.org/drawingml/2006/main" noGrp="1"/>
          </p:cNvSpPr>
          <p:nvPr/>
        </p:nvSpPr>
        <p:spPr>
          <a:xfrm xmlns:a="http://schemas.openxmlformats.org/drawingml/2006/main">
            <a:off x="400050" y="29908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9" name="comparison-bullet-9-1-text-1">
            <a:extLst xmlns:a="http://schemas.openxmlformats.org/drawingml/2006/main">
              <a:ext uri="{FF2B5EF4-FFF2-40B4-BE49-F238E27FC236}">
                <a16:creationId xmlns:a16="http://schemas.microsoft.com/office/drawing/2014/main" id="{42D52DF8-D4DD-41CB-AE7D-0D657EC676B7}"/>
              </a:ext>
            </a:extLst>
          </p:cNvPr>
          <p:cNvSpPr>
            <a:spLocks xmlns:a="http://schemas.openxmlformats.org/drawingml/2006/main" noGrp="1"/>
          </p:cNvSpPr>
          <p:nvPr/>
        </p:nvSpPr>
        <p:spPr>
          <a:xfrm xmlns:a="http://schemas.openxmlformats.org/drawingml/2006/main">
            <a:off x="6286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Target uses max_a' Q.</a:t>
            </a:r>
          </a:p>
        </p:txBody>
      </p:sp>
      <p:sp>
        <p:nvSpPr>
          <p:cNvPr id="10" name="comparison-bullet-9-1-marker-2">
            <a:extLst xmlns:a="http://schemas.openxmlformats.org/drawingml/2006/main">
              <a:ext uri="{FF2B5EF4-FFF2-40B4-BE49-F238E27FC236}">
                <a16:creationId xmlns:a16="http://schemas.microsoft.com/office/drawing/2014/main" id="{8F2F18FB-E34C-428E-B3DF-B0AEB5ED5580}"/>
              </a:ext>
            </a:extLst>
          </p:cNvPr>
          <p:cNvSpPr>
            <a:spLocks xmlns:a="http://schemas.openxmlformats.org/drawingml/2006/main" noGrp="1"/>
          </p:cNvSpPr>
          <p:nvPr/>
        </p:nvSpPr>
        <p:spPr>
          <a:xfrm xmlns:a="http://schemas.openxmlformats.org/drawingml/2006/main">
            <a:off x="400050" y="36576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comparison-bullet-9-1-text-2">
            <a:extLst xmlns:a="http://schemas.openxmlformats.org/drawingml/2006/main">
              <a:ext uri="{FF2B5EF4-FFF2-40B4-BE49-F238E27FC236}">
                <a16:creationId xmlns:a16="http://schemas.microsoft.com/office/drawing/2014/main" id="{EDE82AB4-9F44-433D-B834-501328D66121}"/>
              </a:ext>
            </a:extLst>
          </p:cNvPr>
          <p:cNvSpPr>
            <a:spLocks xmlns:a="http://schemas.openxmlformats.org/drawingml/2006/main" noGrp="1"/>
          </p:cNvSpPr>
          <p:nvPr/>
        </p:nvSpPr>
        <p:spPr>
          <a:xfrm xmlns:a="http://schemas.openxmlformats.org/drawingml/2006/main">
            <a:off x="6286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Learns greedy target.</a:t>
            </a:r>
          </a:p>
        </p:txBody>
      </p:sp>
      <p:sp>
        <p:nvSpPr>
          <p:cNvPr id="12" name="comparison-bullet-9-1-marker-3">
            <a:extLst xmlns:a="http://schemas.openxmlformats.org/drawingml/2006/main">
              <a:ext uri="{FF2B5EF4-FFF2-40B4-BE49-F238E27FC236}">
                <a16:creationId xmlns:a16="http://schemas.microsoft.com/office/drawing/2014/main" id="{718824B7-276D-4A51-AF0B-BE8D4B785CFD}"/>
              </a:ext>
            </a:extLst>
          </p:cNvPr>
          <p:cNvSpPr>
            <a:spLocks xmlns:a="http://schemas.openxmlformats.org/drawingml/2006/main" noGrp="1"/>
          </p:cNvSpPr>
          <p:nvPr/>
        </p:nvSpPr>
        <p:spPr>
          <a:xfrm xmlns:a="http://schemas.openxmlformats.org/drawingml/2006/main">
            <a:off x="400050" y="43243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comparison-bullet-9-1-text-3">
            <a:extLst xmlns:a="http://schemas.openxmlformats.org/drawingml/2006/main">
              <a:ext uri="{FF2B5EF4-FFF2-40B4-BE49-F238E27FC236}">
                <a16:creationId xmlns:a16="http://schemas.microsoft.com/office/drawing/2014/main" id="{A4916317-AF84-4609-A50C-6B2E3D9A35C8}"/>
              </a:ext>
            </a:extLst>
          </p:cNvPr>
          <p:cNvSpPr>
            <a:spLocks xmlns:a="http://schemas.openxmlformats.org/drawingml/2006/main" noGrp="1"/>
          </p:cNvSpPr>
          <p:nvPr/>
        </p:nvSpPr>
        <p:spPr>
          <a:xfrm xmlns:a="http://schemas.openxmlformats.org/drawingml/2006/main">
            <a:off x="6286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Behavior can explore.</a:t>
            </a:r>
          </a:p>
        </p:txBody>
      </p:sp>
      <p:sp>
        <p:nvSpPr>
          <p:cNvPr id="14" name="comparison-bullet-9-1-marker-4">
            <a:extLst xmlns:a="http://schemas.openxmlformats.org/drawingml/2006/main">
              <a:ext uri="{FF2B5EF4-FFF2-40B4-BE49-F238E27FC236}">
                <a16:creationId xmlns:a16="http://schemas.microsoft.com/office/drawing/2014/main" id="{26123874-1FD4-449A-B1FB-10B0A2FD57B6}"/>
              </a:ext>
            </a:extLst>
          </p:cNvPr>
          <p:cNvSpPr>
            <a:spLocks xmlns:a="http://schemas.openxmlformats.org/drawingml/2006/main" noGrp="1"/>
          </p:cNvSpPr>
          <p:nvPr/>
        </p:nvSpPr>
        <p:spPr>
          <a:xfrm xmlns:a="http://schemas.openxmlformats.org/drawingml/2006/main">
            <a:off x="400050" y="49911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comparison-bullet-9-1-text-4">
            <a:extLst xmlns:a="http://schemas.openxmlformats.org/drawingml/2006/main">
              <a:ext uri="{FF2B5EF4-FFF2-40B4-BE49-F238E27FC236}">
                <a16:creationId xmlns:a16="http://schemas.microsoft.com/office/drawing/2014/main" id="{44981364-318E-4BE8-AFE8-EB91C0AB7ADB}"/>
              </a:ext>
            </a:extLst>
          </p:cNvPr>
          <p:cNvSpPr>
            <a:spLocks xmlns:a="http://schemas.openxmlformats.org/drawingml/2006/main" noGrp="1"/>
          </p:cNvSpPr>
          <p:nvPr/>
        </p:nvSpPr>
        <p:spPr>
          <a:xfrm xmlns:a="http://schemas.openxmlformats.org/drawingml/2006/main">
            <a:off x="6286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Can be optimistic near risk.</a:t>
            </a:r>
          </a:p>
        </p:txBody>
      </p:sp>
      <p:cxnSp>
        <p:nvCxnSpPr>
          <p:cNvPr id="53" name="comparison-divider-9-1"/>
          <p:cNvCxnSpPr/>
          <p:nvPr/>
        </p:nvCxnSpPr>
        <p:spPr>
          <a:xfrm xmlns:a="http://schemas.openxmlformats.org/drawingml/2006/main">
            <a:off x="4146550" y="1657350"/>
            <a:ext cx="0" cy="3943350"/>
          </a:xfrm>
          <a:prstGeom xmlns:a="http://schemas.openxmlformats.org/drawingml/2006/main" prst="straightConnector1">
            <a:avLst/>
          </a:prstGeom>
          <a:ln xmlns:a="http://schemas.openxmlformats.org/drawingml/2006/main" w="9525">
            <a:solidFill>
              <a:srgbClr val="B8BCC4"/>
            </a:solidFill>
            <a:prstDash val="solid"/>
          </a:ln>
        </p:spPr>
      </p:cxnSp>
      <p:sp>
        <p:nvSpPr>
          <p:cNvPr id="17" name="comparison-title-9-2">
            <a:extLst xmlns:a="http://schemas.openxmlformats.org/drawingml/2006/main">
              <a:ext uri="{FF2B5EF4-FFF2-40B4-BE49-F238E27FC236}">
                <a16:creationId xmlns:a16="http://schemas.microsoft.com/office/drawing/2014/main" id="{99C0427B-5261-48FB-9F14-3A19C32F484F}"/>
              </a:ext>
            </a:extLst>
          </p:cNvPr>
          <p:cNvSpPr>
            <a:spLocks xmlns:a="http://schemas.openxmlformats.org/drawingml/2006/main" noGrp="1"/>
          </p:cNvSpPr>
          <p:nvPr/>
        </p:nvSpPr>
        <p:spPr>
          <a:xfrm xmlns:a="http://schemas.openxmlformats.org/drawingml/2006/main">
            <a:off x="42989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0B7A53"/>
                </a:solidFill>
                <a:latin typeface="Arial"/>
                <a:ea typeface="Arial"/>
                <a:cs typeface="Arial"/>
              </a:defRPr>
            </a:pPr>
            <a:r>
              <a:rPr sz="2025" b="1">
                <a:solidFill>
                  <a:srgbClr val="0B7A53"/>
                </a:solidFill>
                <a:latin typeface="Arial"/>
                <a:ea typeface="Arial"/>
                <a:cs typeface="Arial"/>
              </a:rPr>
              <a:t>SARSA</a:t>
            </a:r>
          </a:p>
        </p:txBody>
      </p:sp>
      <p:sp>
        <p:nvSpPr>
          <p:cNvPr id="18" name="comparison-tagline-9-2">
            <a:extLst xmlns:a="http://schemas.openxmlformats.org/drawingml/2006/main">
              <a:ext uri="{FF2B5EF4-FFF2-40B4-BE49-F238E27FC236}">
                <a16:creationId xmlns:a16="http://schemas.microsoft.com/office/drawing/2014/main" id="{4ECAE4B1-E40D-4937-9AF9-C6F3D5B52206}"/>
              </a:ext>
            </a:extLst>
          </p:cNvPr>
          <p:cNvSpPr>
            <a:spLocks xmlns:a="http://schemas.openxmlformats.org/drawingml/2006/main" noGrp="1"/>
          </p:cNvSpPr>
          <p:nvPr/>
        </p:nvSpPr>
        <p:spPr>
          <a:xfrm xmlns:a="http://schemas.openxmlformats.org/drawingml/2006/main">
            <a:off x="42989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On-policy</a:t>
            </a:r>
          </a:p>
        </p:txBody>
      </p:sp>
      <p:sp>
        <p:nvSpPr>
          <p:cNvPr id="19" name="comparison-bullet-9-2-marker-1">
            <a:extLst xmlns:a="http://schemas.openxmlformats.org/drawingml/2006/main">
              <a:ext uri="{FF2B5EF4-FFF2-40B4-BE49-F238E27FC236}">
                <a16:creationId xmlns:a16="http://schemas.microsoft.com/office/drawing/2014/main" id="{AA6CC19B-A8CE-4221-AC49-68FDCCAAEF11}"/>
              </a:ext>
            </a:extLst>
          </p:cNvPr>
          <p:cNvSpPr>
            <a:spLocks xmlns:a="http://schemas.openxmlformats.org/drawingml/2006/main" noGrp="1"/>
          </p:cNvSpPr>
          <p:nvPr/>
        </p:nvSpPr>
        <p:spPr>
          <a:xfrm xmlns:a="http://schemas.openxmlformats.org/drawingml/2006/main">
            <a:off x="4298950" y="299085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20" name="comparison-bullet-9-2-text-1">
            <a:extLst xmlns:a="http://schemas.openxmlformats.org/drawingml/2006/main">
              <a:ext uri="{FF2B5EF4-FFF2-40B4-BE49-F238E27FC236}">
                <a16:creationId xmlns:a16="http://schemas.microsoft.com/office/drawing/2014/main" id="{C1CD3F01-E3E1-46C7-8149-47E5C80527B1}"/>
              </a:ext>
            </a:extLst>
          </p:cNvPr>
          <p:cNvSpPr>
            <a:spLocks xmlns:a="http://schemas.openxmlformats.org/drawingml/2006/main" noGrp="1"/>
          </p:cNvSpPr>
          <p:nvPr/>
        </p:nvSpPr>
        <p:spPr>
          <a:xfrm xmlns:a="http://schemas.openxmlformats.org/drawingml/2006/main">
            <a:off x="45275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Target uses chosen next action.</a:t>
            </a:r>
          </a:p>
        </p:txBody>
      </p:sp>
      <p:sp>
        <p:nvSpPr>
          <p:cNvPr id="21" name="comparison-bullet-9-2-marker-2">
            <a:extLst xmlns:a="http://schemas.openxmlformats.org/drawingml/2006/main">
              <a:ext uri="{FF2B5EF4-FFF2-40B4-BE49-F238E27FC236}">
                <a16:creationId xmlns:a16="http://schemas.microsoft.com/office/drawing/2014/main" id="{E6071FB7-5D07-4706-B15A-5AD398CC240B}"/>
              </a:ext>
            </a:extLst>
          </p:cNvPr>
          <p:cNvSpPr>
            <a:spLocks xmlns:a="http://schemas.openxmlformats.org/drawingml/2006/main" noGrp="1"/>
          </p:cNvSpPr>
          <p:nvPr/>
        </p:nvSpPr>
        <p:spPr>
          <a:xfrm xmlns:a="http://schemas.openxmlformats.org/drawingml/2006/main">
            <a:off x="4298950" y="365760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22" name="comparison-bullet-9-2-text-2">
            <a:extLst xmlns:a="http://schemas.openxmlformats.org/drawingml/2006/main">
              <a:ext uri="{FF2B5EF4-FFF2-40B4-BE49-F238E27FC236}">
                <a16:creationId xmlns:a16="http://schemas.microsoft.com/office/drawing/2014/main" id="{F3CF099F-AE1B-4763-9C71-9FBF7E2B382A}"/>
              </a:ext>
            </a:extLst>
          </p:cNvPr>
          <p:cNvSpPr>
            <a:spLocks xmlns:a="http://schemas.openxmlformats.org/drawingml/2006/main" noGrp="1"/>
          </p:cNvSpPr>
          <p:nvPr/>
        </p:nvSpPr>
        <p:spPr>
          <a:xfrm xmlns:a="http://schemas.openxmlformats.org/drawingml/2006/main">
            <a:off x="45275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Learns epsilon-greedy behavior value.</a:t>
            </a:r>
          </a:p>
        </p:txBody>
      </p:sp>
      <p:sp>
        <p:nvSpPr>
          <p:cNvPr id="23" name="comparison-bullet-9-2-marker-3">
            <a:extLst xmlns:a="http://schemas.openxmlformats.org/drawingml/2006/main">
              <a:ext uri="{FF2B5EF4-FFF2-40B4-BE49-F238E27FC236}">
                <a16:creationId xmlns:a16="http://schemas.microsoft.com/office/drawing/2014/main" id="{B5C19889-9492-4CF9-A097-0BAE9AFE8D45}"/>
              </a:ext>
            </a:extLst>
          </p:cNvPr>
          <p:cNvSpPr>
            <a:spLocks xmlns:a="http://schemas.openxmlformats.org/drawingml/2006/main" noGrp="1"/>
          </p:cNvSpPr>
          <p:nvPr/>
        </p:nvSpPr>
        <p:spPr>
          <a:xfrm xmlns:a="http://schemas.openxmlformats.org/drawingml/2006/main">
            <a:off x="4298950" y="432435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24" name="comparison-bullet-9-2-text-3">
            <a:extLst xmlns:a="http://schemas.openxmlformats.org/drawingml/2006/main">
              <a:ext uri="{FF2B5EF4-FFF2-40B4-BE49-F238E27FC236}">
                <a16:creationId xmlns:a16="http://schemas.microsoft.com/office/drawing/2014/main" id="{D37EE2A7-4880-4FA5-8E43-0E939406A109}"/>
              </a:ext>
            </a:extLst>
          </p:cNvPr>
          <p:cNvSpPr>
            <a:spLocks xmlns:a="http://schemas.openxmlformats.org/drawingml/2006/main" noGrp="1"/>
          </p:cNvSpPr>
          <p:nvPr/>
        </p:nvSpPr>
        <p:spPr>
          <a:xfrm xmlns:a="http://schemas.openxmlformats.org/drawingml/2006/main">
            <a:off x="45275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Includes exploration consequences.</a:t>
            </a:r>
          </a:p>
        </p:txBody>
      </p:sp>
      <p:sp>
        <p:nvSpPr>
          <p:cNvPr id="25" name="comparison-bullet-9-2-marker-4">
            <a:extLst xmlns:a="http://schemas.openxmlformats.org/drawingml/2006/main">
              <a:ext uri="{FF2B5EF4-FFF2-40B4-BE49-F238E27FC236}">
                <a16:creationId xmlns:a16="http://schemas.microsoft.com/office/drawing/2014/main" id="{FA9CA59F-1175-4EE9-8D2D-243D745A7E56}"/>
              </a:ext>
            </a:extLst>
          </p:cNvPr>
          <p:cNvSpPr>
            <a:spLocks xmlns:a="http://schemas.openxmlformats.org/drawingml/2006/main" noGrp="1"/>
          </p:cNvSpPr>
          <p:nvPr/>
        </p:nvSpPr>
        <p:spPr>
          <a:xfrm xmlns:a="http://schemas.openxmlformats.org/drawingml/2006/main">
            <a:off x="4298950" y="499110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26" name="comparison-bullet-9-2-text-4">
            <a:extLst xmlns:a="http://schemas.openxmlformats.org/drawingml/2006/main">
              <a:ext uri="{FF2B5EF4-FFF2-40B4-BE49-F238E27FC236}">
                <a16:creationId xmlns:a16="http://schemas.microsoft.com/office/drawing/2014/main" id="{52D969AA-6723-4CD0-9C82-737AF402B25E}"/>
              </a:ext>
            </a:extLst>
          </p:cNvPr>
          <p:cNvSpPr>
            <a:spLocks xmlns:a="http://schemas.openxmlformats.org/drawingml/2006/main" noGrp="1"/>
          </p:cNvSpPr>
          <p:nvPr/>
        </p:nvSpPr>
        <p:spPr>
          <a:xfrm xmlns:a="http://schemas.openxmlformats.org/drawingml/2006/main">
            <a:off x="45275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Policy and data align.</a:t>
            </a:r>
          </a:p>
        </p:txBody>
      </p:sp>
      <p:cxnSp>
        <p:nvCxnSpPr>
          <p:cNvPr id="64" name="comparison-divider-9-2"/>
          <p:cNvCxnSpPr/>
          <p:nvPr/>
        </p:nvCxnSpPr>
        <p:spPr>
          <a:xfrm xmlns:a="http://schemas.openxmlformats.org/drawingml/2006/main">
            <a:off x="8045450" y="1657350"/>
            <a:ext cx="0" cy="3943350"/>
          </a:xfrm>
          <a:prstGeom xmlns:a="http://schemas.openxmlformats.org/drawingml/2006/main" prst="straightConnector1">
            <a:avLst/>
          </a:prstGeom>
          <a:ln xmlns:a="http://schemas.openxmlformats.org/drawingml/2006/main" w="9525">
            <a:solidFill>
              <a:srgbClr val="B8BCC4"/>
            </a:solidFill>
            <a:prstDash val="solid"/>
          </a:ln>
        </p:spPr>
      </p:cxnSp>
      <p:sp>
        <p:nvSpPr>
          <p:cNvPr id="28" name="comparison-title-9-3">
            <a:extLst xmlns:a="http://schemas.openxmlformats.org/drawingml/2006/main">
              <a:ext uri="{FF2B5EF4-FFF2-40B4-BE49-F238E27FC236}">
                <a16:creationId xmlns:a16="http://schemas.microsoft.com/office/drawing/2014/main" id="{4F942386-7664-4ABD-9F1E-F1F7585D07B8}"/>
              </a:ext>
            </a:extLst>
          </p:cNvPr>
          <p:cNvSpPr>
            <a:spLocks xmlns:a="http://schemas.openxmlformats.org/drawingml/2006/main" noGrp="1"/>
          </p:cNvSpPr>
          <p:nvPr/>
        </p:nvSpPr>
        <p:spPr>
          <a:xfrm xmlns:a="http://schemas.openxmlformats.org/drawingml/2006/main">
            <a:off x="81978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111111"/>
                </a:solidFill>
                <a:latin typeface="Arial"/>
                <a:ea typeface="Arial"/>
                <a:cs typeface="Arial"/>
              </a:defRPr>
            </a:pPr>
            <a:r>
              <a:rPr sz="2025" b="1">
                <a:solidFill>
                  <a:srgbClr val="111111"/>
                </a:solidFill>
                <a:latin typeface="Arial"/>
                <a:ea typeface="Arial"/>
                <a:cs typeface="Arial"/>
              </a:rPr>
              <a:t>Shared</a:t>
            </a:r>
          </a:p>
        </p:txBody>
      </p:sp>
      <p:sp>
        <p:nvSpPr>
          <p:cNvPr id="29" name="comparison-tagline-9-3">
            <a:extLst xmlns:a="http://schemas.openxmlformats.org/drawingml/2006/main">
              <a:ext uri="{FF2B5EF4-FFF2-40B4-BE49-F238E27FC236}">
                <a16:creationId xmlns:a16="http://schemas.microsoft.com/office/drawing/2014/main" id="{30691FD2-D83F-41F7-9439-57F9CD52FB1B}"/>
              </a:ext>
            </a:extLst>
          </p:cNvPr>
          <p:cNvSpPr>
            <a:spLocks xmlns:a="http://schemas.openxmlformats.org/drawingml/2006/main" noGrp="1"/>
          </p:cNvSpPr>
          <p:nvPr/>
        </p:nvSpPr>
        <p:spPr>
          <a:xfrm xmlns:a="http://schemas.openxmlformats.org/drawingml/2006/main">
            <a:off x="81978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TD control</a:t>
            </a:r>
          </a:p>
        </p:txBody>
      </p:sp>
      <p:sp>
        <p:nvSpPr>
          <p:cNvPr id="30" name="comparison-bullet-9-3-marker-1">
            <a:extLst xmlns:a="http://schemas.openxmlformats.org/drawingml/2006/main">
              <a:ext uri="{FF2B5EF4-FFF2-40B4-BE49-F238E27FC236}">
                <a16:creationId xmlns:a16="http://schemas.microsoft.com/office/drawing/2014/main" id="{735C4855-57D5-43B5-A24E-4638E4D2E6A9}"/>
              </a:ext>
            </a:extLst>
          </p:cNvPr>
          <p:cNvSpPr>
            <a:spLocks xmlns:a="http://schemas.openxmlformats.org/drawingml/2006/main" noGrp="1"/>
          </p:cNvSpPr>
          <p:nvPr/>
        </p:nvSpPr>
        <p:spPr>
          <a:xfrm xmlns:a="http://schemas.openxmlformats.org/drawingml/2006/main">
            <a:off x="8197850" y="299085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1" name="comparison-bullet-9-3-text-1">
            <a:extLst xmlns:a="http://schemas.openxmlformats.org/drawingml/2006/main">
              <a:ext uri="{FF2B5EF4-FFF2-40B4-BE49-F238E27FC236}">
                <a16:creationId xmlns:a16="http://schemas.microsoft.com/office/drawing/2014/main" id="{4998810E-EB03-49AB-B955-9520529D684C}"/>
              </a:ext>
            </a:extLst>
          </p:cNvPr>
          <p:cNvSpPr>
            <a:spLocks xmlns:a="http://schemas.openxmlformats.org/drawingml/2006/main" noGrp="1"/>
          </p:cNvSpPr>
          <p:nvPr/>
        </p:nvSpPr>
        <p:spPr>
          <a:xfrm xmlns:a="http://schemas.openxmlformats.org/drawingml/2006/main">
            <a:off x="84264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One-step bootstrap.</a:t>
            </a:r>
          </a:p>
        </p:txBody>
      </p:sp>
      <p:sp>
        <p:nvSpPr>
          <p:cNvPr id="32" name="comparison-bullet-9-3-marker-2">
            <a:extLst xmlns:a="http://schemas.openxmlformats.org/drawingml/2006/main">
              <a:ext uri="{FF2B5EF4-FFF2-40B4-BE49-F238E27FC236}">
                <a16:creationId xmlns:a16="http://schemas.microsoft.com/office/drawing/2014/main" id="{1ACCBD70-568D-415E-8020-0AC681C188E5}"/>
              </a:ext>
            </a:extLst>
          </p:cNvPr>
          <p:cNvSpPr>
            <a:spLocks xmlns:a="http://schemas.openxmlformats.org/drawingml/2006/main" noGrp="1"/>
          </p:cNvSpPr>
          <p:nvPr/>
        </p:nvSpPr>
        <p:spPr>
          <a:xfrm xmlns:a="http://schemas.openxmlformats.org/drawingml/2006/main">
            <a:off x="8197850" y="365760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3" name="comparison-bullet-9-3-text-2">
            <a:extLst xmlns:a="http://schemas.openxmlformats.org/drawingml/2006/main">
              <a:ext uri="{FF2B5EF4-FFF2-40B4-BE49-F238E27FC236}">
                <a16:creationId xmlns:a16="http://schemas.microsoft.com/office/drawing/2014/main" id="{17C53F5B-018C-41D6-9E90-EB934FF23E96}"/>
              </a:ext>
            </a:extLst>
          </p:cNvPr>
          <p:cNvSpPr>
            <a:spLocks xmlns:a="http://schemas.openxmlformats.org/drawingml/2006/main" noGrp="1"/>
          </p:cNvSpPr>
          <p:nvPr/>
        </p:nvSpPr>
        <p:spPr>
          <a:xfrm xmlns:a="http://schemas.openxmlformats.org/drawingml/2006/main">
            <a:off x="84264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Need learning rate.</a:t>
            </a:r>
          </a:p>
        </p:txBody>
      </p:sp>
      <p:sp>
        <p:nvSpPr>
          <p:cNvPr id="34" name="comparison-bullet-9-3-marker-3">
            <a:extLst xmlns:a="http://schemas.openxmlformats.org/drawingml/2006/main">
              <a:ext uri="{FF2B5EF4-FFF2-40B4-BE49-F238E27FC236}">
                <a16:creationId xmlns:a16="http://schemas.microsoft.com/office/drawing/2014/main" id="{22758678-0D41-48B1-AAB0-67762BB27388}"/>
              </a:ext>
            </a:extLst>
          </p:cNvPr>
          <p:cNvSpPr>
            <a:spLocks xmlns:a="http://schemas.openxmlformats.org/drawingml/2006/main" noGrp="1"/>
          </p:cNvSpPr>
          <p:nvPr/>
        </p:nvSpPr>
        <p:spPr>
          <a:xfrm xmlns:a="http://schemas.openxmlformats.org/drawingml/2006/main">
            <a:off x="8197850" y="432435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5" name="comparison-bullet-9-3-text-3">
            <a:extLst xmlns:a="http://schemas.openxmlformats.org/drawingml/2006/main">
              <a:ext uri="{FF2B5EF4-FFF2-40B4-BE49-F238E27FC236}">
                <a16:creationId xmlns:a16="http://schemas.microsoft.com/office/drawing/2014/main" id="{5A5FD452-7A28-47A5-A0CC-702EC99F7D50}"/>
              </a:ext>
            </a:extLst>
          </p:cNvPr>
          <p:cNvSpPr>
            <a:spLocks xmlns:a="http://schemas.openxmlformats.org/drawingml/2006/main" noGrp="1"/>
          </p:cNvSpPr>
          <p:nvPr/>
        </p:nvSpPr>
        <p:spPr>
          <a:xfrm xmlns:a="http://schemas.openxmlformats.org/drawingml/2006/main">
            <a:off x="84264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Need repeated coverage.</a:t>
            </a:r>
          </a:p>
        </p:txBody>
      </p:sp>
      <p:sp>
        <p:nvSpPr>
          <p:cNvPr id="36" name="comparison-bullet-9-3-marker-4">
            <a:extLst xmlns:a="http://schemas.openxmlformats.org/drawingml/2006/main">
              <a:ext uri="{FF2B5EF4-FFF2-40B4-BE49-F238E27FC236}">
                <a16:creationId xmlns:a16="http://schemas.microsoft.com/office/drawing/2014/main" id="{739A1D90-D3BF-4875-BC4C-BD825274D9DB}"/>
              </a:ext>
            </a:extLst>
          </p:cNvPr>
          <p:cNvSpPr>
            <a:spLocks xmlns:a="http://schemas.openxmlformats.org/drawingml/2006/main" noGrp="1"/>
          </p:cNvSpPr>
          <p:nvPr/>
        </p:nvSpPr>
        <p:spPr>
          <a:xfrm xmlns:a="http://schemas.openxmlformats.org/drawingml/2006/main">
            <a:off x="8197850" y="499110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7" name="comparison-bullet-9-3-text-4">
            <a:extLst xmlns:a="http://schemas.openxmlformats.org/drawingml/2006/main">
              <a:ext uri="{FF2B5EF4-FFF2-40B4-BE49-F238E27FC236}">
                <a16:creationId xmlns:a16="http://schemas.microsoft.com/office/drawing/2014/main" id="{DA4548B7-769B-4EEA-998C-F0CD43C89AC8}"/>
              </a:ext>
            </a:extLst>
          </p:cNvPr>
          <p:cNvSpPr>
            <a:spLocks xmlns:a="http://schemas.openxmlformats.org/drawingml/2006/main" noGrp="1"/>
          </p:cNvSpPr>
          <p:nvPr/>
        </p:nvSpPr>
        <p:spPr>
          <a:xfrm xmlns:a="http://schemas.openxmlformats.org/drawingml/2006/main">
            <a:off x="84264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Terminal target is reward.</a:t>
            </a:r>
          </a:p>
        </p:txBody>
      </p:sp>
    </p:spTree>
    <p:extLst>
      <p:ext uri="{BB962C8B-B14F-4D97-AF65-F5344CB8AC3E}">
        <p14:creationId xmlns:p14="http://schemas.microsoft.com/office/powerpoint/2010/main" val="93131848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title-10">
            <a:extLst xmlns:a="http://schemas.openxmlformats.org/drawingml/2006/main">
              <a:ext uri="{FF2B5EF4-FFF2-40B4-BE49-F238E27FC236}">
                <a16:creationId xmlns:a16="http://schemas.microsoft.com/office/drawing/2014/main" id="{680E23BD-AA9D-47BF-8184-C2EC5FAF831E}"/>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Checkpoint: compute a terminal update</a:t>
            </a:r>
          </a:p>
        </p:txBody>
      </p:sp>
      <p:sp>
        <p:nvSpPr>
          <p:cNvPr id="2" name="title-accent-10">
            <a:extLst xmlns:a="http://schemas.openxmlformats.org/drawingml/2006/main">
              <a:ext uri="{FF2B5EF4-FFF2-40B4-BE49-F238E27FC236}">
                <a16:creationId xmlns:a16="http://schemas.microsoft.com/office/drawing/2014/main" id="{75AAC65E-E886-4D59-A8DE-4B5DED98BF72}"/>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7" name="title-rule-10"/>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0">
            <a:extLst xmlns:a="http://schemas.openxmlformats.org/drawingml/2006/main">
              <a:ext uri="{FF2B5EF4-FFF2-40B4-BE49-F238E27FC236}">
                <a16:creationId xmlns:a16="http://schemas.microsoft.com/office/drawing/2014/main" id="{DF9AC33F-7DFE-4D13-BE7F-878CA0251974}"/>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5  |  Lesson 2</a:t>
            </a:r>
          </a:p>
        </p:txBody>
      </p:sp>
      <p:sp>
        <p:nvSpPr>
          <p:cNvPr id="5" name="footer-number-10">
            <a:extLst xmlns:a="http://schemas.openxmlformats.org/drawingml/2006/main">
              <a:ext uri="{FF2B5EF4-FFF2-40B4-BE49-F238E27FC236}">
                <a16:creationId xmlns:a16="http://schemas.microsoft.com/office/drawing/2014/main" id="{F5DE4572-2F7F-4939-AFD6-F51EE8B32A82}"/>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10</a:t>
            </a:r>
          </a:p>
        </p:txBody>
      </p:sp>
      <p:sp>
        <p:nvSpPr>
          <p:cNvPr id="6" name="checkpoint-label-10">
            <a:extLst xmlns:a="http://schemas.openxmlformats.org/drawingml/2006/main">
              <a:ext uri="{FF2B5EF4-FFF2-40B4-BE49-F238E27FC236}">
                <a16:creationId xmlns:a16="http://schemas.microsoft.com/office/drawing/2014/main" id="{63A02DD5-5D49-4BB6-9A45-6FFF863C48D1}"/>
              </a:ext>
            </a:extLst>
          </p:cNvPr>
          <p:cNvSpPr>
            <a:spLocks xmlns:a="http://schemas.openxmlformats.org/drawingml/2006/main" noGrp="1"/>
          </p:cNvSpPr>
          <p:nvPr/>
        </p:nvSpPr>
        <p:spPr>
          <a:xfrm xmlns:a="http://schemas.openxmlformats.org/drawingml/2006/main">
            <a:off x="400050" y="1590675"/>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3D8DFF"/>
                </a:solidFill>
                <a:latin typeface="Arial"/>
                <a:ea typeface="Arial"/>
                <a:cs typeface="Arial"/>
              </a:defRPr>
            </a:pPr>
            <a:r>
              <a:rPr sz="1275" b="1">
                <a:solidFill>
                  <a:srgbClr val="3D8DFF"/>
                </a:solidFill>
                <a:latin typeface="Arial"/>
                <a:ea typeface="Arial"/>
                <a:cs typeface="Arial"/>
              </a:rPr>
              <a:t>CHECKPOINT</a:t>
            </a:r>
          </a:p>
        </p:txBody>
      </p:sp>
      <p:sp>
        <p:nvSpPr>
          <p:cNvPr id="7" name="checkpoint-question-10">
            <a:extLst xmlns:a="http://schemas.openxmlformats.org/drawingml/2006/main">
              <a:ext uri="{FF2B5EF4-FFF2-40B4-BE49-F238E27FC236}">
                <a16:creationId xmlns:a16="http://schemas.microsoft.com/office/drawing/2014/main" id="{31CCAEE3-0E11-4154-87F4-5414FF03947A}"/>
              </a:ext>
            </a:extLst>
          </p:cNvPr>
          <p:cNvSpPr>
            <a:spLocks xmlns:a="http://schemas.openxmlformats.org/drawingml/2006/main" noGrp="1"/>
          </p:cNvSpPr>
          <p:nvPr/>
        </p:nvSpPr>
        <p:spPr>
          <a:xfrm xmlns:a="http://schemas.openxmlformats.org/drawingml/2006/main">
            <a:off x="400050" y="2047875"/>
            <a:ext cx="10668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150" b="1">
                <a:solidFill>
                  <a:srgbClr val="111111"/>
                </a:solidFill>
                <a:latin typeface="Arial"/>
                <a:ea typeface="Arial"/>
                <a:cs typeface="Arial"/>
              </a:defRPr>
            </a:pPr>
            <a:r>
              <a:rPr sz="3150" b="1">
                <a:solidFill>
                  <a:srgbClr val="111111"/>
                </a:solidFill>
                <a:latin typeface="Arial"/>
                <a:ea typeface="Arial"/>
                <a:cs typeface="Arial"/>
              </a:rPr>
              <a:t>Q(s,a)=5, terminal reward=1, alpha=0.2, gamma=0.99. What is the new Q value?</a:t>
            </a:r>
          </a:p>
        </p:txBody>
      </p:sp>
      <p:cxnSp>
        <p:nvCxnSpPr>
          <p:cNvPr id="22" name="checkpoint-rule-10"/>
          <p:cNvCxnSpPr/>
          <p:nvPr/>
        </p:nvCxnSpPr>
        <p:spPr>
          <a:xfrm xmlns:a="http://schemas.openxmlformats.org/drawingml/2006/main">
            <a:off x="400050" y="3971925"/>
            <a:ext cx="11391900" cy="0"/>
          </a:xfrm>
          <a:prstGeom xmlns:a="http://schemas.openxmlformats.org/drawingml/2006/main" prst="straightConnector1">
            <a:avLst/>
          </a:prstGeom>
          <a:ln xmlns:a="http://schemas.openxmlformats.org/drawingml/2006/main" w="9525">
            <a:solidFill>
              <a:srgbClr val="B8BCC4"/>
            </a:solidFill>
            <a:prstDash val="solid"/>
          </a:ln>
        </p:spPr>
      </p:cxnSp>
      <p:sp>
        <p:nvSpPr>
          <p:cNvPr id="9" name="checkpoint-prompt-number-10-1">
            <a:extLst xmlns:a="http://schemas.openxmlformats.org/drawingml/2006/main">
              <a:ext uri="{FF2B5EF4-FFF2-40B4-BE49-F238E27FC236}">
                <a16:creationId xmlns:a16="http://schemas.microsoft.com/office/drawing/2014/main" id="{231F7294-561B-4B76-9048-F05A39D0A08C}"/>
              </a:ext>
            </a:extLst>
          </p:cNvPr>
          <p:cNvSpPr>
            <a:spLocks xmlns:a="http://schemas.openxmlformats.org/drawingml/2006/main" noGrp="1"/>
          </p:cNvSpPr>
          <p:nvPr/>
        </p:nvSpPr>
        <p:spPr>
          <a:xfrm xmlns:a="http://schemas.openxmlformats.org/drawingml/2006/main">
            <a:off x="40005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01</a:t>
            </a:r>
          </a:p>
        </p:txBody>
      </p:sp>
      <p:sp>
        <p:nvSpPr>
          <p:cNvPr id="10" name="checkpoint-prompt-10-1">
            <a:extLst xmlns:a="http://schemas.openxmlformats.org/drawingml/2006/main">
              <a:ext uri="{FF2B5EF4-FFF2-40B4-BE49-F238E27FC236}">
                <a16:creationId xmlns:a16="http://schemas.microsoft.com/office/drawing/2014/main" id="{DCA94B96-2D6F-4656-98FC-DBCA7ACBE7C3}"/>
              </a:ext>
            </a:extLst>
          </p:cNvPr>
          <p:cNvSpPr>
            <a:spLocks xmlns:a="http://schemas.openxmlformats.org/drawingml/2006/main" noGrp="1"/>
          </p:cNvSpPr>
          <p:nvPr/>
        </p:nvSpPr>
        <p:spPr>
          <a:xfrm xmlns:a="http://schemas.openxmlformats.org/drawingml/2006/main">
            <a:off x="40005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Remove future bootstrap.</a:t>
            </a:r>
          </a:p>
        </p:txBody>
      </p:sp>
      <p:sp>
        <p:nvSpPr>
          <p:cNvPr id="11" name="checkpoint-prompt-number-10-2">
            <a:extLst xmlns:a="http://schemas.openxmlformats.org/drawingml/2006/main">
              <a:ext uri="{FF2B5EF4-FFF2-40B4-BE49-F238E27FC236}">
                <a16:creationId xmlns:a16="http://schemas.microsoft.com/office/drawing/2014/main" id="{5DC450BC-6DF3-4B78-AF93-C18602571F08}"/>
              </a:ext>
            </a:extLst>
          </p:cNvPr>
          <p:cNvSpPr>
            <a:spLocks xmlns:a="http://schemas.openxmlformats.org/drawingml/2006/main" noGrp="1"/>
          </p:cNvSpPr>
          <p:nvPr/>
        </p:nvSpPr>
        <p:spPr>
          <a:xfrm xmlns:a="http://schemas.openxmlformats.org/drawingml/2006/main">
            <a:off x="426720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02</a:t>
            </a:r>
          </a:p>
        </p:txBody>
      </p:sp>
      <p:sp>
        <p:nvSpPr>
          <p:cNvPr id="12" name="checkpoint-prompt-10-2">
            <a:extLst xmlns:a="http://schemas.openxmlformats.org/drawingml/2006/main">
              <a:ext uri="{FF2B5EF4-FFF2-40B4-BE49-F238E27FC236}">
                <a16:creationId xmlns:a16="http://schemas.microsoft.com/office/drawing/2014/main" id="{8D6BD77A-109D-48B9-8FDC-7973D14809F1}"/>
              </a:ext>
            </a:extLst>
          </p:cNvPr>
          <p:cNvSpPr>
            <a:spLocks xmlns:a="http://schemas.openxmlformats.org/drawingml/2006/main" noGrp="1"/>
          </p:cNvSpPr>
          <p:nvPr/>
        </p:nvSpPr>
        <p:spPr>
          <a:xfrm xmlns:a="http://schemas.openxmlformats.org/drawingml/2006/main">
            <a:off x="426720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Compute error 1-5.</a:t>
            </a:r>
          </a:p>
        </p:txBody>
      </p:sp>
      <p:sp>
        <p:nvSpPr>
          <p:cNvPr id="13" name="checkpoint-prompt-number-10-3">
            <a:extLst xmlns:a="http://schemas.openxmlformats.org/drawingml/2006/main">
              <a:ext uri="{FF2B5EF4-FFF2-40B4-BE49-F238E27FC236}">
                <a16:creationId xmlns:a16="http://schemas.microsoft.com/office/drawing/2014/main" id="{84A1DF95-F982-4C1C-A7CE-4DD9FF6DB932}"/>
              </a:ext>
            </a:extLst>
          </p:cNvPr>
          <p:cNvSpPr>
            <a:spLocks xmlns:a="http://schemas.openxmlformats.org/drawingml/2006/main" noGrp="1"/>
          </p:cNvSpPr>
          <p:nvPr/>
        </p:nvSpPr>
        <p:spPr>
          <a:xfrm xmlns:a="http://schemas.openxmlformats.org/drawingml/2006/main">
            <a:off x="813435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03</a:t>
            </a:r>
          </a:p>
        </p:txBody>
      </p:sp>
      <p:sp>
        <p:nvSpPr>
          <p:cNvPr id="14" name="checkpoint-prompt-10-3">
            <a:extLst xmlns:a="http://schemas.openxmlformats.org/drawingml/2006/main">
              <a:ext uri="{FF2B5EF4-FFF2-40B4-BE49-F238E27FC236}">
                <a16:creationId xmlns:a16="http://schemas.microsoft.com/office/drawing/2014/main" id="{0B8B6676-6C43-4F8A-88D7-074E87712154}"/>
              </a:ext>
            </a:extLst>
          </p:cNvPr>
          <p:cNvSpPr>
            <a:spLocks xmlns:a="http://schemas.openxmlformats.org/drawingml/2006/main" noGrp="1"/>
          </p:cNvSpPr>
          <p:nvPr/>
        </p:nvSpPr>
        <p:spPr>
          <a:xfrm xmlns:a="http://schemas.openxmlformats.org/drawingml/2006/main">
            <a:off x="813435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Apply alpha.</a:t>
            </a:r>
          </a:p>
        </p:txBody>
      </p:sp>
    </p:spTree>
    <p:extLst>
      <p:ext uri="{BB962C8B-B14F-4D97-AF65-F5344CB8AC3E}">
        <p14:creationId xmlns:p14="http://schemas.microsoft.com/office/powerpoint/2010/main" val="180273341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lide-title-11">
            <a:extLst xmlns:a="http://schemas.openxmlformats.org/drawingml/2006/main">
              <a:ext uri="{FF2B5EF4-FFF2-40B4-BE49-F238E27FC236}">
                <a16:creationId xmlns:a16="http://schemas.microsoft.com/office/drawing/2014/main" id="{59870062-BE6B-47D2-B81F-0F0761368E98}"/>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Epsilon-greedy must define exploration and ties</a:t>
            </a:r>
          </a:p>
        </p:txBody>
      </p:sp>
      <p:sp>
        <p:nvSpPr>
          <p:cNvPr id="2" name="title-accent-11">
            <a:extLst xmlns:a="http://schemas.openxmlformats.org/drawingml/2006/main">
              <a:ext uri="{FF2B5EF4-FFF2-40B4-BE49-F238E27FC236}">
                <a16:creationId xmlns:a16="http://schemas.microsoft.com/office/drawing/2014/main" id="{FFA0F488-2DDA-47F6-B6F6-34876010C636}"/>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7" name="title-rule-11"/>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1">
            <a:extLst xmlns:a="http://schemas.openxmlformats.org/drawingml/2006/main">
              <a:ext uri="{FF2B5EF4-FFF2-40B4-BE49-F238E27FC236}">
                <a16:creationId xmlns:a16="http://schemas.microsoft.com/office/drawing/2014/main" id="{81B00E08-F82D-4432-9BEF-559E31C1943F}"/>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5  |  Lesson 2</a:t>
            </a:r>
          </a:p>
        </p:txBody>
      </p:sp>
      <p:sp>
        <p:nvSpPr>
          <p:cNvPr id="5" name="footer-number-11">
            <a:extLst xmlns:a="http://schemas.openxmlformats.org/drawingml/2006/main">
              <a:ext uri="{FF2B5EF4-FFF2-40B4-BE49-F238E27FC236}">
                <a16:creationId xmlns:a16="http://schemas.microsoft.com/office/drawing/2014/main" id="{6261D31D-6F7C-4985-9611-D7425E8DD8D6}"/>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11</a:t>
            </a:r>
          </a:p>
        </p:txBody>
      </p:sp>
      <p:cxnSp>
        <p:nvCxnSpPr>
          <p:cNvPr id="30" name="column-divider-11"/>
          <p:cNvCxnSpPr/>
          <p:nvPr/>
        </p:nvCxnSpPr>
        <p:spPr>
          <a:xfrm xmlns:a="http://schemas.openxmlformats.org/drawingml/2006/main">
            <a:off x="6096000" y="1638300"/>
            <a:ext cx="0" cy="4095750"/>
          </a:xfrm>
          <a:prstGeom xmlns:a="http://schemas.openxmlformats.org/drawingml/2006/main" prst="straightConnector1">
            <a:avLst/>
          </a:prstGeom>
          <a:ln xmlns:a="http://schemas.openxmlformats.org/drawingml/2006/main" w="9525">
            <a:solidFill>
              <a:srgbClr val="B8BCC4"/>
            </a:solidFill>
            <a:prstDash val="solid"/>
          </a:ln>
        </p:spPr>
      </p:cxnSp>
      <p:sp>
        <p:nvSpPr>
          <p:cNvPr id="7" name="left-title-11">
            <a:extLst xmlns:a="http://schemas.openxmlformats.org/drawingml/2006/main">
              <a:ext uri="{FF2B5EF4-FFF2-40B4-BE49-F238E27FC236}">
                <a16:creationId xmlns:a16="http://schemas.microsoft.com/office/drawing/2014/main" id="{8FB8FDBF-F7EA-4191-82E7-A42712E4EC2C}"/>
              </a:ext>
            </a:extLst>
          </p:cNvPr>
          <p:cNvSpPr>
            <a:spLocks xmlns:a="http://schemas.openxmlformats.org/drawingml/2006/main" noGrp="1"/>
          </p:cNvSpPr>
          <p:nvPr/>
        </p:nvSpPr>
        <p:spPr>
          <a:xfrm xmlns:a="http://schemas.openxmlformats.org/drawingml/2006/main">
            <a:off x="400050" y="1571625"/>
            <a:ext cx="523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Exploration branch</a:t>
            </a:r>
          </a:p>
        </p:txBody>
      </p:sp>
      <p:sp>
        <p:nvSpPr>
          <p:cNvPr id="8" name="right-title-11">
            <a:extLst xmlns:a="http://schemas.openxmlformats.org/drawingml/2006/main">
              <a:ext uri="{FF2B5EF4-FFF2-40B4-BE49-F238E27FC236}">
                <a16:creationId xmlns:a16="http://schemas.microsoft.com/office/drawing/2014/main" id="{C983C83A-ADD6-46E5-B343-7E2AD2283530}"/>
              </a:ext>
            </a:extLst>
          </p:cNvPr>
          <p:cNvSpPr>
            <a:spLocks xmlns:a="http://schemas.openxmlformats.org/drawingml/2006/main" noGrp="1"/>
          </p:cNvSpPr>
          <p:nvPr/>
        </p:nvSpPr>
        <p:spPr>
          <a:xfrm xmlns:a="http://schemas.openxmlformats.org/drawingml/2006/main">
            <a:off x="6496050" y="1571625"/>
            <a:ext cx="523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Greedy branch</a:t>
            </a:r>
          </a:p>
        </p:txBody>
      </p:sp>
      <p:sp>
        <p:nvSpPr>
          <p:cNvPr id="9" name="left-bullet-11-marker-1">
            <a:extLst xmlns:a="http://schemas.openxmlformats.org/drawingml/2006/main">
              <a:ext uri="{FF2B5EF4-FFF2-40B4-BE49-F238E27FC236}">
                <a16:creationId xmlns:a16="http://schemas.microsoft.com/office/drawing/2014/main" id="{E62F58A4-C185-496A-B9D1-2A06061135A8}"/>
              </a:ext>
            </a:extLst>
          </p:cNvPr>
          <p:cNvSpPr>
            <a:spLocks xmlns:a="http://schemas.openxmlformats.org/drawingml/2006/main" noGrp="1"/>
          </p:cNvSpPr>
          <p:nvPr/>
        </p:nvSpPr>
        <p:spPr>
          <a:xfrm xmlns:a="http://schemas.openxmlformats.org/drawingml/2006/main">
            <a:off x="400050" y="23717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left-bullet-11-text-1">
            <a:extLst xmlns:a="http://schemas.openxmlformats.org/drawingml/2006/main">
              <a:ext uri="{FF2B5EF4-FFF2-40B4-BE49-F238E27FC236}">
                <a16:creationId xmlns:a16="http://schemas.microsoft.com/office/drawing/2014/main" id="{77987779-EE12-4BED-BD21-235B53F8EF75}"/>
              </a:ext>
            </a:extLst>
          </p:cNvPr>
          <p:cNvSpPr>
            <a:spLocks xmlns:a="http://schemas.openxmlformats.org/drawingml/2006/main" noGrp="1"/>
          </p:cNvSpPr>
          <p:nvPr/>
        </p:nvSpPr>
        <p:spPr>
          <a:xfrm xmlns:a="http://schemas.openxmlformats.org/drawingml/2006/main">
            <a:off x="628650" y="22860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Occurs with probability epsilon.</a:t>
            </a:r>
          </a:p>
        </p:txBody>
      </p:sp>
      <p:sp>
        <p:nvSpPr>
          <p:cNvPr id="11" name="left-bullet-11-marker-2">
            <a:extLst xmlns:a="http://schemas.openxmlformats.org/drawingml/2006/main">
              <a:ext uri="{FF2B5EF4-FFF2-40B4-BE49-F238E27FC236}">
                <a16:creationId xmlns:a16="http://schemas.microsoft.com/office/drawing/2014/main" id="{6431FED1-3196-4816-9883-4E7EB8AC8D5A}"/>
              </a:ext>
            </a:extLst>
          </p:cNvPr>
          <p:cNvSpPr>
            <a:spLocks xmlns:a="http://schemas.openxmlformats.org/drawingml/2006/main" noGrp="1"/>
          </p:cNvSpPr>
          <p:nvPr/>
        </p:nvSpPr>
        <p:spPr>
          <a:xfrm xmlns:a="http://schemas.openxmlformats.org/drawingml/2006/main">
            <a:off x="400050" y="30765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left-bullet-11-text-2">
            <a:extLst xmlns:a="http://schemas.openxmlformats.org/drawingml/2006/main">
              <a:ext uri="{FF2B5EF4-FFF2-40B4-BE49-F238E27FC236}">
                <a16:creationId xmlns:a16="http://schemas.microsoft.com/office/drawing/2014/main" id="{025890F1-EA1A-4EE8-8E91-D23C0C429DE7}"/>
              </a:ext>
            </a:extLst>
          </p:cNvPr>
          <p:cNvSpPr>
            <a:spLocks xmlns:a="http://schemas.openxmlformats.org/drawingml/2006/main" noGrp="1"/>
          </p:cNvSpPr>
          <p:nvPr/>
        </p:nvSpPr>
        <p:spPr>
          <a:xfrm xmlns:a="http://schemas.openxmlformats.org/drawingml/2006/main">
            <a:off x="628650" y="29908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Sample uniformly or by documented rule.</a:t>
            </a:r>
          </a:p>
        </p:txBody>
      </p:sp>
      <p:sp>
        <p:nvSpPr>
          <p:cNvPr id="13" name="left-bullet-11-marker-3">
            <a:extLst xmlns:a="http://schemas.openxmlformats.org/drawingml/2006/main">
              <a:ext uri="{FF2B5EF4-FFF2-40B4-BE49-F238E27FC236}">
                <a16:creationId xmlns:a16="http://schemas.microsoft.com/office/drawing/2014/main" id="{4851FE0C-7A69-494C-B053-F0DF589306DE}"/>
              </a:ext>
            </a:extLst>
          </p:cNvPr>
          <p:cNvSpPr>
            <a:spLocks xmlns:a="http://schemas.openxmlformats.org/drawingml/2006/main" noGrp="1"/>
          </p:cNvSpPr>
          <p:nvPr/>
        </p:nvSpPr>
        <p:spPr>
          <a:xfrm xmlns:a="http://schemas.openxmlformats.org/drawingml/2006/main">
            <a:off x="400050" y="37814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left-bullet-11-text-3">
            <a:extLst xmlns:a="http://schemas.openxmlformats.org/drawingml/2006/main">
              <a:ext uri="{FF2B5EF4-FFF2-40B4-BE49-F238E27FC236}">
                <a16:creationId xmlns:a16="http://schemas.microsoft.com/office/drawing/2014/main" id="{BEA809F3-1EB0-43F2-9A33-557CC3FF4FB7}"/>
              </a:ext>
            </a:extLst>
          </p:cNvPr>
          <p:cNvSpPr>
            <a:spLocks xmlns:a="http://schemas.openxmlformats.org/drawingml/2006/main" noGrp="1"/>
          </p:cNvSpPr>
          <p:nvPr/>
        </p:nvSpPr>
        <p:spPr>
          <a:xfrm xmlns:a="http://schemas.openxmlformats.org/drawingml/2006/main">
            <a:off x="628650" y="36957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Can choose the current greedy action too.</a:t>
            </a:r>
          </a:p>
        </p:txBody>
      </p:sp>
      <p:sp>
        <p:nvSpPr>
          <p:cNvPr id="15" name="left-bullet-11-marker-4">
            <a:extLst xmlns:a="http://schemas.openxmlformats.org/drawingml/2006/main">
              <a:ext uri="{FF2B5EF4-FFF2-40B4-BE49-F238E27FC236}">
                <a16:creationId xmlns:a16="http://schemas.microsoft.com/office/drawing/2014/main" id="{732B0488-E711-44A9-BE6C-D44F18EABCD1}"/>
              </a:ext>
            </a:extLst>
          </p:cNvPr>
          <p:cNvSpPr>
            <a:spLocks xmlns:a="http://schemas.openxmlformats.org/drawingml/2006/main" noGrp="1"/>
          </p:cNvSpPr>
          <p:nvPr/>
        </p:nvSpPr>
        <p:spPr>
          <a:xfrm xmlns:a="http://schemas.openxmlformats.org/drawingml/2006/main">
            <a:off x="400050" y="44862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left-bullet-11-text-4">
            <a:extLst xmlns:a="http://schemas.openxmlformats.org/drawingml/2006/main">
              <a:ext uri="{FF2B5EF4-FFF2-40B4-BE49-F238E27FC236}">
                <a16:creationId xmlns:a16="http://schemas.microsoft.com/office/drawing/2014/main" id="{22EBE9FA-39D4-4092-B1B3-5A03400D6AB6}"/>
              </a:ext>
            </a:extLst>
          </p:cNvPr>
          <p:cNvSpPr>
            <a:spLocks xmlns:a="http://schemas.openxmlformats.org/drawingml/2006/main" noGrp="1"/>
          </p:cNvSpPr>
          <p:nvPr/>
        </p:nvSpPr>
        <p:spPr>
          <a:xfrm xmlns:a="http://schemas.openxmlformats.org/drawingml/2006/main">
            <a:off x="628650" y="44005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Improves state-action coverage.</a:t>
            </a:r>
          </a:p>
        </p:txBody>
      </p:sp>
      <p:sp>
        <p:nvSpPr>
          <p:cNvPr id="17" name="right-bullet-11-marker-1">
            <a:extLst xmlns:a="http://schemas.openxmlformats.org/drawingml/2006/main">
              <a:ext uri="{FF2B5EF4-FFF2-40B4-BE49-F238E27FC236}">
                <a16:creationId xmlns:a16="http://schemas.microsoft.com/office/drawing/2014/main" id="{F0003301-1E44-4D9F-BD82-51CC91ED07A4}"/>
              </a:ext>
            </a:extLst>
          </p:cNvPr>
          <p:cNvSpPr>
            <a:spLocks xmlns:a="http://schemas.openxmlformats.org/drawingml/2006/main" noGrp="1"/>
          </p:cNvSpPr>
          <p:nvPr/>
        </p:nvSpPr>
        <p:spPr>
          <a:xfrm xmlns:a="http://schemas.openxmlformats.org/drawingml/2006/main">
            <a:off x="6496050" y="23717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8" name="right-bullet-11-text-1">
            <a:extLst xmlns:a="http://schemas.openxmlformats.org/drawingml/2006/main">
              <a:ext uri="{FF2B5EF4-FFF2-40B4-BE49-F238E27FC236}">
                <a16:creationId xmlns:a16="http://schemas.microsoft.com/office/drawing/2014/main" id="{446EECA4-55BA-4741-B6B9-567F80EB2B5F}"/>
              </a:ext>
            </a:extLst>
          </p:cNvPr>
          <p:cNvSpPr>
            <a:spLocks xmlns:a="http://schemas.openxmlformats.org/drawingml/2006/main" noGrp="1"/>
          </p:cNvSpPr>
          <p:nvPr/>
        </p:nvSpPr>
        <p:spPr>
          <a:xfrm xmlns:a="http://schemas.openxmlformats.org/drawingml/2006/main">
            <a:off x="6724650" y="22860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Occurs with probability 1-epsilon.</a:t>
            </a:r>
          </a:p>
        </p:txBody>
      </p:sp>
      <p:sp>
        <p:nvSpPr>
          <p:cNvPr id="19" name="right-bullet-11-marker-2">
            <a:extLst xmlns:a="http://schemas.openxmlformats.org/drawingml/2006/main">
              <a:ext uri="{FF2B5EF4-FFF2-40B4-BE49-F238E27FC236}">
                <a16:creationId xmlns:a16="http://schemas.microsoft.com/office/drawing/2014/main" id="{8DC7D10C-0BD8-4B20-BBEE-ECAB3645A3CB}"/>
              </a:ext>
            </a:extLst>
          </p:cNvPr>
          <p:cNvSpPr>
            <a:spLocks xmlns:a="http://schemas.openxmlformats.org/drawingml/2006/main" noGrp="1"/>
          </p:cNvSpPr>
          <p:nvPr/>
        </p:nvSpPr>
        <p:spPr>
          <a:xfrm xmlns:a="http://schemas.openxmlformats.org/drawingml/2006/main">
            <a:off x="6496050" y="30765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0" name="right-bullet-11-text-2">
            <a:extLst xmlns:a="http://schemas.openxmlformats.org/drawingml/2006/main">
              <a:ext uri="{FF2B5EF4-FFF2-40B4-BE49-F238E27FC236}">
                <a16:creationId xmlns:a16="http://schemas.microsoft.com/office/drawing/2014/main" id="{ED25B3DA-3E07-4AA5-A7C8-FD062C377D3A}"/>
              </a:ext>
            </a:extLst>
          </p:cNvPr>
          <p:cNvSpPr>
            <a:spLocks xmlns:a="http://schemas.openxmlformats.org/drawingml/2006/main" noGrp="1"/>
          </p:cNvSpPr>
          <p:nvPr/>
        </p:nvSpPr>
        <p:spPr>
          <a:xfrm xmlns:a="http://schemas.openxmlformats.org/drawingml/2006/main">
            <a:off x="6724650" y="29908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Choose an argmax action.</a:t>
            </a:r>
          </a:p>
        </p:txBody>
      </p:sp>
      <p:sp>
        <p:nvSpPr>
          <p:cNvPr id="21" name="right-bullet-11-marker-3">
            <a:extLst xmlns:a="http://schemas.openxmlformats.org/drawingml/2006/main">
              <a:ext uri="{FF2B5EF4-FFF2-40B4-BE49-F238E27FC236}">
                <a16:creationId xmlns:a16="http://schemas.microsoft.com/office/drawing/2014/main" id="{7C5D6B64-AEDB-4D51-A338-0F2F459443FB}"/>
              </a:ext>
            </a:extLst>
          </p:cNvPr>
          <p:cNvSpPr>
            <a:spLocks xmlns:a="http://schemas.openxmlformats.org/drawingml/2006/main" noGrp="1"/>
          </p:cNvSpPr>
          <p:nvPr/>
        </p:nvSpPr>
        <p:spPr>
          <a:xfrm xmlns:a="http://schemas.openxmlformats.org/drawingml/2006/main">
            <a:off x="6496050" y="37814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2" name="right-bullet-11-text-3">
            <a:extLst xmlns:a="http://schemas.openxmlformats.org/drawingml/2006/main">
              <a:ext uri="{FF2B5EF4-FFF2-40B4-BE49-F238E27FC236}">
                <a16:creationId xmlns:a16="http://schemas.microsoft.com/office/drawing/2014/main" id="{4DF8A127-7D1F-49DD-815D-29C2B6E817CA}"/>
              </a:ext>
            </a:extLst>
          </p:cNvPr>
          <p:cNvSpPr>
            <a:spLocks xmlns:a="http://schemas.openxmlformats.org/drawingml/2006/main" noGrp="1"/>
          </p:cNvSpPr>
          <p:nvPr/>
        </p:nvSpPr>
        <p:spPr>
          <a:xfrm xmlns:a="http://schemas.openxmlformats.org/drawingml/2006/main">
            <a:off x="6724650" y="36957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Tie handling changes behavior.</a:t>
            </a:r>
          </a:p>
        </p:txBody>
      </p:sp>
      <p:sp>
        <p:nvSpPr>
          <p:cNvPr id="23" name="right-bullet-11-marker-4">
            <a:extLst xmlns:a="http://schemas.openxmlformats.org/drawingml/2006/main">
              <a:ext uri="{FF2B5EF4-FFF2-40B4-BE49-F238E27FC236}">
                <a16:creationId xmlns:a16="http://schemas.microsoft.com/office/drawing/2014/main" id="{183A97E1-03DB-4F10-98E0-A097BD9BBF53}"/>
              </a:ext>
            </a:extLst>
          </p:cNvPr>
          <p:cNvSpPr>
            <a:spLocks xmlns:a="http://schemas.openxmlformats.org/drawingml/2006/main" noGrp="1"/>
          </p:cNvSpPr>
          <p:nvPr/>
        </p:nvSpPr>
        <p:spPr>
          <a:xfrm xmlns:a="http://schemas.openxmlformats.org/drawingml/2006/main">
            <a:off x="6496050" y="44862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4" name="right-bullet-11-text-4">
            <a:extLst xmlns:a="http://schemas.openxmlformats.org/drawingml/2006/main">
              <a:ext uri="{FF2B5EF4-FFF2-40B4-BE49-F238E27FC236}">
                <a16:creationId xmlns:a16="http://schemas.microsoft.com/office/drawing/2014/main" id="{0F51EFE1-C741-45A8-AD02-E4D3DB31E9C5}"/>
              </a:ext>
            </a:extLst>
          </p:cNvPr>
          <p:cNvSpPr>
            <a:spLocks xmlns:a="http://schemas.openxmlformats.org/drawingml/2006/main" noGrp="1"/>
          </p:cNvSpPr>
          <p:nvPr/>
        </p:nvSpPr>
        <p:spPr>
          <a:xfrm xmlns:a="http://schemas.openxmlformats.org/drawingml/2006/main">
            <a:off x="6724650" y="44005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Evaluation normally uses epsilon=0.</a:t>
            </a:r>
          </a:p>
        </p:txBody>
      </p:sp>
    </p:spTree>
    <p:extLst>
      <p:ext uri="{BB962C8B-B14F-4D97-AF65-F5344CB8AC3E}">
        <p14:creationId xmlns:p14="http://schemas.microsoft.com/office/powerpoint/2010/main" val="109200569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12">
            <a:extLst xmlns:a="http://schemas.openxmlformats.org/drawingml/2006/main">
              <a:ext uri="{FF2B5EF4-FFF2-40B4-BE49-F238E27FC236}">
                <a16:creationId xmlns:a16="http://schemas.microsoft.com/office/drawing/2014/main" id="{CEC8A83F-1AAC-430C-BAC7-351BC27470CC}"/>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Convergence requires continued evidence and controlled steps</a:t>
            </a:r>
          </a:p>
        </p:txBody>
      </p:sp>
      <p:sp>
        <p:nvSpPr>
          <p:cNvPr id="2" name="title-accent-12">
            <a:extLst xmlns:a="http://schemas.openxmlformats.org/drawingml/2006/main">
              <a:ext uri="{FF2B5EF4-FFF2-40B4-BE49-F238E27FC236}">
                <a16:creationId xmlns:a16="http://schemas.microsoft.com/office/drawing/2014/main" id="{B872FC34-908D-4436-A580-08CAB414BAF5}"/>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1" name="title-rule-12"/>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2">
            <a:extLst xmlns:a="http://schemas.openxmlformats.org/drawingml/2006/main">
              <a:ext uri="{FF2B5EF4-FFF2-40B4-BE49-F238E27FC236}">
                <a16:creationId xmlns:a16="http://schemas.microsoft.com/office/drawing/2014/main" id="{317C36DF-ACCA-4CA2-A73D-41C7531EFA84}"/>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5  |  Lesson 2</a:t>
            </a:r>
          </a:p>
        </p:txBody>
      </p:sp>
      <p:sp>
        <p:nvSpPr>
          <p:cNvPr id="5" name="footer-number-12">
            <a:extLst xmlns:a="http://schemas.openxmlformats.org/drawingml/2006/main">
              <a:ext uri="{FF2B5EF4-FFF2-40B4-BE49-F238E27FC236}">
                <a16:creationId xmlns:a16="http://schemas.microsoft.com/office/drawing/2014/main" id="{3BABAC58-31E8-4D85-A79E-B4EED4B9E971}"/>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12</a:t>
            </a:r>
          </a:p>
        </p:txBody>
      </p:sp>
      <p:sp>
        <p:nvSpPr>
          <p:cNvPr id="6" name="formula-panel-12">
            <a:extLst xmlns:a="http://schemas.openxmlformats.org/drawingml/2006/main">
              <a:ext uri="{FF2B5EF4-FFF2-40B4-BE49-F238E27FC236}">
                <a16:creationId xmlns:a16="http://schemas.microsoft.com/office/drawing/2014/main" id="{6EB17004-85D3-4E9D-A031-A46965A2B424}"/>
              </a:ext>
            </a:extLst>
          </p:cNvPr>
          <p:cNvSpPr>
            <a:spLocks xmlns:a="http://schemas.openxmlformats.org/drawingml/2006/main" noGrp="1"/>
          </p:cNvSpPr>
          <p:nvPr/>
        </p:nvSpPr>
        <p:spPr>
          <a:xfrm xmlns:a="http://schemas.openxmlformats.org/drawingml/2006/main">
            <a:off x="400050" y="1657350"/>
            <a:ext cx="11391900" cy="1666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7" name="formula-12">
            <a:extLst xmlns:a="http://schemas.openxmlformats.org/drawingml/2006/main">
              <a:ext uri="{FF2B5EF4-FFF2-40B4-BE49-F238E27FC236}">
                <a16:creationId xmlns:a16="http://schemas.microsoft.com/office/drawing/2014/main" id="{11C833BD-ACDE-45A8-AC0D-EB88C418F6B4}"/>
              </a:ext>
            </a:extLst>
          </p:cNvPr>
          <p:cNvSpPr>
            <a:spLocks xmlns:a="http://schemas.openxmlformats.org/drawingml/2006/main" noGrp="1"/>
          </p:cNvSpPr>
          <p:nvPr/>
        </p:nvSpPr>
        <p:spPr>
          <a:xfrm xmlns:a="http://schemas.openxmlformats.org/drawingml/2006/main">
            <a:off x="781050" y="1952625"/>
            <a:ext cx="106299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2550" b="1">
                <a:solidFill>
                  <a:srgbClr val="111111"/>
                </a:solidFill>
                <a:latin typeface="Cambria Math"/>
                <a:ea typeface="Cambria Math"/>
                <a:cs typeface="Cambria Math"/>
              </a:defRPr>
            </a:pPr>
            <a:r>
              <a:rPr sz="2550" b="1">
                <a:solidFill>
                  <a:srgbClr val="111111"/>
                </a:solidFill>
                <a:latin typeface="Cambria Math"/>
                <a:ea typeface="Cambria Math"/>
                <a:cs typeface="Cambria Math"/>
              </a:rPr>
              <a:t>visit every (s,a) infinitely often; sum_t alpha_t=infinity; sum_t alpha_t^2&lt;infinity</a:t>
            </a:r>
          </a:p>
        </p:txBody>
      </p:sp>
      <p:sp>
        <p:nvSpPr>
          <p:cNvPr id="8" name="formula-definition-12-marker-1">
            <a:extLst xmlns:a="http://schemas.openxmlformats.org/drawingml/2006/main">
              <a:ext uri="{FF2B5EF4-FFF2-40B4-BE49-F238E27FC236}">
                <a16:creationId xmlns:a16="http://schemas.microsoft.com/office/drawing/2014/main" id="{C39CFC26-6A80-44F6-87D1-B969C10B22FB}"/>
              </a:ext>
            </a:extLst>
          </p:cNvPr>
          <p:cNvSpPr>
            <a:spLocks xmlns:a="http://schemas.openxmlformats.org/drawingml/2006/main" noGrp="1"/>
          </p:cNvSpPr>
          <p:nvPr/>
        </p:nvSpPr>
        <p:spPr>
          <a:xfrm xmlns:a="http://schemas.openxmlformats.org/drawingml/2006/main">
            <a:off x="400050" y="38195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9" name="formula-definition-12-text-1">
            <a:extLst xmlns:a="http://schemas.openxmlformats.org/drawingml/2006/main">
              <a:ext uri="{FF2B5EF4-FFF2-40B4-BE49-F238E27FC236}">
                <a16:creationId xmlns:a16="http://schemas.microsoft.com/office/drawing/2014/main" id="{DC4DAC8E-A0FA-43E2-B41D-B6E5C7229128}"/>
              </a:ext>
            </a:extLst>
          </p:cNvPr>
          <p:cNvSpPr>
            <a:spLocks xmlns:a="http://schemas.openxmlformats.org/drawingml/2006/main" noGrp="1"/>
          </p:cNvSpPr>
          <p:nvPr/>
        </p:nvSpPr>
        <p:spPr>
          <a:xfrm xmlns:a="http://schemas.openxmlformats.org/drawingml/2006/main">
            <a:off x="628650" y="373380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Coverage prevents permanently unknown actions.</a:t>
            </a:r>
          </a:p>
        </p:txBody>
      </p:sp>
      <p:sp>
        <p:nvSpPr>
          <p:cNvPr id="10" name="formula-definition-12-marker-2">
            <a:extLst xmlns:a="http://schemas.openxmlformats.org/drawingml/2006/main">
              <a:ext uri="{FF2B5EF4-FFF2-40B4-BE49-F238E27FC236}">
                <a16:creationId xmlns:a16="http://schemas.microsoft.com/office/drawing/2014/main" id="{E75594F9-8D78-40E5-B094-0493FCF5146C}"/>
              </a:ext>
            </a:extLst>
          </p:cNvPr>
          <p:cNvSpPr>
            <a:spLocks xmlns:a="http://schemas.openxmlformats.org/drawingml/2006/main" noGrp="1"/>
          </p:cNvSpPr>
          <p:nvPr/>
        </p:nvSpPr>
        <p:spPr>
          <a:xfrm xmlns:a="http://schemas.openxmlformats.org/drawingml/2006/main">
            <a:off x="400050" y="44481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formula-definition-12-text-2">
            <a:extLst xmlns:a="http://schemas.openxmlformats.org/drawingml/2006/main">
              <a:ext uri="{FF2B5EF4-FFF2-40B4-BE49-F238E27FC236}">
                <a16:creationId xmlns:a16="http://schemas.microsoft.com/office/drawing/2014/main" id="{C622C6A5-C0E6-4AD8-A59C-95326ADB5FB1}"/>
              </a:ext>
            </a:extLst>
          </p:cNvPr>
          <p:cNvSpPr>
            <a:spLocks xmlns:a="http://schemas.openxmlformats.org/drawingml/2006/main" noGrp="1"/>
          </p:cNvSpPr>
          <p:nvPr/>
        </p:nvSpPr>
        <p:spPr>
          <a:xfrm xmlns:a="http://schemas.openxmlformats.org/drawingml/2006/main">
            <a:off x="628650" y="436245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Nonzero total step size permits correction.</a:t>
            </a:r>
          </a:p>
        </p:txBody>
      </p:sp>
      <p:sp>
        <p:nvSpPr>
          <p:cNvPr id="12" name="formula-definition-12-marker-3">
            <a:extLst xmlns:a="http://schemas.openxmlformats.org/drawingml/2006/main">
              <a:ext uri="{FF2B5EF4-FFF2-40B4-BE49-F238E27FC236}">
                <a16:creationId xmlns:a16="http://schemas.microsoft.com/office/drawing/2014/main" id="{850FDA32-92EE-4A20-9EA6-4BE2B6B157CA}"/>
              </a:ext>
            </a:extLst>
          </p:cNvPr>
          <p:cNvSpPr>
            <a:spLocks xmlns:a="http://schemas.openxmlformats.org/drawingml/2006/main" noGrp="1"/>
          </p:cNvSpPr>
          <p:nvPr/>
        </p:nvSpPr>
        <p:spPr>
          <a:xfrm xmlns:a="http://schemas.openxmlformats.org/drawingml/2006/main">
            <a:off x="400050" y="50768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formula-definition-12-text-3">
            <a:extLst xmlns:a="http://schemas.openxmlformats.org/drawingml/2006/main">
              <a:ext uri="{FF2B5EF4-FFF2-40B4-BE49-F238E27FC236}">
                <a16:creationId xmlns:a16="http://schemas.microsoft.com/office/drawing/2014/main" id="{F2C4E40E-E9AF-47C7-94C8-CC2CD261A2E5}"/>
              </a:ext>
            </a:extLst>
          </p:cNvPr>
          <p:cNvSpPr>
            <a:spLocks xmlns:a="http://schemas.openxmlformats.org/drawingml/2006/main" noGrp="1"/>
          </p:cNvSpPr>
          <p:nvPr/>
        </p:nvSpPr>
        <p:spPr>
          <a:xfrm xmlns:a="http://schemas.openxmlformats.org/drawingml/2006/main">
            <a:off x="628650" y="499110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Finite squared step size controls noise.</a:t>
            </a:r>
          </a:p>
        </p:txBody>
      </p:sp>
      <p:sp>
        <p:nvSpPr>
          <p:cNvPr id="14" name="formula-definition-12-marker-4">
            <a:extLst xmlns:a="http://schemas.openxmlformats.org/drawingml/2006/main">
              <a:ext uri="{FF2B5EF4-FFF2-40B4-BE49-F238E27FC236}">
                <a16:creationId xmlns:a16="http://schemas.microsoft.com/office/drawing/2014/main" id="{41F60E87-3C0E-40F2-8671-E776D6C7F657}"/>
              </a:ext>
            </a:extLst>
          </p:cNvPr>
          <p:cNvSpPr>
            <a:spLocks xmlns:a="http://schemas.openxmlformats.org/drawingml/2006/main" noGrp="1"/>
          </p:cNvSpPr>
          <p:nvPr/>
        </p:nvSpPr>
        <p:spPr>
          <a:xfrm xmlns:a="http://schemas.openxmlformats.org/drawingml/2006/main">
            <a:off x="400050" y="57054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formula-definition-12-text-4">
            <a:extLst xmlns:a="http://schemas.openxmlformats.org/drawingml/2006/main">
              <a:ext uri="{FF2B5EF4-FFF2-40B4-BE49-F238E27FC236}">
                <a16:creationId xmlns:a16="http://schemas.microsoft.com/office/drawing/2014/main" id="{CAC82416-C5B7-4180-B293-DC903E3F5682}"/>
              </a:ext>
            </a:extLst>
          </p:cNvPr>
          <p:cNvSpPr>
            <a:spLocks xmlns:a="http://schemas.openxmlformats.org/drawingml/2006/main" noGrp="1"/>
          </p:cNvSpPr>
          <p:nvPr/>
        </p:nvSpPr>
        <p:spPr>
          <a:xfrm xmlns:a="http://schemas.openxmlformats.org/drawingml/2006/main">
            <a:off x="628650" y="561975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Finite MDP and bounded rewards are standard assumptions.</a:t>
            </a:r>
          </a:p>
        </p:txBody>
      </p:sp>
      <p:sp>
        <p:nvSpPr>
          <p:cNvPr id="16" name="formula-implication-panel-12">
            <a:extLst xmlns:a="http://schemas.openxmlformats.org/drawingml/2006/main">
              <a:ext uri="{FF2B5EF4-FFF2-40B4-BE49-F238E27FC236}">
                <a16:creationId xmlns:a16="http://schemas.microsoft.com/office/drawing/2014/main" id="{C26BA79E-81F5-499B-9D60-87C086A7DABC}"/>
              </a:ext>
            </a:extLst>
          </p:cNvPr>
          <p:cNvSpPr>
            <a:spLocks xmlns:a="http://schemas.openxmlformats.org/drawingml/2006/main" noGrp="1"/>
          </p:cNvSpPr>
          <p:nvPr/>
        </p:nvSpPr>
        <p:spPr>
          <a:xfrm xmlns:a="http://schemas.openxmlformats.org/drawingml/2006/main">
            <a:off x="8191500" y="3733800"/>
            <a:ext cx="3600450" cy="18859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7" name="formula-implication-label-12">
            <a:extLst xmlns:a="http://schemas.openxmlformats.org/drawingml/2006/main">
              <a:ext uri="{FF2B5EF4-FFF2-40B4-BE49-F238E27FC236}">
                <a16:creationId xmlns:a16="http://schemas.microsoft.com/office/drawing/2014/main" id="{462217CA-A409-4E25-811F-76B82990EE4C}"/>
              </a:ext>
            </a:extLst>
          </p:cNvPr>
          <p:cNvSpPr>
            <a:spLocks xmlns:a="http://schemas.openxmlformats.org/drawingml/2006/main" noGrp="1"/>
          </p:cNvSpPr>
          <p:nvPr/>
        </p:nvSpPr>
        <p:spPr>
          <a:xfrm xmlns:a="http://schemas.openxmlformats.org/drawingml/2006/main">
            <a:off x="8458200" y="3990975"/>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ENGINEERING IMPLICATION</a:t>
            </a:r>
          </a:p>
        </p:txBody>
      </p:sp>
      <p:sp>
        <p:nvSpPr>
          <p:cNvPr id="18" name="formula-implication-12">
            <a:extLst xmlns:a="http://schemas.openxmlformats.org/drawingml/2006/main">
              <a:ext uri="{FF2B5EF4-FFF2-40B4-BE49-F238E27FC236}">
                <a16:creationId xmlns:a16="http://schemas.microsoft.com/office/drawing/2014/main" id="{767323B7-EBFF-4163-A8A9-A086D8406218}"/>
              </a:ext>
            </a:extLst>
          </p:cNvPr>
          <p:cNvSpPr>
            <a:spLocks xmlns:a="http://schemas.openxmlformats.org/drawingml/2006/main" noGrp="1"/>
          </p:cNvSpPr>
          <p:nvPr/>
        </p:nvSpPr>
        <p:spPr>
          <a:xfrm xmlns:a="http://schemas.openxmlformats.org/drawingml/2006/main">
            <a:off x="8458200" y="4438650"/>
            <a:ext cx="3048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111111"/>
                </a:solidFill>
                <a:latin typeface="Arial"/>
                <a:ea typeface="Arial"/>
                <a:cs typeface="Arial"/>
              </a:defRPr>
            </a:pPr>
            <a:r>
              <a:rPr sz="1575" b="1">
                <a:solidFill>
                  <a:srgbClr val="111111"/>
                </a:solidFill>
                <a:latin typeface="Arial"/>
                <a:ea typeface="Arial"/>
                <a:cs typeface="Arial"/>
              </a:rPr>
              <a:t>A practical finite run can only provide empirical evidence, not the asymptotic guarantee itself.</a:t>
            </a:r>
          </a:p>
        </p:txBody>
      </p:sp>
    </p:spTree>
    <p:extLst>
      <p:ext uri="{BB962C8B-B14F-4D97-AF65-F5344CB8AC3E}">
        <p14:creationId xmlns:p14="http://schemas.microsoft.com/office/powerpoint/2010/main" val="148757194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13">
            <a:extLst xmlns:a="http://schemas.openxmlformats.org/drawingml/2006/main">
              <a:ext uri="{FF2B5EF4-FFF2-40B4-BE49-F238E27FC236}">
                <a16:creationId xmlns:a16="http://schemas.microsoft.com/office/drawing/2014/main" id="{328FB92E-A930-4CF9-8B64-665406776E53}"/>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Epsilon decay changes discovery probability</a:t>
            </a:r>
          </a:p>
        </p:txBody>
      </p:sp>
      <p:sp>
        <p:nvSpPr>
          <p:cNvPr id="2" name="title-accent-13">
            <a:extLst xmlns:a="http://schemas.openxmlformats.org/drawingml/2006/main">
              <a:ext uri="{FF2B5EF4-FFF2-40B4-BE49-F238E27FC236}">
                <a16:creationId xmlns:a16="http://schemas.microsoft.com/office/drawing/2014/main" id="{26950F26-5B19-4C99-AEB7-62CAD50F39F4}"/>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1" name="title-rule-13"/>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3">
            <a:extLst xmlns:a="http://schemas.openxmlformats.org/drawingml/2006/main">
              <a:ext uri="{FF2B5EF4-FFF2-40B4-BE49-F238E27FC236}">
                <a16:creationId xmlns:a16="http://schemas.microsoft.com/office/drawing/2014/main" id="{270EEA1C-D6F3-4B72-AA38-9879E7629997}"/>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5  |  Lesson 2</a:t>
            </a:r>
          </a:p>
        </p:txBody>
      </p:sp>
      <p:sp>
        <p:nvSpPr>
          <p:cNvPr id="5" name="footer-number-13">
            <a:extLst xmlns:a="http://schemas.openxmlformats.org/drawingml/2006/main">
              <a:ext uri="{FF2B5EF4-FFF2-40B4-BE49-F238E27FC236}">
                <a16:creationId xmlns:a16="http://schemas.microsoft.com/office/drawing/2014/main" id="{39A504EF-BE5B-4E5C-844A-C2F761FB2975}"/>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13</a:t>
            </a:r>
          </a:p>
        </p:txBody>
      </p:sp>
      <p:sp>
        <p:nvSpPr>
          <p:cNvPr id="6" name="example-label-13">
            <a:extLst xmlns:a="http://schemas.openxmlformats.org/drawingml/2006/main">
              <a:ext uri="{FF2B5EF4-FFF2-40B4-BE49-F238E27FC236}">
                <a16:creationId xmlns:a16="http://schemas.microsoft.com/office/drawing/2014/main" id="{33161026-7824-46FC-B6BD-DB5615EF6CBA}"/>
              </a:ext>
            </a:extLst>
          </p:cNvPr>
          <p:cNvSpPr>
            <a:spLocks xmlns:a="http://schemas.openxmlformats.org/drawingml/2006/main" noGrp="1"/>
          </p:cNvSpPr>
          <p:nvPr/>
        </p:nvSpPr>
        <p:spPr>
          <a:xfrm xmlns:a="http://schemas.openxmlformats.org/drawingml/2006/main">
            <a:off x="400050" y="15621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SCENARIO</a:t>
            </a:r>
          </a:p>
        </p:txBody>
      </p:sp>
      <p:sp>
        <p:nvSpPr>
          <p:cNvPr id="7" name="example-scenario-13">
            <a:extLst xmlns:a="http://schemas.openxmlformats.org/drawingml/2006/main">
              <a:ext uri="{FF2B5EF4-FFF2-40B4-BE49-F238E27FC236}">
                <a16:creationId xmlns:a16="http://schemas.microsoft.com/office/drawing/2014/main" id="{643F426D-E174-4F4E-B000-0E0A5EEA4FD9}"/>
              </a:ext>
            </a:extLst>
          </p:cNvPr>
          <p:cNvSpPr>
            <a:spLocks xmlns:a="http://schemas.openxmlformats.org/drawingml/2006/main" noGrp="1"/>
          </p:cNvSpPr>
          <p:nvPr/>
        </p:nvSpPr>
        <p:spPr>
          <a:xfrm xmlns:a="http://schemas.openxmlformats.org/drawingml/2006/main">
            <a:off x="400050" y="1952625"/>
            <a:ext cx="44767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A sparse-reward action is initially undervalued and requires repeated trials before its benefit appears.</a:t>
            </a:r>
          </a:p>
        </p:txBody>
      </p:sp>
      <p:cxnSp>
        <p:nvCxnSpPr>
          <p:cNvPr id="26" name="example-divider-13"/>
          <p:cNvCxnSpPr/>
          <p:nvPr/>
        </p:nvCxnSpPr>
        <p:spPr>
          <a:xfrm xmlns:a="http://schemas.openxmlformats.org/drawingml/2006/main">
            <a:off x="5238750" y="1657350"/>
            <a:ext cx="0" cy="3048000"/>
          </a:xfrm>
          <a:prstGeom xmlns:a="http://schemas.openxmlformats.org/drawingml/2006/main" prst="straightConnector1">
            <a:avLst/>
          </a:prstGeom>
          <a:ln xmlns:a="http://schemas.openxmlformats.org/drawingml/2006/main" w="9525">
            <a:solidFill>
              <a:srgbClr val="B8BCC4"/>
            </a:solidFill>
            <a:prstDash val="solid"/>
          </a:ln>
        </p:spPr>
      </p:cxnSp>
      <p:sp>
        <p:nvSpPr>
          <p:cNvPr id="9" name="example-step-13-marker-1">
            <a:extLst xmlns:a="http://schemas.openxmlformats.org/drawingml/2006/main">
              <a:ext uri="{FF2B5EF4-FFF2-40B4-BE49-F238E27FC236}">
                <a16:creationId xmlns:a16="http://schemas.microsoft.com/office/drawing/2014/main" id="{06DD6274-A004-4DC1-85EB-6466168E0A47}"/>
              </a:ext>
            </a:extLst>
          </p:cNvPr>
          <p:cNvSpPr>
            <a:spLocks xmlns:a="http://schemas.openxmlformats.org/drawingml/2006/main" noGrp="1"/>
          </p:cNvSpPr>
          <p:nvPr/>
        </p:nvSpPr>
        <p:spPr>
          <a:xfrm xmlns:a="http://schemas.openxmlformats.org/drawingml/2006/main">
            <a:off x="5667375" y="18478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example-step-13-text-1">
            <a:extLst xmlns:a="http://schemas.openxmlformats.org/drawingml/2006/main">
              <a:ext uri="{FF2B5EF4-FFF2-40B4-BE49-F238E27FC236}">
                <a16:creationId xmlns:a16="http://schemas.microsoft.com/office/drawing/2014/main" id="{5035D967-1DCC-43A9-AE45-AC4ED55D87D5}"/>
              </a:ext>
            </a:extLst>
          </p:cNvPr>
          <p:cNvSpPr>
            <a:spLocks xmlns:a="http://schemas.openxmlformats.org/drawingml/2006/main" noGrp="1"/>
          </p:cNvSpPr>
          <p:nvPr/>
        </p:nvSpPr>
        <p:spPr>
          <a:xfrm xmlns:a="http://schemas.openxmlformats.org/drawingml/2006/main">
            <a:off x="5895975" y="17621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High initial epsilon explores the action.</a:t>
            </a:r>
          </a:p>
        </p:txBody>
      </p:sp>
      <p:sp>
        <p:nvSpPr>
          <p:cNvPr id="11" name="example-step-13-marker-2">
            <a:extLst xmlns:a="http://schemas.openxmlformats.org/drawingml/2006/main">
              <a:ext uri="{FF2B5EF4-FFF2-40B4-BE49-F238E27FC236}">
                <a16:creationId xmlns:a16="http://schemas.microsoft.com/office/drawing/2014/main" id="{D2DFDD59-E5CB-4D19-9AAE-28D95FA9D144}"/>
              </a:ext>
            </a:extLst>
          </p:cNvPr>
          <p:cNvSpPr>
            <a:spLocks xmlns:a="http://schemas.openxmlformats.org/drawingml/2006/main" noGrp="1"/>
          </p:cNvSpPr>
          <p:nvPr/>
        </p:nvSpPr>
        <p:spPr>
          <a:xfrm xmlns:a="http://schemas.openxmlformats.org/drawingml/2006/main">
            <a:off x="5667375" y="25336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example-step-13-text-2">
            <a:extLst xmlns:a="http://schemas.openxmlformats.org/drawingml/2006/main">
              <a:ext uri="{FF2B5EF4-FFF2-40B4-BE49-F238E27FC236}">
                <a16:creationId xmlns:a16="http://schemas.microsoft.com/office/drawing/2014/main" id="{344AFE01-BC6A-4401-8D78-66583DD63C09}"/>
              </a:ext>
            </a:extLst>
          </p:cNvPr>
          <p:cNvSpPr>
            <a:spLocks xmlns:a="http://schemas.openxmlformats.org/drawingml/2006/main" noGrp="1"/>
          </p:cNvSpPr>
          <p:nvPr/>
        </p:nvSpPr>
        <p:spPr>
          <a:xfrm xmlns:a="http://schemas.openxmlformats.org/drawingml/2006/main">
            <a:off x="5895975" y="24479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Updates raise its Q estimate after success.</a:t>
            </a:r>
          </a:p>
        </p:txBody>
      </p:sp>
      <p:sp>
        <p:nvSpPr>
          <p:cNvPr id="13" name="example-step-13-marker-3">
            <a:extLst xmlns:a="http://schemas.openxmlformats.org/drawingml/2006/main">
              <a:ext uri="{FF2B5EF4-FFF2-40B4-BE49-F238E27FC236}">
                <a16:creationId xmlns:a16="http://schemas.microsoft.com/office/drawing/2014/main" id="{3DB51DA6-069D-4398-9E6B-D6DEECEACBCC}"/>
              </a:ext>
            </a:extLst>
          </p:cNvPr>
          <p:cNvSpPr>
            <a:spLocks xmlns:a="http://schemas.openxmlformats.org/drawingml/2006/main" noGrp="1"/>
          </p:cNvSpPr>
          <p:nvPr/>
        </p:nvSpPr>
        <p:spPr>
          <a:xfrm xmlns:a="http://schemas.openxmlformats.org/drawingml/2006/main">
            <a:off x="5667375" y="32194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example-step-13-text-3">
            <a:extLst xmlns:a="http://schemas.openxmlformats.org/drawingml/2006/main">
              <a:ext uri="{FF2B5EF4-FFF2-40B4-BE49-F238E27FC236}">
                <a16:creationId xmlns:a16="http://schemas.microsoft.com/office/drawing/2014/main" id="{98FE2FCC-19C4-48DD-955D-915E3F5A3E28}"/>
              </a:ext>
            </a:extLst>
          </p:cNvPr>
          <p:cNvSpPr>
            <a:spLocks xmlns:a="http://schemas.openxmlformats.org/drawingml/2006/main" noGrp="1"/>
          </p:cNvSpPr>
          <p:nvPr/>
        </p:nvSpPr>
        <p:spPr>
          <a:xfrm xmlns:a="http://schemas.openxmlformats.org/drawingml/2006/main">
            <a:off x="5895975" y="31337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Gradual decay shifts behavior toward exploitation.</a:t>
            </a:r>
          </a:p>
        </p:txBody>
      </p:sp>
      <p:sp>
        <p:nvSpPr>
          <p:cNvPr id="15" name="example-step-13-marker-4">
            <a:extLst xmlns:a="http://schemas.openxmlformats.org/drawingml/2006/main">
              <a:ext uri="{FF2B5EF4-FFF2-40B4-BE49-F238E27FC236}">
                <a16:creationId xmlns:a16="http://schemas.microsoft.com/office/drawing/2014/main" id="{B340D684-5930-4F21-84AC-6C8B24C29D55}"/>
              </a:ext>
            </a:extLst>
          </p:cNvPr>
          <p:cNvSpPr>
            <a:spLocks xmlns:a="http://schemas.openxmlformats.org/drawingml/2006/main" noGrp="1"/>
          </p:cNvSpPr>
          <p:nvPr/>
        </p:nvSpPr>
        <p:spPr>
          <a:xfrm xmlns:a="http://schemas.openxmlformats.org/drawingml/2006/main">
            <a:off x="5667375" y="39052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example-step-13-text-4">
            <a:extLst xmlns:a="http://schemas.openxmlformats.org/drawingml/2006/main">
              <a:ext uri="{FF2B5EF4-FFF2-40B4-BE49-F238E27FC236}">
                <a16:creationId xmlns:a16="http://schemas.microsoft.com/office/drawing/2014/main" id="{01E6E42D-D223-42DA-9059-BF2CCEC60D7F}"/>
              </a:ext>
            </a:extLst>
          </p:cNvPr>
          <p:cNvSpPr>
            <a:spLocks xmlns:a="http://schemas.openxmlformats.org/drawingml/2006/main" noGrp="1"/>
          </p:cNvSpPr>
          <p:nvPr/>
        </p:nvSpPr>
        <p:spPr>
          <a:xfrm xmlns:a="http://schemas.openxmlformats.org/drawingml/2006/main">
            <a:off x="5895975" y="38195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A too-fast decay may freeze the wrong policy.</a:t>
            </a:r>
          </a:p>
        </p:txBody>
      </p:sp>
      <p:sp>
        <p:nvSpPr>
          <p:cNvPr id="17" name="example-result-panel-13">
            <a:extLst xmlns:a="http://schemas.openxmlformats.org/drawingml/2006/main">
              <a:ext uri="{FF2B5EF4-FFF2-40B4-BE49-F238E27FC236}">
                <a16:creationId xmlns:a16="http://schemas.microsoft.com/office/drawing/2014/main" id="{34EBE295-D2B1-46D2-9BCC-E79398DF8EC5}"/>
              </a:ext>
            </a:extLst>
          </p:cNvPr>
          <p:cNvSpPr>
            <a:spLocks xmlns:a="http://schemas.openxmlformats.org/drawingml/2006/main" noGrp="1"/>
          </p:cNvSpPr>
          <p:nvPr/>
        </p:nvSpPr>
        <p:spPr>
          <a:xfrm xmlns:a="http://schemas.openxmlformats.org/drawingml/2006/main">
            <a:off x="400050" y="5000625"/>
            <a:ext cx="11391900" cy="8001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8" name="example-result-13">
            <a:extLst xmlns:a="http://schemas.openxmlformats.org/drawingml/2006/main">
              <a:ext uri="{FF2B5EF4-FFF2-40B4-BE49-F238E27FC236}">
                <a16:creationId xmlns:a16="http://schemas.microsoft.com/office/drawing/2014/main" id="{4DED8581-92E1-43CB-BC55-412C56F43A39}"/>
              </a:ext>
            </a:extLst>
          </p:cNvPr>
          <p:cNvSpPr>
            <a:spLocks xmlns:a="http://schemas.openxmlformats.org/drawingml/2006/main" noGrp="1"/>
          </p:cNvSpPr>
          <p:nvPr/>
        </p:nvSpPr>
        <p:spPr>
          <a:xfrm xmlns:a="http://schemas.openxmlformats.org/drawingml/2006/main">
            <a:off x="685800" y="5181600"/>
            <a:ext cx="10820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1">
                <a:solidFill>
                  <a:srgbClr val="111111"/>
                </a:solidFill>
                <a:latin typeface="Arial"/>
                <a:ea typeface="Arial"/>
                <a:cs typeface="Arial"/>
              </a:defRPr>
            </a:pPr>
            <a:r>
              <a:rPr sz="1725" b="1">
                <a:solidFill>
                  <a:srgbClr val="111111"/>
                </a:solidFill>
                <a:latin typeface="Arial"/>
                <a:ea typeface="Arial"/>
                <a:cs typeface="Arial"/>
              </a:rPr>
              <a:t>Compare schedules across seeds and evaluate the final greedy policy separately.</a:t>
            </a:r>
          </a:p>
        </p:txBody>
      </p:sp>
    </p:spTree>
    <p:extLst>
      <p:ext uri="{BB962C8B-B14F-4D97-AF65-F5344CB8AC3E}">
        <p14:creationId xmlns:p14="http://schemas.microsoft.com/office/powerpoint/2010/main" val="151089319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slide-title-14">
            <a:extLst xmlns:a="http://schemas.openxmlformats.org/drawingml/2006/main">
              <a:ext uri="{FF2B5EF4-FFF2-40B4-BE49-F238E27FC236}">
                <a16:creationId xmlns:a16="http://schemas.microsoft.com/office/drawing/2014/main" id="{7BE19A20-4D66-44B0-B271-A5D07AB687A9}"/>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Hyperparameters control distinct failure modes</a:t>
            </a:r>
          </a:p>
        </p:txBody>
      </p:sp>
      <p:sp>
        <p:nvSpPr>
          <p:cNvPr id="2" name="title-accent-14">
            <a:extLst xmlns:a="http://schemas.openxmlformats.org/drawingml/2006/main">
              <a:ext uri="{FF2B5EF4-FFF2-40B4-BE49-F238E27FC236}">
                <a16:creationId xmlns:a16="http://schemas.microsoft.com/office/drawing/2014/main" id="{D04E38DF-81F2-449E-9D76-CDF91D4EE2B9}"/>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40" name="title-rule-14"/>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4">
            <a:extLst xmlns:a="http://schemas.openxmlformats.org/drawingml/2006/main">
              <a:ext uri="{FF2B5EF4-FFF2-40B4-BE49-F238E27FC236}">
                <a16:creationId xmlns:a16="http://schemas.microsoft.com/office/drawing/2014/main" id="{F25C79EF-D6DB-4D63-BFDB-CA8245E190E8}"/>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5  |  Lesson 2</a:t>
            </a:r>
          </a:p>
        </p:txBody>
      </p:sp>
      <p:sp>
        <p:nvSpPr>
          <p:cNvPr id="5" name="footer-number-14">
            <a:extLst xmlns:a="http://schemas.openxmlformats.org/drawingml/2006/main">
              <a:ext uri="{FF2B5EF4-FFF2-40B4-BE49-F238E27FC236}">
                <a16:creationId xmlns:a16="http://schemas.microsoft.com/office/drawing/2014/main" id="{58D8CB65-DCE3-4879-9C17-A6D0859AD470}"/>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14</a:t>
            </a:r>
          </a:p>
        </p:txBody>
      </p:sp>
      <p:sp>
        <p:nvSpPr>
          <p:cNvPr id="6" name="comparison-title-14-1">
            <a:extLst xmlns:a="http://schemas.openxmlformats.org/drawingml/2006/main">
              <a:ext uri="{FF2B5EF4-FFF2-40B4-BE49-F238E27FC236}">
                <a16:creationId xmlns:a16="http://schemas.microsoft.com/office/drawing/2014/main" id="{60B38CEC-D1AA-4D68-A19D-E133F200D6FB}"/>
              </a:ext>
            </a:extLst>
          </p:cNvPr>
          <p:cNvSpPr>
            <a:spLocks xmlns:a="http://schemas.openxmlformats.org/drawingml/2006/main" noGrp="1"/>
          </p:cNvSpPr>
          <p:nvPr/>
        </p:nvSpPr>
        <p:spPr>
          <a:xfrm xmlns:a="http://schemas.openxmlformats.org/drawingml/2006/main">
            <a:off x="4000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3D8DFF"/>
                </a:solidFill>
                <a:latin typeface="Arial"/>
                <a:ea typeface="Arial"/>
                <a:cs typeface="Arial"/>
              </a:defRPr>
            </a:pPr>
            <a:r>
              <a:rPr sz="2025" b="1">
                <a:solidFill>
                  <a:srgbClr val="3D8DFF"/>
                </a:solidFill>
                <a:latin typeface="Arial"/>
                <a:ea typeface="Arial"/>
                <a:cs typeface="Arial"/>
              </a:rPr>
              <a:t>Learning rate</a:t>
            </a:r>
          </a:p>
        </p:txBody>
      </p:sp>
      <p:sp>
        <p:nvSpPr>
          <p:cNvPr id="7" name="comparison-tagline-14-1">
            <a:extLst xmlns:a="http://schemas.openxmlformats.org/drawingml/2006/main">
              <a:ext uri="{FF2B5EF4-FFF2-40B4-BE49-F238E27FC236}">
                <a16:creationId xmlns:a16="http://schemas.microsoft.com/office/drawing/2014/main" id="{41FA9F5C-B257-4059-9F68-68D36B3643D4}"/>
              </a:ext>
            </a:extLst>
          </p:cNvPr>
          <p:cNvSpPr>
            <a:spLocks xmlns:a="http://schemas.openxmlformats.org/drawingml/2006/main" noGrp="1"/>
          </p:cNvSpPr>
          <p:nvPr/>
        </p:nvSpPr>
        <p:spPr>
          <a:xfrm xmlns:a="http://schemas.openxmlformats.org/drawingml/2006/main">
            <a:off x="4000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Update size</a:t>
            </a:r>
          </a:p>
        </p:txBody>
      </p:sp>
      <p:sp>
        <p:nvSpPr>
          <p:cNvPr id="8" name="comparison-bullet-14-1-marker-1">
            <a:extLst xmlns:a="http://schemas.openxmlformats.org/drawingml/2006/main">
              <a:ext uri="{FF2B5EF4-FFF2-40B4-BE49-F238E27FC236}">
                <a16:creationId xmlns:a16="http://schemas.microsoft.com/office/drawing/2014/main" id="{7DC70322-1F19-4B59-9817-FA5EE1C128E3}"/>
              </a:ext>
            </a:extLst>
          </p:cNvPr>
          <p:cNvSpPr>
            <a:spLocks xmlns:a="http://schemas.openxmlformats.org/drawingml/2006/main" noGrp="1"/>
          </p:cNvSpPr>
          <p:nvPr/>
        </p:nvSpPr>
        <p:spPr>
          <a:xfrm xmlns:a="http://schemas.openxmlformats.org/drawingml/2006/main">
            <a:off x="400050" y="29908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9" name="comparison-bullet-14-1-text-1">
            <a:extLst xmlns:a="http://schemas.openxmlformats.org/drawingml/2006/main">
              <a:ext uri="{FF2B5EF4-FFF2-40B4-BE49-F238E27FC236}">
                <a16:creationId xmlns:a16="http://schemas.microsoft.com/office/drawing/2014/main" id="{2051084F-D153-4564-AE84-687A66E6F461}"/>
              </a:ext>
            </a:extLst>
          </p:cNvPr>
          <p:cNvSpPr>
            <a:spLocks xmlns:a="http://schemas.openxmlformats.org/drawingml/2006/main" noGrp="1"/>
          </p:cNvSpPr>
          <p:nvPr/>
        </p:nvSpPr>
        <p:spPr>
          <a:xfrm xmlns:a="http://schemas.openxmlformats.org/drawingml/2006/main">
            <a:off x="6286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Too high oscillates.</a:t>
            </a:r>
          </a:p>
        </p:txBody>
      </p:sp>
      <p:sp>
        <p:nvSpPr>
          <p:cNvPr id="10" name="comparison-bullet-14-1-marker-2">
            <a:extLst xmlns:a="http://schemas.openxmlformats.org/drawingml/2006/main">
              <a:ext uri="{FF2B5EF4-FFF2-40B4-BE49-F238E27FC236}">
                <a16:creationId xmlns:a16="http://schemas.microsoft.com/office/drawing/2014/main" id="{C58C61F7-448E-4429-984E-5644CA8CB331}"/>
              </a:ext>
            </a:extLst>
          </p:cNvPr>
          <p:cNvSpPr>
            <a:spLocks xmlns:a="http://schemas.openxmlformats.org/drawingml/2006/main" noGrp="1"/>
          </p:cNvSpPr>
          <p:nvPr/>
        </p:nvSpPr>
        <p:spPr>
          <a:xfrm xmlns:a="http://schemas.openxmlformats.org/drawingml/2006/main">
            <a:off x="400050" y="36576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comparison-bullet-14-1-text-2">
            <a:extLst xmlns:a="http://schemas.openxmlformats.org/drawingml/2006/main">
              <a:ext uri="{FF2B5EF4-FFF2-40B4-BE49-F238E27FC236}">
                <a16:creationId xmlns:a16="http://schemas.microsoft.com/office/drawing/2014/main" id="{9B8DF18D-49A6-4262-8C02-EF9C50647943}"/>
              </a:ext>
            </a:extLst>
          </p:cNvPr>
          <p:cNvSpPr>
            <a:spLocks xmlns:a="http://schemas.openxmlformats.org/drawingml/2006/main" noGrp="1"/>
          </p:cNvSpPr>
          <p:nvPr/>
        </p:nvSpPr>
        <p:spPr>
          <a:xfrm xmlns:a="http://schemas.openxmlformats.org/drawingml/2006/main">
            <a:off x="6286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Too low learns slowly.</a:t>
            </a:r>
          </a:p>
        </p:txBody>
      </p:sp>
      <p:sp>
        <p:nvSpPr>
          <p:cNvPr id="12" name="comparison-bullet-14-1-marker-3">
            <a:extLst xmlns:a="http://schemas.openxmlformats.org/drawingml/2006/main">
              <a:ext uri="{FF2B5EF4-FFF2-40B4-BE49-F238E27FC236}">
                <a16:creationId xmlns:a16="http://schemas.microsoft.com/office/drawing/2014/main" id="{ED366A22-79FB-4476-94CA-E560CC85AC60}"/>
              </a:ext>
            </a:extLst>
          </p:cNvPr>
          <p:cNvSpPr>
            <a:spLocks xmlns:a="http://schemas.openxmlformats.org/drawingml/2006/main" noGrp="1"/>
          </p:cNvSpPr>
          <p:nvPr/>
        </p:nvSpPr>
        <p:spPr>
          <a:xfrm xmlns:a="http://schemas.openxmlformats.org/drawingml/2006/main">
            <a:off x="400050" y="43243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comparison-bullet-14-1-text-3">
            <a:extLst xmlns:a="http://schemas.openxmlformats.org/drawingml/2006/main">
              <a:ext uri="{FF2B5EF4-FFF2-40B4-BE49-F238E27FC236}">
                <a16:creationId xmlns:a16="http://schemas.microsoft.com/office/drawing/2014/main" id="{1728A800-7416-4EFF-8AA5-F4FC7C5C434A}"/>
              </a:ext>
            </a:extLst>
          </p:cNvPr>
          <p:cNvSpPr>
            <a:spLocks xmlns:a="http://schemas.openxmlformats.org/drawingml/2006/main" noGrp="1"/>
          </p:cNvSpPr>
          <p:nvPr/>
        </p:nvSpPr>
        <p:spPr>
          <a:xfrm xmlns:a="http://schemas.openxmlformats.org/drawingml/2006/main">
            <a:off x="6286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Decay can stabilize.</a:t>
            </a:r>
          </a:p>
        </p:txBody>
      </p:sp>
      <p:sp>
        <p:nvSpPr>
          <p:cNvPr id="14" name="comparison-bullet-14-1-marker-4">
            <a:extLst xmlns:a="http://schemas.openxmlformats.org/drawingml/2006/main">
              <a:ext uri="{FF2B5EF4-FFF2-40B4-BE49-F238E27FC236}">
                <a16:creationId xmlns:a16="http://schemas.microsoft.com/office/drawing/2014/main" id="{BDFF5F0A-BB04-4028-9F42-D9406098D167}"/>
              </a:ext>
            </a:extLst>
          </p:cNvPr>
          <p:cNvSpPr>
            <a:spLocks xmlns:a="http://schemas.openxmlformats.org/drawingml/2006/main" noGrp="1"/>
          </p:cNvSpPr>
          <p:nvPr/>
        </p:nvSpPr>
        <p:spPr>
          <a:xfrm xmlns:a="http://schemas.openxmlformats.org/drawingml/2006/main">
            <a:off x="400050" y="49911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comparison-bullet-14-1-text-4">
            <a:extLst xmlns:a="http://schemas.openxmlformats.org/drawingml/2006/main">
              <a:ext uri="{FF2B5EF4-FFF2-40B4-BE49-F238E27FC236}">
                <a16:creationId xmlns:a16="http://schemas.microsoft.com/office/drawing/2014/main" id="{59EFBC98-55B1-4495-AB6B-A2F80592C1A7}"/>
              </a:ext>
            </a:extLst>
          </p:cNvPr>
          <p:cNvSpPr>
            <a:spLocks xmlns:a="http://schemas.openxmlformats.org/drawingml/2006/main" noGrp="1"/>
          </p:cNvSpPr>
          <p:nvPr/>
        </p:nvSpPr>
        <p:spPr>
          <a:xfrm xmlns:a="http://schemas.openxmlformats.org/drawingml/2006/main">
            <a:off x="6286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Log TD magnitude.</a:t>
            </a:r>
          </a:p>
        </p:txBody>
      </p:sp>
      <p:cxnSp>
        <p:nvCxnSpPr>
          <p:cNvPr id="53" name="comparison-divider-14-1"/>
          <p:cNvCxnSpPr/>
          <p:nvPr/>
        </p:nvCxnSpPr>
        <p:spPr>
          <a:xfrm xmlns:a="http://schemas.openxmlformats.org/drawingml/2006/main">
            <a:off x="4146550" y="1657350"/>
            <a:ext cx="0" cy="3943350"/>
          </a:xfrm>
          <a:prstGeom xmlns:a="http://schemas.openxmlformats.org/drawingml/2006/main" prst="straightConnector1">
            <a:avLst/>
          </a:prstGeom>
          <a:ln xmlns:a="http://schemas.openxmlformats.org/drawingml/2006/main" w="9525">
            <a:solidFill>
              <a:srgbClr val="B8BCC4"/>
            </a:solidFill>
            <a:prstDash val="solid"/>
          </a:ln>
        </p:spPr>
      </p:cxnSp>
      <p:sp>
        <p:nvSpPr>
          <p:cNvPr id="17" name="comparison-title-14-2">
            <a:extLst xmlns:a="http://schemas.openxmlformats.org/drawingml/2006/main">
              <a:ext uri="{FF2B5EF4-FFF2-40B4-BE49-F238E27FC236}">
                <a16:creationId xmlns:a16="http://schemas.microsoft.com/office/drawing/2014/main" id="{462DCECB-B25D-4291-9872-58B01099689E}"/>
              </a:ext>
            </a:extLst>
          </p:cNvPr>
          <p:cNvSpPr>
            <a:spLocks xmlns:a="http://schemas.openxmlformats.org/drawingml/2006/main" noGrp="1"/>
          </p:cNvSpPr>
          <p:nvPr/>
        </p:nvSpPr>
        <p:spPr>
          <a:xfrm xmlns:a="http://schemas.openxmlformats.org/drawingml/2006/main">
            <a:off x="42989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0B7A53"/>
                </a:solidFill>
                <a:latin typeface="Arial"/>
                <a:ea typeface="Arial"/>
                <a:cs typeface="Arial"/>
              </a:defRPr>
            </a:pPr>
            <a:r>
              <a:rPr sz="2025" b="1">
                <a:solidFill>
                  <a:srgbClr val="0B7A53"/>
                </a:solidFill>
                <a:latin typeface="Arial"/>
                <a:ea typeface="Arial"/>
                <a:cs typeface="Arial"/>
              </a:rPr>
              <a:t>Discount</a:t>
            </a:r>
          </a:p>
        </p:txBody>
      </p:sp>
      <p:sp>
        <p:nvSpPr>
          <p:cNvPr id="18" name="comparison-tagline-14-2">
            <a:extLst xmlns:a="http://schemas.openxmlformats.org/drawingml/2006/main">
              <a:ext uri="{FF2B5EF4-FFF2-40B4-BE49-F238E27FC236}">
                <a16:creationId xmlns:a16="http://schemas.microsoft.com/office/drawing/2014/main" id="{DA793943-BD27-45CC-9C25-90C8101A5883}"/>
              </a:ext>
            </a:extLst>
          </p:cNvPr>
          <p:cNvSpPr>
            <a:spLocks xmlns:a="http://schemas.openxmlformats.org/drawingml/2006/main" noGrp="1"/>
          </p:cNvSpPr>
          <p:nvPr/>
        </p:nvSpPr>
        <p:spPr>
          <a:xfrm xmlns:a="http://schemas.openxmlformats.org/drawingml/2006/main">
            <a:off x="42989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Planning horizon</a:t>
            </a:r>
          </a:p>
        </p:txBody>
      </p:sp>
      <p:sp>
        <p:nvSpPr>
          <p:cNvPr id="19" name="comparison-bullet-14-2-marker-1">
            <a:extLst xmlns:a="http://schemas.openxmlformats.org/drawingml/2006/main">
              <a:ext uri="{FF2B5EF4-FFF2-40B4-BE49-F238E27FC236}">
                <a16:creationId xmlns:a16="http://schemas.microsoft.com/office/drawing/2014/main" id="{61FC0486-7604-4465-8EA7-639FEC7116E0}"/>
              </a:ext>
            </a:extLst>
          </p:cNvPr>
          <p:cNvSpPr>
            <a:spLocks xmlns:a="http://schemas.openxmlformats.org/drawingml/2006/main" noGrp="1"/>
          </p:cNvSpPr>
          <p:nvPr/>
        </p:nvSpPr>
        <p:spPr>
          <a:xfrm xmlns:a="http://schemas.openxmlformats.org/drawingml/2006/main">
            <a:off x="4298950" y="299085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20" name="comparison-bullet-14-2-text-1">
            <a:extLst xmlns:a="http://schemas.openxmlformats.org/drawingml/2006/main">
              <a:ext uri="{FF2B5EF4-FFF2-40B4-BE49-F238E27FC236}">
                <a16:creationId xmlns:a16="http://schemas.microsoft.com/office/drawing/2014/main" id="{CAF40410-EBB1-41D1-8F7A-27A0D4F680F6}"/>
              </a:ext>
            </a:extLst>
          </p:cNvPr>
          <p:cNvSpPr>
            <a:spLocks xmlns:a="http://schemas.openxmlformats.org/drawingml/2006/main" noGrp="1"/>
          </p:cNvSpPr>
          <p:nvPr/>
        </p:nvSpPr>
        <p:spPr>
          <a:xfrm xmlns:a="http://schemas.openxmlformats.org/drawingml/2006/main">
            <a:off x="45275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Low is myopic.</a:t>
            </a:r>
          </a:p>
        </p:txBody>
      </p:sp>
      <p:sp>
        <p:nvSpPr>
          <p:cNvPr id="21" name="comparison-bullet-14-2-marker-2">
            <a:extLst xmlns:a="http://schemas.openxmlformats.org/drawingml/2006/main">
              <a:ext uri="{FF2B5EF4-FFF2-40B4-BE49-F238E27FC236}">
                <a16:creationId xmlns:a16="http://schemas.microsoft.com/office/drawing/2014/main" id="{575AE38E-61AD-449D-8161-160C71F348F9}"/>
              </a:ext>
            </a:extLst>
          </p:cNvPr>
          <p:cNvSpPr>
            <a:spLocks xmlns:a="http://schemas.openxmlformats.org/drawingml/2006/main" noGrp="1"/>
          </p:cNvSpPr>
          <p:nvPr/>
        </p:nvSpPr>
        <p:spPr>
          <a:xfrm xmlns:a="http://schemas.openxmlformats.org/drawingml/2006/main">
            <a:off x="4298950" y="365760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22" name="comparison-bullet-14-2-text-2">
            <a:extLst xmlns:a="http://schemas.openxmlformats.org/drawingml/2006/main">
              <a:ext uri="{FF2B5EF4-FFF2-40B4-BE49-F238E27FC236}">
                <a16:creationId xmlns:a16="http://schemas.microsoft.com/office/drawing/2014/main" id="{78E5BFDC-1462-495F-BE88-E6097F709D77}"/>
              </a:ext>
            </a:extLst>
          </p:cNvPr>
          <p:cNvSpPr>
            <a:spLocks xmlns:a="http://schemas.openxmlformats.org/drawingml/2006/main" noGrp="1"/>
          </p:cNvSpPr>
          <p:nvPr/>
        </p:nvSpPr>
        <p:spPr>
          <a:xfrm xmlns:a="http://schemas.openxmlformats.org/drawingml/2006/main">
            <a:off x="45275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High values delayed reward.</a:t>
            </a:r>
          </a:p>
        </p:txBody>
      </p:sp>
      <p:sp>
        <p:nvSpPr>
          <p:cNvPr id="23" name="comparison-bullet-14-2-marker-3">
            <a:extLst xmlns:a="http://schemas.openxmlformats.org/drawingml/2006/main">
              <a:ext uri="{FF2B5EF4-FFF2-40B4-BE49-F238E27FC236}">
                <a16:creationId xmlns:a16="http://schemas.microsoft.com/office/drawing/2014/main" id="{73455CBF-6C3B-4106-9473-277BA14E22EB}"/>
              </a:ext>
            </a:extLst>
          </p:cNvPr>
          <p:cNvSpPr>
            <a:spLocks xmlns:a="http://schemas.openxmlformats.org/drawingml/2006/main" noGrp="1"/>
          </p:cNvSpPr>
          <p:nvPr/>
        </p:nvSpPr>
        <p:spPr>
          <a:xfrm xmlns:a="http://schemas.openxmlformats.org/drawingml/2006/main">
            <a:off x="4298950" y="432435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24" name="comparison-bullet-14-2-text-3">
            <a:extLst xmlns:a="http://schemas.openxmlformats.org/drawingml/2006/main">
              <a:ext uri="{FF2B5EF4-FFF2-40B4-BE49-F238E27FC236}">
                <a16:creationId xmlns:a16="http://schemas.microsoft.com/office/drawing/2014/main" id="{5CBF5289-C0B3-4BFA-A26C-2FC08F7299F3}"/>
              </a:ext>
            </a:extLst>
          </p:cNvPr>
          <p:cNvSpPr>
            <a:spLocks xmlns:a="http://schemas.openxmlformats.org/drawingml/2006/main" noGrp="1"/>
          </p:cNvSpPr>
          <p:nvPr/>
        </p:nvSpPr>
        <p:spPr>
          <a:xfrm xmlns:a="http://schemas.openxmlformats.org/drawingml/2006/main">
            <a:off x="45275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Near one raises variance.</a:t>
            </a:r>
          </a:p>
        </p:txBody>
      </p:sp>
      <p:sp>
        <p:nvSpPr>
          <p:cNvPr id="25" name="comparison-bullet-14-2-marker-4">
            <a:extLst xmlns:a="http://schemas.openxmlformats.org/drawingml/2006/main">
              <a:ext uri="{FF2B5EF4-FFF2-40B4-BE49-F238E27FC236}">
                <a16:creationId xmlns:a16="http://schemas.microsoft.com/office/drawing/2014/main" id="{F3B45433-345C-4DF6-B326-943305F3CC78}"/>
              </a:ext>
            </a:extLst>
          </p:cNvPr>
          <p:cNvSpPr>
            <a:spLocks xmlns:a="http://schemas.openxmlformats.org/drawingml/2006/main" noGrp="1"/>
          </p:cNvSpPr>
          <p:nvPr/>
        </p:nvSpPr>
        <p:spPr>
          <a:xfrm xmlns:a="http://schemas.openxmlformats.org/drawingml/2006/main">
            <a:off x="4298950" y="499110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26" name="comparison-bullet-14-2-text-4">
            <a:extLst xmlns:a="http://schemas.openxmlformats.org/drawingml/2006/main">
              <a:ext uri="{FF2B5EF4-FFF2-40B4-BE49-F238E27FC236}">
                <a16:creationId xmlns:a16="http://schemas.microsoft.com/office/drawing/2014/main" id="{F02D6302-788C-4B7E-84D2-52AA14BA3400}"/>
              </a:ext>
            </a:extLst>
          </p:cNvPr>
          <p:cNvSpPr>
            <a:spLocks xmlns:a="http://schemas.openxmlformats.org/drawingml/2006/main" noGrp="1"/>
          </p:cNvSpPr>
          <p:nvPr/>
        </p:nvSpPr>
        <p:spPr>
          <a:xfrm xmlns:a="http://schemas.openxmlformats.org/drawingml/2006/main">
            <a:off x="45275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Must match task.</a:t>
            </a:r>
          </a:p>
        </p:txBody>
      </p:sp>
      <p:cxnSp>
        <p:nvCxnSpPr>
          <p:cNvPr id="64" name="comparison-divider-14-2"/>
          <p:cNvCxnSpPr/>
          <p:nvPr/>
        </p:nvCxnSpPr>
        <p:spPr>
          <a:xfrm xmlns:a="http://schemas.openxmlformats.org/drawingml/2006/main">
            <a:off x="8045450" y="1657350"/>
            <a:ext cx="0" cy="3943350"/>
          </a:xfrm>
          <a:prstGeom xmlns:a="http://schemas.openxmlformats.org/drawingml/2006/main" prst="straightConnector1">
            <a:avLst/>
          </a:prstGeom>
          <a:ln xmlns:a="http://schemas.openxmlformats.org/drawingml/2006/main" w="9525">
            <a:solidFill>
              <a:srgbClr val="B8BCC4"/>
            </a:solidFill>
            <a:prstDash val="solid"/>
          </a:ln>
        </p:spPr>
      </p:cxnSp>
      <p:sp>
        <p:nvSpPr>
          <p:cNvPr id="28" name="comparison-title-14-3">
            <a:extLst xmlns:a="http://schemas.openxmlformats.org/drawingml/2006/main">
              <a:ext uri="{FF2B5EF4-FFF2-40B4-BE49-F238E27FC236}">
                <a16:creationId xmlns:a16="http://schemas.microsoft.com/office/drawing/2014/main" id="{5C2D3DC4-DC4F-4EFC-B395-AABEF37B8ACF}"/>
              </a:ext>
            </a:extLst>
          </p:cNvPr>
          <p:cNvSpPr>
            <a:spLocks xmlns:a="http://schemas.openxmlformats.org/drawingml/2006/main" noGrp="1"/>
          </p:cNvSpPr>
          <p:nvPr/>
        </p:nvSpPr>
        <p:spPr>
          <a:xfrm xmlns:a="http://schemas.openxmlformats.org/drawingml/2006/main">
            <a:off x="81978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111111"/>
                </a:solidFill>
                <a:latin typeface="Arial"/>
                <a:ea typeface="Arial"/>
                <a:cs typeface="Arial"/>
              </a:defRPr>
            </a:pPr>
            <a:r>
              <a:rPr sz="2025" b="1">
                <a:solidFill>
                  <a:srgbClr val="111111"/>
                </a:solidFill>
                <a:latin typeface="Arial"/>
                <a:ea typeface="Arial"/>
                <a:cs typeface="Arial"/>
              </a:rPr>
              <a:t>Epsilon</a:t>
            </a:r>
          </a:p>
        </p:txBody>
      </p:sp>
      <p:sp>
        <p:nvSpPr>
          <p:cNvPr id="29" name="comparison-tagline-14-3">
            <a:extLst xmlns:a="http://schemas.openxmlformats.org/drawingml/2006/main">
              <a:ext uri="{FF2B5EF4-FFF2-40B4-BE49-F238E27FC236}">
                <a16:creationId xmlns:a16="http://schemas.microsoft.com/office/drawing/2014/main" id="{EB57AD3F-1429-48F7-B83D-C0F35F1CB6FE}"/>
              </a:ext>
            </a:extLst>
          </p:cNvPr>
          <p:cNvSpPr>
            <a:spLocks xmlns:a="http://schemas.openxmlformats.org/drawingml/2006/main" noGrp="1"/>
          </p:cNvSpPr>
          <p:nvPr/>
        </p:nvSpPr>
        <p:spPr>
          <a:xfrm xmlns:a="http://schemas.openxmlformats.org/drawingml/2006/main">
            <a:off x="81978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Data coverage</a:t>
            </a:r>
          </a:p>
        </p:txBody>
      </p:sp>
      <p:sp>
        <p:nvSpPr>
          <p:cNvPr id="30" name="comparison-bullet-14-3-marker-1">
            <a:extLst xmlns:a="http://schemas.openxmlformats.org/drawingml/2006/main">
              <a:ext uri="{FF2B5EF4-FFF2-40B4-BE49-F238E27FC236}">
                <a16:creationId xmlns:a16="http://schemas.microsoft.com/office/drawing/2014/main" id="{9EFADEF6-CE66-4838-AAC4-199734601E49}"/>
              </a:ext>
            </a:extLst>
          </p:cNvPr>
          <p:cNvSpPr>
            <a:spLocks xmlns:a="http://schemas.openxmlformats.org/drawingml/2006/main" noGrp="1"/>
          </p:cNvSpPr>
          <p:nvPr/>
        </p:nvSpPr>
        <p:spPr>
          <a:xfrm xmlns:a="http://schemas.openxmlformats.org/drawingml/2006/main">
            <a:off x="8197850" y="299085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1" name="comparison-bullet-14-3-text-1">
            <a:extLst xmlns:a="http://schemas.openxmlformats.org/drawingml/2006/main">
              <a:ext uri="{FF2B5EF4-FFF2-40B4-BE49-F238E27FC236}">
                <a16:creationId xmlns:a16="http://schemas.microsoft.com/office/drawing/2014/main" id="{E4E6E157-5F9D-4F76-82E4-512692B0EB00}"/>
              </a:ext>
            </a:extLst>
          </p:cNvPr>
          <p:cNvSpPr>
            <a:spLocks xmlns:a="http://schemas.openxmlformats.org/drawingml/2006/main" noGrp="1"/>
          </p:cNvSpPr>
          <p:nvPr/>
        </p:nvSpPr>
        <p:spPr>
          <a:xfrm xmlns:a="http://schemas.openxmlformats.org/drawingml/2006/main">
            <a:off x="84264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High sacrifices reward.</a:t>
            </a:r>
          </a:p>
        </p:txBody>
      </p:sp>
      <p:sp>
        <p:nvSpPr>
          <p:cNvPr id="32" name="comparison-bullet-14-3-marker-2">
            <a:extLst xmlns:a="http://schemas.openxmlformats.org/drawingml/2006/main">
              <a:ext uri="{FF2B5EF4-FFF2-40B4-BE49-F238E27FC236}">
                <a16:creationId xmlns:a16="http://schemas.microsoft.com/office/drawing/2014/main" id="{8A8BA959-1BC8-4242-9743-6FBE8AA32EDB}"/>
              </a:ext>
            </a:extLst>
          </p:cNvPr>
          <p:cNvSpPr>
            <a:spLocks xmlns:a="http://schemas.openxmlformats.org/drawingml/2006/main" noGrp="1"/>
          </p:cNvSpPr>
          <p:nvPr/>
        </p:nvSpPr>
        <p:spPr>
          <a:xfrm xmlns:a="http://schemas.openxmlformats.org/drawingml/2006/main">
            <a:off x="8197850" y="365760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3" name="comparison-bullet-14-3-text-2">
            <a:extLst xmlns:a="http://schemas.openxmlformats.org/drawingml/2006/main">
              <a:ext uri="{FF2B5EF4-FFF2-40B4-BE49-F238E27FC236}">
                <a16:creationId xmlns:a16="http://schemas.microsoft.com/office/drawing/2014/main" id="{FE9DC93C-C526-4EE3-AB4E-07FB72EE3017}"/>
              </a:ext>
            </a:extLst>
          </p:cNvPr>
          <p:cNvSpPr>
            <a:spLocks xmlns:a="http://schemas.openxmlformats.org/drawingml/2006/main" noGrp="1"/>
          </p:cNvSpPr>
          <p:nvPr/>
        </p:nvSpPr>
        <p:spPr>
          <a:xfrm xmlns:a="http://schemas.openxmlformats.org/drawingml/2006/main">
            <a:off x="84264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Low misses alternatives.</a:t>
            </a:r>
          </a:p>
        </p:txBody>
      </p:sp>
      <p:sp>
        <p:nvSpPr>
          <p:cNvPr id="34" name="comparison-bullet-14-3-marker-3">
            <a:extLst xmlns:a="http://schemas.openxmlformats.org/drawingml/2006/main">
              <a:ext uri="{FF2B5EF4-FFF2-40B4-BE49-F238E27FC236}">
                <a16:creationId xmlns:a16="http://schemas.microsoft.com/office/drawing/2014/main" id="{15340DB4-45A0-4782-B6A7-007AB919D3F8}"/>
              </a:ext>
            </a:extLst>
          </p:cNvPr>
          <p:cNvSpPr>
            <a:spLocks xmlns:a="http://schemas.openxmlformats.org/drawingml/2006/main" noGrp="1"/>
          </p:cNvSpPr>
          <p:nvPr/>
        </p:nvSpPr>
        <p:spPr>
          <a:xfrm xmlns:a="http://schemas.openxmlformats.org/drawingml/2006/main">
            <a:off x="8197850" y="432435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5" name="comparison-bullet-14-3-text-3">
            <a:extLst xmlns:a="http://schemas.openxmlformats.org/drawingml/2006/main">
              <a:ext uri="{FF2B5EF4-FFF2-40B4-BE49-F238E27FC236}">
                <a16:creationId xmlns:a16="http://schemas.microsoft.com/office/drawing/2014/main" id="{21650FF4-ECA6-4B00-A061-2264818F274F}"/>
              </a:ext>
            </a:extLst>
          </p:cNvPr>
          <p:cNvSpPr>
            <a:spLocks xmlns:a="http://schemas.openxmlformats.org/drawingml/2006/main" noGrp="1"/>
          </p:cNvSpPr>
          <p:nvPr/>
        </p:nvSpPr>
        <p:spPr>
          <a:xfrm xmlns:a="http://schemas.openxmlformats.org/drawingml/2006/main">
            <a:off x="84264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Decay timing matters.</a:t>
            </a:r>
          </a:p>
        </p:txBody>
      </p:sp>
      <p:sp>
        <p:nvSpPr>
          <p:cNvPr id="36" name="comparison-bullet-14-3-marker-4">
            <a:extLst xmlns:a="http://schemas.openxmlformats.org/drawingml/2006/main">
              <a:ext uri="{FF2B5EF4-FFF2-40B4-BE49-F238E27FC236}">
                <a16:creationId xmlns:a16="http://schemas.microsoft.com/office/drawing/2014/main" id="{B8610A3B-A923-4711-8DD2-2B7DF10E91BD}"/>
              </a:ext>
            </a:extLst>
          </p:cNvPr>
          <p:cNvSpPr>
            <a:spLocks xmlns:a="http://schemas.openxmlformats.org/drawingml/2006/main" noGrp="1"/>
          </p:cNvSpPr>
          <p:nvPr/>
        </p:nvSpPr>
        <p:spPr>
          <a:xfrm xmlns:a="http://schemas.openxmlformats.org/drawingml/2006/main">
            <a:off x="8197850" y="499110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7" name="comparison-bullet-14-3-text-4">
            <a:extLst xmlns:a="http://schemas.openxmlformats.org/drawingml/2006/main">
              <a:ext uri="{FF2B5EF4-FFF2-40B4-BE49-F238E27FC236}">
                <a16:creationId xmlns:a16="http://schemas.microsoft.com/office/drawing/2014/main" id="{F9E44CF7-2E04-49C5-9067-57F53B23AD3B}"/>
              </a:ext>
            </a:extLst>
          </p:cNvPr>
          <p:cNvSpPr>
            <a:spLocks xmlns:a="http://schemas.openxmlformats.org/drawingml/2006/main" noGrp="1"/>
          </p:cNvSpPr>
          <p:nvPr/>
        </p:nvSpPr>
        <p:spPr>
          <a:xfrm xmlns:a="http://schemas.openxmlformats.org/drawingml/2006/main">
            <a:off x="84264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Report schedule.</a:t>
            </a:r>
          </a:p>
        </p:txBody>
      </p:sp>
    </p:spTree>
    <p:extLst>
      <p:ext uri="{BB962C8B-B14F-4D97-AF65-F5344CB8AC3E}">
        <p14:creationId xmlns:p14="http://schemas.microsoft.com/office/powerpoint/2010/main" val="103210636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title-15">
            <a:extLst xmlns:a="http://schemas.openxmlformats.org/drawingml/2006/main">
              <a:ext uri="{FF2B5EF4-FFF2-40B4-BE49-F238E27FC236}">
                <a16:creationId xmlns:a16="http://schemas.microsoft.com/office/drawing/2014/main" id="{4CC5C7D8-E0E5-4783-B7C0-FB16C9AF2978}"/>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Checkpoint: diagnose no learning</a:t>
            </a:r>
          </a:p>
        </p:txBody>
      </p:sp>
      <p:sp>
        <p:nvSpPr>
          <p:cNvPr id="2" name="title-accent-15">
            <a:extLst xmlns:a="http://schemas.openxmlformats.org/drawingml/2006/main">
              <a:ext uri="{FF2B5EF4-FFF2-40B4-BE49-F238E27FC236}">
                <a16:creationId xmlns:a16="http://schemas.microsoft.com/office/drawing/2014/main" id="{3FBF6EBA-F643-482C-91E1-63FD638F6C09}"/>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7" name="title-rule-15"/>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5">
            <a:extLst xmlns:a="http://schemas.openxmlformats.org/drawingml/2006/main">
              <a:ext uri="{FF2B5EF4-FFF2-40B4-BE49-F238E27FC236}">
                <a16:creationId xmlns:a16="http://schemas.microsoft.com/office/drawing/2014/main" id="{52C2E000-9E93-44FD-9E7F-B222281C1E17}"/>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5  |  Lesson 2</a:t>
            </a:r>
          </a:p>
        </p:txBody>
      </p:sp>
      <p:sp>
        <p:nvSpPr>
          <p:cNvPr id="5" name="footer-number-15">
            <a:extLst xmlns:a="http://schemas.openxmlformats.org/drawingml/2006/main">
              <a:ext uri="{FF2B5EF4-FFF2-40B4-BE49-F238E27FC236}">
                <a16:creationId xmlns:a16="http://schemas.microsoft.com/office/drawing/2014/main" id="{80CEE1A5-1371-4E25-8E86-19DB158CEB43}"/>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15</a:t>
            </a:r>
          </a:p>
        </p:txBody>
      </p:sp>
      <p:sp>
        <p:nvSpPr>
          <p:cNvPr id="6" name="checkpoint-label-15">
            <a:extLst xmlns:a="http://schemas.openxmlformats.org/drawingml/2006/main">
              <a:ext uri="{FF2B5EF4-FFF2-40B4-BE49-F238E27FC236}">
                <a16:creationId xmlns:a16="http://schemas.microsoft.com/office/drawing/2014/main" id="{E35D016D-8A49-49E2-8B65-431F3E735131}"/>
              </a:ext>
            </a:extLst>
          </p:cNvPr>
          <p:cNvSpPr>
            <a:spLocks xmlns:a="http://schemas.openxmlformats.org/drawingml/2006/main" noGrp="1"/>
          </p:cNvSpPr>
          <p:nvPr/>
        </p:nvSpPr>
        <p:spPr>
          <a:xfrm xmlns:a="http://schemas.openxmlformats.org/drawingml/2006/main">
            <a:off x="400050" y="1590675"/>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3D8DFF"/>
                </a:solidFill>
                <a:latin typeface="Arial"/>
                <a:ea typeface="Arial"/>
                <a:cs typeface="Arial"/>
              </a:defRPr>
            </a:pPr>
            <a:r>
              <a:rPr sz="1275" b="1">
                <a:solidFill>
                  <a:srgbClr val="3D8DFF"/>
                </a:solidFill>
                <a:latin typeface="Arial"/>
                <a:ea typeface="Arial"/>
                <a:cs typeface="Arial"/>
              </a:rPr>
              <a:t>CHECKPOINT</a:t>
            </a:r>
          </a:p>
        </p:txBody>
      </p:sp>
      <p:sp>
        <p:nvSpPr>
          <p:cNvPr id="7" name="checkpoint-question-15">
            <a:extLst xmlns:a="http://schemas.openxmlformats.org/drawingml/2006/main">
              <a:ext uri="{FF2B5EF4-FFF2-40B4-BE49-F238E27FC236}">
                <a16:creationId xmlns:a16="http://schemas.microsoft.com/office/drawing/2014/main" id="{DE7B2DAF-7151-4690-9B77-84B57B0A19D1}"/>
              </a:ext>
            </a:extLst>
          </p:cNvPr>
          <p:cNvSpPr>
            <a:spLocks xmlns:a="http://schemas.openxmlformats.org/drawingml/2006/main" noGrp="1"/>
          </p:cNvSpPr>
          <p:nvPr/>
        </p:nvSpPr>
        <p:spPr>
          <a:xfrm xmlns:a="http://schemas.openxmlformats.org/drawingml/2006/main">
            <a:off x="400050" y="2047875"/>
            <a:ext cx="10668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150" b="1">
                <a:solidFill>
                  <a:srgbClr val="111111"/>
                </a:solidFill>
                <a:latin typeface="Arial"/>
                <a:ea typeface="Arial"/>
                <a:cs typeface="Arial"/>
              </a:defRPr>
            </a:pPr>
            <a:r>
              <a:rPr sz="3150" b="1">
                <a:solidFill>
                  <a:srgbClr val="111111"/>
                </a:solidFill>
                <a:latin typeface="Arial"/>
                <a:ea typeface="Arial"/>
                <a:cs typeface="Arial"/>
              </a:rPr>
              <a:t>A Q-table stays zero in a sparse-reward maze; epsilon decays to zero after ten episodes. What is the likely problem and first experiment?</a:t>
            </a:r>
          </a:p>
        </p:txBody>
      </p:sp>
      <p:cxnSp>
        <p:nvCxnSpPr>
          <p:cNvPr id="22" name="checkpoint-rule-15"/>
          <p:cNvCxnSpPr/>
          <p:nvPr/>
        </p:nvCxnSpPr>
        <p:spPr>
          <a:xfrm xmlns:a="http://schemas.openxmlformats.org/drawingml/2006/main">
            <a:off x="400050" y="3971925"/>
            <a:ext cx="11391900" cy="0"/>
          </a:xfrm>
          <a:prstGeom xmlns:a="http://schemas.openxmlformats.org/drawingml/2006/main" prst="straightConnector1">
            <a:avLst/>
          </a:prstGeom>
          <a:ln xmlns:a="http://schemas.openxmlformats.org/drawingml/2006/main" w="9525">
            <a:solidFill>
              <a:srgbClr val="B8BCC4"/>
            </a:solidFill>
            <a:prstDash val="solid"/>
          </a:ln>
        </p:spPr>
      </p:cxnSp>
      <p:sp>
        <p:nvSpPr>
          <p:cNvPr id="9" name="checkpoint-prompt-number-15-1">
            <a:extLst xmlns:a="http://schemas.openxmlformats.org/drawingml/2006/main">
              <a:ext uri="{FF2B5EF4-FFF2-40B4-BE49-F238E27FC236}">
                <a16:creationId xmlns:a16="http://schemas.microsoft.com/office/drawing/2014/main" id="{EFEB7B3B-ED05-4AE5-A6D6-54CACEE2D04B}"/>
              </a:ext>
            </a:extLst>
          </p:cNvPr>
          <p:cNvSpPr>
            <a:spLocks xmlns:a="http://schemas.openxmlformats.org/drawingml/2006/main" noGrp="1"/>
          </p:cNvSpPr>
          <p:nvPr/>
        </p:nvSpPr>
        <p:spPr>
          <a:xfrm xmlns:a="http://schemas.openxmlformats.org/drawingml/2006/main">
            <a:off x="40005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01</a:t>
            </a:r>
          </a:p>
        </p:txBody>
      </p:sp>
      <p:sp>
        <p:nvSpPr>
          <p:cNvPr id="10" name="checkpoint-prompt-15-1">
            <a:extLst xmlns:a="http://schemas.openxmlformats.org/drawingml/2006/main">
              <a:ext uri="{FF2B5EF4-FFF2-40B4-BE49-F238E27FC236}">
                <a16:creationId xmlns:a16="http://schemas.microsoft.com/office/drawing/2014/main" id="{04FA0D5A-B0F1-45D9-82B7-E5A7047A84DC}"/>
              </a:ext>
            </a:extLst>
          </p:cNvPr>
          <p:cNvSpPr>
            <a:spLocks xmlns:a="http://schemas.openxmlformats.org/drawingml/2006/main" noGrp="1"/>
          </p:cNvSpPr>
          <p:nvPr/>
        </p:nvSpPr>
        <p:spPr>
          <a:xfrm xmlns:a="http://schemas.openxmlformats.org/drawingml/2006/main">
            <a:off x="40005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Separate update logic from data coverage.</a:t>
            </a:r>
          </a:p>
        </p:txBody>
      </p:sp>
      <p:sp>
        <p:nvSpPr>
          <p:cNvPr id="11" name="checkpoint-prompt-number-15-2">
            <a:extLst xmlns:a="http://schemas.openxmlformats.org/drawingml/2006/main">
              <a:ext uri="{FF2B5EF4-FFF2-40B4-BE49-F238E27FC236}">
                <a16:creationId xmlns:a16="http://schemas.microsoft.com/office/drawing/2014/main" id="{D817263F-3005-404C-BB8B-DF675C29E952}"/>
              </a:ext>
            </a:extLst>
          </p:cNvPr>
          <p:cNvSpPr>
            <a:spLocks xmlns:a="http://schemas.openxmlformats.org/drawingml/2006/main" noGrp="1"/>
          </p:cNvSpPr>
          <p:nvPr/>
        </p:nvSpPr>
        <p:spPr>
          <a:xfrm xmlns:a="http://schemas.openxmlformats.org/drawingml/2006/main">
            <a:off x="426720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02</a:t>
            </a:r>
          </a:p>
        </p:txBody>
      </p:sp>
      <p:sp>
        <p:nvSpPr>
          <p:cNvPr id="12" name="checkpoint-prompt-15-2">
            <a:extLst xmlns:a="http://schemas.openxmlformats.org/drawingml/2006/main">
              <a:ext uri="{FF2B5EF4-FFF2-40B4-BE49-F238E27FC236}">
                <a16:creationId xmlns:a16="http://schemas.microsoft.com/office/drawing/2014/main" id="{37AB75D1-67F8-4B15-AAFD-287DDE3A300E}"/>
              </a:ext>
            </a:extLst>
          </p:cNvPr>
          <p:cNvSpPr>
            <a:spLocks xmlns:a="http://schemas.openxmlformats.org/drawingml/2006/main" noGrp="1"/>
          </p:cNvSpPr>
          <p:nvPr/>
        </p:nvSpPr>
        <p:spPr>
          <a:xfrm xmlns:a="http://schemas.openxmlformats.org/drawingml/2006/main">
            <a:off x="426720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Inspect visited actions and rewards.</a:t>
            </a:r>
          </a:p>
        </p:txBody>
      </p:sp>
      <p:sp>
        <p:nvSpPr>
          <p:cNvPr id="13" name="checkpoint-prompt-number-15-3">
            <a:extLst xmlns:a="http://schemas.openxmlformats.org/drawingml/2006/main">
              <a:ext uri="{FF2B5EF4-FFF2-40B4-BE49-F238E27FC236}">
                <a16:creationId xmlns:a16="http://schemas.microsoft.com/office/drawing/2014/main" id="{CDE30B28-4D61-4E78-BFF3-7A79F295434D}"/>
              </a:ext>
            </a:extLst>
          </p:cNvPr>
          <p:cNvSpPr>
            <a:spLocks xmlns:a="http://schemas.openxmlformats.org/drawingml/2006/main" noGrp="1"/>
          </p:cNvSpPr>
          <p:nvPr/>
        </p:nvSpPr>
        <p:spPr>
          <a:xfrm xmlns:a="http://schemas.openxmlformats.org/drawingml/2006/main">
            <a:off x="813435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03</a:t>
            </a:r>
          </a:p>
        </p:txBody>
      </p:sp>
      <p:sp>
        <p:nvSpPr>
          <p:cNvPr id="14" name="checkpoint-prompt-15-3">
            <a:extLst xmlns:a="http://schemas.openxmlformats.org/drawingml/2006/main">
              <a:ext uri="{FF2B5EF4-FFF2-40B4-BE49-F238E27FC236}">
                <a16:creationId xmlns:a16="http://schemas.microsoft.com/office/drawing/2014/main" id="{85B4C8EA-2560-4210-B6FA-59E8E899D74F}"/>
              </a:ext>
            </a:extLst>
          </p:cNvPr>
          <p:cNvSpPr>
            <a:spLocks xmlns:a="http://schemas.openxmlformats.org/drawingml/2006/main" noGrp="1"/>
          </p:cNvSpPr>
          <p:nvPr/>
        </p:nvSpPr>
        <p:spPr>
          <a:xfrm xmlns:a="http://schemas.openxmlformats.org/drawingml/2006/main">
            <a:off x="813435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Change one schedule variable.</a:t>
            </a:r>
          </a:p>
        </p:txBody>
      </p:sp>
    </p:spTree>
    <p:extLst>
      <p:ext uri="{BB962C8B-B14F-4D97-AF65-F5344CB8AC3E}">
        <p14:creationId xmlns:p14="http://schemas.microsoft.com/office/powerpoint/2010/main" val="180703567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title-16">
            <a:extLst xmlns:a="http://schemas.openxmlformats.org/drawingml/2006/main">
              <a:ext uri="{FF2B5EF4-FFF2-40B4-BE49-F238E27FC236}">
                <a16:creationId xmlns:a16="http://schemas.microsoft.com/office/drawing/2014/main" id="{9EA6CE4C-AA5D-491D-AE12-328763E7993A}"/>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Validate Q-learning against a known-model oracle</a:t>
            </a:r>
          </a:p>
        </p:txBody>
      </p:sp>
      <p:sp>
        <p:nvSpPr>
          <p:cNvPr id="2" name="title-accent-16">
            <a:extLst xmlns:a="http://schemas.openxmlformats.org/drawingml/2006/main">
              <a:ext uri="{FF2B5EF4-FFF2-40B4-BE49-F238E27FC236}">
                <a16:creationId xmlns:a16="http://schemas.microsoft.com/office/drawing/2014/main" id="{96A7167F-5194-4A7A-9A5E-31223D77CC28}"/>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8" name="title-rule-16"/>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6">
            <a:extLst xmlns:a="http://schemas.openxmlformats.org/drawingml/2006/main">
              <a:ext uri="{FF2B5EF4-FFF2-40B4-BE49-F238E27FC236}">
                <a16:creationId xmlns:a16="http://schemas.microsoft.com/office/drawing/2014/main" id="{CADF91FE-152E-482D-830A-F9FEFF4648AB}"/>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5  |  Lesson 2</a:t>
            </a:r>
          </a:p>
        </p:txBody>
      </p:sp>
      <p:sp>
        <p:nvSpPr>
          <p:cNvPr id="5" name="footer-number-16">
            <a:extLst xmlns:a="http://schemas.openxmlformats.org/drawingml/2006/main">
              <a:ext uri="{FF2B5EF4-FFF2-40B4-BE49-F238E27FC236}">
                <a16:creationId xmlns:a16="http://schemas.microsoft.com/office/drawing/2014/main" id="{AE63520F-659D-46BD-9FDC-A3CB0BAFB61F}"/>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16</a:t>
            </a:r>
          </a:p>
        </p:txBody>
      </p:sp>
      <p:sp>
        <p:nvSpPr>
          <p:cNvPr id="6" name="claim-16">
            <a:extLst xmlns:a="http://schemas.openxmlformats.org/drawingml/2006/main">
              <a:ext uri="{FF2B5EF4-FFF2-40B4-BE49-F238E27FC236}">
                <a16:creationId xmlns:a16="http://schemas.microsoft.com/office/drawing/2014/main" id="{0141DF52-1EC6-4967-A6B3-86E1A5B65985}"/>
              </a:ext>
            </a:extLst>
          </p:cNvPr>
          <p:cNvSpPr>
            <a:spLocks xmlns:a="http://schemas.openxmlformats.org/drawingml/2006/main" noGrp="1"/>
          </p:cNvSpPr>
          <p:nvPr/>
        </p:nvSpPr>
        <p:spPr>
          <a:xfrm xmlns:a="http://schemas.openxmlformats.org/drawingml/2006/main">
            <a:off x="400050" y="1581150"/>
            <a:ext cx="7429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150" b="1">
                <a:solidFill>
                  <a:srgbClr val="111111"/>
                </a:solidFill>
                <a:latin typeface="Arial"/>
                <a:ea typeface="Arial"/>
                <a:cs typeface="Arial"/>
              </a:defRPr>
            </a:pPr>
            <a:r>
              <a:rPr sz="3150" b="1">
                <a:solidFill>
                  <a:srgbClr val="111111"/>
                </a:solidFill>
                <a:latin typeface="Arial"/>
                <a:ea typeface="Arial"/>
                <a:cs typeface="Arial"/>
              </a:rPr>
              <a:t>On small environments, compare the learned greedy policy with value iteration while preserving agent-model separation.</a:t>
            </a:r>
          </a:p>
        </p:txBody>
      </p:sp>
      <p:sp>
        <p:nvSpPr>
          <p:cNvPr id="7" name="claim-panel-16">
            <a:extLst xmlns:a="http://schemas.openxmlformats.org/drawingml/2006/main">
              <a:ext uri="{FF2B5EF4-FFF2-40B4-BE49-F238E27FC236}">
                <a16:creationId xmlns:a16="http://schemas.microsoft.com/office/drawing/2014/main" id="{9476659B-06D5-4541-B565-8D3D23C61700}"/>
              </a:ext>
            </a:extLst>
          </p:cNvPr>
          <p:cNvSpPr>
            <a:spLocks xmlns:a="http://schemas.openxmlformats.org/drawingml/2006/main" noGrp="1"/>
          </p:cNvSpPr>
          <p:nvPr/>
        </p:nvSpPr>
        <p:spPr>
          <a:xfrm xmlns:a="http://schemas.openxmlformats.org/drawingml/2006/main">
            <a:off x="8191500" y="1581150"/>
            <a:ext cx="3600450" cy="1809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8" name="claim-keyword-16">
            <a:extLst xmlns:a="http://schemas.openxmlformats.org/drawingml/2006/main">
              <a:ext uri="{FF2B5EF4-FFF2-40B4-BE49-F238E27FC236}">
                <a16:creationId xmlns:a16="http://schemas.microsoft.com/office/drawing/2014/main" id="{27337C85-3999-42DC-86F4-A33A857A4CD1}"/>
              </a:ext>
            </a:extLst>
          </p:cNvPr>
          <p:cNvSpPr>
            <a:spLocks xmlns:a="http://schemas.openxmlformats.org/drawingml/2006/main" noGrp="1"/>
          </p:cNvSpPr>
          <p:nvPr/>
        </p:nvSpPr>
        <p:spPr>
          <a:xfrm xmlns:a="http://schemas.openxmlformats.org/drawingml/2006/main">
            <a:off x="8524875" y="1885950"/>
            <a:ext cx="295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700" b="1">
                <a:solidFill>
                  <a:srgbClr val="3D8DFF"/>
                </a:solidFill>
                <a:latin typeface="Arial"/>
                <a:ea typeface="Arial"/>
                <a:cs typeface="Arial"/>
              </a:defRPr>
            </a:pPr>
            <a:r>
              <a:rPr sz="2700" b="1">
                <a:solidFill>
                  <a:srgbClr val="3D8DFF"/>
                </a:solidFill>
                <a:latin typeface="Arial"/>
                <a:ea typeface="Arial"/>
                <a:cs typeface="Arial"/>
              </a:rPr>
              <a:t>Ablation</a:t>
            </a:r>
          </a:p>
        </p:txBody>
      </p:sp>
      <p:sp>
        <p:nvSpPr>
          <p:cNvPr id="9" name="claim-keyword-detail-16">
            <a:extLst xmlns:a="http://schemas.openxmlformats.org/drawingml/2006/main">
              <a:ext uri="{FF2B5EF4-FFF2-40B4-BE49-F238E27FC236}">
                <a16:creationId xmlns:a16="http://schemas.microsoft.com/office/drawing/2014/main" id="{F5395726-A3F2-497D-A787-4C39E9C38B81}"/>
              </a:ext>
            </a:extLst>
          </p:cNvPr>
          <p:cNvSpPr>
            <a:spLocks xmlns:a="http://schemas.openxmlformats.org/drawingml/2006/main" noGrp="1"/>
          </p:cNvSpPr>
          <p:nvPr/>
        </p:nvSpPr>
        <p:spPr>
          <a:xfrm xmlns:a="http://schemas.openxmlformats.org/drawingml/2006/main">
            <a:off x="8524875" y="2609850"/>
            <a:ext cx="295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111111"/>
                </a:solidFill>
                <a:latin typeface="Arial"/>
                <a:ea typeface="Arial"/>
                <a:cs typeface="Arial"/>
              </a:defRPr>
            </a:pPr>
            <a:r>
              <a:rPr sz="1425" b="0">
                <a:solidFill>
                  <a:srgbClr val="111111"/>
                </a:solidFill>
                <a:latin typeface="Arial"/>
                <a:ea typeface="Arial"/>
                <a:cs typeface="Arial"/>
              </a:rPr>
              <a:t>Controlled comparisons reveal whether exploration, update logic, or evaluation causes failure.</a:t>
            </a:r>
          </a:p>
        </p:txBody>
      </p:sp>
      <p:sp>
        <p:nvSpPr>
          <p:cNvPr id="10" name="claim-detail-16-marker-1">
            <a:extLst xmlns:a="http://schemas.openxmlformats.org/drawingml/2006/main">
              <a:ext uri="{FF2B5EF4-FFF2-40B4-BE49-F238E27FC236}">
                <a16:creationId xmlns:a16="http://schemas.microsoft.com/office/drawing/2014/main" id="{33A6C385-422D-4542-8354-C4107C2027C1}"/>
              </a:ext>
            </a:extLst>
          </p:cNvPr>
          <p:cNvSpPr>
            <a:spLocks xmlns:a="http://schemas.openxmlformats.org/drawingml/2006/main" noGrp="1"/>
          </p:cNvSpPr>
          <p:nvPr/>
        </p:nvSpPr>
        <p:spPr>
          <a:xfrm xmlns:a="http://schemas.openxmlformats.org/drawingml/2006/main">
            <a:off x="400050" y="38481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claim-detail-16-text-1">
            <a:extLst xmlns:a="http://schemas.openxmlformats.org/drawingml/2006/main">
              <a:ext uri="{FF2B5EF4-FFF2-40B4-BE49-F238E27FC236}">
                <a16:creationId xmlns:a16="http://schemas.microsoft.com/office/drawing/2014/main" id="{EE3D6BB4-EB3A-44BC-9A5B-871C495DBE0C}"/>
              </a:ext>
            </a:extLst>
          </p:cNvPr>
          <p:cNvSpPr>
            <a:spLocks xmlns:a="http://schemas.openxmlformats.org/drawingml/2006/main" noGrp="1"/>
          </p:cNvSpPr>
          <p:nvPr/>
        </p:nvSpPr>
        <p:spPr>
          <a:xfrm xmlns:a="http://schemas.openxmlformats.org/drawingml/2006/main">
            <a:off x="628650" y="37623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Unit-test one-step updates with hand values.</a:t>
            </a:r>
          </a:p>
        </p:txBody>
      </p:sp>
      <p:sp>
        <p:nvSpPr>
          <p:cNvPr id="12" name="claim-detail-16-marker-2">
            <a:extLst xmlns:a="http://schemas.openxmlformats.org/drawingml/2006/main">
              <a:ext uri="{FF2B5EF4-FFF2-40B4-BE49-F238E27FC236}">
                <a16:creationId xmlns:a16="http://schemas.microsoft.com/office/drawing/2014/main" id="{AC8777F3-63B6-410B-A936-9BD9361372C6}"/>
              </a:ext>
            </a:extLst>
          </p:cNvPr>
          <p:cNvSpPr>
            <a:spLocks xmlns:a="http://schemas.openxmlformats.org/drawingml/2006/main" noGrp="1"/>
          </p:cNvSpPr>
          <p:nvPr/>
        </p:nvSpPr>
        <p:spPr>
          <a:xfrm xmlns:a="http://schemas.openxmlformats.org/drawingml/2006/main">
            <a:off x="400050" y="44577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claim-detail-16-text-2">
            <a:extLst xmlns:a="http://schemas.openxmlformats.org/drawingml/2006/main">
              <a:ext uri="{FF2B5EF4-FFF2-40B4-BE49-F238E27FC236}">
                <a16:creationId xmlns:a16="http://schemas.microsoft.com/office/drawing/2014/main" id="{018D192A-E3A0-4A57-B76C-E8F9390A1D36}"/>
              </a:ext>
            </a:extLst>
          </p:cNvPr>
          <p:cNvSpPr>
            <a:spLocks xmlns:a="http://schemas.openxmlformats.org/drawingml/2006/main" noGrp="1"/>
          </p:cNvSpPr>
          <p:nvPr/>
        </p:nvSpPr>
        <p:spPr>
          <a:xfrm xmlns:a="http://schemas.openxmlformats.org/drawingml/2006/main">
            <a:off x="628650" y="43719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Run multiple seeds and report mean plus variability.</a:t>
            </a:r>
          </a:p>
        </p:txBody>
      </p:sp>
      <p:sp>
        <p:nvSpPr>
          <p:cNvPr id="14" name="claim-detail-16-marker-3">
            <a:extLst xmlns:a="http://schemas.openxmlformats.org/drawingml/2006/main">
              <a:ext uri="{FF2B5EF4-FFF2-40B4-BE49-F238E27FC236}">
                <a16:creationId xmlns:a16="http://schemas.microsoft.com/office/drawing/2014/main" id="{8DF07781-0938-45D0-A228-21F6CE37724E}"/>
              </a:ext>
            </a:extLst>
          </p:cNvPr>
          <p:cNvSpPr>
            <a:spLocks xmlns:a="http://schemas.openxmlformats.org/drawingml/2006/main" noGrp="1"/>
          </p:cNvSpPr>
          <p:nvPr/>
        </p:nvSpPr>
        <p:spPr>
          <a:xfrm xmlns:a="http://schemas.openxmlformats.org/drawingml/2006/main">
            <a:off x="400050" y="50673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claim-detail-16-text-3">
            <a:extLst xmlns:a="http://schemas.openxmlformats.org/drawingml/2006/main">
              <a:ext uri="{FF2B5EF4-FFF2-40B4-BE49-F238E27FC236}">
                <a16:creationId xmlns:a16="http://schemas.microsoft.com/office/drawing/2014/main" id="{DB6697A2-3C4B-417D-AA1C-E7E6C687B915}"/>
              </a:ext>
            </a:extLst>
          </p:cNvPr>
          <p:cNvSpPr>
            <a:spLocks xmlns:a="http://schemas.openxmlformats.org/drawingml/2006/main" noGrp="1"/>
          </p:cNvSpPr>
          <p:nvPr/>
        </p:nvSpPr>
        <p:spPr>
          <a:xfrm xmlns:a="http://schemas.openxmlformats.org/drawingml/2006/main">
            <a:off x="628650" y="49815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Evaluate without exploration or learning and check terminal behavior.</a:t>
            </a:r>
          </a:p>
        </p:txBody>
      </p:sp>
    </p:spTree>
    <p:extLst>
      <p:ext uri="{BB962C8B-B14F-4D97-AF65-F5344CB8AC3E}">
        <p14:creationId xmlns:p14="http://schemas.microsoft.com/office/powerpoint/2010/main" val="102913418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17">
            <a:extLst xmlns:a="http://schemas.openxmlformats.org/drawingml/2006/main">
              <a:ext uri="{FF2B5EF4-FFF2-40B4-BE49-F238E27FC236}">
                <a16:creationId xmlns:a16="http://schemas.microsoft.com/office/drawing/2014/main" id="{FCEB9133-EF39-42AB-856D-E49A62222F3B}"/>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Key takeaways</a:t>
            </a:r>
          </a:p>
        </p:txBody>
      </p:sp>
      <p:sp>
        <p:nvSpPr>
          <p:cNvPr id="2" name="title-accent-17">
            <a:extLst xmlns:a="http://schemas.openxmlformats.org/drawingml/2006/main">
              <a:ext uri="{FF2B5EF4-FFF2-40B4-BE49-F238E27FC236}">
                <a16:creationId xmlns:a16="http://schemas.microsoft.com/office/drawing/2014/main" id="{370C34B5-31F5-42B0-BB66-FED02530F5A2}"/>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1" name="title-rule-17"/>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7">
            <a:extLst xmlns:a="http://schemas.openxmlformats.org/drawingml/2006/main">
              <a:ext uri="{FF2B5EF4-FFF2-40B4-BE49-F238E27FC236}">
                <a16:creationId xmlns:a16="http://schemas.microsoft.com/office/drawing/2014/main" id="{AF7351DA-2926-41CB-87E5-1EA908825325}"/>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5  |  Lesson 2</a:t>
            </a:r>
          </a:p>
        </p:txBody>
      </p:sp>
      <p:sp>
        <p:nvSpPr>
          <p:cNvPr id="5" name="footer-number-17">
            <a:extLst xmlns:a="http://schemas.openxmlformats.org/drawingml/2006/main">
              <a:ext uri="{FF2B5EF4-FFF2-40B4-BE49-F238E27FC236}">
                <a16:creationId xmlns:a16="http://schemas.microsoft.com/office/drawing/2014/main" id="{CF113602-9F09-4225-9AC3-192D4DA150FD}"/>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17</a:t>
            </a:r>
          </a:p>
        </p:txBody>
      </p:sp>
      <p:sp>
        <p:nvSpPr>
          <p:cNvPr id="6" name="summary-number-17-1">
            <a:extLst xmlns:a="http://schemas.openxmlformats.org/drawingml/2006/main">
              <a:ext uri="{FF2B5EF4-FFF2-40B4-BE49-F238E27FC236}">
                <a16:creationId xmlns:a16="http://schemas.microsoft.com/office/drawing/2014/main" id="{FF1D2BCD-1593-4328-8E81-90E8C4601707}"/>
              </a:ext>
            </a:extLst>
          </p:cNvPr>
          <p:cNvSpPr>
            <a:spLocks xmlns:a="http://schemas.openxmlformats.org/drawingml/2006/main" noGrp="1"/>
          </p:cNvSpPr>
          <p:nvPr/>
        </p:nvSpPr>
        <p:spPr>
          <a:xfrm xmlns:a="http://schemas.openxmlformats.org/drawingml/2006/main">
            <a:off x="400050" y="1619250"/>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3D8DFF"/>
                </a:solidFill>
                <a:latin typeface="Arial"/>
                <a:ea typeface="Arial"/>
                <a:cs typeface="Arial"/>
              </a:defRPr>
            </a:pPr>
            <a:r>
              <a:rPr sz="1950" b="1">
                <a:solidFill>
                  <a:srgbClr val="3D8DFF"/>
                </a:solidFill>
                <a:latin typeface="Arial"/>
                <a:ea typeface="Arial"/>
                <a:cs typeface="Arial"/>
              </a:rPr>
              <a:t>01</a:t>
            </a:r>
          </a:p>
        </p:txBody>
      </p:sp>
      <p:cxnSp>
        <p:nvCxnSpPr>
          <p:cNvPr id="25" name="summary-rule-17-1"/>
          <p:cNvCxnSpPr/>
          <p:nvPr/>
        </p:nvCxnSpPr>
        <p:spPr>
          <a:xfrm xmlns:a="http://schemas.openxmlformats.org/drawingml/2006/main">
            <a:off x="1123950" y="1924050"/>
            <a:ext cx="990600" cy="0"/>
          </a:xfrm>
          <a:prstGeom xmlns:a="http://schemas.openxmlformats.org/drawingml/2006/main" prst="straightConnector1">
            <a:avLst/>
          </a:prstGeom>
          <a:ln xmlns:a="http://schemas.openxmlformats.org/drawingml/2006/main" w="9525">
            <a:solidFill>
              <a:srgbClr val="B8BCC4"/>
            </a:solidFill>
            <a:prstDash val="solid"/>
          </a:ln>
        </p:spPr>
      </p:cxnSp>
      <p:sp>
        <p:nvSpPr>
          <p:cNvPr id="8" name="summary-text-17-1">
            <a:extLst xmlns:a="http://schemas.openxmlformats.org/drawingml/2006/main">
              <a:ext uri="{FF2B5EF4-FFF2-40B4-BE49-F238E27FC236}">
                <a16:creationId xmlns:a16="http://schemas.microsoft.com/office/drawing/2014/main" id="{E49884FB-4D3B-4C62-A4CC-D9C7CD3F9211}"/>
              </a:ext>
            </a:extLst>
          </p:cNvPr>
          <p:cNvSpPr>
            <a:spLocks xmlns:a="http://schemas.openxmlformats.org/drawingml/2006/main" noGrp="1"/>
          </p:cNvSpPr>
          <p:nvPr/>
        </p:nvSpPr>
        <p:spPr>
          <a:xfrm xmlns:a="http://schemas.openxmlformats.org/drawingml/2006/main">
            <a:off x="2324100" y="1619250"/>
            <a:ext cx="914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1">
                <a:solidFill>
                  <a:srgbClr val="111111"/>
                </a:solidFill>
                <a:latin typeface="Arial"/>
                <a:ea typeface="Arial"/>
                <a:cs typeface="Arial"/>
              </a:defRPr>
            </a:pPr>
            <a:r>
              <a:rPr sz="1725" b="1">
                <a:solidFill>
                  <a:srgbClr val="111111"/>
                </a:solidFill>
                <a:latin typeface="Arial"/>
                <a:ea typeface="Arial"/>
                <a:cs typeface="Arial"/>
              </a:rPr>
              <a:t>Q-learning is off-policy TD control.</a:t>
            </a:r>
          </a:p>
        </p:txBody>
      </p:sp>
      <p:sp>
        <p:nvSpPr>
          <p:cNvPr id="9" name="summary-number-17-2">
            <a:extLst xmlns:a="http://schemas.openxmlformats.org/drawingml/2006/main">
              <a:ext uri="{FF2B5EF4-FFF2-40B4-BE49-F238E27FC236}">
                <a16:creationId xmlns:a16="http://schemas.microsoft.com/office/drawing/2014/main" id="{61B62397-D3C0-4AA1-B691-00AECD76B44D}"/>
              </a:ext>
            </a:extLst>
          </p:cNvPr>
          <p:cNvSpPr>
            <a:spLocks xmlns:a="http://schemas.openxmlformats.org/drawingml/2006/main" noGrp="1"/>
          </p:cNvSpPr>
          <p:nvPr/>
        </p:nvSpPr>
        <p:spPr>
          <a:xfrm xmlns:a="http://schemas.openxmlformats.org/drawingml/2006/main">
            <a:off x="400050" y="2609850"/>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3D8DFF"/>
                </a:solidFill>
                <a:latin typeface="Arial"/>
                <a:ea typeface="Arial"/>
                <a:cs typeface="Arial"/>
              </a:defRPr>
            </a:pPr>
            <a:r>
              <a:rPr sz="1950" b="1">
                <a:solidFill>
                  <a:srgbClr val="3D8DFF"/>
                </a:solidFill>
                <a:latin typeface="Arial"/>
                <a:ea typeface="Arial"/>
                <a:cs typeface="Arial"/>
              </a:rPr>
              <a:t>02</a:t>
            </a:r>
          </a:p>
        </p:txBody>
      </p:sp>
      <p:cxnSp>
        <p:nvCxnSpPr>
          <p:cNvPr id="28" name="summary-rule-17-2"/>
          <p:cNvCxnSpPr/>
          <p:nvPr/>
        </p:nvCxnSpPr>
        <p:spPr>
          <a:xfrm xmlns:a="http://schemas.openxmlformats.org/drawingml/2006/main">
            <a:off x="1123950" y="2914650"/>
            <a:ext cx="990600" cy="0"/>
          </a:xfrm>
          <a:prstGeom xmlns:a="http://schemas.openxmlformats.org/drawingml/2006/main" prst="straightConnector1">
            <a:avLst/>
          </a:prstGeom>
          <a:ln xmlns:a="http://schemas.openxmlformats.org/drawingml/2006/main" w="9525">
            <a:solidFill>
              <a:srgbClr val="B8BCC4"/>
            </a:solidFill>
            <a:prstDash val="solid"/>
          </a:ln>
        </p:spPr>
      </p:cxnSp>
      <p:sp>
        <p:nvSpPr>
          <p:cNvPr id="11" name="summary-text-17-2">
            <a:extLst xmlns:a="http://schemas.openxmlformats.org/drawingml/2006/main">
              <a:ext uri="{FF2B5EF4-FFF2-40B4-BE49-F238E27FC236}">
                <a16:creationId xmlns:a16="http://schemas.microsoft.com/office/drawing/2014/main" id="{1195E603-88C3-4C7F-A3E9-9303257EDF72}"/>
              </a:ext>
            </a:extLst>
          </p:cNvPr>
          <p:cNvSpPr>
            <a:spLocks xmlns:a="http://schemas.openxmlformats.org/drawingml/2006/main" noGrp="1"/>
          </p:cNvSpPr>
          <p:nvPr/>
        </p:nvSpPr>
        <p:spPr>
          <a:xfrm xmlns:a="http://schemas.openxmlformats.org/drawingml/2006/main">
            <a:off x="2324100" y="2609850"/>
            <a:ext cx="914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0">
                <a:solidFill>
                  <a:srgbClr val="111111"/>
                </a:solidFill>
                <a:latin typeface="Arial"/>
                <a:ea typeface="Arial"/>
                <a:cs typeface="Arial"/>
              </a:defRPr>
            </a:pPr>
            <a:r>
              <a:rPr sz="1725" b="0">
                <a:solidFill>
                  <a:srgbClr val="111111"/>
                </a:solidFill>
                <a:latin typeface="Arial"/>
                <a:ea typeface="Arial"/>
                <a:cs typeface="Arial"/>
              </a:rPr>
              <a:t>The target is reward plus discounted maximum next Q.</a:t>
            </a:r>
          </a:p>
        </p:txBody>
      </p:sp>
      <p:sp>
        <p:nvSpPr>
          <p:cNvPr id="12" name="summary-number-17-3">
            <a:extLst xmlns:a="http://schemas.openxmlformats.org/drawingml/2006/main">
              <a:ext uri="{FF2B5EF4-FFF2-40B4-BE49-F238E27FC236}">
                <a16:creationId xmlns:a16="http://schemas.microsoft.com/office/drawing/2014/main" id="{5A0B5799-FA70-457C-9B3E-3C3FB3C24C24}"/>
              </a:ext>
            </a:extLst>
          </p:cNvPr>
          <p:cNvSpPr>
            <a:spLocks xmlns:a="http://schemas.openxmlformats.org/drawingml/2006/main" noGrp="1"/>
          </p:cNvSpPr>
          <p:nvPr/>
        </p:nvSpPr>
        <p:spPr>
          <a:xfrm xmlns:a="http://schemas.openxmlformats.org/drawingml/2006/main">
            <a:off x="400050" y="3600450"/>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3D8DFF"/>
                </a:solidFill>
                <a:latin typeface="Arial"/>
                <a:ea typeface="Arial"/>
                <a:cs typeface="Arial"/>
              </a:defRPr>
            </a:pPr>
            <a:r>
              <a:rPr sz="1950" b="1">
                <a:solidFill>
                  <a:srgbClr val="3D8DFF"/>
                </a:solidFill>
                <a:latin typeface="Arial"/>
                <a:ea typeface="Arial"/>
                <a:cs typeface="Arial"/>
              </a:rPr>
              <a:t>03</a:t>
            </a:r>
          </a:p>
        </p:txBody>
      </p:sp>
      <p:cxnSp>
        <p:nvCxnSpPr>
          <p:cNvPr id="31" name="summary-rule-17-3"/>
          <p:cNvCxnSpPr/>
          <p:nvPr/>
        </p:nvCxnSpPr>
        <p:spPr>
          <a:xfrm xmlns:a="http://schemas.openxmlformats.org/drawingml/2006/main">
            <a:off x="1123950" y="3905250"/>
            <a:ext cx="990600" cy="0"/>
          </a:xfrm>
          <a:prstGeom xmlns:a="http://schemas.openxmlformats.org/drawingml/2006/main" prst="straightConnector1">
            <a:avLst/>
          </a:prstGeom>
          <a:ln xmlns:a="http://schemas.openxmlformats.org/drawingml/2006/main" w="9525">
            <a:solidFill>
              <a:srgbClr val="B8BCC4"/>
            </a:solidFill>
            <a:prstDash val="solid"/>
          </a:ln>
        </p:spPr>
      </p:cxnSp>
      <p:sp>
        <p:nvSpPr>
          <p:cNvPr id="14" name="summary-text-17-3">
            <a:extLst xmlns:a="http://schemas.openxmlformats.org/drawingml/2006/main">
              <a:ext uri="{FF2B5EF4-FFF2-40B4-BE49-F238E27FC236}">
                <a16:creationId xmlns:a16="http://schemas.microsoft.com/office/drawing/2014/main" id="{5A8688D5-EDD1-4F3C-897E-948D28CF382B}"/>
              </a:ext>
            </a:extLst>
          </p:cNvPr>
          <p:cNvSpPr>
            <a:spLocks xmlns:a="http://schemas.openxmlformats.org/drawingml/2006/main" noGrp="1"/>
          </p:cNvSpPr>
          <p:nvPr/>
        </p:nvSpPr>
        <p:spPr>
          <a:xfrm xmlns:a="http://schemas.openxmlformats.org/drawingml/2006/main">
            <a:off x="2324100" y="3600450"/>
            <a:ext cx="914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0">
                <a:solidFill>
                  <a:srgbClr val="111111"/>
                </a:solidFill>
                <a:latin typeface="Arial"/>
                <a:ea typeface="Arial"/>
                <a:cs typeface="Arial"/>
              </a:defRPr>
            </a:pPr>
            <a:r>
              <a:rPr sz="1725" b="0">
                <a:solidFill>
                  <a:srgbClr val="111111"/>
                </a:solidFill>
                <a:latin typeface="Arial"/>
                <a:ea typeface="Arial"/>
                <a:cs typeface="Arial"/>
              </a:rPr>
              <a:t>Terminal transitions never bootstrap.</a:t>
            </a:r>
          </a:p>
        </p:txBody>
      </p:sp>
      <p:sp>
        <p:nvSpPr>
          <p:cNvPr id="15" name="summary-number-17-4">
            <a:extLst xmlns:a="http://schemas.openxmlformats.org/drawingml/2006/main">
              <a:ext uri="{FF2B5EF4-FFF2-40B4-BE49-F238E27FC236}">
                <a16:creationId xmlns:a16="http://schemas.microsoft.com/office/drawing/2014/main" id="{3617D717-1833-4B0B-BC55-74C4775836CB}"/>
              </a:ext>
            </a:extLst>
          </p:cNvPr>
          <p:cNvSpPr>
            <a:spLocks xmlns:a="http://schemas.openxmlformats.org/drawingml/2006/main" noGrp="1"/>
          </p:cNvSpPr>
          <p:nvPr/>
        </p:nvSpPr>
        <p:spPr>
          <a:xfrm xmlns:a="http://schemas.openxmlformats.org/drawingml/2006/main">
            <a:off x="400050" y="4591050"/>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3D8DFF"/>
                </a:solidFill>
                <a:latin typeface="Arial"/>
                <a:ea typeface="Arial"/>
                <a:cs typeface="Arial"/>
              </a:defRPr>
            </a:pPr>
            <a:r>
              <a:rPr sz="1950" b="1">
                <a:solidFill>
                  <a:srgbClr val="3D8DFF"/>
                </a:solidFill>
                <a:latin typeface="Arial"/>
                <a:ea typeface="Arial"/>
                <a:cs typeface="Arial"/>
              </a:rPr>
              <a:t>04</a:t>
            </a:r>
          </a:p>
        </p:txBody>
      </p:sp>
      <p:cxnSp>
        <p:nvCxnSpPr>
          <p:cNvPr id="34" name="summary-rule-17-4"/>
          <p:cNvCxnSpPr/>
          <p:nvPr/>
        </p:nvCxnSpPr>
        <p:spPr>
          <a:xfrm xmlns:a="http://schemas.openxmlformats.org/drawingml/2006/main">
            <a:off x="1123950" y="4895850"/>
            <a:ext cx="990600" cy="0"/>
          </a:xfrm>
          <a:prstGeom xmlns:a="http://schemas.openxmlformats.org/drawingml/2006/main" prst="straightConnector1">
            <a:avLst/>
          </a:prstGeom>
          <a:ln xmlns:a="http://schemas.openxmlformats.org/drawingml/2006/main" w="9525">
            <a:solidFill>
              <a:srgbClr val="B8BCC4"/>
            </a:solidFill>
            <a:prstDash val="solid"/>
          </a:ln>
        </p:spPr>
      </p:cxnSp>
      <p:sp>
        <p:nvSpPr>
          <p:cNvPr id="17" name="summary-text-17-4">
            <a:extLst xmlns:a="http://schemas.openxmlformats.org/drawingml/2006/main">
              <a:ext uri="{FF2B5EF4-FFF2-40B4-BE49-F238E27FC236}">
                <a16:creationId xmlns:a16="http://schemas.microsoft.com/office/drawing/2014/main" id="{4A1BC22F-8FEE-4F3A-B247-199F55D1D031}"/>
              </a:ext>
            </a:extLst>
          </p:cNvPr>
          <p:cNvSpPr>
            <a:spLocks xmlns:a="http://schemas.openxmlformats.org/drawingml/2006/main" noGrp="1"/>
          </p:cNvSpPr>
          <p:nvPr/>
        </p:nvSpPr>
        <p:spPr>
          <a:xfrm xmlns:a="http://schemas.openxmlformats.org/drawingml/2006/main">
            <a:off x="2324100" y="4591050"/>
            <a:ext cx="914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0">
                <a:solidFill>
                  <a:srgbClr val="111111"/>
                </a:solidFill>
                <a:latin typeface="Arial"/>
                <a:ea typeface="Arial"/>
                <a:cs typeface="Arial"/>
              </a:defRPr>
            </a:pPr>
            <a:r>
              <a:rPr sz="1725" b="0">
                <a:solidFill>
                  <a:srgbClr val="111111"/>
                </a:solidFill>
                <a:latin typeface="Arial"/>
                <a:ea typeface="Arial"/>
                <a:cs typeface="Arial"/>
              </a:rPr>
              <a:t>Exploration, learning rate, and evaluation protocol determine credible results.</a:t>
            </a:r>
          </a:p>
        </p:txBody>
      </p:sp>
      <p:sp>
        <p:nvSpPr>
          <p:cNvPr id="18" name="summary-next-17">
            <a:extLst xmlns:a="http://schemas.openxmlformats.org/drawingml/2006/main">
              <a:ext uri="{FF2B5EF4-FFF2-40B4-BE49-F238E27FC236}">
                <a16:creationId xmlns:a16="http://schemas.microsoft.com/office/drawing/2014/main" id="{F2562E1A-3DB1-4DCF-9287-2645E334D924}"/>
              </a:ext>
            </a:extLst>
          </p:cNvPr>
          <p:cNvSpPr>
            <a:spLocks xmlns:a="http://schemas.openxmlformats.org/drawingml/2006/main" noGrp="1"/>
          </p:cNvSpPr>
          <p:nvPr/>
        </p:nvSpPr>
        <p:spPr>
          <a:xfrm xmlns:a="http://schemas.openxmlformats.org/drawingml/2006/main">
            <a:off x="400050" y="5667375"/>
            <a:ext cx="11049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3D8DFF"/>
                </a:solidFill>
                <a:latin typeface="Arial"/>
                <a:ea typeface="Arial"/>
                <a:cs typeface="Arial"/>
              </a:defRPr>
            </a:pPr>
            <a:r>
              <a:rPr sz="1575" b="1">
                <a:solidFill>
                  <a:srgbClr val="3D8DFF"/>
                </a:solidFill>
                <a:latin typeface="Arial"/>
                <a:ea typeface="Arial"/>
                <a:cs typeface="Arial"/>
              </a:rPr>
              <a:t>Next: Week 6 replaces the Q-table with function approximation to generalize across large state spaces.</a:t>
            </a:r>
          </a:p>
        </p:txBody>
      </p:sp>
    </p:spTree>
    <p:extLst>
      <p:ext uri="{BB962C8B-B14F-4D97-AF65-F5344CB8AC3E}">
        <p14:creationId xmlns:p14="http://schemas.microsoft.com/office/powerpoint/2010/main" val="145212731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title-18">
            <a:extLst xmlns:a="http://schemas.openxmlformats.org/drawingml/2006/main">
              <a:ext uri="{FF2B5EF4-FFF2-40B4-BE49-F238E27FC236}">
                <a16:creationId xmlns:a16="http://schemas.microsoft.com/office/drawing/2014/main" id="{21413757-F8C8-4D42-9610-6DC9EE376760}"/>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Check your understanding</a:t>
            </a:r>
          </a:p>
        </p:txBody>
      </p:sp>
      <p:sp>
        <p:nvSpPr>
          <p:cNvPr id="2" name="title-accent-18">
            <a:extLst xmlns:a="http://schemas.openxmlformats.org/drawingml/2006/main">
              <a:ext uri="{FF2B5EF4-FFF2-40B4-BE49-F238E27FC236}">
                <a16:creationId xmlns:a16="http://schemas.microsoft.com/office/drawing/2014/main" id="{47BF79F7-E3E1-4C5E-A549-FFC858183035}"/>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8" name="title-rule-18"/>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8">
            <a:extLst xmlns:a="http://schemas.openxmlformats.org/drawingml/2006/main">
              <a:ext uri="{FF2B5EF4-FFF2-40B4-BE49-F238E27FC236}">
                <a16:creationId xmlns:a16="http://schemas.microsoft.com/office/drawing/2014/main" id="{D1FA7E74-69E0-47F0-AEE0-F6CE300D6263}"/>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5  |  Lesson 2</a:t>
            </a:r>
          </a:p>
        </p:txBody>
      </p:sp>
      <p:sp>
        <p:nvSpPr>
          <p:cNvPr id="5" name="footer-number-18">
            <a:extLst xmlns:a="http://schemas.openxmlformats.org/drawingml/2006/main">
              <a:ext uri="{FF2B5EF4-FFF2-40B4-BE49-F238E27FC236}">
                <a16:creationId xmlns:a16="http://schemas.microsoft.com/office/drawing/2014/main" id="{346E1C3E-A617-4226-8501-49D8A22E54E2}"/>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18</a:t>
            </a:r>
          </a:p>
        </p:txBody>
      </p:sp>
      <p:sp>
        <p:nvSpPr>
          <p:cNvPr id="6" name="question-number-18-1">
            <a:extLst xmlns:a="http://schemas.openxmlformats.org/drawingml/2006/main">
              <a:ext uri="{FF2B5EF4-FFF2-40B4-BE49-F238E27FC236}">
                <a16:creationId xmlns:a16="http://schemas.microsoft.com/office/drawing/2014/main" id="{50435C0E-9F5C-4058-8322-2E383EBE8D74}"/>
              </a:ext>
            </a:extLst>
          </p:cNvPr>
          <p:cNvSpPr>
            <a:spLocks xmlns:a="http://schemas.openxmlformats.org/drawingml/2006/main" noGrp="1"/>
          </p:cNvSpPr>
          <p:nvPr/>
        </p:nvSpPr>
        <p:spPr>
          <a:xfrm xmlns:a="http://schemas.openxmlformats.org/drawingml/2006/main">
            <a:off x="400050" y="1571625"/>
            <a:ext cx="714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Q1</a:t>
            </a:r>
          </a:p>
        </p:txBody>
      </p:sp>
      <p:sp>
        <p:nvSpPr>
          <p:cNvPr id="7" name="question-text-18-1">
            <a:extLst xmlns:a="http://schemas.openxmlformats.org/drawingml/2006/main">
              <a:ext uri="{FF2B5EF4-FFF2-40B4-BE49-F238E27FC236}">
                <a16:creationId xmlns:a16="http://schemas.microsoft.com/office/drawing/2014/main" id="{FF0B2706-FFA8-490B-80FB-63FEC05DB1F2}"/>
              </a:ext>
            </a:extLst>
          </p:cNvPr>
          <p:cNvSpPr>
            <a:spLocks xmlns:a="http://schemas.openxmlformats.org/drawingml/2006/main" noGrp="1"/>
          </p:cNvSpPr>
          <p:nvPr/>
        </p:nvSpPr>
        <p:spPr>
          <a:xfrm xmlns:a="http://schemas.openxmlformats.org/drawingml/2006/main">
            <a:off x="1257300" y="1571625"/>
            <a:ext cx="1019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Compute two Q-learning updates.</a:t>
            </a:r>
          </a:p>
        </p:txBody>
      </p:sp>
      <p:sp>
        <p:nvSpPr>
          <p:cNvPr id="8" name="question-number-18-2">
            <a:extLst xmlns:a="http://schemas.openxmlformats.org/drawingml/2006/main">
              <a:ext uri="{FF2B5EF4-FFF2-40B4-BE49-F238E27FC236}">
                <a16:creationId xmlns:a16="http://schemas.microsoft.com/office/drawing/2014/main" id="{656C7837-C4B5-452C-97D8-8EC8C4D1C3C3}"/>
              </a:ext>
            </a:extLst>
          </p:cNvPr>
          <p:cNvSpPr>
            <a:spLocks xmlns:a="http://schemas.openxmlformats.org/drawingml/2006/main" noGrp="1"/>
          </p:cNvSpPr>
          <p:nvPr/>
        </p:nvSpPr>
        <p:spPr>
          <a:xfrm xmlns:a="http://schemas.openxmlformats.org/drawingml/2006/main">
            <a:off x="400050" y="2438400"/>
            <a:ext cx="714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Q2</a:t>
            </a:r>
          </a:p>
        </p:txBody>
      </p:sp>
      <p:sp>
        <p:nvSpPr>
          <p:cNvPr id="9" name="question-text-18-2">
            <a:extLst xmlns:a="http://schemas.openxmlformats.org/drawingml/2006/main">
              <a:ext uri="{FF2B5EF4-FFF2-40B4-BE49-F238E27FC236}">
                <a16:creationId xmlns:a16="http://schemas.microsoft.com/office/drawing/2014/main" id="{4DCD1857-C3EE-455B-A64E-8BEBA1FE0DAD}"/>
              </a:ext>
            </a:extLst>
          </p:cNvPr>
          <p:cNvSpPr>
            <a:spLocks xmlns:a="http://schemas.openxmlformats.org/drawingml/2006/main" noGrp="1"/>
          </p:cNvSpPr>
          <p:nvPr/>
        </p:nvSpPr>
        <p:spPr>
          <a:xfrm xmlns:a="http://schemas.openxmlformats.org/drawingml/2006/main">
            <a:off x="1257300" y="2438400"/>
            <a:ext cx="1019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Contrast Q-learning with SARSA.</a:t>
            </a:r>
          </a:p>
        </p:txBody>
      </p:sp>
      <p:sp>
        <p:nvSpPr>
          <p:cNvPr id="10" name="question-number-18-3">
            <a:extLst xmlns:a="http://schemas.openxmlformats.org/drawingml/2006/main">
              <a:ext uri="{FF2B5EF4-FFF2-40B4-BE49-F238E27FC236}">
                <a16:creationId xmlns:a16="http://schemas.microsoft.com/office/drawing/2014/main" id="{9D516300-ACC9-4C59-AA6A-6180B486D812}"/>
              </a:ext>
            </a:extLst>
          </p:cNvPr>
          <p:cNvSpPr>
            <a:spLocks xmlns:a="http://schemas.openxmlformats.org/drawingml/2006/main" noGrp="1"/>
          </p:cNvSpPr>
          <p:nvPr/>
        </p:nvSpPr>
        <p:spPr>
          <a:xfrm xmlns:a="http://schemas.openxmlformats.org/drawingml/2006/main">
            <a:off x="400050" y="3305175"/>
            <a:ext cx="714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Q3</a:t>
            </a:r>
          </a:p>
        </p:txBody>
      </p:sp>
      <p:sp>
        <p:nvSpPr>
          <p:cNvPr id="11" name="question-text-18-3">
            <a:extLst xmlns:a="http://schemas.openxmlformats.org/drawingml/2006/main">
              <a:ext uri="{FF2B5EF4-FFF2-40B4-BE49-F238E27FC236}">
                <a16:creationId xmlns:a16="http://schemas.microsoft.com/office/drawing/2014/main" id="{30054EB4-76BF-490E-B189-976DBD714B6E}"/>
              </a:ext>
            </a:extLst>
          </p:cNvPr>
          <p:cNvSpPr>
            <a:spLocks xmlns:a="http://schemas.openxmlformats.org/drawingml/2006/main" noGrp="1"/>
          </p:cNvSpPr>
          <p:nvPr/>
        </p:nvSpPr>
        <p:spPr>
          <a:xfrm xmlns:a="http://schemas.openxmlformats.org/drawingml/2006/main">
            <a:off x="1257300" y="3305175"/>
            <a:ext cx="1019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Explain epsilon-greedy tie handling.</a:t>
            </a:r>
          </a:p>
        </p:txBody>
      </p:sp>
      <p:sp>
        <p:nvSpPr>
          <p:cNvPr id="12" name="question-number-18-4">
            <a:extLst xmlns:a="http://schemas.openxmlformats.org/drawingml/2006/main">
              <a:ext uri="{FF2B5EF4-FFF2-40B4-BE49-F238E27FC236}">
                <a16:creationId xmlns:a16="http://schemas.microsoft.com/office/drawing/2014/main" id="{2D8CC088-A5FB-4EB4-8493-9B861687CA4B}"/>
              </a:ext>
            </a:extLst>
          </p:cNvPr>
          <p:cNvSpPr>
            <a:spLocks xmlns:a="http://schemas.openxmlformats.org/drawingml/2006/main" noGrp="1"/>
          </p:cNvSpPr>
          <p:nvPr/>
        </p:nvSpPr>
        <p:spPr>
          <a:xfrm xmlns:a="http://schemas.openxmlformats.org/drawingml/2006/main">
            <a:off x="400050" y="4171950"/>
            <a:ext cx="714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Q4</a:t>
            </a:r>
          </a:p>
        </p:txBody>
      </p:sp>
      <p:sp>
        <p:nvSpPr>
          <p:cNvPr id="13" name="question-text-18-4">
            <a:extLst xmlns:a="http://schemas.openxmlformats.org/drawingml/2006/main">
              <a:ext uri="{FF2B5EF4-FFF2-40B4-BE49-F238E27FC236}">
                <a16:creationId xmlns:a16="http://schemas.microsoft.com/office/drawing/2014/main" id="{3AAA9277-5802-4383-8457-2A7B9D87031D}"/>
              </a:ext>
            </a:extLst>
          </p:cNvPr>
          <p:cNvSpPr>
            <a:spLocks xmlns:a="http://schemas.openxmlformats.org/drawingml/2006/main" noGrp="1"/>
          </p:cNvSpPr>
          <p:nvPr/>
        </p:nvSpPr>
        <p:spPr>
          <a:xfrm xmlns:a="http://schemas.openxmlformats.org/drawingml/2006/main">
            <a:off x="1257300" y="4171950"/>
            <a:ext cx="1019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State convergence conditions.</a:t>
            </a:r>
          </a:p>
        </p:txBody>
      </p:sp>
      <p:sp>
        <p:nvSpPr>
          <p:cNvPr id="14" name="question-number-18-5">
            <a:extLst xmlns:a="http://schemas.openxmlformats.org/drawingml/2006/main">
              <a:ext uri="{FF2B5EF4-FFF2-40B4-BE49-F238E27FC236}">
                <a16:creationId xmlns:a16="http://schemas.microsoft.com/office/drawing/2014/main" id="{4917ABC0-EA61-466B-9D93-EF5BFC301EC4}"/>
              </a:ext>
            </a:extLst>
          </p:cNvPr>
          <p:cNvSpPr>
            <a:spLocks xmlns:a="http://schemas.openxmlformats.org/drawingml/2006/main" noGrp="1"/>
          </p:cNvSpPr>
          <p:nvPr/>
        </p:nvSpPr>
        <p:spPr>
          <a:xfrm xmlns:a="http://schemas.openxmlformats.org/drawingml/2006/main">
            <a:off x="400050" y="5038725"/>
            <a:ext cx="714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Q5</a:t>
            </a:r>
          </a:p>
        </p:txBody>
      </p:sp>
      <p:sp>
        <p:nvSpPr>
          <p:cNvPr id="15" name="question-text-18-5">
            <a:extLst xmlns:a="http://schemas.openxmlformats.org/drawingml/2006/main">
              <a:ext uri="{FF2B5EF4-FFF2-40B4-BE49-F238E27FC236}">
                <a16:creationId xmlns:a16="http://schemas.microsoft.com/office/drawing/2014/main" id="{F4172D3B-F90E-434E-A7E9-7A70440BA979}"/>
              </a:ext>
            </a:extLst>
          </p:cNvPr>
          <p:cNvSpPr>
            <a:spLocks xmlns:a="http://schemas.openxmlformats.org/drawingml/2006/main" noGrp="1"/>
          </p:cNvSpPr>
          <p:nvPr/>
        </p:nvSpPr>
        <p:spPr>
          <a:xfrm xmlns:a="http://schemas.openxmlformats.org/drawingml/2006/main">
            <a:off x="1257300" y="5038725"/>
            <a:ext cx="1019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Design a sparse-reward diagnostic experiment.</a:t>
            </a:r>
          </a:p>
        </p:txBody>
      </p:sp>
    </p:spTree>
    <p:extLst>
      <p:ext uri="{BB962C8B-B14F-4D97-AF65-F5344CB8AC3E}">
        <p14:creationId xmlns:p14="http://schemas.microsoft.com/office/powerpoint/2010/main" val="12236557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2026-07-27T10:16:55.6560000Z</dcterms:created>
  <dcterms:modified xsi:type="dcterms:W3CDTF">2026-07-27T10:16:55.6560000Z</dcterms:modified>
</coreProperties>
</file>