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84b96497c243d7" /><Relationship Type="http://schemas.openxmlformats.org/officeDocument/2006/relationships/extended-properties" Target="/docProps/app.xml" Id="R8754b60156444e2f" /><Relationship Type="http://schemas.openxmlformats.org/officeDocument/2006/relationships/officeDocument" Target="/ppt/presentation.xml" Id="Rabab769065b442c0" /></Relationships>
</file>

<file path=ppt/presentation.xml><?xml version="1.0" encoding="utf-8"?>
<p:presentation xmlns:p="http://schemas.openxmlformats.org/presentationml/2006/main">
  <p:sldMasterIdLst>
    <p:sldMasterId xmlns:r="http://schemas.openxmlformats.org/officeDocument/2006/relationships" id="2147483648" r:id="R840e03bd4294437e"/>
  </p:sldMasterIdLst>
  <p:notesMasterIdLst>
    <p:notesMasterId xmlns:r="http://schemas.openxmlformats.org/officeDocument/2006/relationships" r:id="R46660319d9234403"/>
  </p:notesMasterIdLst>
  <p:sldIdLst>
    <p:sldId xmlns:r="http://schemas.openxmlformats.org/officeDocument/2006/relationships" id="256" r:id="R5802e7bd782b40e8"/>
    <p:sldId xmlns:r="http://schemas.openxmlformats.org/officeDocument/2006/relationships" id="257" r:id="R6e9f4f9603c349f1"/>
    <p:sldId xmlns:r="http://schemas.openxmlformats.org/officeDocument/2006/relationships" id="258" r:id="R558917409a3d483d"/>
    <p:sldId xmlns:r="http://schemas.openxmlformats.org/officeDocument/2006/relationships" id="259" r:id="Rffbc0965deff4198"/>
    <p:sldId xmlns:r="http://schemas.openxmlformats.org/officeDocument/2006/relationships" id="260" r:id="Rcba56b84571f4d76"/>
    <p:sldId xmlns:r="http://schemas.openxmlformats.org/officeDocument/2006/relationships" id="261" r:id="Ra35eba0b57c2469b"/>
    <p:sldId xmlns:r="http://schemas.openxmlformats.org/officeDocument/2006/relationships" id="262" r:id="R9e3a4c8981a94598"/>
    <p:sldId xmlns:r="http://schemas.openxmlformats.org/officeDocument/2006/relationships" id="263" r:id="R0d6bf477d1cf4acf"/>
    <p:sldId xmlns:r="http://schemas.openxmlformats.org/officeDocument/2006/relationships" id="264" r:id="Rf66939025b9a4234"/>
    <p:sldId xmlns:r="http://schemas.openxmlformats.org/officeDocument/2006/relationships" id="265" r:id="R98adbc2289514a58"/>
    <p:sldId xmlns:r="http://schemas.openxmlformats.org/officeDocument/2006/relationships" id="266" r:id="R73d2e563e00642ef"/>
    <p:sldId xmlns:r="http://schemas.openxmlformats.org/officeDocument/2006/relationships" id="267" r:id="R446c3fda47fa4a03"/>
    <p:sldId xmlns:r="http://schemas.openxmlformats.org/officeDocument/2006/relationships" id="268" r:id="R0fdb5c6899ec4942"/>
    <p:sldId xmlns:r="http://schemas.openxmlformats.org/officeDocument/2006/relationships" id="269" r:id="R77dcd0428db2497e"/>
    <p:sldId xmlns:r="http://schemas.openxmlformats.org/officeDocument/2006/relationships" id="270" r:id="R7783f3a1e05f4663"/>
    <p:sldId xmlns:r="http://schemas.openxmlformats.org/officeDocument/2006/relationships" id="271" r:id="Ra1c588ec770e47ed"/>
    <p:sldId xmlns:r="http://schemas.openxmlformats.org/officeDocument/2006/relationships" id="272" r:id="Rf57f2cb8df8043c8"/>
    <p:sldId xmlns:r="http://schemas.openxmlformats.org/officeDocument/2006/relationships" id="273" r:id="R3712c3f5b32a49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64ff0bcb2e4ef4" /><Relationship Type="http://schemas.openxmlformats.org/officeDocument/2006/relationships/slideMaster" Target="/ppt/slideMasters/slideMaster1.xml" Id="R840e03bd4294437e" /><Relationship Type="http://schemas.openxmlformats.org/officeDocument/2006/relationships/notesMaster" Target="/ppt/notesMasters/notesMaster1.xml" Id="R46660319d9234403" /><Relationship Type="http://schemas.openxmlformats.org/officeDocument/2006/relationships/presProps" Target="/ppt/presProps.xml" Id="Ra8d5e179d50d4561" /><Relationship Type="http://schemas.openxmlformats.org/officeDocument/2006/relationships/tableStyles" Target="/ppt/tableStyles.xml" Id="Rd3199e68329f4626" /><Relationship Type="http://schemas.openxmlformats.org/officeDocument/2006/relationships/slide" Target="/ppt/slides/slide1.xml" Id="R5802e7bd782b40e8" /><Relationship Type="http://schemas.openxmlformats.org/officeDocument/2006/relationships/slide" Target="/ppt/slides/slide2.xml" Id="R6e9f4f9603c349f1" /><Relationship Type="http://schemas.openxmlformats.org/officeDocument/2006/relationships/slide" Target="/ppt/slides/slide3.xml" Id="R558917409a3d483d" /><Relationship Type="http://schemas.openxmlformats.org/officeDocument/2006/relationships/slide" Target="/ppt/slides/slide4.xml" Id="Rffbc0965deff4198" /><Relationship Type="http://schemas.openxmlformats.org/officeDocument/2006/relationships/slide" Target="/ppt/slides/slide5.xml" Id="Rcba56b84571f4d76" /><Relationship Type="http://schemas.openxmlformats.org/officeDocument/2006/relationships/slide" Target="/ppt/slides/slide6.xml" Id="Ra35eba0b57c2469b" /><Relationship Type="http://schemas.openxmlformats.org/officeDocument/2006/relationships/slide" Target="/ppt/slides/slide7.xml" Id="R9e3a4c8981a94598" /><Relationship Type="http://schemas.openxmlformats.org/officeDocument/2006/relationships/slide" Target="/ppt/slides/slide8.xml" Id="R0d6bf477d1cf4acf" /><Relationship Type="http://schemas.openxmlformats.org/officeDocument/2006/relationships/slide" Target="/ppt/slides/slide9.xml" Id="Rf66939025b9a4234" /><Relationship Type="http://schemas.openxmlformats.org/officeDocument/2006/relationships/slide" Target="/ppt/slides/slide10.xml" Id="R98adbc2289514a58" /><Relationship Type="http://schemas.openxmlformats.org/officeDocument/2006/relationships/slide" Target="/ppt/slides/slide11.xml" Id="R73d2e563e00642ef" /><Relationship Type="http://schemas.openxmlformats.org/officeDocument/2006/relationships/slide" Target="/ppt/slides/slide12.xml" Id="R446c3fda47fa4a03" /><Relationship Type="http://schemas.openxmlformats.org/officeDocument/2006/relationships/slide" Target="/ppt/slides/slide13.xml" Id="R0fdb5c6899ec4942" /><Relationship Type="http://schemas.openxmlformats.org/officeDocument/2006/relationships/slide" Target="/ppt/slides/slide14.xml" Id="R77dcd0428db2497e" /><Relationship Type="http://schemas.openxmlformats.org/officeDocument/2006/relationships/slide" Target="/ppt/slides/slide15.xml" Id="R7783f3a1e05f4663" /><Relationship Type="http://schemas.openxmlformats.org/officeDocument/2006/relationships/slide" Target="/ppt/slides/slide16.xml" Id="Ra1c588ec770e47ed" /><Relationship Type="http://schemas.openxmlformats.org/officeDocument/2006/relationships/slide" Target="/ppt/slides/slide17.xml" Id="Rf57f2cb8df8043c8" /><Relationship Type="http://schemas.openxmlformats.org/officeDocument/2006/relationships/slide" Target="/ppt/slides/slide18.xml" Id="R3712c3f5b32a49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4871b4bcb44e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8175008d2c4456" /><Relationship Type="http://schemas.openxmlformats.org/officeDocument/2006/relationships/notesMaster" Target="/ppt/notesMasters/notesMaster1.xml" Id="R9bff1622359749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5a361d39164985" /><Relationship Type="http://schemas.openxmlformats.org/officeDocument/2006/relationships/notesMaster" Target="/ppt/notesMasters/notesMaster1.xml" Id="R4055c39df89e47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bb8b8d27df4a07" /><Relationship Type="http://schemas.openxmlformats.org/officeDocument/2006/relationships/notesMaster" Target="/ppt/notesMasters/notesMaster1.xml" Id="R7c92bb8b22ef43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5f5a5c10d64480" /><Relationship Type="http://schemas.openxmlformats.org/officeDocument/2006/relationships/notesMaster" Target="/ppt/notesMasters/notesMaster1.xml" Id="Rada100bdcc8c4a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c3815746d84d8c" /><Relationship Type="http://schemas.openxmlformats.org/officeDocument/2006/relationships/notesMaster" Target="/ppt/notesMasters/notesMaster1.xml" Id="Rfc0145bd00ee41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12975c5eb94ca0" /><Relationship Type="http://schemas.openxmlformats.org/officeDocument/2006/relationships/notesMaster" Target="/ppt/notesMasters/notesMaster1.xml" Id="R7d832367e1eb4e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c2d4d26f3b4762" /><Relationship Type="http://schemas.openxmlformats.org/officeDocument/2006/relationships/notesMaster" Target="/ppt/notesMasters/notesMaster1.xml" Id="R598a29eddf6a40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5e3313cda949f2" /><Relationship Type="http://schemas.openxmlformats.org/officeDocument/2006/relationships/notesMaster" Target="/ppt/notesMasters/notesMaster1.xml" Id="R56e1fdcd00b346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1eeed9615c4c05" /><Relationship Type="http://schemas.openxmlformats.org/officeDocument/2006/relationships/notesMaster" Target="/ppt/notesMasters/notesMaster1.xml" Id="R6f73ada6472b4f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feadfccbe34106" /><Relationship Type="http://schemas.openxmlformats.org/officeDocument/2006/relationships/notesMaster" Target="/ppt/notesMasters/notesMaster1.xml" Id="R02dc1dd44f8241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9e06fcfb214809" /><Relationship Type="http://schemas.openxmlformats.org/officeDocument/2006/relationships/notesMaster" Target="/ppt/notesMasters/notesMaster1.xml" Id="R51aac51d607c42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892a20b3c64635" /><Relationship Type="http://schemas.openxmlformats.org/officeDocument/2006/relationships/notesMaster" Target="/ppt/notesMasters/notesMaster1.xml" Id="Rc819c2e942494a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b787127ea34a60" /><Relationship Type="http://schemas.openxmlformats.org/officeDocument/2006/relationships/notesMaster" Target="/ppt/notesMasters/notesMaster1.xml" Id="R9ecd6d4338964e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56af317c034edb" /><Relationship Type="http://schemas.openxmlformats.org/officeDocument/2006/relationships/notesMaster" Target="/ppt/notesMasters/notesMaster1.xml" Id="Rb7ee3c469f2949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2c7c22279b4fb6" /><Relationship Type="http://schemas.openxmlformats.org/officeDocument/2006/relationships/notesMaster" Target="/ppt/notesMasters/notesMaster1.xml" Id="R3abaa77bbed946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2d3990f08c40e1" /><Relationship Type="http://schemas.openxmlformats.org/officeDocument/2006/relationships/notesMaster" Target="/ppt/notesMasters/notesMaster1.xml" Id="R810b43023fb544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1aa5b10dc54cae" /><Relationship Type="http://schemas.openxmlformats.org/officeDocument/2006/relationships/notesMaster" Target="/ppt/notesMasters/notesMaster1.xml" Id="R27cb550a516344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c8d747024047d9" /><Relationship Type="http://schemas.openxmlformats.org/officeDocument/2006/relationships/notesMaster" Target="/ppt/notesMasters/notesMaster1.xml" Id="Ra47ca0d2a76c4c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Reinforcement learning replaces exact model backups with data gathered from interaction, creating simultaneous estimation and exploration problems.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Distinguish planning from reinforcement learning. 2) Compare model-based and model-free learning. 3) Define episode, bootstrapping, behavior policy, and target policy. 4) Derive and compute a TD(0) update. 5) Explain exploration versus exploitation. 6) Distinguish on-policy from off-policy learning.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RL agent must improve estimates and behavior from transitions it actually experiences. The supporting details make the claim operational. 1) The transition model may be unknown. 2) Rewards can be delayed and noisy. 3) Exploration changes which state-action pairs are observed. The highlighted idea, Experience, is the part to retain when the surrounding notation changes. Data collection depends on current behavior, so the agent influences its own evidence.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delta_t = R_(t+1) + gamma V(S_(t+1)) - V(S_t). The symbols mean the following. 1) R_(t+1) is sampled immediate reward. 2) V(S_(t+1)) estimates continuation. 3) V(S_t) is the current prediction. 4) delta is a signed prediction error. The engineering implication is For a terminal successor, the continuation term is zero.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Model-based RL: Learns or knows P and R. Plans inside the learned model. Can reuse simulated experience. Model bias can mislead. On the right, Model-free RL: Learns V, Q, or policy directly. No explicit transition table required. Often simpler control loop. May need more interaction.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Reset: Start an episode. 2) Select: Choose an exploratory action. 3) Observe: Receive next state and reward. 4) Update: Move estimate toward target. 5) Repeat: Continue until terminal or limit. The emphasized stage deserves extra attention because defects introduced there propagate to every later result. Behavior determines data coverage, so exploration is part of the learning algorithm.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alpha sets step size. gamma discounts future. Terminal stops bootstrap. Samples are correlated.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V(A)=4, transition A to B gives reward 2, V(B)=5, gamma=0.9, and alpha=0.1. Work through it in the displayed order. 1) Target=2+0.9*5=6.5. 2) TD error=6.5-4=2.5. 3) Increment=0.1*2.5=0.25. 4) Set V(A)=4.25. The resulting conclusion is The estimate moves partway toward the one-step bootstrap target.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Bellman model backup: Uses every successor probability. No sampled transition required. Deterministic given V. Requires known P and R. In contrast, Monte Carlo: Waits until episode end. No bootstrap. Unbiased return sample. Can have high variance. In contrast, TD(0): Updates before episode end. Bootstraps from V. Lower variance, some bias. No model required.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V(s)=3, reward=-1, V(s')=4, gamma=0.5. What is the TD error and the new value for alpha=0.2? Use the prompts to structure the response. 1) Compute the target. 2) Subtract the old prediction. 3) Apply the learning-rate step. The expected reasoning is The target is -1+0.5*4=1. The error is 1-3=-2, and the new value is 3+0.2*(-2)=2.6.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Exploitation: Choose the current best action. Improves immediate performance. Concentrates on known behavior. Can lock into a poor estimate. On the right, Exploration: Try uncertain alternatives. Improves coverage. Can sacrifice immediate reward. Needs scheduling and limits.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V(S_t) &lt;- V(S_t) + alpha_t [target_t - V(S_t)]. The symbols mean the following. 1) alpha_t controls adaptation. 2) Constant alpha tracks nonstationarity. 3) Decaying alpha can support convergence. 4) The bracketed term is prediction error. The engineering implication is Large alpha learns quickly but can make estimates noisy or unstable.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long corridor gives zero reward until a distant goal gives +10; an early side action gives +1. Work through it in the displayed order. 1) Greedy behavior discovers the side reward first. 2) It repeatedly exploits +1. 3) The distant goal remains unobserved. 4) Exploration occasionally samples the corridor and reveals +10. The resulting conclusion is Observed performance depends on data coverage, not only the update equation.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On-policy: Target includes exploratory policy. Evaluation matches data policy. SARSA is a control example. Safer behavior may be learned. In contrast, Off-policy: Behavior gathers data. Target may be greedy. Q-learning is an example. Coverage conditions matter. In contrast, Engineering: Log epsilon schedule. Seed action sampling. Separate evaluation runs. Do not learn during testing.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An epsilon-greedy behavior policy generates data while updates target a purely greedy action. Is learning on-policy or off-policy? Use the prompts to structure the response. 1) Name the behavior policy. 2) Name the target policy. 3) Compare whether they are identical. The expected reasoning is It is off-policy because the behavior is epsilon-greedy while the target is greedy.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training from evaluation, control randomness, and report variation across seeds. The supporting details make the claim operational. 1) Evaluate with learning disabled and a fixed policy. 2) Cap episode length to prevent hangs. 3) Log return, length, exploration, and update magnitude. The highlighted idea, Protocol, is the part to retain when the surrounding notation changes. A rising training return is not an unbiased estimate of final policy quality.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RL learns from sampled interaction when the model is unavailable. 2) TD combines one sampled reward with a bootstrapped continuation estimate. 3) Exploration determines data coverage. 4) On-policy and off-policy distinguish behavior from target. These are connected: the formal model supplies the algorithm, the algorithm's invariant supports its guarantee, and the implementation contract makes that guarantee testable. The next topic is Q-learning applies off-policy TD updates directly to action values for control.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Compute a TD(0) update. 2) Contrast model-based and model-free RL. 3) Explain bootstrapping. 4) Design an exploration schedule. 5) Distinguish behavior and target policies.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week_05/Week_5_Lesson_1_Reinforcement_Learning_Fundamentals.md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bb6242f8cf40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5ae30413514bc3" /><Relationship Type="http://schemas.openxmlformats.org/officeDocument/2006/relationships/slideLayout" Target="/ppt/slideLayouts/slideLayout1.xml" Id="R1f246677b1d245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46677b1d245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4afa58a8e24d6f" /><Relationship Type="http://schemas.openxmlformats.org/officeDocument/2006/relationships/notesSlide" Target="/ppt/notesSlides/notesSlide1.xml" Id="R6df69b3db41042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1cf8695b344ab4" /><Relationship Type="http://schemas.openxmlformats.org/officeDocument/2006/relationships/notesSlide" Target="/ppt/notesSlides/notesSlide2.xml" Id="R95bad5ea5f8747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6e8ffc3ab443ca" /><Relationship Type="http://schemas.openxmlformats.org/officeDocument/2006/relationships/notesSlide" Target="/ppt/notesSlides/notesSlide3.xml" Id="R16aea83acc8842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80a6ae4be046f5" /><Relationship Type="http://schemas.openxmlformats.org/officeDocument/2006/relationships/notesSlide" Target="/ppt/notesSlides/notesSlide4.xml" Id="R748f1a74d7894a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7bcb0e24b341fb" /><Relationship Type="http://schemas.openxmlformats.org/officeDocument/2006/relationships/notesSlide" Target="/ppt/notesSlides/notesSlide5.xml" Id="R8fab393a6acf44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2d3933599d4d32" /><Relationship Type="http://schemas.openxmlformats.org/officeDocument/2006/relationships/notesSlide" Target="/ppt/notesSlides/notesSlide6.xml" Id="R6797eb97cf084d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61f8f5a08847d8" /><Relationship Type="http://schemas.openxmlformats.org/officeDocument/2006/relationships/notesSlide" Target="/ppt/notesSlides/notesSlide7.xml" Id="Rf9c0d19f60c442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fcfc53cecb413e" /><Relationship Type="http://schemas.openxmlformats.org/officeDocument/2006/relationships/notesSlide" Target="/ppt/notesSlides/notesSlide8.xml" Id="R9980323beb8145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d8adc67ef54f62" /><Relationship Type="http://schemas.openxmlformats.org/officeDocument/2006/relationships/notesSlide" Target="/ppt/notesSlides/notesSlide9.xml" Id="R6d1c65747e6949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2fcf9a27de4941" /><Relationship Type="http://schemas.openxmlformats.org/officeDocument/2006/relationships/notesSlide" Target="/ppt/notesSlides/notesSlide10.xml" Id="R391cbffcfb564e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7ac828c7c6421f" /><Relationship Type="http://schemas.openxmlformats.org/officeDocument/2006/relationships/notesSlide" Target="/ppt/notesSlides/notesSlide11.xml" Id="Rc1402d8ce49247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a377eeef944034" /><Relationship Type="http://schemas.openxmlformats.org/officeDocument/2006/relationships/notesSlide" Target="/ppt/notesSlides/notesSlide12.xml" Id="R77089ccf4f6b49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e4089fa5a04734" /><Relationship Type="http://schemas.openxmlformats.org/officeDocument/2006/relationships/notesSlide" Target="/ppt/notesSlides/notesSlide13.xml" Id="R559861dc1c2142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4f3f74f5f040c7" /><Relationship Type="http://schemas.openxmlformats.org/officeDocument/2006/relationships/notesSlide" Target="/ppt/notesSlides/notesSlide14.xml" Id="Rd7494581a24944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1bdeadb3be43ff" /><Relationship Type="http://schemas.openxmlformats.org/officeDocument/2006/relationships/notesSlide" Target="/ppt/notesSlides/notesSlide15.xml" Id="R3113b86f0bbc46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ab7aac44444973" /><Relationship Type="http://schemas.openxmlformats.org/officeDocument/2006/relationships/notesSlide" Target="/ppt/notesSlides/notesSlide16.xml" Id="R6527d1a3f50748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b8861cd4e24a54" /><Relationship Type="http://schemas.openxmlformats.org/officeDocument/2006/relationships/notesSlide" Target="/ppt/notesSlides/notesSlide17.xml" Id="R376f0931d9f643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6ac1cb6d6bd4fc8" /><Relationship Type="http://schemas.openxmlformats.org/officeDocument/2006/relationships/notesSlide" Target="/ppt/notesSlides/notesSlide18.xml" Id="Rd381fd53ccc54f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81ABD799-9377-46DE-AF99-CAD40A8572F3}"/>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05  |  LESSON 1</a:t>
            </a:r>
          </a:p>
        </p:txBody>
      </p:sp>
      <p:sp>
        <p:nvSpPr>
          <p:cNvPr id="2" name="title-accent-field">
            <a:extLst xmlns:a="http://schemas.openxmlformats.org/drawingml/2006/main">
              <a:ext uri="{FF2B5EF4-FFF2-40B4-BE49-F238E27FC236}">
                <a16:creationId xmlns:a16="http://schemas.microsoft.com/office/drawing/2014/main" id="{D5DCA13D-B92D-427D-9666-6DBE44F49F44}"/>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153844D9-72B2-4B78-87B5-C6F7DCD4EF3A}"/>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Reinforcement Learning Fundamentals</a:t>
            </a:r>
          </a:p>
        </p:txBody>
      </p:sp>
      <p:sp>
        <p:nvSpPr>
          <p:cNvPr id="4" name="deck-subtitle">
            <a:extLst xmlns:a="http://schemas.openxmlformats.org/drawingml/2006/main">
              <a:ext uri="{FF2B5EF4-FFF2-40B4-BE49-F238E27FC236}">
                <a16:creationId xmlns:a16="http://schemas.microsoft.com/office/drawing/2014/main" id="{48826CC3-10EF-468C-924B-F9B8BE871ABA}"/>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Learning value from sampled interaction without a known transition model</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45626568-529C-4F00-9BE3-736AC19D46DC}"/>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4FD33C23-831A-4C57-988F-698B49585C3F}"/>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9688284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E4BC9CCC-983A-43CE-983F-B21804AD4D8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DE01C1F4-CA4F-46C8-99CD-04F3F931FBD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4EE8A256-63BF-4027-81F2-0DD1676CCAA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2">
            <a:extLst xmlns:a="http://schemas.openxmlformats.org/drawingml/2006/main">
              <a:ext uri="{FF2B5EF4-FFF2-40B4-BE49-F238E27FC236}">
                <a16:creationId xmlns:a16="http://schemas.microsoft.com/office/drawing/2014/main" id="{49D75BAE-7BAE-4320-9503-9C741DCF99B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47D6A500-3CD1-4BB3-8631-733FC8D41C8C}"/>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795907FC-A8FD-4E08-9CC8-2FA25B95EF09}"/>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DC4222AD-047D-4DF1-AE88-00A05AECBCD3}"/>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planning from reinforcement learning.</a:t>
            </a:r>
          </a:p>
        </p:txBody>
      </p:sp>
      <p:sp>
        <p:nvSpPr>
          <p:cNvPr id="10" name="objective-number-2">
            <a:extLst xmlns:a="http://schemas.openxmlformats.org/drawingml/2006/main">
              <a:ext uri="{FF2B5EF4-FFF2-40B4-BE49-F238E27FC236}">
                <a16:creationId xmlns:a16="http://schemas.microsoft.com/office/drawing/2014/main" id="{4D1C9DCC-F79E-4F7D-AE44-B3F4CD91163E}"/>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2979EFE4-C44F-4300-A951-5BADB35147EC}"/>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model-based and model-free learning.</a:t>
            </a:r>
          </a:p>
        </p:txBody>
      </p:sp>
      <p:sp>
        <p:nvSpPr>
          <p:cNvPr id="13" name="objective-number-3">
            <a:extLst xmlns:a="http://schemas.openxmlformats.org/drawingml/2006/main">
              <a:ext uri="{FF2B5EF4-FFF2-40B4-BE49-F238E27FC236}">
                <a16:creationId xmlns:a16="http://schemas.microsoft.com/office/drawing/2014/main" id="{02915122-7C56-4FBC-862F-310B0AAC9E32}"/>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130C8597-C4CB-40C8-960C-6BDB11D4BC72}"/>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episode, bootstrapping, behavior policy, and target policy.</a:t>
            </a:r>
          </a:p>
        </p:txBody>
      </p:sp>
      <p:sp>
        <p:nvSpPr>
          <p:cNvPr id="16" name="objective-number-4">
            <a:extLst xmlns:a="http://schemas.openxmlformats.org/drawingml/2006/main">
              <a:ext uri="{FF2B5EF4-FFF2-40B4-BE49-F238E27FC236}">
                <a16:creationId xmlns:a16="http://schemas.microsoft.com/office/drawing/2014/main" id="{0C365AFF-9C6B-4C6C-AE74-A83B2A95AA58}"/>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8167AB8B-2FBF-495C-A3FE-8F0DE6E7FF5A}"/>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Derive and compute a TD(0) update.</a:t>
            </a:r>
          </a:p>
        </p:txBody>
      </p:sp>
      <p:sp>
        <p:nvSpPr>
          <p:cNvPr id="19" name="objective-number-5">
            <a:extLst xmlns:a="http://schemas.openxmlformats.org/drawingml/2006/main">
              <a:ext uri="{FF2B5EF4-FFF2-40B4-BE49-F238E27FC236}">
                <a16:creationId xmlns:a16="http://schemas.microsoft.com/office/drawing/2014/main" id="{7607896E-28D5-44D4-AE81-EAE7C7525460}"/>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223B1DC1-14D1-4669-A683-4BB3DC16603B}"/>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exploration versus exploitation.</a:t>
            </a:r>
          </a:p>
        </p:txBody>
      </p:sp>
      <p:sp>
        <p:nvSpPr>
          <p:cNvPr id="22" name="objective-number-6">
            <a:extLst xmlns:a="http://schemas.openxmlformats.org/drawingml/2006/main">
              <a:ext uri="{FF2B5EF4-FFF2-40B4-BE49-F238E27FC236}">
                <a16:creationId xmlns:a16="http://schemas.microsoft.com/office/drawing/2014/main" id="{86728ECE-4F06-471B-9B0E-1579F87BEE35}"/>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A6134C24-A9F0-4C5D-8108-97727F62A0E6}"/>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on-policy from off-policy learning.</a:t>
            </a:r>
          </a:p>
        </p:txBody>
      </p:sp>
    </p:spTree>
    <p:extLst>
      <p:ext uri="{BB962C8B-B14F-4D97-AF65-F5344CB8AC3E}">
        <p14:creationId xmlns:p14="http://schemas.microsoft.com/office/powerpoint/2010/main" val="3619482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2F813BE2-DC59-4920-BAB1-A169E9FCA8B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uses samples where planning uses a model</a:t>
            </a:r>
          </a:p>
        </p:txBody>
      </p:sp>
      <p:sp>
        <p:nvSpPr>
          <p:cNvPr id="2" name="title-accent-3">
            <a:extLst xmlns:a="http://schemas.openxmlformats.org/drawingml/2006/main">
              <a:ext uri="{FF2B5EF4-FFF2-40B4-BE49-F238E27FC236}">
                <a16:creationId xmlns:a16="http://schemas.microsoft.com/office/drawing/2014/main" id="{CDE29BF0-DA08-4A9B-92A4-F405018BFCE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60E38A29-B639-4EEF-A2AA-18262F976DC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3">
            <a:extLst xmlns:a="http://schemas.openxmlformats.org/drawingml/2006/main">
              <a:ext uri="{FF2B5EF4-FFF2-40B4-BE49-F238E27FC236}">
                <a16:creationId xmlns:a16="http://schemas.microsoft.com/office/drawing/2014/main" id="{A53002D9-0744-4D7F-B52A-3DA97D9EE09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E4ED8D37-C84F-4145-98F9-6A399824A2FF}"/>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An RL agent must improve estimates and behavior from transitions it actually experiences.</a:t>
            </a:r>
          </a:p>
        </p:txBody>
      </p:sp>
      <p:sp>
        <p:nvSpPr>
          <p:cNvPr id="7" name="claim-panel-3">
            <a:extLst xmlns:a="http://schemas.openxmlformats.org/drawingml/2006/main">
              <a:ext uri="{FF2B5EF4-FFF2-40B4-BE49-F238E27FC236}">
                <a16:creationId xmlns:a16="http://schemas.microsoft.com/office/drawing/2014/main" id="{3CE80E85-6BFB-489D-A844-4C2F58D52332}"/>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67E7461D-423A-4F84-B6B6-422D9E886605}"/>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Experience</a:t>
            </a:r>
          </a:p>
        </p:txBody>
      </p:sp>
      <p:sp>
        <p:nvSpPr>
          <p:cNvPr id="9" name="claim-keyword-detail-3">
            <a:extLst xmlns:a="http://schemas.openxmlformats.org/drawingml/2006/main">
              <a:ext uri="{FF2B5EF4-FFF2-40B4-BE49-F238E27FC236}">
                <a16:creationId xmlns:a16="http://schemas.microsoft.com/office/drawing/2014/main" id="{62BC9E43-195A-442F-8EBA-E433EE03E061}"/>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Data collection depends on current behavior, so the agent influences its own evidence.</a:t>
            </a:r>
          </a:p>
        </p:txBody>
      </p:sp>
      <p:sp>
        <p:nvSpPr>
          <p:cNvPr id="10" name="claim-detail-3-marker-1">
            <a:extLst xmlns:a="http://schemas.openxmlformats.org/drawingml/2006/main">
              <a:ext uri="{FF2B5EF4-FFF2-40B4-BE49-F238E27FC236}">
                <a16:creationId xmlns:a16="http://schemas.microsoft.com/office/drawing/2014/main" id="{CD2DF24F-2F49-48DC-B837-D13048FC2C8E}"/>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ED40D721-6AE1-4612-8971-D3CFB98FA2E8}"/>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transition model may be unknown.</a:t>
            </a:r>
          </a:p>
        </p:txBody>
      </p:sp>
      <p:sp>
        <p:nvSpPr>
          <p:cNvPr id="12" name="claim-detail-3-marker-2">
            <a:extLst xmlns:a="http://schemas.openxmlformats.org/drawingml/2006/main">
              <a:ext uri="{FF2B5EF4-FFF2-40B4-BE49-F238E27FC236}">
                <a16:creationId xmlns:a16="http://schemas.microsoft.com/office/drawing/2014/main" id="{E718B1EE-77FE-4FC1-992A-CED7885FF70E}"/>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B10F2428-5615-41E9-B751-733625C120EB}"/>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Rewards can be delayed and noisy.</a:t>
            </a:r>
          </a:p>
        </p:txBody>
      </p:sp>
      <p:sp>
        <p:nvSpPr>
          <p:cNvPr id="14" name="claim-detail-3-marker-3">
            <a:extLst xmlns:a="http://schemas.openxmlformats.org/drawingml/2006/main">
              <a:ext uri="{FF2B5EF4-FFF2-40B4-BE49-F238E27FC236}">
                <a16:creationId xmlns:a16="http://schemas.microsoft.com/office/drawing/2014/main" id="{5C7934B0-475A-44FC-B9E7-ABDC679E8243}"/>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780C2D42-5936-46A1-8C67-9113DFCC9C66}"/>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Exploration changes which state-action pairs are observed.</a:t>
            </a:r>
          </a:p>
        </p:txBody>
      </p:sp>
    </p:spTree>
    <p:extLst>
      <p:ext uri="{BB962C8B-B14F-4D97-AF65-F5344CB8AC3E}">
        <p14:creationId xmlns:p14="http://schemas.microsoft.com/office/powerpoint/2010/main" val="1885540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BB5E1E5A-82DD-4797-BEC2-6BB78942C24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TD error compares a sample with a bootstrap target</a:t>
            </a:r>
          </a:p>
        </p:txBody>
      </p:sp>
      <p:sp>
        <p:nvSpPr>
          <p:cNvPr id="2" name="title-accent-4">
            <a:extLst xmlns:a="http://schemas.openxmlformats.org/drawingml/2006/main">
              <a:ext uri="{FF2B5EF4-FFF2-40B4-BE49-F238E27FC236}">
                <a16:creationId xmlns:a16="http://schemas.microsoft.com/office/drawing/2014/main" id="{16F16CF4-5FEA-46A3-B854-B2D268CF492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00D91DB4-0075-46F5-A5F7-D3D2EBA473B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4">
            <a:extLst xmlns:a="http://schemas.openxmlformats.org/drawingml/2006/main">
              <a:ext uri="{FF2B5EF4-FFF2-40B4-BE49-F238E27FC236}">
                <a16:creationId xmlns:a16="http://schemas.microsoft.com/office/drawing/2014/main" id="{B36610EE-23C2-45C6-8642-0CA148181A4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7B4E8EDB-C1F3-4CF1-BEA1-DEB81AA1A81E}"/>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FFAA4598-CA7E-4DDC-91DF-00F5D2855E5D}"/>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delta_t = R_(t+1) + gamma V(S_(t+1)) - V(S_t)</a:t>
            </a:r>
          </a:p>
        </p:txBody>
      </p:sp>
      <p:sp>
        <p:nvSpPr>
          <p:cNvPr id="8" name="formula-definition-4-marker-1">
            <a:extLst xmlns:a="http://schemas.openxmlformats.org/drawingml/2006/main">
              <a:ext uri="{FF2B5EF4-FFF2-40B4-BE49-F238E27FC236}">
                <a16:creationId xmlns:a16="http://schemas.microsoft.com/office/drawing/2014/main" id="{73CECF96-AB80-46E0-ABA4-69CD0037097A}"/>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2A726913-2E22-403A-BF13-A6B4BFA861BF}"/>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R_(t+1) is sampled immediate reward.</a:t>
            </a:r>
          </a:p>
        </p:txBody>
      </p:sp>
      <p:sp>
        <p:nvSpPr>
          <p:cNvPr id="10" name="formula-definition-4-marker-2">
            <a:extLst xmlns:a="http://schemas.openxmlformats.org/drawingml/2006/main">
              <a:ext uri="{FF2B5EF4-FFF2-40B4-BE49-F238E27FC236}">
                <a16:creationId xmlns:a16="http://schemas.microsoft.com/office/drawing/2014/main" id="{E8B1137E-C536-4604-8764-FAAC4FA2F32B}"/>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862C7C9C-F922-4392-8920-D530B0856141}"/>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V(S_(t+1)) estimates continuation.</a:t>
            </a:r>
          </a:p>
        </p:txBody>
      </p:sp>
      <p:sp>
        <p:nvSpPr>
          <p:cNvPr id="12" name="formula-definition-4-marker-3">
            <a:extLst xmlns:a="http://schemas.openxmlformats.org/drawingml/2006/main">
              <a:ext uri="{FF2B5EF4-FFF2-40B4-BE49-F238E27FC236}">
                <a16:creationId xmlns:a16="http://schemas.microsoft.com/office/drawing/2014/main" id="{2F41EC30-E3D1-4FC9-9409-2FE29EE1E481}"/>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25AE6921-DC19-49D0-A4C3-CF7EFB202327}"/>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V(S_t) is the current prediction.</a:t>
            </a:r>
          </a:p>
        </p:txBody>
      </p:sp>
      <p:sp>
        <p:nvSpPr>
          <p:cNvPr id="14" name="formula-definition-4-marker-4">
            <a:extLst xmlns:a="http://schemas.openxmlformats.org/drawingml/2006/main">
              <a:ext uri="{FF2B5EF4-FFF2-40B4-BE49-F238E27FC236}">
                <a16:creationId xmlns:a16="http://schemas.microsoft.com/office/drawing/2014/main" id="{672B3B1F-668B-4DFF-B820-CD6B617A5155}"/>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7666BA75-26EA-438D-A3C4-39316BBBB6B6}"/>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delta is a signed prediction error.</a:t>
            </a:r>
          </a:p>
        </p:txBody>
      </p:sp>
      <p:sp>
        <p:nvSpPr>
          <p:cNvPr id="16" name="formula-implication-panel-4">
            <a:extLst xmlns:a="http://schemas.openxmlformats.org/drawingml/2006/main">
              <a:ext uri="{FF2B5EF4-FFF2-40B4-BE49-F238E27FC236}">
                <a16:creationId xmlns:a16="http://schemas.microsoft.com/office/drawing/2014/main" id="{324B87F1-645B-4911-835F-13545E9754BA}"/>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1FE2E0FE-0600-4A5F-82E4-DCCA2B8E1B99}"/>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49FF4336-17B6-41DC-8329-3CD3364750EC}"/>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For a terminal successor, the continuation term is zero.</a:t>
            </a:r>
          </a:p>
        </p:txBody>
      </p:sp>
    </p:spTree>
    <p:extLst>
      <p:ext uri="{BB962C8B-B14F-4D97-AF65-F5344CB8AC3E}">
        <p14:creationId xmlns:p14="http://schemas.microsoft.com/office/powerpoint/2010/main" val="1631899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D04BD194-B0B5-43EA-949A-248A3785E5D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Model-based and model-free RL learn different objects</a:t>
            </a:r>
          </a:p>
        </p:txBody>
      </p:sp>
      <p:sp>
        <p:nvSpPr>
          <p:cNvPr id="2" name="title-accent-5">
            <a:extLst xmlns:a="http://schemas.openxmlformats.org/drawingml/2006/main">
              <a:ext uri="{FF2B5EF4-FFF2-40B4-BE49-F238E27FC236}">
                <a16:creationId xmlns:a16="http://schemas.microsoft.com/office/drawing/2014/main" id="{331E8492-FADD-4347-AF5C-89BF8BA9179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320CE338-35C9-4D95-8BAD-0A195FCF65C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5">
            <a:extLst xmlns:a="http://schemas.openxmlformats.org/drawingml/2006/main">
              <a:ext uri="{FF2B5EF4-FFF2-40B4-BE49-F238E27FC236}">
                <a16:creationId xmlns:a16="http://schemas.microsoft.com/office/drawing/2014/main" id="{74BC01C8-FEF4-408E-B82F-22E2839BB59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133C570C-E99C-4C23-BB77-FD0C1FCD63CD}"/>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Model-based RL</a:t>
            </a:r>
          </a:p>
        </p:txBody>
      </p:sp>
      <p:sp>
        <p:nvSpPr>
          <p:cNvPr id="8" name="right-title-5">
            <a:extLst xmlns:a="http://schemas.openxmlformats.org/drawingml/2006/main">
              <a:ext uri="{FF2B5EF4-FFF2-40B4-BE49-F238E27FC236}">
                <a16:creationId xmlns:a16="http://schemas.microsoft.com/office/drawing/2014/main" id="{532CA1BE-2455-4F81-93CF-CCA462C6D853}"/>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Model-free RL</a:t>
            </a:r>
          </a:p>
        </p:txBody>
      </p:sp>
      <p:sp>
        <p:nvSpPr>
          <p:cNvPr id="9" name="left-bullet-5-marker-1">
            <a:extLst xmlns:a="http://schemas.openxmlformats.org/drawingml/2006/main">
              <a:ext uri="{FF2B5EF4-FFF2-40B4-BE49-F238E27FC236}">
                <a16:creationId xmlns:a16="http://schemas.microsoft.com/office/drawing/2014/main" id="{B0DC3BBC-BE70-49D3-AA35-A644059464FF}"/>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140592AF-2116-4B1C-8F1E-F50F3E14EEA8}"/>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Learns or knows P and R.</a:t>
            </a:r>
          </a:p>
        </p:txBody>
      </p:sp>
      <p:sp>
        <p:nvSpPr>
          <p:cNvPr id="11" name="left-bullet-5-marker-2">
            <a:extLst xmlns:a="http://schemas.openxmlformats.org/drawingml/2006/main">
              <a:ext uri="{FF2B5EF4-FFF2-40B4-BE49-F238E27FC236}">
                <a16:creationId xmlns:a16="http://schemas.microsoft.com/office/drawing/2014/main" id="{686A3BE0-DCCF-496A-8820-2518E7098865}"/>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9B51D67E-E72D-4268-AF59-EDE8A5246D95}"/>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Plans inside the learned model.</a:t>
            </a:r>
          </a:p>
        </p:txBody>
      </p:sp>
      <p:sp>
        <p:nvSpPr>
          <p:cNvPr id="13" name="left-bullet-5-marker-3">
            <a:extLst xmlns:a="http://schemas.openxmlformats.org/drawingml/2006/main">
              <a:ext uri="{FF2B5EF4-FFF2-40B4-BE49-F238E27FC236}">
                <a16:creationId xmlns:a16="http://schemas.microsoft.com/office/drawing/2014/main" id="{E7D9B45D-BA02-4FD4-A49B-E88826F37949}"/>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DFACD0C6-C0B3-4306-9D19-C714347E8EB2}"/>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reuse simulated experience.</a:t>
            </a:r>
          </a:p>
        </p:txBody>
      </p:sp>
      <p:sp>
        <p:nvSpPr>
          <p:cNvPr id="15" name="left-bullet-5-marker-4">
            <a:extLst xmlns:a="http://schemas.openxmlformats.org/drawingml/2006/main">
              <a:ext uri="{FF2B5EF4-FFF2-40B4-BE49-F238E27FC236}">
                <a16:creationId xmlns:a16="http://schemas.microsoft.com/office/drawing/2014/main" id="{5C9BF213-9F40-4B7F-ACEA-53E2B510FC69}"/>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20BDA7A1-6652-455C-9245-57B41B4C19B1}"/>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Model bias can mislead.</a:t>
            </a:r>
          </a:p>
        </p:txBody>
      </p:sp>
      <p:sp>
        <p:nvSpPr>
          <p:cNvPr id="17" name="right-bullet-5-marker-1">
            <a:extLst xmlns:a="http://schemas.openxmlformats.org/drawingml/2006/main">
              <a:ext uri="{FF2B5EF4-FFF2-40B4-BE49-F238E27FC236}">
                <a16:creationId xmlns:a16="http://schemas.microsoft.com/office/drawing/2014/main" id="{A9BB95A8-FB8C-43FE-9A59-E9C4FDC00C42}"/>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2BBD723C-82AA-4FEE-B86E-20EE07D002F9}"/>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Learns V, Q, or policy directly.</a:t>
            </a:r>
          </a:p>
        </p:txBody>
      </p:sp>
      <p:sp>
        <p:nvSpPr>
          <p:cNvPr id="19" name="right-bullet-5-marker-2">
            <a:extLst xmlns:a="http://schemas.openxmlformats.org/drawingml/2006/main">
              <a:ext uri="{FF2B5EF4-FFF2-40B4-BE49-F238E27FC236}">
                <a16:creationId xmlns:a16="http://schemas.microsoft.com/office/drawing/2014/main" id="{11CEE980-EEA5-4E9E-B8D0-3D5807B06E5E}"/>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7C423275-EAB2-4E88-AC01-E5860601437F}"/>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 explicit transition table required.</a:t>
            </a:r>
          </a:p>
        </p:txBody>
      </p:sp>
      <p:sp>
        <p:nvSpPr>
          <p:cNvPr id="21" name="right-bullet-5-marker-3">
            <a:extLst xmlns:a="http://schemas.openxmlformats.org/drawingml/2006/main">
              <a:ext uri="{FF2B5EF4-FFF2-40B4-BE49-F238E27FC236}">
                <a16:creationId xmlns:a16="http://schemas.microsoft.com/office/drawing/2014/main" id="{9DD1E541-3354-419E-98B2-5DF2E2A20CB5}"/>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D4B20BF9-0DA0-46A4-8998-B9358455BCB0}"/>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Often simpler control loop.</a:t>
            </a:r>
          </a:p>
        </p:txBody>
      </p:sp>
      <p:sp>
        <p:nvSpPr>
          <p:cNvPr id="23" name="right-bullet-5-marker-4">
            <a:extLst xmlns:a="http://schemas.openxmlformats.org/drawingml/2006/main">
              <a:ext uri="{FF2B5EF4-FFF2-40B4-BE49-F238E27FC236}">
                <a16:creationId xmlns:a16="http://schemas.microsoft.com/office/drawing/2014/main" id="{5FF9C3A3-59EA-4FC8-A3CD-6CACF70BF2B9}"/>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94F966AE-C5EC-4FFC-BAB4-35A4EE62CBEE}"/>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May need more interaction.</a:t>
            </a:r>
          </a:p>
        </p:txBody>
      </p:sp>
    </p:spTree>
    <p:extLst>
      <p:ext uri="{BB962C8B-B14F-4D97-AF65-F5344CB8AC3E}">
        <p14:creationId xmlns:p14="http://schemas.microsoft.com/office/powerpoint/2010/main" val="6127814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A40C8669-139C-46A7-82E1-834FFEE8BE7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Interaction creates an online learning loop</a:t>
            </a:r>
          </a:p>
        </p:txBody>
      </p:sp>
      <p:sp>
        <p:nvSpPr>
          <p:cNvPr id="2" name="title-accent-6">
            <a:extLst xmlns:a="http://schemas.openxmlformats.org/drawingml/2006/main">
              <a:ext uri="{FF2B5EF4-FFF2-40B4-BE49-F238E27FC236}">
                <a16:creationId xmlns:a16="http://schemas.microsoft.com/office/drawing/2014/main" id="{1BCDFF2E-1AB5-4361-A404-22C48F312CC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BCD17128-4A34-40D6-A535-F6A81305964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6">
            <a:extLst xmlns:a="http://schemas.openxmlformats.org/drawingml/2006/main">
              <a:ext uri="{FF2B5EF4-FFF2-40B4-BE49-F238E27FC236}">
                <a16:creationId xmlns:a16="http://schemas.microsoft.com/office/drawing/2014/main" id="{EE586F42-16A0-4D2E-90EA-D24B0A0381F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905CD35A-7BA9-4DCF-B0D1-E77FC1E60087}"/>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0AE143DE-8AC3-4233-BDBB-E85017A99AE7}"/>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76A06BE8-CCD8-4902-8DC1-2A4FD02C31F0}"/>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Reset</a:t>
            </a:r>
          </a:p>
        </p:txBody>
      </p:sp>
      <p:sp>
        <p:nvSpPr>
          <p:cNvPr id="13" name="process-detail-6-1">
            <a:extLst xmlns:a="http://schemas.openxmlformats.org/drawingml/2006/main">
              <a:ext uri="{FF2B5EF4-FFF2-40B4-BE49-F238E27FC236}">
                <a16:creationId xmlns:a16="http://schemas.microsoft.com/office/drawing/2014/main" id="{E3F8728A-1FA0-4E09-A4D1-A515BE049196}"/>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Start an episode.</a:t>
            </a:r>
          </a:p>
        </p:txBody>
      </p:sp>
      <p:sp>
        <p:nvSpPr>
          <p:cNvPr id="14" name="process-node-6-2">
            <a:extLst xmlns:a="http://schemas.openxmlformats.org/drawingml/2006/main">
              <a:ext uri="{FF2B5EF4-FFF2-40B4-BE49-F238E27FC236}">
                <a16:creationId xmlns:a16="http://schemas.microsoft.com/office/drawing/2014/main" id="{7757C13D-FB03-4547-9343-ECD29F8A7D58}"/>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0D79F55C-8CCE-48F2-B7D0-462BA6CA01A5}"/>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BDA612A4-F36B-4A4D-AE87-C2D212061FF1}"/>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Select</a:t>
            </a:r>
          </a:p>
        </p:txBody>
      </p:sp>
      <p:sp>
        <p:nvSpPr>
          <p:cNvPr id="17" name="process-detail-6-2">
            <a:extLst xmlns:a="http://schemas.openxmlformats.org/drawingml/2006/main">
              <a:ext uri="{FF2B5EF4-FFF2-40B4-BE49-F238E27FC236}">
                <a16:creationId xmlns:a16="http://schemas.microsoft.com/office/drawing/2014/main" id="{63AC74BC-BA57-4F03-A66B-CCA6B50B5862}"/>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Choose an exploratory action.</a:t>
            </a:r>
          </a:p>
        </p:txBody>
      </p:sp>
      <p:sp>
        <p:nvSpPr>
          <p:cNvPr id="18" name="process-node-6-3">
            <a:extLst xmlns:a="http://schemas.openxmlformats.org/drawingml/2006/main">
              <a:ext uri="{FF2B5EF4-FFF2-40B4-BE49-F238E27FC236}">
                <a16:creationId xmlns:a16="http://schemas.microsoft.com/office/drawing/2014/main" id="{174FE1D9-A963-4EA1-8BC3-4BC380549DFA}"/>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6F358C72-E733-415F-B791-D09C2F651AB3}"/>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B11B7C66-0F76-4414-87E5-60E7BF9C9555}"/>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Observe</a:t>
            </a:r>
          </a:p>
        </p:txBody>
      </p:sp>
      <p:sp>
        <p:nvSpPr>
          <p:cNvPr id="21" name="process-detail-6-3">
            <a:extLst xmlns:a="http://schemas.openxmlformats.org/drawingml/2006/main">
              <a:ext uri="{FF2B5EF4-FFF2-40B4-BE49-F238E27FC236}">
                <a16:creationId xmlns:a16="http://schemas.microsoft.com/office/drawing/2014/main" id="{3DB4B1EB-2510-455B-AD46-964EA558BC95}"/>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Receive next state and reward.</a:t>
            </a:r>
          </a:p>
        </p:txBody>
      </p:sp>
      <p:sp>
        <p:nvSpPr>
          <p:cNvPr id="22" name="process-node-6-4">
            <a:extLst xmlns:a="http://schemas.openxmlformats.org/drawingml/2006/main">
              <a:ext uri="{FF2B5EF4-FFF2-40B4-BE49-F238E27FC236}">
                <a16:creationId xmlns:a16="http://schemas.microsoft.com/office/drawing/2014/main" id="{49AE0C4D-5608-4960-A00B-CEC620E0A65B}"/>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B22638BD-D594-4479-9D57-714104ED58DC}"/>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D5081EFE-645E-4453-AA76-E58E5B1EB933}"/>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Update</a:t>
            </a:r>
          </a:p>
        </p:txBody>
      </p:sp>
      <p:sp>
        <p:nvSpPr>
          <p:cNvPr id="25" name="process-detail-6-4">
            <a:extLst xmlns:a="http://schemas.openxmlformats.org/drawingml/2006/main">
              <a:ext uri="{FF2B5EF4-FFF2-40B4-BE49-F238E27FC236}">
                <a16:creationId xmlns:a16="http://schemas.microsoft.com/office/drawing/2014/main" id="{8EFC72E4-31CE-4D39-B078-679FEB689742}"/>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Move estimate toward target.</a:t>
            </a:r>
          </a:p>
        </p:txBody>
      </p:sp>
      <p:sp>
        <p:nvSpPr>
          <p:cNvPr id="26" name="process-node-6-5">
            <a:extLst xmlns:a="http://schemas.openxmlformats.org/drawingml/2006/main">
              <a:ext uri="{FF2B5EF4-FFF2-40B4-BE49-F238E27FC236}">
                <a16:creationId xmlns:a16="http://schemas.microsoft.com/office/drawing/2014/main" id="{E6AE2A04-9B6F-43CB-81E5-002C1B40392D}"/>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59339457-6278-45DD-B518-2EE3C14891FC}"/>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4DBBCC77-FAF4-42BC-A8B6-BD2FEDC8B52D}"/>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Repeat</a:t>
            </a:r>
          </a:p>
        </p:txBody>
      </p:sp>
      <p:sp>
        <p:nvSpPr>
          <p:cNvPr id="29" name="process-detail-6-5">
            <a:extLst xmlns:a="http://schemas.openxmlformats.org/drawingml/2006/main">
              <a:ext uri="{FF2B5EF4-FFF2-40B4-BE49-F238E27FC236}">
                <a16:creationId xmlns:a16="http://schemas.microsoft.com/office/drawing/2014/main" id="{5A23B485-4203-4E06-8F74-8F7B5B4B2DE4}"/>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Continue until terminal or limit.</a:t>
            </a:r>
          </a:p>
        </p:txBody>
      </p:sp>
      <p:sp>
        <p:nvSpPr>
          <p:cNvPr id="30" name="process-takeaway-6">
            <a:extLst xmlns:a="http://schemas.openxmlformats.org/drawingml/2006/main">
              <a:ext uri="{FF2B5EF4-FFF2-40B4-BE49-F238E27FC236}">
                <a16:creationId xmlns:a16="http://schemas.microsoft.com/office/drawing/2014/main" id="{D4FC248B-A4C4-4CCD-8793-29DCDFAACAC8}"/>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Behavior determines data coverage, so exploration is part of the learning algorithm.</a:t>
            </a:r>
          </a:p>
        </p:txBody>
      </p:sp>
    </p:spTree>
    <p:extLst>
      <p:ext uri="{BB962C8B-B14F-4D97-AF65-F5344CB8AC3E}">
        <p14:creationId xmlns:p14="http://schemas.microsoft.com/office/powerpoint/2010/main" val="12242516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3E5984DF-A52F-4110-951B-FC851608B5B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TD(0) updates one transition at a time</a:t>
            </a:r>
          </a:p>
        </p:txBody>
      </p:sp>
      <p:sp>
        <p:nvSpPr>
          <p:cNvPr id="2" name="title-accent-7">
            <a:extLst xmlns:a="http://schemas.openxmlformats.org/drawingml/2006/main">
              <a:ext uri="{FF2B5EF4-FFF2-40B4-BE49-F238E27FC236}">
                <a16:creationId xmlns:a16="http://schemas.microsoft.com/office/drawing/2014/main" id="{FFE646D9-943A-49EF-AA4D-467ECDE32FD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7FEEF089-3CA6-4023-B781-767C97D3B5D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7">
            <a:extLst xmlns:a="http://schemas.openxmlformats.org/drawingml/2006/main">
              <a:ext uri="{FF2B5EF4-FFF2-40B4-BE49-F238E27FC236}">
                <a16:creationId xmlns:a16="http://schemas.microsoft.com/office/drawing/2014/main" id="{0105023E-CCAF-4675-84DD-C24FDAE2A92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E1F3F9EF-E630-4504-AC12-C6D8B40622E9}"/>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6A8C88B6-AA1B-420D-8079-2CA2349729A1}"/>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for each episode: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state = env.reset()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while not terminal:</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action = behavior_policy(state)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next_state, reward, terminal = env.step(action)</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target = reward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not terminal:</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target += gamma * V[next_state]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error = target - V[state]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V[state] += alpha * error</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state = next_state</a:t>
            </a:r>
          </a:p>
        </p:txBody>
      </p:sp>
      <p:sp>
        <p:nvSpPr>
          <p:cNvPr id="8" name="code-rail-title-7">
            <a:extLst xmlns:a="http://schemas.openxmlformats.org/drawingml/2006/main">
              <a:ext uri="{FF2B5EF4-FFF2-40B4-BE49-F238E27FC236}">
                <a16:creationId xmlns:a16="http://schemas.microsoft.com/office/drawing/2014/main" id="{B856898C-8807-44D5-AAB4-2CD7F9B6B7F3}"/>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Update controls</a:t>
            </a:r>
          </a:p>
        </p:txBody>
      </p:sp>
      <p:sp>
        <p:nvSpPr>
          <p:cNvPr id="9" name="code-rail-7-marker-1">
            <a:extLst xmlns:a="http://schemas.openxmlformats.org/drawingml/2006/main">
              <a:ext uri="{FF2B5EF4-FFF2-40B4-BE49-F238E27FC236}">
                <a16:creationId xmlns:a16="http://schemas.microsoft.com/office/drawing/2014/main" id="{C365C642-B251-403F-A367-E0C79B3360B1}"/>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B588E22B-95F1-4E6F-9FFA-54A7F8AEF68B}"/>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alpha sets step size.</a:t>
            </a:r>
          </a:p>
        </p:txBody>
      </p:sp>
      <p:sp>
        <p:nvSpPr>
          <p:cNvPr id="11" name="code-rail-7-marker-2">
            <a:extLst xmlns:a="http://schemas.openxmlformats.org/drawingml/2006/main">
              <a:ext uri="{FF2B5EF4-FFF2-40B4-BE49-F238E27FC236}">
                <a16:creationId xmlns:a16="http://schemas.microsoft.com/office/drawing/2014/main" id="{EE288521-57B3-4E28-B593-CB0B999BB974}"/>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BACF611E-B564-4D57-9FF7-CD8D57B987F2}"/>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gamma discounts future.</a:t>
            </a:r>
          </a:p>
        </p:txBody>
      </p:sp>
      <p:sp>
        <p:nvSpPr>
          <p:cNvPr id="13" name="code-rail-7-marker-3">
            <a:extLst xmlns:a="http://schemas.openxmlformats.org/drawingml/2006/main">
              <a:ext uri="{FF2B5EF4-FFF2-40B4-BE49-F238E27FC236}">
                <a16:creationId xmlns:a16="http://schemas.microsoft.com/office/drawing/2014/main" id="{5318AFB1-9366-4361-8DE2-A2F9E1CD0591}"/>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7B0543F1-0E04-4E04-BA58-5DE3071892FB}"/>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Terminal stops bootstrap.</a:t>
            </a:r>
          </a:p>
        </p:txBody>
      </p:sp>
      <p:sp>
        <p:nvSpPr>
          <p:cNvPr id="15" name="code-rail-7-marker-4">
            <a:extLst xmlns:a="http://schemas.openxmlformats.org/drawingml/2006/main">
              <a:ext uri="{FF2B5EF4-FFF2-40B4-BE49-F238E27FC236}">
                <a16:creationId xmlns:a16="http://schemas.microsoft.com/office/drawing/2014/main" id="{E5D401CE-B925-4488-84CF-D43708A21E07}"/>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DD3CC4C3-E23E-400A-AABC-9806E35C55B5}"/>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Samples are correlated.</a:t>
            </a:r>
          </a:p>
        </p:txBody>
      </p:sp>
    </p:spTree>
    <p:extLst>
      <p:ext uri="{BB962C8B-B14F-4D97-AF65-F5344CB8AC3E}">
        <p14:creationId xmlns:p14="http://schemas.microsoft.com/office/powerpoint/2010/main" val="10141323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73DA1D99-5BEC-48C6-9DB2-324C3D2D7C4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TD update</a:t>
            </a:r>
          </a:p>
        </p:txBody>
      </p:sp>
      <p:sp>
        <p:nvSpPr>
          <p:cNvPr id="2" name="title-accent-8">
            <a:extLst xmlns:a="http://schemas.openxmlformats.org/drawingml/2006/main">
              <a:ext uri="{FF2B5EF4-FFF2-40B4-BE49-F238E27FC236}">
                <a16:creationId xmlns:a16="http://schemas.microsoft.com/office/drawing/2014/main" id="{C2A6E410-BA73-4137-9131-A351CE58739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D8BD2D4C-09B9-484B-8B14-E7ECFB4B999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8">
            <a:extLst xmlns:a="http://schemas.openxmlformats.org/drawingml/2006/main">
              <a:ext uri="{FF2B5EF4-FFF2-40B4-BE49-F238E27FC236}">
                <a16:creationId xmlns:a16="http://schemas.microsoft.com/office/drawing/2014/main" id="{ECF2C454-18B4-4238-A038-20B3BB00D85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BAB97A6B-D45A-46AE-A7A9-829E37C89343}"/>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D754FCCD-3D04-4425-9C88-D88A49B3DEAE}"/>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V(A)=4, transition A to B gives reward 2, V(B)=5, gamma=0.9, and alpha=0.1.</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4E07963E-D445-40A9-BF98-DB782B802051}"/>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28860FEB-22AC-49C4-92AE-47794E9FB2CE}"/>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Target=2+0.9*5=6.5.</a:t>
            </a:r>
          </a:p>
        </p:txBody>
      </p:sp>
      <p:sp>
        <p:nvSpPr>
          <p:cNvPr id="11" name="example-step-8-marker-2">
            <a:extLst xmlns:a="http://schemas.openxmlformats.org/drawingml/2006/main">
              <a:ext uri="{FF2B5EF4-FFF2-40B4-BE49-F238E27FC236}">
                <a16:creationId xmlns:a16="http://schemas.microsoft.com/office/drawing/2014/main" id="{34526662-27E6-462D-8963-CB2F6E18EB3D}"/>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39047510-979D-4F9C-9CE9-56D5DBFD271B}"/>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TD error=6.5-4=2.5.</a:t>
            </a:r>
          </a:p>
        </p:txBody>
      </p:sp>
      <p:sp>
        <p:nvSpPr>
          <p:cNvPr id="13" name="example-step-8-marker-3">
            <a:extLst xmlns:a="http://schemas.openxmlformats.org/drawingml/2006/main">
              <a:ext uri="{FF2B5EF4-FFF2-40B4-BE49-F238E27FC236}">
                <a16:creationId xmlns:a16="http://schemas.microsoft.com/office/drawing/2014/main" id="{DC128C19-444B-46D6-8143-31802087398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B63AF796-E4DF-4180-AEDB-C9D3B38235BF}"/>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Increment=0.1*2.5=0.25.</a:t>
            </a:r>
          </a:p>
        </p:txBody>
      </p:sp>
      <p:sp>
        <p:nvSpPr>
          <p:cNvPr id="15" name="example-step-8-marker-4">
            <a:extLst xmlns:a="http://schemas.openxmlformats.org/drawingml/2006/main">
              <a:ext uri="{FF2B5EF4-FFF2-40B4-BE49-F238E27FC236}">
                <a16:creationId xmlns:a16="http://schemas.microsoft.com/office/drawing/2014/main" id="{6222ACC4-A984-49E9-82EF-05D47EAD0656}"/>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12052BC3-E457-4F0F-A847-A9B23D0E5401}"/>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Set V(A)=4.25.</a:t>
            </a:r>
          </a:p>
        </p:txBody>
      </p:sp>
      <p:sp>
        <p:nvSpPr>
          <p:cNvPr id="17" name="example-result-panel-8">
            <a:extLst xmlns:a="http://schemas.openxmlformats.org/drawingml/2006/main">
              <a:ext uri="{FF2B5EF4-FFF2-40B4-BE49-F238E27FC236}">
                <a16:creationId xmlns:a16="http://schemas.microsoft.com/office/drawing/2014/main" id="{4B3C55C8-B873-4EDF-8781-FCE7E06F2DF4}"/>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45DB4B8F-7A92-4CA9-8A0A-92FB4351ED89}"/>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estimate moves partway toward the one-step bootstrap target.</a:t>
            </a:r>
          </a:p>
        </p:txBody>
      </p:sp>
    </p:spTree>
    <p:extLst>
      <p:ext uri="{BB962C8B-B14F-4D97-AF65-F5344CB8AC3E}">
        <p14:creationId xmlns:p14="http://schemas.microsoft.com/office/powerpoint/2010/main" val="6895146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24675DFF-8A52-4E87-A11B-E34957557DD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Planning and learning use different backup evidence</a:t>
            </a:r>
          </a:p>
        </p:txBody>
      </p:sp>
      <p:sp>
        <p:nvSpPr>
          <p:cNvPr id="2" name="title-accent-9">
            <a:extLst xmlns:a="http://schemas.openxmlformats.org/drawingml/2006/main">
              <a:ext uri="{FF2B5EF4-FFF2-40B4-BE49-F238E27FC236}">
                <a16:creationId xmlns:a16="http://schemas.microsoft.com/office/drawing/2014/main" id="{F41707A3-C404-4DF8-AB3E-E5421656869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BFC38524-AAE9-4C4A-B374-E787184A2DF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9">
            <a:extLst xmlns:a="http://schemas.openxmlformats.org/drawingml/2006/main">
              <a:ext uri="{FF2B5EF4-FFF2-40B4-BE49-F238E27FC236}">
                <a16:creationId xmlns:a16="http://schemas.microsoft.com/office/drawing/2014/main" id="{D4E9FD52-2DD1-4E2C-8151-8F785AC9962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B4BC5246-CDCD-4B11-972E-71DEE6C73FD9}"/>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Bellman model backup</a:t>
            </a:r>
          </a:p>
        </p:txBody>
      </p:sp>
      <p:sp>
        <p:nvSpPr>
          <p:cNvPr id="7" name="comparison-tagline-9-1">
            <a:extLst xmlns:a="http://schemas.openxmlformats.org/drawingml/2006/main">
              <a:ext uri="{FF2B5EF4-FFF2-40B4-BE49-F238E27FC236}">
                <a16:creationId xmlns:a16="http://schemas.microsoft.com/office/drawing/2014/main" id="{E136A72D-AE89-4E6C-B8A3-CF3DBB26E21B}"/>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Full expectation</a:t>
            </a:r>
          </a:p>
        </p:txBody>
      </p:sp>
      <p:sp>
        <p:nvSpPr>
          <p:cNvPr id="8" name="comparison-bullet-9-1-marker-1">
            <a:extLst xmlns:a="http://schemas.openxmlformats.org/drawingml/2006/main">
              <a:ext uri="{FF2B5EF4-FFF2-40B4-BE49-F238E27FC236}">
                <a16:creationId xmlns:a16="http://schemas.microsoft.com/office/drawing/2014/main" id="{A657C739-4B89-4005-B6D1-2D9C217A88C7}"/>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CA205D98-6241-48F1-8CFA-40C26BB26D79}"/>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Uses every successor probability.</a:t>
            </a:r>
          </a:p>
        </p:txBody>
      </p:sp>
      <p:sp>
        <p:nvSpPr>
          <p:cNvPr id="10" name="comparison-bullet-9-1-marker-2">
            <a:extLst xmlns:a="http://schemas.openxmlformats.org/drawingml/2006/main">
              <a:ext uri="{FF2B5EF4-FFF2-40B4-BE49-F238E27FC236}">
                <a16:creationId xmlns:a16="http://schemas.microsoft.com/office/drawing/2014/main" id="{F6348674-36F3-49B0-8F3D-1E0A769A0F6A}"/>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3C334D39-5B5C-41B5-BEE8-1F141FEED4A3}"/>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sampled transition required.</a:t>
            </a:r>
          </a:p>
        </p:txBody>
      </p:sp>
      <p:sp>
        <p:nvSpPr>
          <p:cNvPr id="12" name="comparison-bullet-9-1-marker-3">
            <a:extLst xmlns:a="http://schemas.openxmlformats.org/drawingml/2006/main">
              <a:ext uri="{FF2B5EF4-FFF2-40B4-BE49-F238E27FC236}">
                <a16:creationId xmlns:a16="http://schemas.microsoft.com/office/drawing/2014/main" id="{F7B4FD03-0FC9-4EA9-918E-E160769E75D1}"/>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17E22A5C-FFD8-46BD-B6D6-BD8DB1BBB286}"/>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Deterministic given V.</a:t>
            </a:r>
          </a:p>
        </p:txBody>
      </p:sp>
      <p:sp>
        <p:nvSpPr>
          <p:cNvPr id="14" name="comparison-bullet-9-1-marker-4">
            <a:extLst xmlns:a="http://schemas.openxmlformats.org/drawingml/2006/main">
              <a:ext uri="{FF2B5EF4-FFF2-40B4-BE49-F238E27FC236}">
                <a16:creationId xmlns:a16="http://schemas.microsoft.com/office/drawing/2014/main" id="{4D80DBFD-D8CB-4786-8C14-A4AE94C4EFD9}"/>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4B892611-B22C-4090-B8CA-D66E3719DCAA}"/>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Requires known P and R.</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6419C0DA-94F6-4143-A79B-6E86A4D55595}"/>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Monte Carlo</a:t>
            </a:r>
          </a:p>
        </p:txBody>
      </p:sp>
      <p:sp>
        <p:nvSpPr>
          <p:cNvPr id="18" name="comparison-tagline-9-2">
            <a:extLst xmlns:a="http://schemas.openxmlformats.org/drawingml/2006/main">
              <a:ext uri="{FF2B5EF4-FFF2-40B4-BE49-F238E27FC236}">
                <a16:creationId xmlns:a16="http://schemas.microsoft.com/office/drawing/2014/main" id="{7F2445B6-E50E-4AE1-8E80-CE8F31C94D18}"/>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Complete sampled return</a:t>
            </a:r>
          </a:p>
        </p:txBody>
      </p:sp>
      <p:sp>
        <p:nvSpPr>
          <p:cNvPr id="19" name="comparison-bullet-9-2-marker-1">
            <a:extLst xmlns:a="http://schemas.openxmlformats.org/drawingml/2006/main">
              <a:ext uri="{FF2B5EF4-FFF2-40B4-BE49-F238E27FC236}">
                <a16:creationId xmlns:a16="http://schemas.microsoft.com/office/drawing/2014/main" id="{A1E1D3E8-0BAA-4D20-A606-20C9C1BD281F}"/>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00A93376-0D7B-4F47-B8F3-5EC03831773C}"/>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Waits until episode end.</a:t>
            </a:r>
          </a:p>
        </p:txBody>
      </p:sp>
      <p:sp>
        <p:nvSpPr>
          <p:cNvPr id="21" name="comparison-bullet-9-2-marker-2">
            <a:extLst xmlns:a="http://schemas.openxmlformats.org/drawingml/2006/main">
              <a:ext uri="{FF2B5EF4-FFF2-40B4-BE49-F238E27FC236}">
                <a16:creationId xmlns:a16="http://schemas.microsoft.com/office/drawing/2014/main" id="{85898286-A19C-4451-911B-9FA9F348406B}"/>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7A0AF63E-2926-4645-95A4-E42626838BC6}"/>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bootstrap.</a:t>
            </a:r>
          </a:p>
        </p:txBody>
      </p:sp>
      <p:sp>
        <p:nvSpPr>
          <p:cNvPr id="23" name="comparison-bullet-9-2-marker-3">
            <a:extLst xmlns:a="http://schemas.openxmlformats.org/drawingml/2006/main">
              <a:ext uri="{FF2B5EF4-FFF2-40B4-BE49-F238E27FC236}">
                <a16:creationId xmlns:a16="http://schemas.microsoft.com/office/drawing/2014/main" id="{9F751A4F-8E17-42C4-8901-1455CBDEAE69}"/>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02B7B149-9846-4A45-B9A3-D1EEA5C035D2}"/>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Unbiased return sample.</a:t>
            </a:r>
          </a:p>
        </p:txBody>
      </p:sp>
      <p:sp>
        <p:nvSpPr>
          <p:cNvPr id="25" name="comparison-bullet-9-2-marker-4">
            <a:extLst xmlns:a="http://schemas.openxmlformats.org/drawingml/2006/main">
              <a:ext uri="{FF2B5EF4-FFF2-40B4-BE49-F238E27FC236}">
                <a16:creationId xmlns:a16="http://schemas.microsoft.com/office/drawing/2014/main" id="{8B9CD7EF-BEB6-42EA-B881-C956C9006D97}"/>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A0DDB55E-AF4A-4839-B624-A73785DB018D}"/>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Can have high variance.</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E6517B31-D161-4F16-A2AE-8D5F8BEB0D92}"/>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TD(0)</a:t>
            </a:r>
          </a:p>
        </p:txBody>
      </p:sp>
      <p:sp>
        <p:nvSpPr>
          <p:cNvPr id="29" name="comparison-tagline-9-3">
            <a:extLst xmlns:a="http://schemas.openxmlformats.org/drawingml/2006/main">
              <a:ext uri="{FF2B5EF4-FFF2-40B4-BE49-F238E27FC236}">
                <a16:creationId xmlns:a16="http://schemas.microsoft.com/office/drawing/2014/main" id="{917DCCCB-DEE2-41FD-AE71-5EB603E064D0}"/>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One-step sample</a:t>
            </a:r>
          </a:p>
        </p:txBody>
      </p:sp>
      <p:sp>
        <p:nvSpPr>
          <p:cNvPr id="30" name="comparison-bullet-9-3-marker-1">
            <a:extLst xmlns:a="http://schemas.openxmlformats.org/drawingml/2006/main">
              <a:ext uri="{FF2B5EF4-FFF2-40B4-BE49-F238E27FC236}">
                <a16:creationId xmlns:a16="http://schemas.microsoft.com/office/drawing/2014/main" id="{0B2C2F20-6572-41BD-BFFF-226ECFE9E03A}"/>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ABFE0FD8-71B0-4835-A878-12FE2257B9B7}"/>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Updates before episode end.</a:t>
            </a:r>
          </a:p>
        </p:txBody>
      </p:sp>
      <p:sp>
        <p:nvSpPr>
          <p:cNvPr id="32" name="comparison-bullet-9-3-marker-2">
            <a:extLst xmlns:a="http://schemas.openxmlformats.org/drawingml/2006/main">
              <a:ext uri="{FF2B5EF4-FFF2-40B4-BE49-F238E27FC236}">
                <a16:creationId xmlns:a16="http://schemas.microsoft.com/office/drawing/2014/main" id="{FA88051D-3628-4EDE-A368-14574E79D8DF}"/>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C2806472-244B-4789-9D73-1C453EA1F00D}"/>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Bootstraps from V.</a:t>
            </a:r>
          </a:p>
        </p:txBody>
      </p:sp>
      <p:sp>
        <p:nvSpPr>
          <p:cNvPr id="34" name="comparison-bullet-9-3-marker-3">
            <a:extLst xmlns:a="http://schemas.openxmlformats.org/drawingml/2006/main">
              <a:ext uri="{FF2B5EF4-FFF2-40B4-BE49-F238E27FC236}">
                <a16:creationId xmlns:a16="http://schemas.microsoft.com/office/drawing/2014/main" id="{586B667A-A5B9-4B5F-9045-1D77ED099411}"/>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0B19FD01-60DF-4BEF-86F7-56E7975D0855}"/>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Lower variance, some bias.</a:t>
            </a:r>
          </a:p>
        </p:txBody>
      </p:sp>
      <p:sp>
        <p:nvSpPr>
          <p:cNvPr id="36" name="comparison-bullet-9-3-marker-4">
            <a:extLst xmlns:a="http://schemas.openxmlformats.org/drawingml/2006/main">
              <a:ext uri="{FF2B5EF4-FFF2-40B4-BE49-F238E27FC236}">
                <a16:creationId xmlns:a16="http://schemas.microsoft.com/office/drawing/2014/main" id="{A8FAADA6-978D-48F2-A493-5EE217FCE7B8}"/>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5D74E1F2-3215-4E35-859E-5ED06F96A7D3}"/>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model required.</a:t>
            </a:r>
          </a:p>
        </p:txBody>
      </p:sp>
    </p:spTree>
    <p:extLst>
      <p:ext uri="{BB962C8B-B14F-4D97-AF65-F5344CB8AC3E}">
        <p14:creationId xmlns:p14="http://schemas.microsoft.com/office/powerpoint/2010/main" val="20065673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D1DD312F-CF48-496A-92FC-64398742A6E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compute TD error</a:t>
            </a:r>
          </a:p>
        </p:txBody>
      </p:sp>
      <p:sp>
        <p:nvSpPr>
          <p:cNvPr id="2" name="title-accent-10">
            <a:extLst xmlns:a="http://schemas.openxmlformats.org/drawingml/2006/main">
              <a:ext uri="{FF2B5EF4-FFF2-40B4-BE49-F238E27FC236}">
                <a16:creationId xmlns:a16="http://schemas.microsoft.com/office/drawing/2014/main" id="{4B65F561-FF90-4A94-996A-ECD457BC1A6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F1775440-3714-43F4-877F-FA01EE0D96C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0">
            <a:extLst xmlns:a="http://schemas.openxmlformats.org/drawingml/2006/main">
              <a:ext uri="{FF2B5EF4-FFF2-40B4-BE49-F238E27FC236}">
                <a16:creationId xmlns:a16="http://schemas.microsoft.com/office/drawing/2014/main" id="{22BD18A3-E785-419B-9064-49BA4B07DC6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45FF057E-1EC3-42AF-B631-C04DAB82F80D}"/>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7DFA920B-3B46-4989-9A35-EF78683FF9D9}"/>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V(s)=3, reward=-1, V(s')=4, gamma=0.5. What is the TD error and the new value for alpha=0.2?</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0F830111-075A-42FD-B3FA-14FC15DBED57}"/>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36F66346-D9F3-4B97-866E-1E6761349585}"/>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Compute the target.</a:t>
            </a:r>
          </a:p>
        </p:txBody>
      </p:sp>
      <p:sp>
        <p:nvSpPr>
          <p:cNvPr id="11" name="checkpoint-prompt-number-10-2">
            <a:extLst xmlns:a="http://schemas.openxmlformats.org/drawingml/2006/main">
              <a:ext uri="{FF2B5EF4-FFF2-40B4-BE49-F238E27FC236}">
                <a16:creationId xmlns:a16="http://schemas.microsoft.com/office/drawing/2014/main" id="{7F8867A7-0732-4168-88B5-7EAE025C8181}"/>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EEB5690C-6EBA-447E-81D6-04C675521614}"/>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Subtract the old prediction.</a:t>
            </a:r>
          </a:p>
        </p:txBody>
      </p:sp>
      <p:sp>
        <p:nvSpPr>
          <p:cNvPr id="13" name="checkpoint-prompt-number-10-3">
            <a:extLst xmlns:a="http://schemas.openxmlformats.org/drawingml/2006/main">
              <a:ext uri="{FF2B5EF4-FFF2-40B4-BE49-F238E27FC236}">
                <a16:creationId xmlns:a16="http://schemas.microsoft.com/office/drawing/2014/main" id="{6E134870-F0CB-4DB2-AD95-EE24A9062EEE}"/>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43336E54-0BCE-4357-B35B-CB7E22013A21}"/>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Apply the learning-rate step.</a:t>
            </a:r>
          </a:p>
        </p:txBody>
      </p:sp>
    </p:spTree>
    <p:extLst>
      <p:ext uri="{BB962C8B-B14F-4D97-AF65-F5344CB8AC3E}">
        <p14:creationId xmlns:p14="http://schemas.microsoft.com/office/powerpoint/2010/main" val="7727185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DDFF7BAD-5020-4A1E-B138-7643F4006C8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Exploration and exploitation serve different evidence needs</a:t>
            </a:r>
          </a:p>
        </p:txBody>
      </p:sp>
      <p:sp>
        <p:nvSpPr>
          <p:cNvPr id="2" name="title-accent-11">
            <a:extLst xmlns:a="http://schemas.openxmlformats.org/drawingml/2006/main">
              <a:ext uri="{FF2B5EF4-FFF2-40B4-BE49-F238E27FC236}">
                <a16:creationId xmlns:a16="http://schemas.microsoft.com/office/drawing/2014/main" id="{BE92389A-40FE-4368-9C42-9AFE4A458A2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830DCFD3-25A6-4375-9B23-609187CFFD2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1">
            <a:extLst xmlns:a="http://schemas.openxmlformats.org/drawingml/2006/main">
              <a:ext uri="{FF2B5EF4-FFF2-40B4-BE49-F238E27FC236}">
                <a16:creationId xmlns:a16="http://schemas.microsoft.com/office/drawing/2014/main" id="{A8976F6D-854C-4477-9A61-E9BBF307B65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A8E31C8C-4F9E-4053-9D22-778044257CD1}"/>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Exploitation</a:t>
            </a:r>
          </a:p>
        </p:txBody>
      </p:sp>
      <p:sp>
        <p:nvSpPr>
          <p:cNvPr id="8" name="right-title-11">
            <a:extLst xmlns:a="http://schemas.openxmlformats.org/drawingml/2006/main">
              <a:ext uri="{FF2B5EF4-FFF2-40B4-BE49-F238E27FC236}">
                <a16:creationId xmlns:a16="http://schemas.microsoft.com/office/drawing/2014/main" id="{012D1280-1827-4DAB-B640-6D4A9E8BF16D}"/>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Exploration</a:t>
            </a:r>
          </a:p>
        </p:txBody>
      </p:sp>
      <p:sp>
        <p:nvSpPr>
          <p:cNvPr id="9" name="left-bullet-11-marker-1">
            <a:extLst xmlns:a="http://schemas.openxmlformats.org/drawingml/2006/main">
              <a:ext uri="{FF2B5EF4-FFF2-40B4-BE49-F238E27FC236}">
                <a16:creationId xmlns:a16="http://schemas.microsoft.com/office/drawing/2014/main" id="{82FFD18E-F20F-43E0-B6D5-9F02DB9FC809}"/>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DD5BC36A-EE5F-400E-BC6F-F78598A9EC09}"/>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the current best action.</a:t>
            </a:r>
          </a:p>
        </p:txBody>
      </p:sp>
      <p:sp>
        <p:nvSpPr>
          <p:cNvPr id="11" name="left-bullet-11-marker-2">
            <a:extLst xmlns:a="http://schemas.openxmlformats.org/drawingml/2006/main">
              <a:ext uri="{FF2B5EF4-FFF2-40B4-BE49-F238E27FC236}">
                <a16:creationId xmlns:a16="http://schemas.microsoft.com/office/drawing/2014/main" id="{4F7EA58E-CFD4-4752-9062-97DAA6631DA3}"/>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A1A1A8C6-5BBE-4487-A6C8-83601DE477EC}"/>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Improves immediate performance.</a:t>
            </a:r>
          </a:p>
        </p:txBody>
      </p:sp>
      <p:sp>
        <p:nvSpPr>
          <p:cNvPr id="13" name="left-bullet-11-marker-3">
            <a:extLst xmlns:a="http://schemas.openxmlformats.org/drawingml/2006/main">
              <a:ext uri="{FF2B5EF4-FFF2-40B4-BE49-F238E27FC236}">
                <a16:creationId xmlns:a16="http://schemas.microsoft.com/office/drawing/2014/main" id="{E6834DD7-BDF8-465F-B666-87688F3F91BB}"/>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E0E5EA37-3C21-4A15-985C-0E56448825C2}"/>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Concentrates on known behavior.</a:t>
            </a:r>
          </a:p>
        </p:txBody>
      </p:sp>
      <p:sp>
        <p:nvSpPr>
          <p:cNvPr id="15" name="left-bullet-11-marker-4">
            <a:extLst xmlns:a="http://schemas.openxmlformats.org/drawingml/2006/main">
              <a:ext uri="{FF2B5EF4-FFF2-40B4-BE49-F238E27FC236}">
                <a16:creationId xmlns:a16="http://schemas.microsoft.com/office/drawing/2014/main" id="{44310E2C-B4F1-4429-8D9F-CBFDF705333A}"/>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AFF214C8-3537-40FB-A453-3F6C88D1B344}"/>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lock into a poor estimate.</a:t>
            </a:r>
          </a:p>
        </p:txBody>
      </p:sp>
      <p:sp>
        <p:nvSpPr>
          <p:cNvPr id="17" name="right-bullet-11-marker-1">
            <a:extLst xmlns:a="http://schemas.openxmlformats.org/drawingml/2006/main">
              <a:ext uri="{FF2B5EF4-FFF2-40B4-BE49-F238E27FC236}">
                <a16:creationId xmlns:a16="http://schemas.microsoft.com/office/drawing/2014/main" id="{AE732597-59E6-4C63-86DB-AE519F3FD171}"/>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E07BBF66-134B-426C-A2FF-4E93AA5B6AEF}"/>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Try uncertain alternatives.</a:t>
            </a:r>
          </a:p>
        </p:txBody>
      </p:sp>
      <p:sp>
        <p:nvSpPr>
          <p:cNvPr id="19" name="right-bullet-11-marker-2">
            <a:extLst xmlns:a="http://schemas.openxmlformats.org/drawingml/2006/main">
              <a:ext uri="{FF2B5EF4-FFF2-40B4-BE49-F238E27FC236}">
                <a16:creationId xmlns:a16="http://schemas.microsoft.com/office/drawing/2014/main" id="{2E4CAE79-5E77-42AD-A8D6-CC2BDD75D6BD}"/>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F4A83081-6DE8-4BFC-BF38-96CB85954587}"/>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Improves coverage.</a:t>
            </a:r>
          </a:p>
        </p:txBody>
      </p:sp>
      <p:sp>
        <p:nvSpPr>
          <p:cNvPr id="21" name="right-bullet-11-marker-3">
            <a:extLst xmlns:a="http://schemas.openxmlformats.org/drawingml/2006/main">
              <a:ext uri="{FF2B5EF4-FFF2-40B4-BE49-F238E27FC236}">
                <a16:creationId xmlns:a16="http://schemas.microsoft.com/office/drawing/2014/main" id="{78DCF3C6-2030-426A-9C8A-88351B88C155}"/>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F83E26C4-0DB1-4273-AF18-DA84BD33D8E9}"/>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sacrifice immediate reward.</a:t>
            </a:r>
          </a:p>
        </p:txBody>
      </p:sp>
      <p:sp>
        <p:nvSpPr>
          <p:cNvPr id="23" name="right-bullet-11-marker-4">
            <a:extLst xmlns:a="http://schemas.openxmlformats.org/drawingml/2006/main">
              <a:ext uri="{FF2B5EF4-FFF2-40B4-BE49-F238E27FC236}">
                <a16:creationId xmlns:a16="http://schemas.microsoft.com/office/drawing/2014/main" id="{5CD95CA9-98CB-456B-8831-1C4B7CF32833}"/>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2F224E19-85A4-4DB1-8076-AEDADA7956FD}"/>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Needs scheduling and limits.</a:t>
            </a:r>
          </a:p>
        </p:txBody>
      </p:sp>
    </p:spTree>
    <p:extLst>
      <p:ext uri="{BB962C8B-B14F-4D97-AF65-F5344CB8AC3E}">
        <p14:creationId xmlns:p14="http://schemas.microsoft.com/office/powerpoint/2010/main" val="5154899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2FB740C8-9A5F-45C8-AE31-3BA5708B480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Incremental updates average evidence over time</a:t>
            </a:r>
          </a:p>
        </p:txBody>
      </p:sp>
      <p:sp>
        <p:nvSpPr>
          <p:cNvPr id="2" name="title-accent-12">
            <a:extLst xmlns:a="http://schemas.openxmlformats.org/drawingml/2006/main">
              <a:ext uri="{FF2B5EF4-FFF2-40B4-BE49-F238E27FC236}">
                <a16:creationId xmlns:a16="http://schemas.microsoft.com/office/drawing/2014/main" id="{43EAF16A-B4E3-4D4B-940F-74858AD8B5F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45EDC5E6-C3A7-445C-91DD-54A437EB90C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2">
            <a:extLst xmlns:a="http://schemas.openxmlformats.org/drawingml/2006/main">
              <a:ext uri="{FF2B5EF4-FFF2-40B4-BE49-F238E27FC236}">
                <a16:creationId xmlns:a16="http://schemas.microsoft.com/office/drawing/2014/main" id="{9905375B-4B06-423D-ADCC-99F6C0E6725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1E43333F-89FF-4E83-AA67-03B94B96300D}"/>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E97DA36C-37C8-4A5C-905A-C623FF2F726A}"/>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V(S_t) &lt;- V(S_t) + alpha_t [target_t - V(S_t)]</a:t>
            </a:r>
          </a:p>
        </p:txBody>
      </p:sp>
      <p:sp>
        <p:nvSpPr>
          <p:cNvPr id="8" name="formula-definition-12-marker-1">
            <a:extLst xmlns:a="http://schemas.openxmlformats.org/drawingml/2006/main">
              <a:ext uri="{FF2B5EF4-FFF2-40B4-BE49-F238E27FC236}">
                <a16:creationId xmlns:a16="http://schemas.microsoft.com/office/drawing/2014/main" id="{F73015D9-CDB9-4E18-92BC-DCD8115C1F4E}"/>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B7A70AF2-0556-4983-8A60-70FABDBDC16A}"/>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alpha_t controls adaptation.</a:t>
            </a:r>
          </a:p>
        </p:txBody>
      </p:sp>
      <p:sp>
        <p:nvSpPr>
          <p:cNvPr id="10" name="formula-definition-12-marker-2">
            <a:extLst xmlns:a="http://schemas.openxmlformats.org/drawingml/2006/main">
              <a:ext uri="{FF2B5EF4-FFF2-40B4-BE49-F238E27FC236}">
                <a16:creationId xmlns:a16="http://schemas.microsoft.com/office/drawing/2014/main" id="{DE624C29-7A8C-4A02-8F25-61591A9BB21F}"/>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74F132F7-A6DD-409E-AB72-10F94B1ACBA7}"/>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Constant alpha tracks nonstationarity.</a:t>
            </a:r>
          </a:p>
        </p:txBody>
      </p:sp>
      <p:sp>
        <p:nvSpPr>
          <p:cNvPr id="12" name="formula-definition-12-marker-3">
            <a:extLst xmlns:a="http://schemas.openxmlformats.org/drawingml/2006/main">
              <a:ext uri="{FF2B5EF4-FFF2-40B4-BE49-F238E27FC236}">
                <a16:creationId xmlns:a16="http://schemas.microsoft.com/office/drawing/2014/main" id="{E51A8B9C-AA84-441A-81C2-7381836C8AE6}"/>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0FAC1FF2-7398-4C2B-9E2C-E0ADA8622EFA}"/>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Decaying alpha can support convergence.</a:t>
            </a:r>
          </a:p>
        </p:txBody>
      </p:sp>
      <p:sp>
        <p:nvSpPr>
          <p:cNvPr id="14" name="formula-definition-12-marker-4">
            <a:extLst xmlns:a="http://schemas.openxmlformats.org/drawingml/2006/main">
              <a:ext uri="{FF2B5EF4-FFF2-40B4-BE49-F238E27FC236}">
                <a16:creationId xmlns:a16="http://schemas.microsoft.com/office/drawing/2014/main" id="{B3B7FD31-B223-41AA-A253-589B66AC4C84}"/>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BC6F7B0D-75DB-4534-A4F1-A2203A7DFD5A}"/>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bracketed term is prediction error.</a:t>
            </a:r>
          </a:p>
        </p:txBody>
      </p:sp>
      <p:sp>
        <p:nvSpPr>
          <p:cNvPr id="16" name="formula-implication-panel-12">
            <a:extLst xmlns:a="http://schemas.openxmlformats.org/drawingml/2006/main">
              <a:ext uri="{FF2B5EF4-FFF2-40B4-BE49-F238E27FC236}">
                <a16:creationId xmlns:a16="http://schemas.microsoft.com/office/drawing/2014/main" id="{25FDA814-C977-4C19-8720-6BD39F4EED27}"/>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157253DB-FFF4-43A1-857B-B2C70B8588F3}"/>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E9487C03-BFD2-4C06-9EB5-16695BB49263}"/>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Large alpha learns quickly but can make estimates noisy or unstable.</a:t>
            </a:r>
          </a:p>
        </p:txBody>
      </p:sp>
    </p:spTree>
    <p:extLst>
      <p:ext uri="{BB962C8B-B14F-4D97-AF65-F5344CB8AC3E}">
        <p14:creationId xmlns:p14="http://schemas.microsoft.com/office/powerpoint/2010/main" val="5044859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518FD658-3C79-4B90-9DF8-6D66A51AC0F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Sparse reward exposes inadequate exploration</a:t>
            </a:r>
          </a:p>
        </p:txBody>
      </p:sp>
      <p:sp>
        <p:nvSpPr>
          <p:cNvPr id="2" name="title-accent-13">
            <a:extLst xmlns:a="http://schemas.openxmlformats.org/drawingml/2006/main">
              <a:ext uri="{FF2B5EF4-FFF2-40B4-BE49-F238E27FC236}">
                <a16:creationId xmlns:a16="http://schemas.microsoft.com/office/drawing/2014/main" id="{2F78816F-8B38-4A21-88EA-EF1727B8EB3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42AC451F-CAFF-43B4-BE5D-CABBC3D7846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3">
            <a:extLst xmlns:a="http://schemas.openxmlformats.org/drawingml/2006/main">
              <a:ext uri="{FF2B5EF4-FFF2-40B4-BE49-F238E27FC236}">
                <a16:creationId xmlns:a16="http://schemas.microsoft.com/office/drawing/2014/main" id="{1F5BC2B4-7F6A-4BBE-BF0F-B1B097D9E24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AE1B8562-E23D-4B4E-9935-16FCC9F2C8F1}"/>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BEC501C0-4C5C-493E-B912-A7DDBB6BE707}"/>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long corridor gives zero reward until a distant goal gives +10; an early side action gives +1.</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881D3A66-FBB0-4C15-AD70-773148EFB3C0}"/>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0D85C45F-922B-4747-8A61-9ABD1A3A6648}"/>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Greedy behavior discovers the side reward first.</a:t>
            </a:r>
          </a:p>
        </p:txBody>
      </p:sp>
      <p:sp>
        <p:nvSpPr>
          <p:cNvPr id="11" name="example-step-13-marker-2">
            <a:extLst xmlns:a="http://schemas.openxmlformats.org/drawingml/2006/main">
              <a:ext uri="{FF2B5EF4-FFF2-40B4-BE49-F238E27FC236}">
                <a16:creationId xmlns:a16="http://schemas.microsoft.com/office/drawing/2014/main" id="{B4BAC266-2F05-4A71-9872-E884C1B525F3}"/>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86B75908-4938-4AB8-A548-59AF4204E0E0}"/>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It repeatedly exploits +1.</a:t>
            </a:r>
          </a:p>
        </p:txBody>
      </p:sp>
      <p:sp>
        <p:nvSpPr>
          <p:cNvPr id="13" name="example-step-13-marker-3">
            <a:extLst xmlns:a="http://schemas.openxmlformats.org/drawingml/2006/main">
              <a:ext uri="{FF2B5EF4-FFF2-40B4-BE49-F238E27FC236}">
                <a16:creationId xmlns:a16="http://schemas.microsoft.com/office/drawing/2014/main" id="{3E5230BD-6CF3-42C8-B7BC-803A61BCAE0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15809003-68BE-4EB8-8547-B8A120E7E6B1}"/>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distant goal remains unobserved.</a:t>
            </a:r>
          </a:p>
        </p:txBody>
      </p:sp>
      <p:sp>
        <p:nvSpPr>
          <p:cNvPr id="15" name="example-step-13-marker-4">
            <a:extLst xmlns:a="http://schemas.openxmlformats.org/drawingml/2006/main">
              <a:ext uri="{FF2B5EF4-FFF2-40B4-BE49-F238E27FC236}">
                <a16:creationId xmlns:a16="http://schemas.microsoft.com/office/drawing/2014/main" id="{B1EAE1AD-66D6-4C68-82F6-7826047CEFD2}"/>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3CEF0BA6-4182-4488-851C-26B4DA9C5D95}"/>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Exploration occasionally samples the corridor and reveals +10.</a:t>
            </a:r>
          </a:p>
        </p:txBody>
      </p:sp>
      <p:sp>
        <p:nvSpPr>
          <p:cNvPr id="17" name="example-result-panel-13">
            <a:extLst xmlns:a="http://schemas.openxmlformats.org/drawingml/2006/main">
              <a:ext uri="{FF2B5EF4-FFF2-40B4-BE49-F238E27FC236}">
                <a16:creationId xmlns:a16="http://schemas.microsoft.com/office/drawing/2014/main" id="{A9109FC4-888C-4132-8703-5C4955FDAB7D}"/>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753E342D-521E-42AA-ACA2-B5A6E91748ED}"/>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Observed performance depends on data coverage, not only the update equation.</a:t>
            </a:r>
          </a:p>
        </p:txBody>
      </p:sp>
    </p:spTree>
    <p:extLst>
      <p:ext uri="{BB962C8B-B14F-4D97-AF65-F5344CB8AC3E}">
        <p14:creationId xmlns:p14="http://schemas.microsoft.com/office/powerpoint/2010/main" val="14168081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47A4A1AD-4B28-421A-838A-A1DE0FEB922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On-policy and off-policy name the learning target</a:t>
            </a:r>
          </a:p>
        </p:txBody>
      </p:sp>
      <p:sp>
        <p:nvSpPr>
          <p:cNvPr id="2" name="title-accent-14">
            <a:extLst xmlns:a="http://schemas.openxmlformats.org/drawingml/2006/main">
              <a:ext uri="{FF2B5EF4-FFF2-40B4-BE49-F238E27FC236}">
                <a16:creationId xmlns:a16="http://schemas.microsoft.com/office/drawing/2014/main" id="{65C1B58E-1055-4F28-85EE-FCB5F62A1F5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F42AD4A3-5D21-4E2B-BEBE-66C05CC7E81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4">
            <a:extLst xmlns:a="http://schemas.openxmlformats.org/drawingml/2006/main">
              <a:ext uri="{FF2B5EF4-FFF2-40B4-BE49-F238E27FC236}">
                <a16:creationId xmlns:a16="http://schemas.microsoft.com/office/drawing/2014/main" id="{52312549-474F-4AF8-9E08-334D3021D8E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2FE9AE74-17B0-4D63-B81D-9A1C77F8F2F1}"/>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On-policy</a:t>
            </a:r>
          </a:p>
        </p:txBody>
      </p:sp>
      <p:sp>
        <p:nvSpPr>
          <p:cNvPr id="7" name="comparison-tagline-14-1">
            <a:extLst xmlns:a="http://schemas.openxmlformats.org/drawingml/2006/main">
              <a:ext uri="{FF2B5EF4-FFF2-40B4-BE49-F238E27FC236}">
                <a16:creationId xmlns:a16="http://schemas.microsoft.com/office/drawing/2014/main" id="{94F6002F-28B5-413D-B3D1-014D0349C173}"/>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Learn behavior being used</a:t>
            </a:r>
          </a:p>
        </p:txBody>
      </p:sp>
      <p:sp>
        <p:nvSpPr>
          <p:cNvPr id="8" name="comparison-bullet-14-1-marker-1">
            <a:extLst xmlns:a="http://schemas.openxmlformats.org/drawingml/2006/main">
              <a:ext uri="{FF2B5EF4-FFF2-40B4-BE49-F238E27FC236}">
                <a16:creationId xmlns:a16="http://schemas.microsoft.com/office/drawing/2014/main" id="{9B5AB2D5-86E5-4A1B-BC67-2FF4241BC68A}"/>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9353E070-3C8C-4425-80A5-CD4916ECD48A}"/>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Target includes exploratory policy.</a:t>
            </a:r>
          </a:p>
        </p:txBody>
      </p:sp>
      <p:sp>
        <p:nvSpPr>
          <p:cNvPr id="10" name="comparison-bullet-14-1-marker-2">
            <a:extLst xmlns:a="http://schemas.openxmlformats.org/drawingml/2006/main">
              <a:ext uri="{FF2B5EF4-FFF2-40B4-BE49-F238E27FC236}">
                <a16:creationId xmlns:a16="http://schemas.microsoft.com/office/drawing/2014/main" id="{0B88B43D-AEC7-458F-9EDD-CE3ECD76B975}"/>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F9D51E67-7E84-43B6-8CE6-73EC96E46D08}"/>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Evaluation matches data policy.</a:t>
            </a:r>
          </a:p>
        </p:txBody>
      </p:sp>
      <p:sp>
        <p:nvSpPr>
          <p:cNvPr id="12" name="comparison-bullet-14-1-marker-3">
            <a:extLst xmlns:a="http://schemas.openxmlformats.org/drawingml/2006/main">
              <a:ext uri="{FF2B5EF4-FFF2-40B4-BE49-F238E27FC236}">
                <a16:creationId xmlns:a16="http://schemas.microsoft.com/office/drawing/2014/main" id="{DF8201A2-1420-4F60-8B9C-080591C60789}"/>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9D4E224B-63DD-4F58-8E36-2792BAAA69C6}"/>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SARSA is a control example.</a:t>
            </a:r>
          </a:p>
        </p:txBody>
      </p:sp>
      <p:sp>
        <p:nvSpPr>
          <p:cNvPr id="14" name="comparison-bullet-14-1-marker-4">
            <a:extLst xmlns:a="http://schemas.openxmlformats.org/drawingml/2006/main">
              <a:ext uri="{FF2B5EF4-FFF2-40B4-BE49-F238E27FC236}">
                <a16:creationId xmlns:a16="http://schemas.microsoft.com/office/drawing/2014/main" id="{0789B8F9-6A5F-42F5-AC94-22C12192D090}"/>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F30BF87D-6DE4-4E9C-B6B8-2AE5D2344773}"/>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Safer behavior may be learned.</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0A6171BA-D680-47A9-8157-698046DCC3D6}"/>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Off-policy</a:t>
            </a:r>
          </a:p>
        </p:txBody>
      </p:sp>
      <p:sp>
        <p:nvSpPr>
          <p:cNvPr id="18" name="comparison-tagline-14-2">
            <a:extLst xmlns:a="http://schemas.openxmlformats.org/drawingml/2006/main">
              <a:ext uri="{FF2B5EF4-FFF2-40B4-BE49-F238E27FC236}">
                <a16:creationId xmlns:a16="http://schemas.microsoft.com/office/drawing/2014/main" id="{59F6509F-D554-4405-8576-A35A8102CCA5}"/>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Learn a different target</a:t>
            </a:r>
          </a:p>
        </p:txBody>
      </p:sp>
      <p:sp>
        <p:nvSpPr>
          <p:cNvPr id="19" name="comparison-bullet-14-2-marker-1">
            <a:extLst xmlns:a="http://schemas.openxmlformats.org/drawingml/2006/main">
              <a:ext uri="{FF2B5EF4-FFF2-40B4-BE49-F238E27FC236}">
                <a16:creationId xmlns:a16="http://schemas.microsoft.com/office/drawing/2014/main" id="{E00A6B04-4E2E-469F-8375-FB67DBE0A37C}"/>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7EA7C177-4E4F-422F-B5A8-69344550D006}"/>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Behavior gathers data.</a:t>
            </a:r>
          </a:p>
        </p:txBody>
      </p:sp>
      <p:sp>
        <p:nvSpPr>
          <p:cNvPr id="21" name="comparison-bullet-14-2-marker-2">
            <a:extLst xmlns:a="http://schemas.openxmlformats.org/drawingml/2006/main">
              <a:ext uri="{FF2B5EF4-FFF2-40B4-BE49-F238E27FC236}">
                <a16:creationId xmlns:a16="http://schemas.microsoft.com/office/drawing/2014/main" id="{5BE02BCF-7140-4727-BD29-9A5EB02421F5}"/>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7F30FBC6-C36D-4388-83C1-CA8D6B361717}"/>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Target may be greedy.</a:t>
            </a:r>
          </a:p>
        </p:txBody>
      </p:sp>
      <p:sp>
        <p:nvSpPr>
          <p:cNvPr id="23" name="comparison-bullet-14-2-marker-3">
            <a:extLst xmlns:a="http://schemas.openxmlformats.org/drawingml/2006/main">
              <a:ext uri="{FF2B5EF4-FFF2-40B4-BE49-F238E27FC236}">
                <a16:creationId xmlns:a16="http://schemas.microsoft.com/office/drawing/2014/main" id="{D15FFD9D-3832-4AEB-8F62-1B7D89DE5E42}"/>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8C07862D-E20F-452B-9894-DA99FB4CD0AF}"/>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Q-learning is an example.</a:t>
            </a:r>
          </a:p>
        </p:txBody>
      </p:sp>
      <p:sp>
        <p:nvSpPr>
          <p:cNvPr id="25" name="comparison-bullet-14-2-marker-4">
            <a:extLst xmlns:a="http://schemas.openxmlformats.org/drawingml/2006/main">
              <a:ext uri="{FF2B5EF4-FFF2-40B4-BE49-F238E27FC236}">
                <a16:creationId xmlns:a16="http://schemas.microsoft.com/office/drawing/2014/main" id="{6DC117CE-B62E-482D-A579-F3C42D704A5D}"/>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3E88BCB8-A6A8-44D5-A9BB-50C75778C6E5}"/>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Coverage conditions matter.</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A3AF5EC8-0359-4603-A936-E18EA53C5E7A}"/>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Engineering</a:t>
            </a:r>
          </a:p>
        </p:txBody>
      </p:sp>
      <p:sp>
        <p:nvSpPr>
          <p:cNvPr id="29" name="comparison-tagline-14-3">
            <a:extLst xmlns:a="http://schemas.openxmlformats.org/drawingml/2006/main">
              <a:ext uri="{FF2B5EF4-FFF2-40B4-BE49-F238E27FC236}">
                <a16:creationId xmlns:a16="http://schemas.microsoft.com/office/drawing/2014/main" id="{F62808AA-D214-4911-B47D-C3E1551C2B98}"/>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Name both policies</a:t>
            </a:r>
          </a:p>
        </p:txBody>
      </p:sp>
      <p:sp>
        <p:nvSpPr>
          <p:cNvPr id="30" name="comparison-bullet-14-3-marker-1">
            <a:extLst xmlns:a="http://schemas.openxmlformats.org/drawingml/2006/main">
              <a:ext uri="{FF2B5EF4-FFF2-40B4-BE49-F238E27FC236}">
                <a16:creationId xmlns:a16="http://schemas.microsoft.com/office/drawing/2014/main" id="{44A6EE72-7201-419F-9048-DF3E493B9645}"/>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2E343F05-96D2-4F2C-833A-BE5B6A273FFB}"/>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Log epsilon schedule.</a:t>
            </a:r>
          </a:p>
        </p:txBody>
      </p:sp>
      <p:sp>
        <p:nvSpPr>
          <p:cNvPr id="32" name="comparison-bullet-14-3-marker-2">
            <a:extLst xmlns:a="http://schemas.openxmlformats.org/drawingml/2006/main">
              <a:ext uri="{FF2B5EF4-FFF2-40B4-BE49-F238E27FC236}">
                <a16:creationId xmlns:a16="http://schemas.microsoft.com/office/drawing/2014/main" id="{78A6CBE2-9A8F-499E-BB81-16248563C7AF}"/>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2DB625A8-DE77-4798-A1DA-9D79019498F7}"/>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Seed action sampling.</a:t>
            </a:r>
          </a:p>
        </p:txBody>
      </p:sp>
      <p:sp>
        <p:nvSpPr>
          <p:cNvPr id="34" name="comparison-bullet-14-3-marker-3">
            <a:extLst xmlns:a="http://schemas.openxmlformats.org/drawingml/2006/main">
              <a:ext uri="{FF2B5EF4-FFF2-40B4-BE49-F238E27FC236}">
                <a16:creationId xmlns:a16="http://schemas.microsoft.com/office/drawing/2014/main" id="{9B8E5523-23C8-4DB6-B7C3-1C80F0267826}"/>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3E02A2C6-9D84-4DAA-AF9A-38B8D3458BDE}"/>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Separate evaluation runs.</a:t>
            </a:r>
          </a:p>
        </p:txBody>
      </p:sp>
      <p:sp>
        <p:nvSpPr>
          <p:cNvPr id="36" name="comparison-bullet-14-3-marker-4">
            <a:extLst xmlns:a="http://schemas.openxmlformats.org/drawingml/2006/main">
              <a:ext uri="{FF2B5EF4-FFF2-40B4-BE49-F238E27FC236}">
                <a16:creationId xmlns:a16="http://schemas.microsoft.com/office/drawing/2014/main" id="{A2D0A9AF-10A1-471E-A79A-80CE8E072D8C}"/>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402AE661-43F9-4D8A-AC13-C74B1F32D814}"/>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Do not learn during testing.</a:t>
            </a:r>
          </a:p>
        </p:txBody>
      </p:sp>
    </p:spTree>
    <p:extLst>
      <p:ext uri="{BB962C8B-B14F-4D97-AF65-F5344CB8AC3E}">
        <p14:creationId xmlns:p14="http://schemas.microsoft.com/office/powerpoint/2010/main" val="16846413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95A04417-993B-4490-AA31-FC932426433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identify the policy relation</a:t>
            </a:r>
          </a:p>
        </p:txBody>
      </p:sp>
      <p:sp>
        <p:nvSpPr>
          <p:cNvPr id="2" name="title-accent-15">
            <a:extLst xmlns:a="http://schemas.openxmlformats.org/drawingml/2006/main">
              <a:ext uri="{FF2B5EF4-FFF2-40B4-BE49-F238E27FC236}">
                <a16:creationId xmlns:a16="http://schemas.microsoft.com/office/drawing/2014/main" id="{A493F0F9-6E38-4223-94A4-5E9A6155A97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B7C81E11-CB97-4F55-8FD6-24B64A89F60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5">
            <a:extLst xmlns:a="http://schemas.openxmlformats.org/drawingml/2006/main">
              <a:ext uri="{FF2B5EF4-FFF2-40B4-BE49-F238E27FC236}">
                <a16:creationId xmlns:a16="http://schemas.microsoft.com/office/drawing/2014/main" id="{E606D80F-64C4-48C2-9DB6-F7FF24DA452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3E19E490-EE31-46A6-8076-EFD74BB38F44}"/>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C4E4BADF-92DD-428E-B98B-28C2D6BD88CB}"/>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An epsilon-greedy behavior policy generates data while updates target a purely greedy action. Is learning on-policy or off-policy?</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3AC4404A-E56C-4653-97A3-2131065663E7}"/>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7C591F70-F29B-4F18-B6B5-1A0F55DCB660}"/>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behavior policy.</a:t>
            </a:r>
          </a:p>
        </p:txBody>
      </p:sp>
      <p:sp>
        <p:nvSpPr>
          <p:cNvPr id="11" name="checkpoint-prompt-number-15-2">
            <a:extLst xmlns:a="http://schemas.openxmlformats.org/drawingml/2006/main">
              <a:ext uri="{FF2B5EF4-FFF2-40B4-BE49-F238E27FC236}">
                <a16:creationId xmlns:a16="http://schemas.microsoft.com/office/drawing/2014/main" id="{C0D400E8-F23E-4D94-B29C-38A5683BA18F}"/>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2A2D2CF0-F5CE-442C-AA97-018EC77C0952}"/>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target policy.</a:t>
            </a:r>
          </a:p>
        </p:txBody>
      </p:sp>
      <p:sp>
        <p:nvSpPr>
          <p:cNvPr id="13" name="checkpoint-prompt-number-15-3">
            <a:extLst xmlns:a="http://schemas.openxmlformats.org/drawingml/2006/main">
              <a:ext uri="{FF2B5EF4-FFF2-40B4-BE49-F238E27FC236}">
                <a16:creationId xmlns:a16="http://schemas.microsoft.com/office/drawing/2014/main" id="{25645385-D239-474D-A728-0910B48B32D0}"/>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0FC45628-8C49-48ED-AC21-0A64090E5E51}"/>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Compare whether they are identical.</a:t>
            </a:r>
          </a:p>
        </p:txBody>
      </p:sp>
    </p:spTree>
    <p:extLst>
      <p:ext uri="{BB962C8B-B14F-4D97-AF65-F5344CB8AC3E}">
        <p14:creationId xmlns:p14="http://schemas.microsoft.com/office/powerpoint/2010/main" val="14121497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45DF7A71-3C73-482A-9A75-B9852B49CE3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RL experiments need separation and repeatability</a:t>
            </a:r>
          </a:p>
        </p:txBody>
      </p:sp>
      <p:sp>
        <p:nvSpPr>
          <p:cNvPr id="2" name="title-accent-16">
            <a:extLst xmlns:a="http://schemas.openxmlformats.org/drawingml/2006/main">
              <a:ext uri="{FF2B5EF4-FFF2-40B4-BE49-F238E27FC236}">
                <a16:creationId xmlns:a16="http://schemas.microsoft.com/office/drawing/2014/main" id="{6ECEFA1C-6EEF-425F-9D30-C21C27E9DAB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6FD13BD8-9664-43F7-8E9A-A5B30E17EEF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6">
            <a:extLst xmlns:a="http://schemas.openxmlformats.org/drawingml/2006/main">
              <a:ext uri="{FF2B5EF4-FFF2-40B4-BE49-F238E27FC236}">
                <a16:creationId xmlns:a16="http://schemas.microsoft.com/office/drawing/2014/main" id="{CD4C99B8-B74E-45D3-809C-7D1CCD14AD0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9A139127-842C-4DB4-BF05-6F7E84C14001}"/>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Separate training from evaluation, control randomness, and report variation across seeds.</a:t>
            </a:r>
          </a:p>
        </p:txBody>
      </p:sp>
      <p:sp>
        <p:nvSpPr>
          <p:cNvPr id="7" name="claim-panel-16">
            <a:extLst xmlns:a="http://schemas.openxmlformats.org/drawingml/2006/main">
              <a:ext uri="{FF2B5EF4-FFF2-40B4-BE49-F238E27FC236}">
                <a16:creationId xmlns:a16="http://schemas.microsoft.com/office/drawing/2014/main" id="{61C4C5CE-059A-42D4-B162-D57E3227B605}"/>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2198FC28-9E8C-43FB-900E-8EB87D5ED1C9}"/>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Protocol</a:t>
            </a:r>
          </a:p>
        </p:txBody>
      </p:sp>
      <p:sp>
        <p:nvSpPr>
          <p:cNvPr id="9" name="claim-keyword-detail-16">
            <a:extLst xmlns:a="http://schemas.openxmlformats.org/drawingml/2006/main">
              <a:ext uri="{FF2B5EF4-FFF2-40B4-BE49-F238E27FC236}">
                <a16:creationId xmlns:a16="http://schemas.microsoft.com/office/drawing/2014/main" id="{6B4289E6-D9D8-45E5-BE16-0193D6C6C65E}"/>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rising training return is not an unbiased estimate of final policy quality.</a:t>
            </a:r>
          </a:p>
        </p:txBody>
      </p:sp>
      <p:sp>
        <p:nvSpPr>
          <p:cNvPr id="10" name="claim-detail-16-marker-1">
            <a:extLst xmlns:a="http://schemas.openxmlformats.org/drawingml/2006/main">
              <a:ext uri="{FF2B5EF4-FFF2-40B4-BE49-F238E27FC236}">
                <a16:creationId xmlns:a16="http://schemas.microsoft.com/office/drawing/2014/main" id="{15A5353A-A5D6-4543-8B11-5486B5E1CBEC}"/>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A92AD08D-04E9-4CD7-8A8A-349CDD76C1ED}"/>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Evaluate with learning disabled and a fixed policy.</a:t>
            </a:r>
          </a:p>
        </p:txBody>
      </p:sp>
      <p:sp>
        <p:nvSpPr>
          <p:cNvPr id="12" name="claim-detail-16-marker-2">
            <a:extLst xmlns:a="http://schemas.openxmlformats.org/drawingml/2006/main">
              <a:ext uri="{FF2B5EF4-FFF2-40B4-BE49-F238E27FC236}">
                <a16:creationId xmlns:a16="http://schemas.microsoft.com/office/drawing/2014/main" id="{F509517A-0568-4286-8A53-C0599B827C0C}"/>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ADE08B56-B956-4422-A92B-3FDAB5E934BA}"/>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Cap episode length to prevent hangs.</a:t>
            </a:r>
          </a:p>
        </p:txBody>
      </p:sp>
      <p:sp>
        <p:nvSpPr>
          <p:cNvPr id="14" name="claim-detail-16-marker-3">
            <a:extLst xmlns:a="http://schemas.openxmlformats.org/drawingml/2006/main">
              <a:ext uri="{FF2B5EF4-FFF2-40B4-BE49-F238E27FC236}">
                <a16:creationId xmlns:a16="http://schemas.microsoft.com/office/drawing/2014/main" id="{8F5BCC5E-2469-44BC-A964-7485F2CFFBE0}"/>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97AD9BC6-B74C-49FC-A0EE-09C51A208BF1}"/>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Log return, length, exploration, and update magnitude.</a:t>
            </a:r>
          </a:p>
        </p:txBody>
      </p:sp>
    </p:spTree>
    <p:extLst>
      <p:ext uri="{BB962C8B-B14F-4D97-AF65-F5344CB8AC3E}">
        <p14:creationId xmlns:p14="http://schemas.microsoft.com/office/powerpoint/2010/main" val="15609400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C01B5A57-113C-4F6D-A977-DF5596EC178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6FAB440B-C22F-4BDC-A7E7-5760AAFCE4C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81B36327-FE80-4796-A6C4-FCC4D7B472F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7">
            <a:extLst xmlns:a="http://schemas.openxmlformats.org/drawingml/2006/main">
              <a:ext uri="{FF2B5EF4-FFF2-40B4-BE49-F238E27FC236}">
                <a16:creationId xmlns:a16="http://schemas.microsoft.com/office/drawing/2014/main" id="{3E7E0A93-40E7-4409-8D50-DC1C7C145C9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65E46588-2356-4371-89D1-0666F9B9FA9F}"/>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9EC2BA0A-F7D8-471E-9518-81B651A9CC3A}"/>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RL learns from sampled interaction when the model is unavailable.</a:t>
            </a:r>
          </a:p>
        </p:txBody>
      </p:sp>
      <p:sp>
        <p:nvSpPr>
          <p:cNvPr id="9" name="summary-number-17-2">
            <a:extLst xmlns:a="http://schemas.openxmlformats.org/drawingml/2006/main">
              <a:ext uri="{FF2B5EF4-FFF2-40B4-BE49-F238E27FC236}">
                <a16:creationId xmlns:a16="http://schemas.microsoft.com/office/drawing/2014/main" id="{955BD193-CBAF-41EB-A6AE-56FE820888EA}"/>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EE8C8799-D202-4B51-ADA0-AE7A7E79F9D0}"/>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TD combines one sampled reward with a bootstrapped continuation estimate.</a:t>
            </a:r>
          </a:p>
        </p:txBody>
      </p:sp>
      <p:sp>
        <p:nvSpPr>
          <p:cNvPr id="12" name="summary-number-17-3">
            <a:extLst xmlns:a="http://schemas.openxmlformats.org/drawingml/2006/main">
              <a:ext uri="{FF2B5EF4-FFF2-40B4-BE49-F238E27FC236}">
                <a16:creationId xmlns:a16="http://schemas.microsoft.com/office/drawing/2014/main" id="{00EB83B9-EF25-4BAE-A26A-4CC7E0BA68C6}"/>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4F4F85FB-82EF-451E-A480-2C6CFAAF0B8D}"/>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Exploration determines data coverage.</a:t>
            </a:r>
          </a:p>
        </p:txBody>
      </p:sp>
      <p:sp>
        <p:nvSpPr>
          <p:cNvPr id="15" name="summary-number-17-4">
            <a:extLst xmlns:a="http://schemas.openxmlformats.org/drawingml/2006/main">
              <a:ext uri="{FF2B5EF4-FFF2-40B4-BE49-F238E27FC236}">
                <a16:creationId xmlns:a16="http://schemas.microsoft.com/office/drawing/2014/main" id="{13AC15C1-5BDB-48DE-9093-5E4B09718419}"/>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73BCFEDB-6D65-4EFB-9F3B-62BDCEBC43A0}"/>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On-policy and off-policy distinguish behavior from target.</a:t>
            </a:r>
          </a:p>
        </p:txBody>
      </p:sp>
      <p:sp>
        <p:nvSpPr>
          <p:cNvPr id="18" name="summary-next-17">
            <a:extLst xmlns:a="http://schemas.openxmlformats.org/drawingml/2006/main">
              <a:ext uri="{FF2B5EF4-FFF2-40B4-BE49-F238E27FC236}">
                <a16:creationId xmlns:a16="http://schemas.microsoft.com/office/drawing/2014/main" id="{2A945E62-5109-4E17-AD20-4597451A1055}"/>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Q-learning applies off-policy TD updates directly to action values for control.</a:t>
            </a:r>
          </a:p>
        </p:txBody>
      </p:sp>
    </p:spTree>
    <p:extLst>
      <p:ext uri="{BB962C8B-B14F-4D97-AF65-F5344CB8AC3E}">
        <p14:creationId xmlns:p14="http://schemas.microsoft.com/office/powerpoint/2010/main" val="448836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5BE8BBD1-2CEF-4D3B-BF13-010E8ECF983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3D716D55-B884-4D9F-B0D0-B6BA021EF3A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33D12451-DC16-4D92-8A36-58D028739F1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1</a:t>
            </a:r>
          </a:p>
        </p:txBody>
      </p:sp>
      <p:sp>
        <p:nvSpPr>
          <p:cNvPr id="5" name="footer-number-18">
            <a:extLst xmlns:a="http://schemas.openxmlformats.org/drawingml/2006/main">
              <a:ext uri="{FF2B5EF4-FFF2-40B4-BE49-F238E27FC236}">
                <a16:creationId xmlns:a16="http://schemas.microsoft.com/office/drawing/2014/main" id="{04D0120A-96A6-4A47-B76F-29BD7044EAD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AD35BA4C-61A3-4CC2-8A32-D4570797A1E6}"/>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CE970604-33C6-4E3C-856A-88DAC2D46B81}"/>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TD(0) update.</a:t>
            </a:r>
          </a:p>
        </p:txBody>
      </p:sp>
      <p:sp>
        <p:nvSpPr>
          <p:cNvPr id="8" name="question-number-18-2">
            <a:extLst xmlns:a="http://schemas.openxmlformats.org/drawingml/2006/main">
              <a:ext uri="{FF2B5EF4-FFF2-40B4-BE49-F238E27FC236}">
                <a16:creationId xmlns:a16="http://schemas.microsoft.com/office/drawing/2014/main" id="{AD0D0366-33BB-4C43-91EB-1E13ECE9DA82}"/>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7E0F71BD-BBDC-4357-95AE-991AE34DEE4B}"/>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Contrast model-based and model-free RL.</a:t>
            </a:r>
          </a:p>
        </p:txBody>
      </p:sp>
      <p:sp>
        <p:nvSpPr>
          <p:cNvPr id="10" name="question-number-18-3">
            <a:extLst xmlns:a="http://schemas.openxmlformats.org/drawingml/2006/main">
              <a:ext uri="{FF2B5EF4-FFF2-40B4-BE49-F238E27FC236}">
                <a16:creationId xmlns:a16="http://schemas.microsoft.com/office/drawing/2014/main" id="{E144C26B-2206-4E19-9A65-4ED6C969B990}"/>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1D667951-9596-4F49-9562-0BBA85032132}"/>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bootstrapping.</a:t>
            </a:r>
          </a:p>
        </p:txBody>
      </p:sp>
      <p:sp>
        <p:nvSpPr>
          <p:cNvPr id="12" name="question-number-18-4">
            <a:extLst xmlns:a="http://schemas.openxmlformats.org/drawingml/2006/main">
              <a:ext uri="{FF2B5EF4-FFF2-40B4-BE49-F238E27FC236}">
                <a16:creationId xmlns:a16="http://schemas.microsoft.com/office/drawing/2014/main" id="{CF32C4B5-27AB-426E-B5FA-EEB92659EA6C}"/>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0CB7F5DF-E570-4E12-9B98-B404AFF14368}"/>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Design an exploration schedule.</a:t>
            </a:r>
          </a:p>
        </p:txBody>
      </p:sp>
      <p:sp>
        <p:nvSpPr>
          <p:cNvPr id="14" name="question-number-18-5">
            <a:extLst xmlns:a="http://schemas.openxmlformats.org/drawingml/2006/main">
              <a:ext uri="{FF2B5EF4-FFF2-40B4-BE49-F238E27FC236}">
                <a16:creationId xmlns:a16="http://schemas.microsoft.com/office/drawing/2014/main" id="{A0B07CDE-09C8-44C1-9389-F24540701D18}"/>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D7026FB8-F603-4C6A-920E-1721D756112C}"/>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Distinguish behavior and target policies.</a:t>
            </a:r>
          </a:p>
        </p:txBody>
      </p:sp>
    </p:spTree>
    <p:extLst>
      <p:ext uri="{BB962C8B-B14F-4D97-AF65-F5344CB8AC3E}">
        <p14:creationId xmlns:p14="http://schemas.microsoft.com/office/powerpoint/2010/main" val="857232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2026-07-27T10:16:43.4630000Z</dcterms:created>
  <dcterms:modified xsi:type="dcterms:W3CDTF">2026-07-27T10:16:43.4630000Z</dcterms:modified>
</coreProperties>
</file>