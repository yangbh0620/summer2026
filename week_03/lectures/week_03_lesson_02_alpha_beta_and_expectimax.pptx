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ff4cb24ff044f6" /><Relationship Type="http://schemas.openxmlformats.org/officeDocument/2006/relationships/extended-properties" Target="/docProps/app.xml" Id="R658feeb2922542cd" /><Relationship Type="http://schemas.openxmlformats.org/officeDocument/2006/relationships/officeDocument" Target="/ppt/presentation.xml" Id="R5e95eb3685544f69" /></Relationships>
</file>

<file path=ppt/presentation.xml><?xml version="1.0" encoding="utf-8"?>
<p:presentation xmlns:p="http://schemas.openxmlformats.org/presentationml/2006/main">
  <p:sldMasterIdLst>
    <p:sldMasterId xmlns:r="http://schemas.openxmlformats.org/officeDocument/2006/relationships" id="2147483648" r:id="Rc4a025608c714c14"/>
  </p:sldMasterIdLst>
  <p:notesMasterIdLst>
    <p:notesMasterId xmlns:r="http://schemas.openxmlformats.org/officeDocument/2006/relationships" r:id="R61dded21dc2045c2"/>
  </p:notesMasterIdLst>
  <p:sldIdLst>
    <p:sldId xmlns:r="http://schemas.openxmlformats.org/officeDocument/2006/relationships" id="256" r:id="R4af526426c594e3d"/>
    <p:sldId xmlns:r="http://schemas.openxmlformats.org/officeDocument/2006/relationships" id="257" r:id="Ra744487258eb442e"/>
    <p:sldId xmlns:r="http://schemas.openxmlformats.org/officeDocument/2006/relationships" id="258" r:id="R5b2e43b103684f65"/>
    <p:sldId xmlns:r="http://schemas.openxmlformats.org/officeDocument/2006/relationships" id="259" r:id="R9beb7e9dd1a745dd"/>
    <p:sldId xmlns:r="http://schemas.openxmlformats.org/officeDocument/2006/relationships" id="260" r:id="Rea0fc0ee238142ee"/>
    <p:sldId xmlns:r="http://schemas.openxmlformats.org/officeDocument/2006/relationships" id="261" r:id="R1fa97b795cbf41f9"/>
    <p:sldId xmlns:r="http://schemas.openxmlformats.org/officeDocument/2006/relationships" id="262" r:id="R6cfa212040f841c4"/>
    <p:sldId xmlns:r="http://schemas.openxmlformats.org/officeDocument/2006/relationships" id="263" r:id="R79b1cb95d33d4d64"/>
    <p:sldId xmlns:r="http://schemas.openxmlformats.org/officeDocument/2006/relationships" id="264" r:id="Rac2f1b3b15f04993"/>
    <p:sldId xmlns:r="http://schemas.openxmlformats.org/officeDocument/2006/relationships" id="265" r:id="R28fafcc879e8483e"/>
    <p:sldId xmlns:r="http://schemas.openxmlformats.org/officeDocument/2006/relationships" id="266" r:id="R090c2ef89d144ccf"/>
    <p:sldId xmlns:r="http://schemas.openxmlformats.org/officeDocument/2006/relationships" id="267" r:id="R209a718114ac4eb1"/>
    <p:sldId xmlns:r="http://schemas.openxmlformats.org/officeDocument/2006/relationships" id="268" r:id="Rbb26a35443d94cba"/>
    <p:sldId xmlns:r="http://schemas.openxmlformats.org/officeDocument/2006/relationships" id="269" r:id="R7eae98c066ce433c"/>
    <p:sldId xmlns:r="http://schemas.openxmlformats.org/officeDocument/2006/relationships" id="270" r:id="Rf59a88cbbd314d9c"/>
    <p:sldId xmlns:r="http://schemas.openxmlformats.org/officeDocument/2006/relationships" id="271" r:id="R5369d2245b2d4b37"/>
    <p:sldId xmlns:r="http://schemas.openxmlformats.org/officeDocument/2006/relationships" id="272" r:id="Rba408b9bdfba4745"/>
    <p:sldId xmlns:r="http://schemas.openxmlformats.org/officeDocument/2006/relationships" id="273" r:id="R2cffb032837a45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a607e984ae4660" /><Relationship Type="http://schemas.openxmlformats.org/officeDocument/2006/relationships/slideMaster" Target="/ppt/slideMasters/slideMaster1.xml" Id="Rc4a025608c714c14" /><Relationship Type="http://schemas.openxmlformats.org/officeDocument/2006/relationships/notesMaster" Target="/ppt/notesMasters/notesMaster1.xml" Id="R61dded21dc2045c2" /><Relationship Type="http://schemas.openxmlformats.org/officeDocument/2006/relationships/presProps" Target="/ppt/presProps.xml" Id="R2872289776764da4" /><Relationship Type="http://schemas.openxmlformats.org/officeDocument/2006/relationships/tableStyles" Target="/ppt/tableStyles.xml" Id="R10099c9cd68e4a48" /><Relationship Type="http://schemas.openxmlformats.org/officeDocument/2006/relationships/slide" Target="/ppt/slides/slide1.xml" Id="R4af526426c594e3d" /><Relationship Type="http://schemas.openxmlformats.org/officeDocument/2006/relationships/slide" Target="/ppt/slides/slide2.xml" Id="Ra744487258eb442e" /><Relationship Type="http://schemas.openxmlformats.org/officeDocument/2006/relationships/slide" Target="/ppt/slides/slide3.xml" Id="R5b2e43b103684f65" /><Relationship Type="http://schemas.openxmlformats.org/officeDocument/2006/relationships/slide" Target="/ppt/slides/slide4.xml" Id="R9beb7e9dd1a745dd" /><Relationship Type="http://schemas.openxmlformats.org/officeDocument/2006/relationships/slide" Target="/ppt/slides/slide5.xml" Id="Rea0fc0ee238142ee" /><Relationship Type="http://schemas.openxmlformats.org/officeDocument/2006/relationships/slide" Target="/ppt/slides/slide6.xml" Id="R1fa97b795cbf41f9" /><Relationship Type="http://schemas.openxmlformats.org/officeDocument/2006/relationships/slide" Target="/ppt/slides/slide7.xml" Id="R6cfa212040f841c4" /><Relationship Type="http://schemas.openxmlformats.org/officeDocument/2006/relationships/slide" Target="/ppt/slides/slide8.xml" Id="R79b1cb95d33d4d64" /><Relationship Type="http://schemas.openxmlformats.org/officeDocument/2006/relationships/slide" Target="/ppt/slides/slide9.xml" Id="Rac2f1b3b15f04993" /><Relationship Type="http://schemas.openxmlformats.org/officeDocument/2006/relationships/slide" Target="/ppt/slides/slide10.xml" Id="R28fafcc879e8483e" /><Relationship Type="http://schemas.openxmlformats.org/officeDocument/2006/relationships/slide" Target="/ppt/slides/slide11.xml" Id="R090c2ef89d144ccf" /><Relationship Type="http://schemas.openxmlformats.org/officeDocument/2006/relationships/slide" Target="/ppt/slides/slide12.xml" Id="R209a718114ac4eb1" /><Relationship Type="http://schemas.openxmlformats.org/officeDocument/2006/relationships/slide" Target="/ppt/slides/slide13.xml" Id="Rbb26a35443d94cba" /><Relationship Type="http://schemas.openxmlformats.org/officeDocument/2006/relationships/slide" Target="/ppt/slides/slide14.xml" Id="R7eae98c066ce433c" /><Relationship Type="http://schemas.openxmlformats.org/officeDocument/2006/relationships/slide" Target="/ppt/slides/slide15.xml" Id="Rf59a88cbbd314d9c" /><Relationship Type="http://schemas.openxmlformats.org/officeDocument/2006/relationships/slide" Target="/ppt/slides/slide16.xml" Id="R5369d2245b2d4b37" /><Relationship Type="http://schemas.openxmlformats.org/officeDocument/2006/relationships/slide" Target="/ppt/slides/slide17.xml" Id="Rba408b9bdfba4745" /><Relationship Type="http://schemas.openxmlformats.org/officeDocument/2006/relationships/slide" Target="/ppt/slides/slide18.xml" Id="R2cffb032837a45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d7d18fe03a41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e1a7ca78c6425d" /><Relationship Type="http://schemas.openxmlformats.org/officeDocument/2006/relationships/notesMaster" Target="/ppt/notesMasters/notesMaster1.xml" Id="R8dcbcdc9d2f74a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317d82307f45cc" /><Relationship Type="http://schemas.openxmlformats.org/officeDocument/2006/relationships/notesMaster" Target="/ppt/notesMasters/notesMaster1.xml" Id="R9ee6329ce4694b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891ae1834445a4" /><Relationship Type="http://schemas.openxmlformats.org/officeDocument/2006/relationships/notesMaster" Target="/ppt/notesMasters/notesMaster1.xml" Id="R94b6b27936fe49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10985e834a41a0" /><Relationship Type="http://schemas.openxmlformats.org/officeDocument/2006/relationships/notesMaster" Target="/ppt/notesMasters/notesMaster1.xml" Id="R4ee2ca5fde8840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441c60095347d2" /><Relationship Type="http://schemas.openxmlformats.org/officeDocument/2006/relationships/notesMaster" Target="/ppt/notesMasters/notesMaster1.xml" Id="R04d77ef8770243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621e39f6d54587" /><Relationship Type="http://schemas.openxmlformats.org/officeDocument/2006/relationships/notesMaster" Target="/ppt/notesMasters/notesMaster1.xml" Id="R197ac84084c043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642a7d4f074c3b" /><Relationship Type="http://schemas.openxmlformats.org/officeDocument/2006/relationships/notesMaster" Target="/ppt/notesMasters/notesMaster1.xml" Id="Ra3df59e34af644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24571db21549f3" /><Relationship Type="http://schemas.openxmlformats.org/officeDocument/2006/relationships/notesMaster" Target="/ppt/notesMasters/notesMaster1.xml" Id="R330629fa901346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04424b929e4727" /><Relationship Type="http://schemas.openxmlformats.org/officeDocument/2006/relationships/notesMaster" Target="/ppt/notesMasters/notesMaster1.xml" Id="Rfcce4fd097cd4e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af81df7c9d4713" /><Relationship Type="http://schemas.openxmlformats.org/officeDocument/2006/relationships/notesMaster" Target="/ppt/notesMasters/notesMaster1.xml" Id="Re8c7b23f595043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756fdb59294465" /><Relationship Type="http://schemas.openxmlformats.org/officeDocument/2006/relationships/notesMaster" Target="/ppt/notesMasters/notesMaster1.xml" Id="Rf8a80a24476a4e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6fedb75e584429" /><Relationship Type="http://schemas.openxmlformats.org/officeDocument/2006/relationships/notesMaster" Target="/ppt/notesMasters/notesMaster1.xml" Id="R6b91d8999f9444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4fa40758744c98" /><Relationship Type="http://schemas.openxmlformats.org/officeDocument/2006/relationships/notesMaster" Target="/ppt/notesMasters/notesMaster1.xml" Id="R60bd6ecd058946e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208df7b70fe49e8" /><Relationship Type="http://schemas.openxmlformats.org/officeDocument/2006/relationships/notesMaster" Target="/ppt/notesMasters/notesMaster1.xml" Id="R09494b35f9ba41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fd02e031be54339" /><Relationship Type="http://schemas.openxmlformats.org/officeDocument/2006/relationships/notesMaster" Target="/ppt/notesMasters/notesMaster1.xml" Id="R23fda011fac14f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5116523d5aa4bcd" /><Relationship Type="http://schemas.openxmlformats.org/officeDocument/2006/relationships/notesMaster" Target="/ppt/notesMasters/notesMaster1.xml" Id="R86217dba714040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0dccc1d75a46fc" /><Relationship Type="http://schemas.openxmlformats.org/officeDocument/2006/relationships/notesMaster" Target="/ppt/notesMasters/notesMaster1.xml" Id="R71cde292c4674f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84db36e00e461e" /><Relationship Type="http://schemas.openxmlformats.org/officeDocument/2006/relationships/notesMaster" Target="/ppt/notesMasters/notesMaster1.xml" Id="R550f431e1e0642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Alpha-beta pruning makes minimax faster without approximation, while expectimax changes the model by replacing an optimizing opponent with chance. This lesson treats the topic as both a formal method and an engineering component. We will state the model, trace the algorithm on concrete data, and identify the implementation contracts that preserve its guarantees. The goal is not to memorize isolated notation. The goal is to recognize which assumptions make the method valid, what evidence can expose a defect, and how the method connects to the rest of CMPSC 480. By the end, you should be able to explain the central result, reproduce the critical calculation or trace, and design a defensive implementation that behaves predictably on normal, boundary, and invalid inputs. Keep one question active throughout: what would a skeptical reviewer need to observe before trusting the result?</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define the evidence expected after the lesson. 1) Define alpha and beta as backed-up bounds. 2) Trace exact alpha-beta prune conditions. 3) Explain why pruning preserves the minimax root value. 4) Relate move ordering to effective branching factor. 5) Compute expectimax chance-node values. 6) Choose between minimax and expectimax from environment assumptions. The sequence moves from vocabulary and assumptions to derivation, tracing, implementation, and judgment. As you work through the slides, attach every equation to the meaning of its variables and every algorithmic step to a data-structure operation. When a guarantee is stated, ask which precondition supports it. When an implementation choice is shown, ask which test would reveal a violation. That discipline turns the objectives into reusable engineering practice rather than a list of terms. You should finish able to explain both the successful case and the nearest counterexample.</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branch may be skipped only after bounds prove that it cannot change an ancestor's decision. The supporting details make the claim operational. 1) MAX prunes when v &gt;= beta. 2) MIN prunes when v &lt;= alpha. 3) Unpruned minimax and alpha-beta return the same value. The highlighted idea, Bound, is the part to retain when the surrounding notation changes. Alpha is MAX's best guaranteed value; beta is MIN's best guaranteed value.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alpha = best MAX value on path; beta = best MIN value on path; prune when alpha &gt;= beta. The symbols mean the following. 1) Alpha is a lower bound for MAX. 2) Beta is an upper bound for MAX under MIN control. 3) Bounds tighten monotonically down a path. 4) A cutoff occurs only when an ancestor already has a better choice. The engineering implication is Initialize alpha=-infinity and beta=+infinity at the root.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Plain minimax: Visits every node to depth m. Returns exact minimax value. Order does not affect value. Time O(b^m). On the right, Alpha-beta: Skips provably irrelevant nodes. Returns the same exact value. Order strongly affects work. Best case approaches O(b^(m/2)).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process gives a disciplined execution order. 1) Enter: Receive alpha and beta. 2) Evaluate: Search one child. 3) Update: Tighten the current bound. 4) Compare: Test alpha against beta. 5) Prune: Skip dominated siblings. The emphasized stage deserves extra attention because defects introduced there propagate to every later result. The comparison is valid because an ancestor already owns a dominating alternative. When implementing the process, record the invariant that should hold after each stage and decide how failure will be represented. When analyzing it, trace a small instance all the way through before relying on an aggregate output. A useful review asks what state enters each stage, what state leaves it, and which later stage would expose corruption.</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pseudocode shows the control structure while leaving language-specific details open. Read it from initialization through termination and identify the state that changes on each iteration. The rail lists the stable questions: Start v=+infinity. Cut when v&lt;=alpha. Update beta=min(beta,v). Keep one utility perspective. A faithful implementation should make those decisions explicit rather than depend on incidental container behavior. Trace the code on a minimal legal input, a boundary case, and a case that triggers its failure path. That three-part trace usually reveals incorrect initialization, update ordering, or termination earlier than a large demonstration does. Also estimate the dominant operation and choose a data structure whose cost matches the stated complexity.</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MAX's first MIN child returns 5, so alpha becomes 5. A second MIN child first reveals value 3. Work through it in the displayed order. 1) The second child is controlled by MIN. 2) Its current value is at most 3. 3) MAX already has an alternative worth 5. 4) Remaining siblings under that MIN node cannot improve MAX's choice. The resulting conclusion is Prune the remaining siblings; the root value remains 5.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Best first: MAX sees high values early. MIN sees low values early. Many cutoffs. Depth roughly doubles for same work. In contrast, Random: Some useful early bounds. Variable node counts. Value remains exact. Seed for reproducibility. In contrast, Worst first: Cutoffs arrive late. Approaches plain minimax. Value remains exact. Ordering heuristic matters.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At a MIN node with alpha=4, the first child returns 2. Can the remaining children be pruned? Use the prompts to structure the response. 1) Update the MIN node's current value. 2) Compare v with alpha. 3) Explain the ancestor's existing alternative. The expected reasoning is Yes. The MIN node's value is at most 2, which is already no better for MAX than the ancestor alternative worth 4, so v&lt;=alpha triggers a cutoff.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columns separate related responsibilities. On the left, MIN node: Another agent chooses an action. Backup is minimum utility. Represents worst rational reply. Needs adversarial assumption. On the right, Chance node: Outcome is sampled from a distribution. Backup is probability-weighted mean. Represents stochastic dynamics. Needs calibrated probabilities. The distinction matters because combining these concerns prematurely often hides an assumption or duplicates logic. A strong implementation exposes the boundary through clear types or functions, then tests each side independently before testing the combined behavior. The key takeaway is to compare the columns by information used, result produced, and failure modes, not merely by their names. If a design mixes both roles, label where the handoff occurs and what invariant crosses it.</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displayed relation as a compact specification rather than decorative notation: V(s) = sum_o P(o | s) V(RESULT(s,o)). The symbols mean the following. 1) Outcomes o are mutually exclusive. 2) Probabilities are nonnegative. 3) Probabilities sum to 1. 4) Child values use the same utility scale. The engineering implication is Expectimax can prefer risk when a high payoff raises expected utility. Work one term at a time, verify dimensions or domains before calculating, and separate the mathematical result from its numerical representation. A useful test case should make each term observable and should include a boundary condition that would fail if a sign, index, normalization, or termination rule were implemented incorrectly. Before substituting numbers, predict the sign, scale, and limiting behavior of the result. Then translate the relation into a function signature and identify which inputs must be validated before the arithmetic begins.</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is Safe action returns 4. Risky action returns 0 or 10 with probability 0.5 each. Work through it in the displayed order. 1) Minimax values Risky at min(0,10)=0. 2) Expectimax values Risky at 0.5*0+0.5*10=5. 3) Safe remains value 4. 4) The preferred action depends on the model. The resulting conclusion is Minimax selects Safe; expectimax selects Risky under the stated probabilities. This example is intentionally small enough to verify by hand. That makes it useful as an oracle for unit tests and for diagnosing discrepancies in a larger implementation. After reproducing the result, change one assumption or input and predict which intermediate quantity should change. If the output changes without the corresponding intermediate evidence, the implementation is not preserving the model. Record the trace in a table so that every update has a visible cause. Finally, state which theorem, invariant, or modeling assumption makes the result generalizable beyond this one instance.</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organizes the alternatives by the information they use and the guarantee they can support. Features: Progress toward objective. Threat and opportunity. Mobility or control. Terminal conditions dominate. In contrast, Weights: Normalize magnitudes. Document sign and units. Avoid double counting. Validate on tactical cases. In contrast, Ordering: Reuse evaluation cheaply. Try promising moves first. Cache repeated states. Do not change backed-up rule. Do not choose a column by familiarity alone. Match the choice to the problem assumptions, available resources, and required evidence. In an exam answer or design review, state one reason the selected method fits and one reason another method does not. In an implementation, keep the shared interface stable so that the alternatives can be tested on the same inputs and compared with the same metrics. A fair experiment changes one method choice while holding data, seed, budget, and evaluation criterion constant. Report not only the winner but also the condition under which the ranking could reverse.</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reading the guidance and answer the checkpoint: A chance node reaches values -2, 4, and 10 with probabilities 0.2, 0.5, and 0.3. What value backs up? Use the prompts to structure the response. 1) Check that probabilities sum to 1. 2) Multiply each value by its probability. 3) Add the three contributions. The expected reasoning is The expected value is -0.4+2+3=4.6. A complete answer should show the governing definition or equation, apply it to the supplied facts, and state any assumption needed to remove ambiguity. If your answer differs, identify the first inference where the reasoning diverges rather than changing only the final value. The point is diagnostic: a justified wrong step is easier to repair than an unexplained correct guess. After resolving it, invent one nearby variant that would change the answer and explain exactly why.</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alpha-beta implementation should match plain minimax on small trees while expanding no more nodes. The supporting details make the claim operational. 1) Generate small deterministic trees with known leaves. 2) Compare values across multiple action orders. 3) Test expectimax separately with normalized probability tables. The highlighted idea, Equivalence, is the part to retain when the surrounding notation changes. Value and root action are correctness evidence; node count is optimization evidence. A correct explanation should name the assumptions, describe the observable behavior, and distinguish the method from a superficially similar alternative. In code, this claim becomes a contract that can be exercised with a small counterexample as well as a representative case. Try to state the claim in one sentence, then identify the smallest input that would falsify an incorrect version.</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reduces to four reusable ideas. 1) Alpha-beta is an exact minimax optimization. 2) Alpha and beta are path-relative decision bounds. 3) Move ordering changes work but not value. 4) Expectimax replaces adversarial minimum with a probability-weighted mean. These are connected: the formal model supplies the algorithm, the algorithm's invariant supports its guarantee, and the implementation contract makes that guarantee testable. The next topic is Week 4 generalizes sequential decision making under uncertainty with Markov decision processes. Before moving on, make sure you can reproduce one worked trace without notes and can name one edge case that would distinguish a correct implementation from a plausible but defective one. Keep the summary as a checklist for the corresponding code lab and review questions.</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questions as an exit check. 1) Trace alpha-beta on a two-ply tree. 2) Explain why a cutoff preserves value. 3) Derive the best-case square-root branching effect. 4) Compute a chance-node expectation. 5) Choose minimax or expectimax for a stated domain. Answer with definitions, calculations, traces, or design evidence rather than one-word labels. When a question asks for a comparison, hold the input and evaluation criterion constant. When it asks for a derivation, show the intermediate quantities. When it asks for an engineering decision, name the contract and the test that supports it. Any answer that depends on an unstated convention should make that convention explicit. A strong answer should be concise enough to audit yet complete enough to reproduce.</a:t>
            </a:r>
          </a:p>
          <a:p xmlns:a="http://schemas.openxmlformats.org/drawingml/2006/main">
            <a:r>
              <a:t/>
            </a:r>
          </a:p>
          <a:p xmlns:a="http://schemas.openxmlformats.org/drawingml/2006/main">
            <a:r>
              <a:t>[Sources]</a:t>
            </a:r>
          </a:p>
          <a:p xmlns:a="http://schemas.openxmlformats.org/drawingml/2006/main">
            <a:r>
              <a:t>- Repository prompt: week_03/Week_3_Lesson_2_Alpha_Beta_Pruning_and_Expectimax.md</a:t>
            </a:r>
          </a:p>
          <a:p xmlns:a="http://schemas.openxmlformats.org/drawingml/2006/main">
            <a:r>
              <a:t>- Stuart Russell and Peter Norvig, Artificial Intelligence: A Modern Approach, 4th edition.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5bf6e93cc14b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60b690f51f4d0f" /><Relationship Type="http://schemas.openxmlformats.org/officeDocument/2006/relationships/slideLayout" Target="/ppt/slideLayouts/slideLayout1.xml" Id="Re31d113155ed4c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1d113155ed4c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a4b202a85244ae" /><Relationship Type="http://schemas.openxmlformats.org/officeDocument/2006/relationships/notesSlide" Target="/ppt/notesSlides/notesSlide1.xml" Id="R501ff493ae5b4c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25727d0f0441ac" /><Relationship Type="http://schemas.openxmlformats.org/officeDocument/2006/relationships/notesSlide" Target="/ppt/notesSlides/notesSlide2.xml" Id="Rc1bf2096491743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72beae288a4e0f" /><Relationship Type="http://schemas.openxmlformats.org/officeDocument/2006/relationships/notesSlide" Target="/ppt/notesSlides/notesSlide3.xml" Id="Rd3b24647a56949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f2e12d7cf148c1" /><Relationship Type="http://schemas.openxmlformats.org/officeDocument/2006/relationships/notesSlide" Target="/ppt/notesSlides/notesSlide4.xml" Id="Rda372821e0054e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d00eafb05f4057" /><Relationship Type="http://schemas.openxmlformats.org/officeDocument/2006/relationships/notesSlide" Target="/ppt/notesSlides/notesSlide5.xml" Id="Ra09d2134026a4e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08ebabd49c48dd" /><Relationship Type="http://schemas.openxmlformats.org/officeDocument/2006/relationships/notesSlide" Target="/ppt/notesSlides/notesSlide6.xml" Id="R44bd08bc340945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bc86d9e4b73466f" /><Relationship Type="http://schemas.openxmlformats.org/officeDocument/2006/relationships/notesSlide" Target="/ppt/notesSlides/notesSlide7.xml" Id="Rc72372e071384c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f70704c9af4298" /><Relationship Type="http://schemas.openxmlformats.org/officeDocument/2006/relationships/notesSlide" Target="/ppt/notesSlides/notesSlide8.xml" Id="R90c76041cceb4e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de9da109beb46c5" /><Relationship Type="http://schemas.openxmlformats.org/officeDocument/2006/relationships/notesSlide" Target="/ppt/notesSlides/notesSlide9.xml" Id="Rcd9d679507374a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ad8194275154343" /><Relationship Type="http://schemas.openxmlformats.org/officeDocument/2006/relationships/notesSlide" Target="/ppt/notesSlides/notesSlide10.xml" Id="Rcf29be9d18cd44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cefbd7a21384e26" /><Relationship Type="http://schemas.openxmlformats.org/officeDocument/2006/relationships/notesSlide" Target="/ppt/notesSlides/notesSlide11.xml" Id="Rd97bc3a039e44c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2dffd7c1214d22" /><Relationship Type="http://schemas.openxmlformats.org/officeDocument/2006/relationships/notesSlide" Target="/ppt/notesSlides/notesSlide12.xml" Id="R36ed6f050de149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5694da447b04381" /><Relationship Type="http://schemas.openxmlformats.org/officeDocument/2006/relationships/notesSlide" Target="/ppt/notesSlides/notesSlide13.xml" Id="Rb7a87ae540074a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37c101084e942c5" /><Relationship Type="http://schemas.openxmlformats.org/officeDocument/2006/relationships/notesSlide" Target="/ppt/notesSlides/notesSlide14.xml" Id="R16558531511e44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9a278955ca24107" /><Relationship Type="http://schemas.openxmlformats.org/officeDocument/2006/relationships/notesSlide" Target="/ppt/notesSlides/notesSlide15.xml" Id="Rf4a5db929262483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77bf555d20b49b9" /><Relationship Type="http://schemas.openxmlformats.org/officeDocument/2006/relationships/notesSlide" Target="/ppt/notesSlides/notesSlide16.xml" Id="R2cf5b8d6946644e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a76505640e04479" /><Relationship Type="http://schemas.openxmlformats.org/officeDocument/2006/relationships/notesSlide" Target="/ppt/notesSlides/notesSlide17.xml" Id="Rd708c5b222954e4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c90119dea68410c" /><Relationship Type="http://schemas.openxmlformats.org/officeDocument/2006/relationships/notesSlide" Target="/ppt/notesSlides/notesSlide18.xml" Id="Rf432ea1be3c44f6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urse-eyebrow">
            <a:extLst xmlns:a="http://schemas.openxmlformats.org/drawingml/2006/main">
              <a:ext uri="{FF2B5EF4-FFF2-40B4-BE49-F238E27FC236}">
                <a16:creationId xmlns:a16="http://schemas.microsoft.com/office/drawing/2014/main" id="{319F12B2-CC29-4391-AE2E-5766A18DC700}"/>
              </a:ext>
            </a:extLst>
          </p:cNvPr>
          <p:cNvSpPr>
            <a:spLocks xmlns:a="http://schemas.openxmlformats.org/drawingml/2006/main" noGrp="1"/>
          </p:cNvSpPr>
          <p:nvPr/>
        </p:nvSpPr>
        <p:spPr>
          <a:xfrm xmlns:a="http://schemas.openxmlformats.org/drawingml/2006/main">
            <a:off x="400050" y="419100"/>
            <a:ext cx="742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5C6470"/>
                </a:solidFill>
                <a:latin typeface="Arial"/>
                <a:ea typeface="Arial"/>
                <a:cs typeface="Arial"/>
              </a:defRPr>
            </a:pPr>
            <a:r>
              <a:rPr sz="1500" b="1">
                <a:solidFill>
                  <a:srgbClr val="5C6470"/>
                </a:solidFill>
                <a:latin typeface="Arial"/>
                <a:ea typeface="Arial"/>
                <a:cs typeface="Arial"/>
              </a:rPr>
              <a:t>CMPSC 480  |  WEEK 03  |  LESSON 2</a:t>
            </a:r>
          </a:p>
        </p:txBody>
      </p:sp>
      <p:sp>
        <p:nvSpPr>
          <p:cNvPr id="2" name="title-accent-field">
            <a:extLst xmlns:a="http://schemas.openxmlformats.org/drawingml/2006/main">
              <a:ext uri="{FF2B5EF4-FFF2-40B4-BE49-F238E27FC236}">
                <a16:creationId xmlns:a16="http://schemas.microsoft.com/office/drawing/2014/main" id="{CA800372-DCC3-4526-B3B4-B3EE376B5BAD}"/>
              </a:ext>
            </a:extLst>
          </p:cNvPr>
          <p:cNvSpPr>
            <a:spLocks xmlns:a="http://schemas.openxmlformats.org/drawingml/2006/main" noGrp="1"/>
          </p:cNvSpPr>
          <p:nvPr/>
        </p:nvSpPr>
        <p:spPr>
          <a:xfrm xmlns:a="http://schemas.openxmlformats.org/drawingml/2006/main">
            <a:off x="400050" y="1266825"/>
            <a:ext cx="152400" cy="3333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3" name="deck-title">
            <a:extLst xmlns:a="http://schemas.openxmlformats.org/drawingml/2006/main">
              <a:ext uri="{FF2B5EF4-FFF2-40B4-BE49-F238E27FC236}">
                <a16:creationId xmlns:a16="http://schemas.microsoft.com/office/drawing/2014/main" id="{4830A49B-21FF-4C93-9B00-260A18ECD4ED}"/>
              </a:ext>
            </a:extLst>
          </p:cNvPr>
          <p:cNvSpPr>
            <a:spLocks xmlns:a="http://schemas.openxmlformats.org/drawingml/2006/main" noGrp="1"/>
          </p:cNvSpPr>
          <p:nvPr/>
        </p:nvSpPr>
        <p:spPr>
          <a:xfrm xmlns:a="http://schemas.openxmlformats.org/drawingml/2006/main">
            <a:off x="838200" y="1200150"/>
            <a:ext cx="100965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4800" b="1">
                <a:solidFill>
                  <a:srgbClr val="111111"/>
                </a:solidFill>
                <a:latin typeface="Arial"/>
                <a:ea typeface="Arial"/>
                <a:cs typeface="Arial"/>
              </a:defRPr>
            </a:pPr>
            <a:r>
              <a:rPr sz="4800" b="1">
                <a:solidFill>
                  <a:srgbClr val="111111"/>
                </a:solidFill>
                <a:latin typeface="Arial"/>
                <a:ea typeface="Arial"/>
                <a:cs typeface="Arial"/>
              </a:rPr>
              <a:t>Alpha-Beta Pruning and Expectimax</a:t>
            </a:r>
          </a:p>
        </p:txBody>
      </p:sp>
      <p:sp>
        <p:nvSpPr>
          <p:cNvPr id="4" name="deck-subtitle">
            <a:extLst xmlns:a="http://schemas.openxmlformats.org/drawingml/2006/main">
              <a:ext uri="{FF2B5EF4-FFF2-40B4-BE49-F238E27FC236}">
                <a16:creationId xmlns:a16="http://schemas.microsoft.com/office/drawing/2014/main" id="{45C2C25F-89A6-4D46-908A-2568E1E5E12C}"/>
              </a:ext>
            </a:extLst>
          </p:cNvPr>
          <p:cNvSpPr>
            <a:spLocks xmlns:a="http://schemas.openxmlformats.org/drawingml/2006/main" noGrp="1"/>
          </p:cNvSpPr>
          <p:nvPr/>
        </p:nvSpPr>
        <p:spPr>
          <a:xfrm xmlns:a="http://schemas.openxmlformats.org/drawingml/2006/main">
            <a:off x="838200" y="4171950"/>
            <a:ext cx="7620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0">
                <a:solidFill>
                  <a:srgbClr val="5C6470"/>
                </a:solidFill>
                <a:latin typeface="Arial"/>
                <a:ea typeface="Arial"/>
                <a:cs typeface="Arial"/>
              </a:defRPr>
            </a:pPr>
            <a:r>
              <a:rPr sz="2100" b="0">
                <a:solidFill>
                  <a:srgbClr val="5C6470"/>
                </a:solidFill>
                <a:latin typeface="Arial"/>
                <a:ea typeface="Arial"/>
                <a:cs typeface="Arial"/>
              </a:rPr>
              <a:t>Exact adversarial bounds and probabilistic chance-node backups</a:t>
            </a:r>
          </a:p>
        </p:txBody>
      </p:sp>
      <p:cxnSp>
        <p:nvCxnSpPr>
          <p:cNvPr id="12" name="title-bottom-rule"/>
          <p:cNvCxnSpPr/>
          <p:nvPr/>
        </p:nvCxnSpPr>
        <p:spPr>
          <a:xfrm xmlns:a="http://schemas.openxmlformats.org/drawingml/2006/main">
            <a:off x="400050" y="59531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title-duration">
            <a:extLst xmlns:a="http://schemas.openxmlformats.org/drawingml/2006/main">
              <a:ext uri="{FF2B5EF4-FFF2-40B4-BE49-F238E27FC236}">
                <a16:creationId xmlns:a16="http://schemas.microsoft.com/office/drawing/2014/main" id="{45366B5E-994E-43E3-A663-DA3391894549}"/>
              </a:ext>
            </a:extLst>
          </p:cNvPr>
          <p:cNvSpPr>
            <a:spLocks xmlns:a="http://schemas.openxmlformats.org/drawingml/2006/main" noGrp="1"/>
          </p:cNvSpPr>
          <p:nvPr/>
        </p:nvSpPr>
        <p:spPr>
          <a:xfrm xmlns:a="http://schemas.openxmlformats.org/drawingml/2006/main">
            <a:off x="400050" y="61341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470"/>
                </a:solidFill>
                <a:latin typeface="Arial"/>
                <a:ea typeface="Arial"/>
                <a:cs typeface="Arial"/>
              </a:defRPr>
            </a:pPr>
            <a:r>
              <a:rPr sz="1125" b="0">
                <a:solidFill>
                  <a:srgbClr val="5C6470"/>
                </a:solidFill>
                <a:latin typeface="Arial"/>
                <a:ea typeface="Arial"/>
                <a:cs typeface="Arial"/>
              </a:rPr>
              <a:t>Approximately 50 minutes</a:t>
            </a:r>
          </a:p>
        </p:txBody>
      </p:sp>
      <p:sp>
        <p:nvSpPr>
          <p:cNvPr id="7" name="title-slide-number">
            <a:extLst xmlns:a="http://schemas.openxmlformats.org/drawingml/2006/main">
              <a:ext uri="{FF2B5EF4-FFF2-40B4-BE49-F238E27FC236}">
                <a16:creationId xmlns:a16="http://schemas.microsoft.com/office/drawing/2014/main" id="{C1C3D313-1610-4770-8314-5D53F2EC417B}"/>
              </a:ext>
            </a:extLst>
          </p:cNvPr>
          <p:cNvSpPr>
            <a:spLocks xmlns:a="http://schemas.openxmlformats.org/drawingml/2006/main" noGrp="1"/>
          </p:cNvSpPr>
          <p:nvPr/>
        </p:nvSpPr>
        <p:spPr>
          <a:xfrm xmlns:a="http://schemas.openxmlformats.org/drawingml/2006/main">
            <a:off x="11239500" y="61341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a:t>
            </a:r>
          </a:p>
        </p:txBody>
      </p:sp>
    </p:spTree>
    <p:extLst>
      <p:ext uri="{BB962C8B-B14F-4D97-AF65-F5344CB8AC3E}">
        <p14:creationId xmlns:p14="http://schemas.microsoft.com/office/powerpoint/2010/main" val="15954815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2">
            <a:extLst xmlns:a="http://schemas.openxmlformats.org/drawingml/2006/main">
              <a:ext uri="{FF2B5EF4-FFF2-40B4-BE49-F238E27FC236}">
                <a16:creationId xmlns:a16="http://schemas.microsoft.com/office/drawing/2014/main" id="{20B1E874-3DD2-48B4-9729-6B56F652510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Learning objectives</a:t>
            </a:r>
          </a:p>
        </p:txBody>
      </p:sp>
      <p:sp>
        <p:nvSpPr>
          <p:cNvPr id="2" name="title-accent-2">
            <a:extLst xmlns:a="http://schemas.openxmlformats.org/drawingml/2006/main">
              <a:ext uri="{FF2B5EF4-FFF2-40B4-BE49-F238E27FC236}">
                <a16:creationId xmlns:a16="http://schemas.microsoft.com/office/drawing/2014/main" id="{8762B98C-0F7B-40EC-85F4-D5E42460E2D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2">
            <a:extLst xmlns:a="http://schemas.openxmlformats.org/drawingml/2006/main">
              <a:ext uri="{FF2B5EF4-FFF2-40B4-BE49-F238E27FC236}">
                <a16:creationId xmlns:a16="http://schemas.microsoft.com/office/drawing/2014/main" id="{721BB0DB-0944-4673-9793-49AF1A68428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2">
            <a:extLst xmlns:a="http://schemas.openxmlformats.org/drawingml/2006/main">
              <a:ext uri="{FF2B5EF4-FFF2-40B4-BE49-F238E27FC236}">
                <a16:creationId xmlns:a16="http://schemas.microsoft.com/office/drawing/2014/main" id="{9FD820AD-CC76-46C0-9EE4-34B7E89B60E9}"/>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2</a:t>
            </a:r>
          </a:p>
        </p:txBody>
      </p:sp>
      <p:sp>
        <p:nvSpPr>
          <p:cNvPr id="6" name="objective-intro-2">
            <a:extLst xmlns:a="http://schemas.openxmlformats.org/drawingml/2006/main">
              <a:ext uri="{FF2B5EF4-FFF2-40B4-BE49-F238E27FC236}">
                <a16:creationId xmlns:a16="http://schemas.microsoft.com/office/drawing/2014/main" id="{04459FA4-9C56-499B-8E9A-21682F576D70}"/>
              </a:ext>
            </a:extLst>
          </p:cNvPr>
          <p:cNvSpPr>
            <a:spLocks xmlns:a="http://schemas.openxmlformats.org/drawingml/2006/main" noGrp="1"/>
          </p:cNvSpPr>
          <p:nvPr/>
        </p:nvSpPr>
        <p:spPr>
          <a:xfrm xmlns:a="http://schemas.openxmlformats.org/drawingml/2006/main">
            <a:off x="400050" y="142875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5C6470"/>
                </a:solidFill>
                <a:latin typeface="Arial"/>
                <a:ea typeface="Arial"/>
                <a:cs typeface="Arial"/>
              </a:defRPr>
            </a:pPr>
            <a:r>
              <a:rPr sz="1650" b="0">
                <a:solidFill>
                  <a:srgbClr val="5C6470"/>
                </a:solidFill>
                <a:latin typeface="Arial"/>
                <a:ea typeface="Arial"/>
                <a:cs typeface="Arial"/>
              </a:rPr>
              <a:t>By the end of this lesson, you should be able to:</a:t>
            </a:r>
          </a:p>
        </p:txBody>
      </p:sp>
      <p:sp>
        <p:nvSpPr>
          <p:cNvPr id="7" name="objective-number-1">
            <a:extLst xmlns:a="http://schemas.openxmlformats.org/drawingml/2006/main">
              <a:ext uri="{FF2B5EF4-FFF2-40B4-BE49-F238E27FC236}">
                <a16:creationId xmlns:a16="http://schemas.microsoft.com/office/drawing/2014/main" id="{B4A32C00-D0E8-4F58-BF27-6102879FCE25}"/>
              </a:ext>
            </a:extLst>
          </p:cNvPr>
          <p:cNvSpPr>
            <a:spLocks xmlns:a="http://schemas.openxmlformats.org/drawingml/2006/main" noGrp="1"/>
          </p:cNvSpPr>
          <p:nvPr/>
        </p:nvSpPr>
        <p:spPr>
          <a:xfrm xmlns:a="http://schemas.openxmlformats.org/drawingml/2006/main">
            <a:off x="400050" y="20478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cxnSp>
        <p:nvCxnSpPr>
          <p:cNvPr id="32" name="objective-rule-1"/>
          <p:cNvCxnSpPr/>
          <p:nvPr/>
        </p:nvCxnSpPr>
        <p:spPr>
          <a:xfrm xmlns:a="http://schemas.openxmlformats.org/drawingml/2006/main">
            <a:off x="1076325" y="22764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objective-text-1">
            <a:extLst xmlns:a="http://schemas.openxmlformats.org/drawingml/2006/main">
              <a:ext uri="{FF2B5EF4-FFF2-40B4-BE49-F238E27FC236}">
                <a16:creationId xmlns:a16="http://schemas.microsoft.com/office/drawing/2014/main" id="{25D14437-13CF-4086-BF7A-69F209FE6E72}"/>
              </a:ext>
            </a:extLst>
          </p:cNvPr>
          <p:cNvSpPr>
            <a:spLocks xmlns:a="http://schemas.openxmlformats.org/drawingml/2006/main" noGrp="1"/>
          </p:cNvSpPr>
          <p:nvPr/>
        </p:nvSpPr>
        <p:spPr>
          <a:xfrm xmlns:a="http://schemas.openxmlformats.org/drawingml/2006/main">
            <a:off x="2047875" y="20478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Define alpha and beta as backed-up bounds.</a:t>
            </a:r>
          </a:p>
        </p:txBody>
      </p:sp>
      <p:sp>
        <p:nvSpPr>
          <p:cNvPr id="10" name="objective-number-2">
            <a:extLst xmlns:a="http://schemas.openxmlformats.org/drawingml/2006/main">
              <a:ext uri="{FF2B5EF4-FFF2-40B4-BE49-F238E27FC236}">
                <a16:creationId xmlns:a16="http://schemas.microsoft.com/office/drawing/2014/main" id="{9CC00184-ACBC-4770-A51A-70E373A3C0FC}"/>
              </a:ext>
            </a:extLst>
          </p:cNvPr>
          <p:cNvSpPr>
            <a:spLocks xmlns:a="http://schemas.openxmlformats.org/drawingml/2006/main" noGrp="1"/>
          </p:cNvSpPr>
          <p:nvPr/>
        </p:nvSpPr>
        <p:spPr>
          <a:xfrm xmlns:a="http://schemas.openxmlformats.org/drawingml/2006/main">
            <a:off x="400050" y="27241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cxnSp>
        <p:nvCxnSpPr>
          <p:cNvPr id="35" name="objective-rule-2"/>
          <p:cNvCxnSpPr/>
          <p:nvPr/>
        </p:nvCxnSpPr>
        <p:spPr>
          <a:xfrm xmlns:a="http://schemas.openxmlformats.org/drawingml/2006/main">
            <a:off x="1076325" y="29527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objective-text-2">
            <a:extLst xmlns:a="http://schemas.openxmlformats.org/drawingml/2006/main">
              <a:ext uri="{FF2B5EF4-FFF2-40B4-BE49-F238E27FC236}">
                <a16:creationId xmlns:a16="http://schemas.microsoft.com/office/drawing/2014/main" id="{1781DA61-CE83-4D57-A363-2A74FE1DF532}"/>
              </a:ext>
            </a:extLst>
          </p:cNvPr>
          <p:cNvSpPr>
            <a:spLocks xmlns:a="http://schemas.openxmlformats.org/drawingml/2006/main" noGrp="1"/>
          </p:cNvSpPr>
          <p:nvPr/>
        </p:nvSpPr>
        <p:spPr>
          <a:xfrm xmlns:a="http://schemas.openxmlformats.org/drawingml/2006/main">
            <a:off x="2047875" y="27241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Trace exact alpha-beta prune conditions.</a:t>
            </a:r>
          </a:p>
        </p:txBody>
      </p:sp>
      <p:sp>
        <p:nvSpPr>
          <p:cNvPr id="13" name="objective-number-3">
            <a:extLst xmlns:a="http://schemas.openxmlformats.org/drawingml/2006/main">
              <a:ext uri="{FF2B5EF4-FFF2-40B4-BE49-F238E27FC236}">
                <a16:creationId xmlns:a16="http://schemas.microsoft.com/office/drawing/2014/main" id="{5185D100-5369-4132-B652-E8B6E45667F5}"/>
              </a:ext>
            </a:extLst>
          </p:cNvPr>
          <p:cNvSpPr>
            <a:spLocks xmlns:a="http://schemas.openxmlformats.org/drawingml/2006/main" noGrp="1"/>
          </p:cNvSpPr>
          <p:nvPr/>
        </p:nvSpPr>
        <p:spPr>
          <a:xfrm xmlns:a="http://schemas.openxmlformats.org/drawingml/2006/main">
            <a:off x="40005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cxnSp>
        <p:nvCxnSpPr>
          <p:cNvPr id="38" name="objective-rule-3"/>
          <p:cNvCxnSpPr/>
          <p:nvPr/>
        </p:nvCxnSpPr>
        <p:spPr>
          <a:xfrm xmlns:a="http://schemas.openxmlformats.org/drawingml/2006/main">
            <a:off x="1076325" y="362902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objective-text-3">
            <a:extLst xmlns:a="http://schemas.openxmlformats.org/drawingml/2006/main">
              <a:ext uri="{FF2B5EF4-FFF2-40B4-BE49-F238E27FC236}">
                <a16:creationId xmlns:a16="http://schemas.microsoft.com/office/drawing/2014/main" id="{CDAD9D70-D1FA-4085-88DE-3C0B09476322}"/>
              </a:ext>
            </a:extLst>
          </p:cNvPr>
          <p:cNvSpPr>
            <a:spLocks xmlns:a="http://schemas.openxmlformats.org/drawingml/2006/main" noGrp="1"/>
          </p:cNvSpPr>
          <p:nvPr/>
        </p:nvSpPr>
        <p:spPr>
          <a:xfrm xmlns:a="http://schemas.openxmlformats.org/drawingml/2006/main">
            <a:off x="2047875" y="340042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Explain why pruning preserves the minimax root value.</a:t>
            </a:r>
          </a:p>
        </p:txBody>
      </p:sp>
      <p:sp>
        <p:nvSpPr>
          <p:cNvPr id="16" name="objective-number-4">
            <a:extLst xmlns:a="http://schemas.openxmlformats.org/drawingml/2006/main">
              <a:ext uri="{FF2B5EF4-FFF2-40B4-BE49-F238E27FC236}">
                <a16:creationId xmlns:a16="http://schemas.microsoft.com/office/drawing/2014/main" id="{439B3E70-AFE3-4D25-9168-4F123E8188E2}"/>
              </a:ext>
            </a:extLst>
          </p:cNvPr>
          <p:cNvSpPr>
            <a:spLocks xmlns:a="http://schemas.openxmlformats.org/drawingml/2006/main" noGrp="1"/>
          </p:cNvSpPr>
          <p:nvPr/>
        </p:nvSpPr>
        <p:spPr>
          <a:xfrm xmlns:a="http://schemas.openxmlformats.org/drawingml/2006/main">
            <a:off x="400050" y="407670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04</a:t>
            </a:r>
          </a:p>
        </p:txBody>
      </p:sp>
      <p:cxnSp>
        <p:nvCxnSpPr>
          <p:cNvPr id="41" name="objective-rule-4"/>
          <p:cNvCxnSpPr/>
          <p:nvPr/>
        </p:nvCxnSpPr>
        <p:spPr>
          <a:xfrm xmlns:a="http://schemas.openxmlformats.org/drawingml/2006/main">
            <a:off x="1076325" y="430530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18" name="objective-text-4">
            <a:extLst xmlns:a="http://schemas.openxmlformats.org/drawingml/2006/main">
              <a:ext uri="{FF2B5EF4-FFF2-40B4-BE49-F238E27FC236}">
                <a16:creationId xmlns:a16="http://schemas.microsoft.com/office/drawing/2014/main" id="{FB35E544-AC2E-44C7-A06D-941FC971F64D}"/>
              </a:ext>
            </a:extLst>
          </p:cNvPr>
          <p:cNvSpPr>
            <a:spLocks xmlns:a="http://schemas.openxmlformats.org/drawingml/2006/main" noGrp="1"/>
          </p:cNvSpPr>
          <p:nvPr/>
        </p:nvSpPr>
        <p:spPr>
          <a:xfrm xmlns:a="http://schemas.openxmlformats.org/drawingml/2006/main">
            <a:off x="2047875" y="407670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Relate move ordering to effective branching factor.</a:t>
            </a:r>
          </a:p>
        </p:txBody>
      </p:sp>
      <p:sp>
        <p:nvSpPr>
          <p:cNvPr id="19" name="objective-number-5">
            <a:extLst xmlns:a="http://schemas.openxmlformats.org/drawingml/2006/main">
              <a:ext uri="{FF2B5EF4-FFF2-40B4-BE49-F238E27FC236}">
                <a16:creationId xmlns:a16="http://schemas.microsoft.com/office/drawing/2014/main" id="{90E836F2-9009-4657-8094-6F26588F97D7}"/>
              </a:ext>
            </a:extLst>
          </p:cNvPr>
          <p:cNvSpPr>
            <a:spLocks xmlns:a="http://schemas.openxmlformats.org/drawingml/2006/main" noGrp="1"/>
          </p:cNvSpPr>
          <p:nvPr/>
        </p:nvSpPr>
        <p:spPr>
          <a:xfrm xmlns:a="http://schemas.openxmlformats.org/drawingml/2006/main">
            <a:off x="400050" y="475297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05</a:t>
            </a:r>
          </a:p>
        </p:txBody>
      </p:sp>
      <p:cxnSp>
        <p:nvCxnSpPr>
          <p:cNvPr id="44" name="objective-rule-5"/>
          <p:cNvCxnSpPr/>
          <p:nvPr/>
        </p:nvCxnSpPr>
        <p:spPr>
          <a:xfrm xmlns:a="http://schemas.openxmlformats.org/drawingml/2006/main">
            <a:off x="1076325" y="4981575"/>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1" name="objective-text-5">
            <a:extLst xmlns:a="http://schemas.openxmlformats.org/drawingml/2006/main">
              <a:ext uri="{FF2B5EF4-FFF2-40B4-BE49-F238E27FC236}">
                <a16:creationId xmlns:a16="http://schemas.microsoft.com/office/drawing/2014/main" id="{82EE1629-3973-4C54-8BE4-4AA7BB238B67}"/>
              </a:ext>
            </a:extLst>
          </p:cNvPr>
          <p:cNvSpPr>
            <a:spLocks xmlns:a="http://schemas.openxmlformats.org/drawingml/2006/main" noGrp="1"/>
          </p:cNvSpPr>
          <p:nvPr/>
        </p:nvSpPr>
        <p:spPr>
          <a:xfrm xmlns:a="http://schemas.openxmlformats.org/drawingml/2006/main">
            <a:off x="2047875" y="4752975"/>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Compute expectimax chance-node values.</a:t>
            </a:r>
          </a:p>
        </p:txBody>
      </p:sp>
      <p:sp>
        <p:nvSpPr>
          <p:cNvPr id="22" name="objective-number-6">
            <a:extLst xmlns:a="http://schemas.openxmlformats.org/drawingml/2006/main">
              <a:ext uri="{FF2B5EF4-FFF2-40B4-BE49-F238E27FC236}">
                <a16:creationId xmlns:a16="http://schemas.microsoft.com/office/drawing/2014/main" id="{2F737FF1-68C6-4EED-8DE0-9145369B1FE7}"/>
              </a:ext>
            </a:extLst>
          </p:cNvPr>
          <p:cNvSpPr>
            <a:spLocks xmlns:a="http://schemas.openxmlformats.org/drawingml/2006/main" noGrp="1"/>
          </p:cNvSpPr>
          <p:nvPr/>
        </p:nvSpPr>
        <p:spPr>
          <a:xfrm xmlns:a="http://schemas.openxmlformats.org/drawingml/2006/main">
            <a:off x="400050" y="5429250"/>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06</a:t>
            </a:r>
          </a:p>
        </p:txBody>
      </p:sp>
      <p:cxnSp>
        <p:nvCxnSpPr>
          <p:cNvPr id="47" name="objective-rule-6"/>
          <p:cNvCxnSpPr/>
          <p:nvPr/>
        </p:nvCxnSpPr>
        <p:spPr>
          <a:xfrm xmlns:a="http://schemas.openxmlformats.org/drawingml/2006/main">
            <a:off x="1076325" y="5657850"/>
            <a:ext cx="78105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objective-text-6">
            <a:extLst xmlns:a="http://schemas.openxmlformats.org/drawingml/2006/main">
              <a:ext uri="{FF2B5EF4-FFF2-40B4-BE49-F238E27FC236}">
                <a16:creationId xmlns:a16="http://schemas.microsoft.com/office/drawing/2014/main" id="{76722643-39EB-4A36-A8FF-A76B0A577F69}"/>
              </a:ext>
            </a:extLst>
          </p:cNvPr>
          <p:cNvSpPr>
            <a:spLocks xmlns:a="http://schemas.openxmlformats.org/drawingml/2006/main" noGrp="1"/>
          </p:cNvSpPr>
          <p:nvPr/>
        </p:nvSpPr>
        <p:spPr>
          <a:xfrm xmlns:a="http://schemas.openxmlformats.org/drawingml/2006/main">
            <a:off x="2047875" y="5429250"/>
            <a:ext cx="9382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Choose between minimax and expectimax from environment assumptions.</a:t>
            </a:r>
          </a:p>
        </p:txBody>
      </p:sp>
    </p:spTree>
    <p:extLst>
      <p:ext uri="{BB962C8B-B14F-4D97-AF65-F5344CB8AC3E}">
        <p14:creationId xmlns:p14="http://schemas.microsoft.com/office/powerpoint/2010/main" val="15898693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3">
            <a:extLst xmlns:a="http://schemas.openxmlformats.org/drawingml/2006/main">
              <a:ext uri="{FF2B5EF4-FFF2-40B4-BE49-F238E27FC236}">
                <a16:creationId xmlns:a16="http://schemas.microsoft.com/office/drawing/2014/main" id="{DE332A78-DCAE-4C8D-81DA-FE068F7A10E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Alpha-beta pruning is exact</a:t>
            </a:r>
          </a:p>
        </p:txBody>
      </p:sp>
      <p:sp>
        <p:nvSpPr>
          <p:cNvPr id="2" name="title-accent-3">
            <a:extLst xmlns:a="http://schemas.openxmlformats.org/drawingml/2006/main">
              <a:ext uri="{FF2B5EF4-FFF2-40B4-BE49-F238E27FC236}">
                <a16:creationId xmlns:a16="http://schemas.microsoft.com/office/drawing/2014/main" id="{00410CE9-97AB-4A2F-A2EE-7C5B803FDE2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3">
            <a:extLst xmlns:a="http://schemas.openxmlformats.org/drawingml/2006/main">
              <a:ext uri="{FF2B5EF4-FFF2-40B4-BE49-F238E27FC236}">
                <a16:creationId xmlns:a16="http://schemas.microsoft.com/office/drawing/2014/main" id="{BA1600EE-AEC9-4A91-AE3E-C72674847AF3}"/>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3">
            <a:extLst xmlns:a="http://schemas.openxmlformats.org/drawingml/2006/main">
              <a:ext uri="{FF2B5EF4-FFF2-40B4-BE49-F238E27FC236}">
                <a16:creationId xmlns:a16="http://schemas.microsoft.com/office/drawing/2014/main" id="{BCCD07A0-D0B9-42C8-BB0E-EB95741D537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3</a:t>
            </a:r>
          </a:p>
        </p:txBody>
      </p:sp>
      <p:sp>
        <p:nvSpPr>
          <p:cNvPr id="6" name="claim-3">
            <a:extLst xmlns:a="http://schemas.openxmlformats.org/drawingml/2006/main">
              <a:ext uri="{FF2B5EF4-FFF2-40B4-BE49-F238E27FC236}">
                <a16:creationId xmlns:a16="http://schemas.microsoft.com/office/drawing/2014/main" id="{17F7B1BF-3FD8-4A38-BF54-F431238FE344}"/>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branch may be skipped only after bounds prove that it cannot change an ancestor's decision.</a:t>
            </a:r>
          </a:p>
        </p:txBody>
      </p:sp>
      <p:sp>
        <p:nvSpPr>
          <p:cNvPr id="7" name="claim-panel-3">
            <a:extLst xmlns:a="http://schemas.openxmlformats.org/drawingml/2006/main">
              <a:ext uri="{FF2B5EF4-FFF2-40B4-BE49-F238E27FC236}">
                <a16:creationId xmlns:a16="http://schemas.microsoft.com/office/drawing/2014/main" id="{A8B17095-AB0F-4DC7-83CB-41E563BAF788}"/>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3">
            <a:extLst xmlns:a="http://schemas.openxmlformats.org/drawingml/2006/main">
              <a:ext uri="{FF2B5EF4-FFF2-40B4-BE49-F238E27FC236}">
                <a16:creationId xmlns:a16="http://schemas.microsoft.com/office/drawing/2014/main" id="{C54407D4-1D50-4454-8B2D-3A5D00740F73}"/>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Bound</a:t>
            </a:r>
          </a:p>
        </p:txBody>
      </p:sp>
      <p:sp>
        <p:nvSpPr>
          <p:cNvPr id="9" name="claim-keyword-detail-3">
            <a:extLst xmlns:a="http://schemas.openxmlformats.org/drawingml/2006/main">
              <a:ext uri="{FF2B5EF4-FFF2-40B4-BE49-F238E27FC236}">
                <a16:creationId xmlns:a16="http://schemas.microsoft.com/office/drawing/2014/main" id="{B9FA0B4E-69AE-4058-9EE4-25EDD70EE0DE}"/>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Alpha is MAX's best guaranteed value; beta is MIN's best guaranteed value.</a:t>
            </a:r>
          </a:p>
        </p:txBody>
      </p:sp>
      <p:sp>
        <p:nvSpPr>
          <p:cNvPr id="10" name="claim-detail-3-marker-1">
            <a:extLst xmlns:a="http://schemas.openxmlformats.org/drawingml/2006/main">
              <a:ext uri="{FF2B5EF4-FFF2-40B4-BE49-F238E27FC236}">
                <a16:creationId xmlns:a16="http://schemas.microsoft.com/office/drawing/2014/main" id="{44CF267A-5A3E-4C24-9382-7CEBAF0E7F4C}"/>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3-text-1">
            <a:extLst xmlns:a="http://schemas.openxmlformats.org/drawingml/2006/main">
              <a:ext uri="{FF2B5EF4-FFF2-40B4-BE49-F238E27FC236}">
                <a16:creationId xmlns:a16="http://schemas.microsoft.com/office/drawing/2014/main" id="{35707B3C-996D-4F6F-B165-27C312845284}"/>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MAX prunes when v &gt;= beta.</a:t>
            </a:r>
          </a:p>
        </p:txBody>
      </p:sp>
      <p:sp>
        <p:nvSpPr>
          <p:cNvPr id="12" name="claim-detail-3-marker-2">
            <a:extLst xmlns:a="http://schemas.openxmlformats.org/drawingml/2006/main">
              <a:ext uri="{FF2B5EF4-FFF2-40B4-BE49-F238E27FC236}">
                <a16:creationId xmlns:a16="http://schemas.microsoft.com/office/drawing/2014/main" id="{4D410463-95C7-4C5C-8F4A-F87FC5B1B857}"/>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3-text-2">
            <a:extLst xmlns:a="http://schemas.openxmlformats.org/drawingml/2006/main">
              <a:ext uri="{FF2B5EF4-FFF2-40B4-BE49-F238E27FC236}">
                <a16:creationId xmlns:a16="http://schemas.microsoft.com/office/drawing/2014/main" id="{5F726FBB-E08E-406B-9DD8-FF304295B5D0}"/>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MIN prunes when v &lt;= alpha.</a:t>
            </a:r>
          </a:p>
        </p:txBody>
      </p:sp>
      <p:sp>
        <p:nvSpPr>
          <p:cNvPr id="14" name="claim-detail-3-marker-3">
            <a:extLst xmlns:a="http://schemas.openxmlformats.org/drawingml/2006/main">
              <a:ext uri="{FF2B5EF4-FFF2-40B4-BE49-F238E27FC236}">
                <a16:creationId xmlns:a16="http://schemas.microsoft.com/office/drawing/2014/main" id="{1FF31672-48AE-48C3-B146-A8E84BD03FEB}"/>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3-text-3">
            <a:extLst xmlns:a="http://schemas.openxmlformats.org/drawingml/2006/main">
              <a:ext uri="{FF2B5EF4-FFF2-40B4-BE49-F238E27FC236}">
                <a16:creationId xmlns:a16="http://schemas.microsoft.com/office/drawing/2014/main" id="{3628CE35-E656-4049-88B5-6A907609AD09}"/>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Unpruned minimax and alpha-beta return the same value.</a:t>
            </a:r>
          </a:p>
        </p:txBody>
      </p:sp>
    </p:spTree>
    <p:extLst>
      <p:ext uri="{BB962C8B-B14F-4D97-AF65-F5344CB8AC3E}">
        <p14:creationId xmlns:p14="http://schemas.microsoft.com/office/powerpoint/2010/main" val="13438066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4">
            <a:extLst xmlns:a="http://schemas.openxmlformats.org/drawingml/2006/main">
              <a:ext uri="{FF2B5EF4-FFF2-40B4-BE49-F238E27FC236}">
                <a16:creationId xmlns:a16="http://schemas.microsoft.com/office/drawing/2014/main" id="{59BBCF71-2B4F-4FC7-BB0F-ECC689D15A1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Alpha and beta summarize ancestor alternatives</a:t>
            </a:r>
          </a:p>
        </p:txBody>
      </p:sp>
      <p:sp>
        <p:nvSpPr>
          <p:cNvPr id="2" name="title-accent-4">
            <a:extLst xmlns:a="http://schemas.openxmlformats.org/drawingml/2006/main">
              <a:ext uri="{FF2B5EF4-FFF2-40B4-BE49-F238E27FC236}">
                <a16:creationId xmlns:a16="http://schemas.microsoft.com/office/drawing/2014/main" id="{8428E147-445D-4503-B57B-1B912F3DCE25}"/>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4">
            <a:extLst xmlns:a="http://schemas.openxmlformats.org/drawingml/2006/main">
              <a:ext uri="{FF2B5EF4-FFF2-40B4-BE49-F238E27FC236}">
                <a16:creationId xmlns:a16="http://schemas.microsoft.com/office/drawing/2014/main" id="{1AA5F934-6F98-4D67-ABCD-76ADB562343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4">
            <a:extLst xmlns:a="http://schemas.openxmlformats.org/drawingml/2006/main">
              <a:ext uri="{FF2B5EF4-FFF2-40B4-BE49-F238E27FC236}">
                <a16:creationId xmlns:a16="http://schemas.microsoft.com/office/drawing/2014/main" id="{AE0AB5B0-CE0A-4BE8-B121-B2574ECD8C7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4</a:t>
            </a:r>
          </a:p>
        </p:txBody>
      </p:sp>
      <p:sp>
        <p:nvSpPr>
          <p:cNvPr id="6" name="formula-panel-4">
            <a:extLst xmlns:a="http://schemas.openxmlformats.org/drawingml/2006/main">
              <a:ext uri="{FF2B5EF4-FFF2-40B4-BE49-F238E27FC236}">
                <a16:creationId xmlns:a16="http://schemas.microsoft.com/office/drawing/2014/main" id="{88654C4F-1A4B-4F9B-B107-D5BF183C91DC}"/>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4">
            <a:extLst xmlns:a="http://schemas.openxmlformats.org/drawingml/2006/main">
              <a:ext uri="{FF2B5EF4-FFF2-40B4-BE49-F238E27FC236}">
                <a16:creationId xmlns:a16="http://schemas.microsoft.com/office/drawing/2014/main" id="{D9676D7A-CD0D-4D61-ACEC-3E8D1D4C7789}"/>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2550" b="1">
                <a:solidFill>
                  <a:srgbClr val="111111"/>
                </a:solidFill>
                <a:latin typeface="Cambria Math"/>
                <a:ea typeface="Cambria Math"/>
                <a:cs typeface="Cambria Math"/>
              </a:defRPr>
            </a:pPr>
            <a:r>
              <a:rPr sz="2550" b="1">
                <a:solidFill>
                  <a:srgbClr val="111111"/>
                </a:solidFill>
                <a:latin typeface="Cambria Math"/>
                <a:ea typeface="Cambria Math"/>
                <a:cs typeface="Cambria Math"/>
              </a:rPr>
              <a:t>alpha = best MAX value on path; beta = best MIN value on path; prune when alpha &gt;= beta</a:t>
            </a:r>
          </a:p>
        </p:txBody>
      </p:sp>
      <p:sp>
        <p:nvSpPr>
          <p:cNvPr id="8" name="formula-definition-4-marker-1">
            <a:extLst xmlns:a="http://schemas.openxmlformats.org/drawingml/2006/main">
              <a:ext uri="{FF2B5EF4-FFF2-40B4-BE49-F238E27FC236}">
                <a16:creationId xmlns:a16="http://schemas.microsoft.com/office/drawing/2014/main" id="{29BF998B-BF78-4E96-9973-8F7B53ABD879}"/>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4-text-1">
            <a:extLst xmlns:a="http://schemas.openxmlformats.org/drawingml/2006/main">
              <a:ext uri="{FF2B5EF4-FFF2-40B4-BE49-F238E27FC236}">
                <a16:creationId xmlns:a16="http://schemas.microsoft.com/office/drawing/2014/main" id="{8D76D515-60D2-44DB-AE57-1F71EEC9E9A5}"/>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Alpha is a lower bound for MAX.</a:t>
            </a:r>
          </a:p>
        </p:txBody>
      </p:sp>
      <p:sp>
        <p:nvSpPr>
          <p:cNvPr id="10" name="formula-definition-4-marker-2">
            <a:extLst xmlns:a="http://schemas.openxmlformats.org/drawingml/2006/main">
              <a:ext uri="{FF2B5EF4-FFF2-40B4-BE49-F238E27FC236}">
                <a16:creationId xmlns:a16="http://schemas.microsoft.com/office/drawing/2014/main" id="{FE6C01A7-4776-4081-98EF-2853894E12B4}"/>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4-text-2">
            <a:extLst xmlns:a="http://schemas.openxmlformats.org/drawingml/2006/main">
              <a:ext uri="{FF2B5EF4-FFF2-40B4-BE49-F238E27FC236}">
                <a16:creationId xmlns:a16="http://schemas.microsoft.com/office/drawing/2014/main" id="{AD608B3F-0F53-4CB9-86E3-F72543A56E74}"/>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Beta is an upper bound for MAX under MIN control.</a:t>
            </a:r>
          </a:p>
        </p:txBody>
      </p:sp>
      <p:sp>
        <p:nvSpPr>
          <p:cNvPr id="12" name="formula-definition-4-marker-3">
            <a:extLst xmlns:a="http://schemas.openxmlformats.org/drawingml/2006/main">
              <a:ext uri="{FF2B5EF4-FFF2-40B4-BE49-F238E27FC236}">
                <a16:creationId xmlns:a16="http://schemas.microsoft.com/office/drawing/2014/main" id="{18C1605A-234B-480A-A97C-076B42ACA3F2}"/>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4-text-3">
            <a:extLst xmlns:a="http://schemas.openxmlformats.org/drawingml/2006/main">
              <a:ext uri="{FF2B5EF4-FFF2-40B4-BE49-F238E27FC236}">
                <a16:creationId xmlns:a16="http://schemas.microsoft.com/office/drawing/2014/main" id="{49AA7BA0-0A46-4093-93C7-ABF6D5964463}"/>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Bounds tighten monotonically down a path.</a:t>
            </a:r>
          </a:p>
        </p:txBody>
      </p:sp>
      <p:sp>
        <p:nvSpPr>
          <p:cNvPr id="14" name="formula-definition-4-marker-4">
            <a:extLst xmlns:a="http://schemas.openxmlformats.org/drawingml/2006/main">
              <a:ext uri="{FF2B5EF4-FFF2-40B4-BE49-F238E27FC236}">
                <a16:creationId xmlns:a16="http://schemas.microsoft.com/office/drawing/2014/main" id="{A7456F9E-7A90-429E-B026-06D7FB629C57}"/>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4-text-4">
            <a:extLst xmlns:a="http://schemas.openxmlformats.org/drawingml/2006/main">
              <a:ext uri="{FF2B5EF4-FFF2-40B4-BE49-F238E27FC236}">
                <a16:creationId xmlns:a16="http://schemas.microsoft.com/office/drawing/2014/main" id="{DF507474-2BFD-4709-82AD-7077D3A14470}"/>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 cutoff occurs only when an ancestor already has a better choice.</a:t>
            </a:r>
          </a:p>
        </p:txBody>
      </p:sp>
      <p:sp>
        <p:nvSpPr>
          <p:cNvPr id="16" name="formula-implication-panel-4">
            <a:extLst xmlns:a="http://schemas.openxmlformats.org/drawingml/2006/main">
              <a:ext uri="{FF2B5EF4-FFF2-40B4-BE49-F238E27FC236}">
                <a16:creationId xmlns:a16="http://schemas.microsoft.com/office/drawing/2014/main" id="{E346A94A-0E8F-47D8-9B23-2C9882F9291C}"/>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4">
            <a:extLst xmlns:a="http://schemas.openxmlformats.org/drawingml/2006/main">
              <a:ext uri="{FF2B5EF4-FFF2-40B4-BE49-F238E27FC236}">
                <a16:creationId xmlns:a16="http://schemas.microsoft.com/office/drawing/2014/main" id="{DF84BB9B-CB12-422A-81DB-A4C7E5D7B011}"/>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4">
            <a:extLst xmlns:a="http://schemas.openxmlformats.org/drawingml/2006/main">
              <a:ext uri="{FF2B5EF4-FFF2-40B4-BE49-F238E27FC236}">
                <a16:creationId xmlns:a16="http://schemas.microsoft.com/office/drawing/2014/main" id="{D3B64D57-FC83-48A5-80F3-8EC74070A17F}"/>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Initialize alpha=-infinity and beta=+infinity at the root.</a:t>
            </a:r>
          </a:p>
        </p:txBody>
      </p:sp>
    </p:spTree>
    <p:extLst>
      <p:ext uri="{BB962C8B-B14F-4D97-AF65-F5344CB8AC3E}">
        <p14:creationId xmlns:p14="http://schemas.microsoft.com/office/powerpoint/2010/main" val="5540160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5">
            <a:extLst xmlns:a="http://schemas.openxmlformats.org/drawingml/2006/main">
              <a:ext uri="{FF2B5EF4-FFF2-40B4-BE49-F238E27FC236}">
                <a16:creationId xmlns:a16="http://schemas.microsoft.com/office/drawing/2014/main" id="{A747B94B-0590-4970-86D5-4221ECC0FA01}"/>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Pruning changes work, not semantics</a:t>
            </a:r>
          </a:p>
        </p:txBody>
      </p:sp>
      <p:sp>
        <p:nvSpPr>
          <p:cNvPr id="2" name="title-accent-5">
            <a:extLst xmlns:a="http://schemas.openxmlformats.org/drawingml/2006/main">
              <a:ext uri="{FF2B5EF4-FFF2-40B4-BE49-F238E27FC236}">
                <a16:creationId xmlns:a16="http://schemas.microsoft.com/office/drawing/2014/main" id="{C3F68FB9-922A-4499-A79A-2C9412B15E4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5">
            <a:extLst xmlns:a="http://schemas.openxmlformats.org/drawingml/2006/main">
              <a:ext uri="{FF2B5EF4-FFF2-40B4-BE49-F238E27FC236}">
                <a16:creationId xmlns:a16="http://schemas.microsoft.com/office/drawing/2014/main" id="{59DA1CF6-CCF7-4C21-817F-FF82BC4463B7}"/>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5">
            <a:extLst xmlns:a="http://schemas.openxmlformats.org/drawingml/2006/main">
              <a:ext uri="{FF2B5EF4-FFF2-40B4-BE49-F238E27FC236}">
                <a16:creationId xmlns:a16="http://schemas.microsoft.com/office/drawing/2014/main" id="{FE7BB3C3-4B03-4B65-90C9-10C6E153114F}"/>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5</a:t>
            </a:r>
          </a:p>
        </p:txBody>
      </p:sp>
      <p:cxnSp>
        <p:nvCxnSpPr>
          <p:cNvPr id="30" name="column-divider-5"/>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5">
            <a:extLst xmlns:a="http://schemas.openxmlformats.org/drawingml/2006/main">
              <a:ext uri="{FF2B5EF4-FFF2-40B4-BE49-F238E27FC236}">
                <a16:creationId xmlns:a16="http://schemas.microsoft.com/office/drawing/2014/main" id="{EAA7BFE7-4EC2-4F70-818E-628430A47B33}"/>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Plain minimax</a:t>
            </a:r>
          </a:p>
        </p:txBody>
      </p:sp>
      <p:sp>
        <p:nvSpPr>
          <p:cNvPr id="8" name="right-title-5">
            <a:extLst xmlns:a="http://schemas.openxmlformats.org/drawingml/2006/main">
              <a:ext uri="{FF2B5EF4-FFF2-40B4-BE49-F238E27FC236}">
                <a16:creationId xmlns:a16="http://schemas.microsoft.com/office/drawing/2014/main" id="{36BD9170-43B8-4525-A3A7-8CB51E3DFEA2}"/>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Alpha-beta</a:t>
            </a:r>
          </a:p>
        </p:txBody>
      </p:sp>
      <p:sp>
        <p:nvSpPr>
          <p:cNvPr id="9" name="left-bullet-5-marker-1">
            <a:extLst xmlns:a="http://schemas.openxmlformats.org/drawingml/2006/main">
              <a:ext uri="{FF2B5EF4-FFF2-40B4-BE49-F238E27FC236}">
                <a16:creationId xmlns:a16="http://schemas.microsoft.com/office/drawing/2014/main" id="{53080FD3-131A-40F5-A0FF-6FEC6A514C6B}"/>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5-text-1">
            <a:extLst xmlns:a="http://schemas.openxmlformats.org/drawingml/2006/main">
              <a:ext uri="{FF2B5EF4-FFF2-40B4-BE49-F238E27FC236}">
                <a16:creationId xmlns:a16="http://schemas.microsoft.com/office/drawing/2014/main" id="{FD61F48E-5D75-4372-8E81-2E99F7B966F9}"/>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Visits every node to depth m.</a:t>
            </a:r>
          </a:p>
        </p:txBody>
      </p:sp>
      <p:sp>
        <p:nvSpPr>
          <p:cNvPr id="11" name="left-bullet-5-marker-2">
            <a:extLst xmlns:a="http://schemas.openxmlformats.org/drawingml/2006/main">
              <a:ext uri="{FF2B5EF4-FFF2-40B4-BE49-F238E27FC236}">
                <a16:creationId xmlns:a16="http://schemas.microsoft.com/office/drawing/2014/main" id="{619E5238-AA2A-44CE-BD94-D0D519561A53}"/>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5-text-2">
            <a:extLst xmlns:a="http://schemas.openxmlformats.org/drawingml/2006/main">
              <a:ext uri="{FF2B5EF4-FFF2-40B4-BE49-F238E27FC236}">
                <a16:creationId xmlns:a16="http://schemas.microsoft.com/office/drawing/2014/main" id="{EFB3FA21-4CB1-45BC-99F6-624A7BBCDEA6}"/>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Returns exact minimax value.</a:t>
            </a:r>
          </a:p>
        </p:txBody>
      </p:sp>
      <p:sp>
        <p:nvSpPr>
          <p:cNvPr id="13" name="left-bullet-5-marker-3">
            <a:extLst xmlns:a="http://schemas.openxmlformats.org/drawingml/2006/main">
              <a:ext uri="{FF2B5EF4-FFF2-40B4-BE49-F238E27FC236}">
                <a16:creationId xmlns:a16="http://schemas.microsoft.com/office/drawing/2014/main" id="{934C8EC1-B6F0-4A36-BDA4-CB1FD6D2B3B8}"/>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5-text-3">
            <a:extLst xmlns:a="http://schemas.openxmlformats.org/drawingml/2006/main">
              <a:ext uri="{FF2B5EF4-FFF2-40B4-BE49-F238E27FC236}">
                <a16:creationId xmlns:a16="http://schemas.microsoft.com/office/drawing/2014/main" id="{4CB2A2BA-47A0-405A-B040-4D0266743AE5}"/>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Order does not affect value.</a:t>
            </a:r>
          </a:p>
        </p:txBody>
      </p:sp>
      <p:sp>
        <p:nvSpPr>
          <p:cNvPr id="15" name="left-bullet-5-marker-4">
            <a:extLst xmlns:a="http://schemas.openxmlformats.org/drawingml/2006/main">
              <a:ext uri="{FF2B5EF4-FFF2-40B4-BE49-F238E27FC236}">
                <a16:creationId xmlns:a16="http://schemas.microsoft.com/office/drawing/2014/main" id="{EAEFF332-0C01-4C11-9859-51E3A5A130E7}"/>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5-text-4">
            <a:extLst xmlns:a="http://schemas.openxmlformats.org/drawingml/2006/main">
              <a:ext uri="{FF2B5EF4-FFF2-40B4-BE49-F238E27FC236}">
                <a16:creationId xmlns:a16="http://schemas.microsoft.com/office/drawing/2014/main" id="{37480B00-3E00-48DF-A20E-EAB320EFEA44}"/>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Time O(b^m).</a:t>
            </a:r>
          </a:p>
        </p:txBody>
      </p:sp>
      <p:sp>
        <p:nvSpPr>
          <p:cNvPr id="17" name="right-bullet-5-marker-1">
            <a:extLst xmlns:a="http://schemas.openxmlformats.org/drawingml/2006/main">
              <a:ext uri="{FF2B5EF4-FFF2-40B4-BE49-F238E27FC236}">
                <a16:creationId xmlns:a16="http://schemas.microsoft.com/office/drawing/2014/main" id="{5AA4E731-3680-4EED-A394-095312B84799}"/>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5-text-1">
            <a:extLst xmlns:a="http://schemas.openxmlformats.org/drawingml/2006/main">
              <a:ext uri="{FF2B5EF4-FFF2-40B4-BE49-F238E27FC236}">
                <a16:creationId xmlns:a16="http://schemas.microsoft.com/office/drawing/2014/main" id="{7315F7A8-7360-4034-83F8-88D4FF4CC39F}"/>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Skips provably irrelevant nodes.</a:t>
            </a:r>
          </a:p>
        </p:txBody>
      </p:sp>
      <p:sp>
        <p:nvSpPr>
          <p:cNvPr id="19" name="right-bullet-5-marker-2">
            <a:extLst xmlns:a="http://schemas.openxmlformats.org/drawingml/2006/main">
              <a:ext uri="{FF2B5EF4-FFF2-40B4-BE49-F238E27FC236}">
                <a16:creationId xmlns:a16="http://schemas.microsoft.com/office/drawing/2014/main" id="{732E7034-11FA-4F4C-B0F7-BC6E43623E2B}"/>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5-text-2">
            <a:extLst xmlns:a="http://schemas.openxmlformats.org/drawingml/2006/main">
              <a:ext uri="{FF2B5EF4-FFF2-40B4-BE49-F238E27FC236}">
                <a16:creationId xmlns:a16="http://schemas.microsoft.com/office/drawing/2014/main" id="{040223F3-F13B-4B29-A099-6EFB4E01E2E9}"/>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Returns the same exact value.</a:t>
            </a:r>
          </a:p>
        </p:txBody>
      </p:sp>
      <p:sp>
        <p:nvSpPr>
          <p:cNvPr id="21" name="right-bullet-5-marker-3">
            <a:extLst xmlns:a="http://schemas.openxmlformats.org/drawingml/2006/main">
              <a:ext uri="{FF2B5EF4-FFF2-40B4-BE49-F238E27FC236}">
                <a16:creationId xmlns:a16="http://schemas.microsoft.com/office/drawing/2014/main" id="{6B223E9E-C38C-4C87-A5F3-C1C8C500123B}"/>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5-text-3">
            <a:extLst xmlns:a="http://schemas.openxmlformats.org/drawingml/2006/main">
              <a:ext uri="{FF2B5EF4-FFF2-40B4-BE49-F238E27FC236}">
                <a16:creationId xmlns:a16="http://schemas.microsoft.com/office/drawing/2014/main" id="{753B4A18-E34A-4803-936D-6D1B402AA04E}"/>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Order strongly affects work.</a:t>
            </a:r>
          </a:p>
        </p:txBody>
      </p:sp>
      <p:sp>
        <p:nvSpPr>
          <p:cNvPr id="23" name="right-bullet-5-marker-4">
            <a:extLst xmlns:a="http://schemas.openxmlformats.org/drawingml/2006/main">
              <a:ext uri="{FF2B5EF4-FFF2-40B4-BE49-F238E27FC236}">
                <a16:creationId xmlns:a16="http://schemas.microsoft.com/office/drawing/2014/main" id="{18AEAF12-77CE-4D92-84C5-E56B57C69648}"/>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5-text-4">
            <a:extLst xmlns:a="http://schemas.openxmlformats.org/drawingml/2006/main">
              <a:ext uri="{FF2B5EF4-FFF2-40B4-BE49-F238E27FC236}">
                <a16:creationId xmlns:a16="http://schemas.microsoft.com/office/drawing/2014/main" id="{6B906CCB-E802-4174-99A7-E4450D301893}"/>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Best case approaches O(b^(m/2)).</a:t>
            </a:r>
          </a:p>
        </p:txBody>
      </p:sp>
    </p:spTree>
    <p:extLst>
      <p:ext uri="{BB962C8B-B14F-4D97-AF65-F5344CB8AC3E}">
        <p14:creationId xmlns:p14="http://schemas.microsoft.com/office/powerpoint/2010/main" val="14228406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6">
            <a:extLst xmlns:a="http://schemas.openxmlformats.org/drawingml/2006/main">
              <a:ext uri="{FF2B5EF4-FFF2-40B4-BE49-F238E27FC236}">
                <a16:creationId xmlns:a16="http://schemas.microsoft.com/office/drawing/2014/main" id="{7EB4F265-6F1C-48EA-8E7B-D5E601AC5BA5}"/>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 cutoff follows a local proof</a:t>
            </a:r>
          </a:p>
        </p:txBody>
      </p:sp>
      <p:sp>
        <p:nvSpPr>
          <p:cNvPr id="2" name="title-accent-6">
            <a:extLst xmlns:a="http://schemas.openxmlformats.org/drawingml/2006/main">
              <a:ext uri="{FF2B5EF4-FFF2-40B4-BE49-F238E27FC236}">
                <a16:creationId xmlns:a16="http://schemas.microsoft.com/office/drawing/2014/main" id="{16F41C52-C4C2-4E99-ADDF-B3888E4B63F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33" name="title-rule-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6">
            <a:extLst xmlns:a="http://schemas.openxmlformats.org/drawingml/2006/main">
              <a:ext uri="{FF2B5EF4-FFF2-40B4-BE49-F238E27FC236}">
                <a16:creationId xmlns:a16="http://schemas.microsoft.com/office/drawing/2014/main" id="{770DCB33-EB36-4B73-8BAF-B1CE4551C725}"/>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6">
            <a:extLst xmlns:a="http://schemas.openxmlformats.org/drawingml/2006/main">
              <a:ext uri="{FF2B5EF4-FFF2-40B4-BE49-F238E27FC236}">
                <a16:creationId xmlns:a16="http://schemas.microsoft.com/office/drawing/2014/main" id="{6636E664-3B5D-4AE4-8786-0EBB668CC618}"/>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6</a:t>
            </a:r>
          </a:p>
        </p:txBody>
      </p:sp>
      <p:cxnSp>
        <p:nvCxnSpPr>
          <p:cNvPr id="36" name="process-connector-6-1"/>
          <p:cNvCxnSpPr/>
          <p:nvPr/>
        </p:nvCxnSpPr>
        <p:spPr>
          <a:xfrm xmlns:a="http://schemas.openxmlformats.org/drawingml/2006/main">
            <a:off x="25241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7" name="process-connector-6-2"/>
          <p:cNvCxnSpPr/>
          <p:nvPr/>
        </p:nvCxnSpPr>
        <p:spPr>
          <a:xfrm xmlns:a="http://schemas.openxmlformats.org/drawingml/2006/main">
            <a:off x="48482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8" name="process-connector-6-3"/>
          <p:cNvCxnSpPr/>
          <p:nvPr/>
        </p:nvCxnSpPr>
        <p:spPr>
          <a:xfrm xmlns:a="http://schemas.openxmlformats.org/drawingml/2006/main">
            <a:off x="7172325" y="3114675"/>
            <a:ext cx="171450" cy="0"/>
          </a:xfrm>
          <a:prstGeom xmlns:a="http://schemas.openxmlformats.org/drawingml/2006/main" prst="straightConnector1">
            <a:avLst/>
          </a:prstGeom>
          <a:ln xmlns:a="http://schemas.openxmlformats.org/drawingml/2006/main" w="19050">
            <a:solidFill>
              <a:srgbClr val="3D8DFF"/>
            </a:solidFill>
            <a:prstDash val="solid"/>
          </a:ln>
        </p:spPr>
      </p:cxnSp>
      <p:cxnSp>
        <p:nvCxnSpPr>
          <p:cNvPr id="39" name="process-connector-6-4"/>
          <p:cNvCxnSpPr/>
          <p:nvPr/>
        </p:nvCxnSpPr>
        <p:spPr>
          <a:xfrm xmlns:a="http://schemas.openxmlformats.org/drawingml/2006/main">
            <a:off x="9496425" y="3114675"/>
            <a:ext cx="171450" cy="0"/>
          </a:xfrm>
          <a:prstGeom xmlns:a="http://schemas.openxmlformats.org/drawingml/2006/main" prst="straightConnector1">
            <a:avLst/>
          </a:prstGeom>
          <a:ln xmlns:a="http://schemas.openxmlformats.org/drawingml/2006/main" w="19050">
            <a:solidFill>
              <a:srgbClr val="3D8DFF"/>
            </a:solidFill>
            <a:prstDash val="solid"/>
          </a:ln>
        </p:spPr>
      </p:cxnSp>
      <p:sp>
        <p:nvSpPr>
          <p:cNvPr id="10" name="process-node-6-1">
            <a:extLst xmlns:a="http://schemas.openxmlformats.org/drawingml/2006/main">
              <a:ext uri="{FF2B5EF4-FFF2-40B4-BE49-F238E27FC236}">
                <a16:creationId xmlns:a16="http://schemas.microsoft.com/office/drawing/2014/main" id="{821CAC2D-7716-470B-90D3-1AD30464C6C5}"/>
              </a:ext>
            </a:extLst>
          </p:cNvPr>
          <p:cNvSpPr>
            <a:spLocks xmlns:a="http://schemas.openxmlformats.org/drawingml/2006/main" noGrp="1"/>
          </p:cNvSpPr>
          <p:nvPr/>
        </p:nvSpPr>
        <p:spPr>
          <a:xfrm xmlns:a="http://schemas.openxmlformats.org/drawingml/2006/main">
            <a:off x="4000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process-number-6-1">
            <a:extLst xmlns:a="http://schemas.openxmlformats.org/drawingml/2006/main">
              <a:ext uri="{FF2B5EF4-FFF2-40B4-BE49-F238E27FC236}">
                <a16:creationId xmlns:a16="http://schemas.microsoft.com/office/drawing/2014/main" id="{3D5BD431-5FDC-453F-9A9C-71C0AA4E196A}"/>
              </a:ext>
            </a:extLst>
          </p:cNvPr>
          <p:cNvSpPr>
            <a:spLocks xmlns:a="http://schemas.openxmlformats.org/drawingml/2006/main" noGrp="1"/>
          </p:cNvSpPr>
          <p:nvPr/>
        </p:nvSpPr>
        <p:spPr>
          <a:xfrm xmlns:a="http://schemas.openxmlformats.org/drawingml/2006/main">
            <a:off x="5715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2" name="process-title-6-1">
            <a:extLst xmlns:a="http://schemas.openxmlformats.org/drawingml/2006/main">
              <a:ext uri="{FF2B5EF4-FFF2-40B4-BE49-F238E27FC236}">
                <a16:creationId xmlns:a16="http://schemas.microsoft.com/office/drawing/2014/main" id="{28E20D5C-F09B-4FD2-A982-B018411A2D3D}"/>
              </a:ext>
            </a:extLst>
          </p:cNvPr>
          <p:cNvSpPr>
            <a:spLocks xmlns:a="http://schemas.openxmlformats.org/drawingml/2006/main" noGrp="1"/>
          </p:cNvSpPr>
          <p:nvPr/>
        </p:nvSpPr>
        <p:spPr>
          <a:xfrm xmlns:a="http://schemas.openxmlformats.org/drawingml/2006/main">
            <a:off x="5715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Enter</a:t>
            </a:r>
          </a:p>
        </p:txBody>
      </p:sp>
      <p:sp>
        <p:nvSpPr>
          <p:cNvPr id="13" name="process-detail-6-1">
            <a:extLst xmlns:a="http://schemas.openxmlformats.org/drawingml/2006/main">
              <a:ext uri="{FF2B5EF4-FFF2-40B4-BE49-F238E27FC236}">
                <a16:creationId xmlns:a16="http://schemas.microsoft.com/office/drawing/2014/main" id="{F2EDE079-AD94-42E7-968E-6B05BC43FBD2}"/>
              </a:ext>
            </a:extLst>
          </p:cNvPr>
          <p:cNvSpPr>
            <a:spLocks xmlns:a="http://schemas.openxmlformats.org/drawingml/2006/main" noGrp="1"/>
          </p:cNvSpPr>
          <p:nvPr/>
        </p:nvSpPr>
        <p:spPr>
          <a:xfrm xmlns:a="http://schemas.openxmlformats.org/drawingml/2006/main">
            <a:off x="5715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Receive alpha and beta.</a:t>
            </a:r>
          </a:p>
        </p:txBody>
      </p:sp>
      <p:sp>
        <p:nvSpPr>
          <p:cNvPr id="14" name="process-node-6-2">
            <a:extLst xmlns:a="http://schemas.openxmlformats.org/drawingml/2006/main">
              <a:ext uri="{FF2B5EF4-FFF2-40B4-BE49-F238E27FC236}">
                <a16:creationId xmlns:a16="http://schemas.microsoft.com/office/drawing/2014/main" id="{6AB596C2-D231-4CFB-A782-6D76B0947F46}"/>
              </a:ext>
            </a:extLst>
          </p:cNvPr>
          <p:cNvSpPr>
            <a:spLocks xmlns:a="http://schemas.openxmlformats.org/drawingml/2006/main" noGrp="1"/>
          </p:cNvSpPr>
          <p:nvPr/>
        </p:nvSpPr>
        <p:spPr>
          <a:xfrm xmlns:a="http://schemas.openxmlformats.org/drawingml/2006/main">
            <a:off x="27241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5" name="process-number-6-2">
            <a:extLst xmlns:a="http://schemas.openxmlformats.org/drawingml/2006/main">
              <a:ext uri="{FF2B5EF4-FFF2-40B4-BE49-F238E27FC236}">
                <a16:creationId xmlns:a16="http://schemas.microsoft.com/office/drawing/2014/main" id="{46067CC6-9838-4274-8CB6-0CE0AFDEB73B}"/>
              </a:ext>
            </a:extLst>
          </p:cNvPr>
          <p:cNvSpPr>
            <a:spLocks xmlns:a="http://schemas.openxmlformats.org/drawingml/2006/main" noGrp="1"/>
          </p:cNvSpPr>
          <p:nvPr/>
        </p:nvSpPr>
        <p:spPr>
          <a:xfrm xmlns:a="http://schemas.openxmlformats.org/drawingml/2006/main">
            <a:off x="28956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6" name="process-title-6-2">
            <a:extLst xmlns:a="http://schemas.openxmlformats.org/drawingml/2006/main">
              <a:ext uri="{FF2B5EF4-FFF2-40B4-BE49-F238E27FC236}">
                <a16:creationId xmlns:a16="http://schemas.microsoft.com/office/drawing/2014/main" id="{813DA6C4-4182-47A9-A407-CA7728EFA299}"/>
              </a:ext>
            </a:extLst>
          </p:cNvPr>
          <p:cNvSpPr>
            <a:spLocks xmlns:a="http://schemas.openxmlformats.org/drawingml/2006/main" noGrp="1"/>
          </p:cNvSpPr>
          <p:nvPr/>
        </p:nvSpPr>
        <p:spPr>
          <a:xfrm xmlns:a="http://schemas.openxmlformats.org/drawingml/2006/main">
            <a:off x="28956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Evaluate</a:t>
            </a:r>
          </a:p>
        </p:txBody>
      </p:sp>
      <p:sp>
        <p:nvSpPr>
          <p:cNvPr id="17" name="process-detail-6-2">
            <a:extLst xmlns:a="http://schemas.openxmlformats.org/drawingml/2006/main">
              <a:ext uri="{FF2B5EF4-FFF2-40B4-BE49-F238E27FC236}">
                <a16:creationId xmlns:a16="http://schemas.microsoft.com/office/drawing/2014/main" id="{3E1743E1-F3A0-4C3B-B7DD-C14D2A8DAF4D}"/>
              </a:ext>
            </a:extLst>
          </p:cNvPr>
          <p:cNvSpPr>
            <a:spLocks xmlns:a="http://schemas.openxmlformats.org/drawingml/2006/main" noGrp="1"/>
          </p:cNvSpPr>
          <p:nvPr/>
        </p:nvSpPr>
        <p:spPr>
          <a:xfrm xmlns:a="http://schemas.openxmlformats.org/drawingml/2006/main">
            <a:off x="28956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Search one child.</a:t>
            </a:r>
          </a:p>
        </p:txBody>
      </p:sp>
      <p:sp>
        <p:nvSpPr>
          <p:cNvPr id="18" name="process-node-6-3">
            <a:extLst xmlns:a="http://schemas.openxmlformats.org/drawingml/2006/main">
              <a:ext uri="{FF2B5EF4-FFF2-40B4-BE49-F238E27FC236}">
                <a16:creationId xmlns:a16="http://schemas.microsoft.com/office/drawing/2014/main" id="{EBCDD1F5-9F75-4A49-B01C-07DA5273C60F}"/>
              </a:ext>
            </a:extLst>
          </p:cNvPr>
          <p:cNvSpPr>
            <a:spLocks xmlns:a="http://schemas.openxmlformats.org/drawingml/2006/main" noGrp="1"/>
          </p:cNvSpPr>
          <p:nvPr/>
        </p:nvSpPr>
        <p:spPr>
          <a:xfrm xmlns:a="http://schemas.openxmlformats.org/drawingml/2006/main">
            <a:off x="50482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process-number-6-3">
            <a:extLst xmlns:a="http://schemas.openxmlformats.org/drawingml/2006/main">
              <a:ext uri="{FF2B5EF4-FFF2-40B4-BE49-F238E27FC236}">
                <a16:creationId xmlns:a16="http://schemas.microsoft.com/office/drawing/2014/main" id="{B924EAFD-3440-4EC4-9F04-FBAB8A09B5E8}"/>
              </a:ext>
            </a:extLst>
          </p:cNvPr>
          <p:cNvSpPr>
            <a:spLocks xmlns:a="http://schemas.openxmlformats.org/drawingml/2006/main" noGrp="1"/>
          </p:cNvSpPr>
          <p:nvPr/>
        </p:nvSpPr>
        <p:spPr>
          <a:xfrm xmlns:a="http://schemas.openxmlformats.org/drawingml/2006/main">
            <a:off x="52197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20" name="process-title-6-3">
            <a:extLst xmlns:a="http://schemas.openxmlformats.org/drawingml/2006/main">
              <a:ext uri="{FF2B5EF4-FFF2-40B4-BE49-F238E27FC236}">
                <a16:creationId xmlns:a16="http://schemas.microsoft.com/office/drawing/2014/main" id="{F089E81B-C339-435E-B91F-9EFA3540F423}"/>
              </a:ext>
            </a:extLst>
          </p:cNvPr>
          <p:cNvSpPr>
            <a:spLocks xmlns:a="http://schemas.openxmlformats.org/drawingml/2006/main" noGrp="1"/>
          </p:cNvSpPr>
          <p:nvPr/>
        </p:nvSpPr>
        <p:spPr>
          <a:xfrm xmlns:a="http://schemas.openxmlformats.org/drawingml/2006/main">
            <a:off x="52197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Update</a:t>
            </a:r>
          </a:p>
        </p:txBody>
      </p:sp>
      <p:sp>
        <p:nvSpPr>
          <p:cNvPr id="21" name="process-detail-6-3">
            <a:extLst xmlns:a="http://schemas.openxmlformats.org/drawingml/2006/main">
              <a:ext uri="{FF2B5EF4-FFF2-40B4-BE49-F238E27FC236}">
                <a16:creationId xmlns:a16="http://schemas.microsoft.com/office/drawing/2014/main" id="{F291A267-D12E-4A40-AFB1-37DFBBD17EF6}"/>
              </a:ext>
            </a:extLst>
          </p:cNvPr>
          <p:cNvSpPr>
            <a:spLocks xmlns:a="http://schemas.openxmlformats.org/drawingml/2006/main" noGrp="1"/>
          </p:cNvSpPr>
          <p:nvPr/>
        </p:nvSpPr>
        <p:spPr>
          <a:xfrm xmlns:a="http://schemas.openxmlformats.org/drawingml/2006/main">
            <a:off x="52197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Tighten the current bound.</a:t>
            </a:r>
          </a:p>
        </p:txBody>
      </p:sp>
      <p:sp>
        <p:nvSpPr>
          <p:cNvPr id="22" name="process-node-6-4">
            <a:extLst xmlns:a="http://schemas.openxmlformats.org/drawingml/2006/main">
              <a:ext uri="{FF2B5EF4-FFF2-40B4-BE49-F238E27FC236}">
                <a16:creationId xmlns:a16="http://schemas.microsoft.com/office/drawing/2014/main" id="{23D2F7B4-2D88-423C-B2AA-CCEE22F821ED}"/>
              </a:ext>
            </a:extLst>
          </p:cNvPr>
          <p:cNvSpPr>
            <a:spLocks xmlns:a="http://schemas.openxmlformats.org/drawingml/2006/main" noGrp="1"/>
          </p:cNvSpPr>
          <p:nvPr/>
        </p:nvSpPr>
        <p:spPr>
          <a:xfrm xmlns:a="http://schemas.openxmlformats.org/drawingml/2006/main">
            <a:off x="7372350" y="2238375"/>
            <a:ext cx="2095500" cy="2381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3" name="process-number-6-4">
            <a:extLst xmlns:a="http://schemas.openxmlformats.org/drawingml/2006/main">
              <a:ext uri="{FF2B5EF4-FFF2-40B4-BE49-F238E27FC236}">
                <a16:creationId xmlns:a16="http://schemas.microsoft.com/office/drawing/2014/main" id="{155DDF29-1D72-452F-ABD4-EFF8612C09FD}"/>
              </a:ext>
            </a:extLst>
          </p:cNvPr>
          <p:cNvSpPr>
            <a:spLocks xmlns:a="http://schemas.openxmlformats.org/drawingml/2006/main" noGrp="1"/>
          </p:cNvSpPr>
          <p:nvPr/>
        </p:nvSpPr>
        <p:spPr>
          <a:xfrm xmlns:a="http://schemas.openxmlformats.org/drawingml/2006/main">
            <a:off x="75438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04</a:t>
            </a:r>
          </a:p>
        </p:txBody>
      </p:sp>
      <p:sp>
        <p:nvSpPr>
          <p:cNvPr id="24" name="process-title-6-4">
            <a:extLst xmlns:a="http://schemas.openxmlformats.org/drawingml/2006/main">
              <a:ext uri="{FF2B5EF4-FFF2-40B4-BE49-F238E27FC236}">
                <a16:creationId xmlns:a16="http://schemas.microsoft.com/office/drawing/2014/main" id="{DB95F391-4A01-4450-A552-8BEDD3EA1E13}"/>
              </a:ext>
            </a:extLst>
          </p:cNvPr>
          <p:cNvSpPr>
            <a:spLocks xmlns:a="http://schemas.openxmlformats.org/drawingml/2006/main" noGrp="1"/>
          </p:cNvSpPr>
          <p:nvPr/>
        </p:nvSpPr>
        <p:spPr>
          <a:xfrm xmlns:a="http://schemas.openxmlformats.org/drawingml/2006/main">
            <a:off x="75438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Compare</a:t>
            </a:r>
          </a:p>
        </p:txBody>
      </p:sp>
      <p:sp>
        <p:nvSpPr>
          <p:cNvPr id="25" name="process-detail-6-4">
            <a:extLst xmlns:a="http://schemas.openxmlformats.org/drawingml/2006/main">
              <a:ext uri="{FF2B5EF4-FFF2-40B4-BE49-F238E27FC236}">
                <a16:creationId xmlns:a16="http://schemas.microsoft.com/office/drawing/2014/main" id="{68B1CC9A-5057-4FB2-88E3-1E35A7E6F080}"/>
              </a:ext>
            </a:extLst>
          </p:cNvPr>
          <p:cNvSpPr>
            <a:spLocks xmlns:a="http://schemas.openxmlformats.org/drawingml/2006/main" noGrp="1"/>
          </p:cNvSpPr>
          <p:nvPr/>
        </p:nvSpPr>
        <p:spPr>
          <a:xfrm xmlns:a="http://schemas.openxmlformats.org/drawingml/2006/main">
            <a:off x="75438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Test alpha against beta.</a:t>
            </a:r>
          </a:p>
        </p:txBody>
      </p:sp>
      <p:sp>
        <p:nvSpPr>
          <p:cNvPr id="26" name="process-node-6-5">
            <a:extLst xmlns:a="http://schemas.openxmlformats.org/drawingml/2006/main">
              <a:ext uri="{FF2B5EF4-FFF2-40B4-BE49-F238E27FC236}">
                <a16:creationId xmlns:a16="http://schemas.microsoft.com/office/drawing/2014/main" id="{03DBC652-0782-4B2B-A038-FCB86B5918AF}"/>
              </a:ext>
            </a:extLst>
          </p:cNvPr>
          <p:cNvSpPr>
            <a:spLocks xmlns:a="http://schemas.openxmlformats.org/drawingml/2006/main" noGrp="1"/>
          </p:cNvSpPr>
          <p:nvPr/>
        </p:nvSpPr>
        <p:spPr>
          <a:xfrm xmlns:a="http://schemas.openxmlformats.org/drawingml/2006/main">
            <a:off x="9696450" y="2238375"/>
            <a:ext cx="20955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7" name="process-number-6-5">
            <a:extLst xmlns:a="http://schemas.openxmlformats.org/drawingml/2006/main">
              <a:ext uri="{FF2B5EF4-FFF2-40B4-BE49-F238E27FC236}">
                <a16:creationId xmlns:a16="http://schemas.microsoft.com/office/drawing/2014/main" id="{A27EBC1B-5C26-4186-98E5-603A1B409DEC}"/>
              </a:ext>
            </a:extLst>
          </p:cNvPr>
          <p:cNvSpPr>
            <a:spLocks xmlns:a="http://schemas.openxmlformats.org/drawingml/2006/main" noGrp="1"/>
          </p:cNvSpPr>
          <p:nvPr/>
        </p:nvSpPr>
        <p:spPr>
          <a:xfrm xmlns:a="http://schemas.openxmlformats.org/drawingml/2006/main">
            <a:off x="9867900" y="24098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05</a:t>
            </a:r>
          </a:p>
        </p:txBody>
      </p:sp>
      <p:sp>
        <p:nvSpPr>
          <p:cNvPr id="28" name="process-title-6-5">
            <a:extLst xmlns:a="http://schemas.openxmlformats.org/drawingml/2006/main">
              <a:ext uri="{FF2B5EF4-FFF2-40B4-BE49-F238E27FC236}">
                <a16:creationId xmlns:a16="http://schemas.microsoft.com/office/drawing/2014/main" id="{49E1A751-ECE2-4C7A-AD6B-D41FBBC3A478}"/>
              </a:ext>
            </a:extLst>
          </p:cNvPr>
          <p:cNvSpPr>
            <a:spLocks xmlns:a="http://schemas.openxmlformats.org/drawingml/2006/main" noGrp="1"/>
          </p:cNvSpPr>
          <p:nvPr/>
        </p:nvSpPr>
        <p:spPr>
          <a:xfrm xmlns:a="http://schemas.openxmlformats.org/drawingml/2006/main">
            <a:off x="9867900" y="2886075"/>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Prune</a:t>
            </a:r>
          </a:p>
        </p:txBody>
      </p:sp>
      <p:sp>
        <p:nvSpPr>
          <p:cNvPr id="29" name="process-detail-6-5">
            <a:extLst xmlns:a="http://schemas.openxmlformats.org/drawingml/2006/main">
              <a:ext uri="{FF2B5EF4-FFF2-40B4-BE49-F238E27FC236}">
                <a16:creationId xmlns:a16="http://schemas.microsoft.com/office/drawing/2014/main" id="{A13F2B16-4578-4FF6-8349-176F3A0F5EA1}"/>
              </a:ext>
            </a:extLst>
          </p:cNvPr>
          <p:cNvSpPr>
            <a:spLocks xmlns:a="http://schemas.openxmlformats.org/drawingml/2006/main" noGrp="1"/>
          </p:cNvSpPr>
          <p:nvPr/>
        </p:nvSpPr>
        <p:spPr>
          <a:xfrm xmlns:a="http://schemas.openxmlformats.org/drawingml/2006/main">
            <a:off x="9867900" y="3590925"/>
            <a:ext cx="1752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Skip dominated siblings.</a:t>
            </a:r>
          </a:p>
        </p:txBody>
      </p:sp>
      <p:sp>
        <p:nvSpPr>
          <p:cNvPr id="30" name="process-takeaway-6">
            <a:extLst xmlns:a="http://schemas.openxmlformats.org/drawingml/2006/main">
              <a:ext uri="{FF2B5EF4-FFF2-40B4-BE49-F238E27FC236}">
                <a16:creationId xmlns:a16="http://schemas.microsoft.com/office/drawing/2014/main" id="{C4A90731-E2F5-4265-842B-CC3ECB277326}"/>
              </a:ext>
            </a:extLst>
          </p:cNvPr>
          <p:cNvSpPr>
            <a:spLocks xmlns:a="http://schemas.openxmlformats.org/drawingml/2006/main" noGrp="1"/>
          </p:cNvSpPr>
          <p:nvPr/>
        </p:nvSpPr>
        <p:spPr>
          <a:xfrm xmlns:a="http://schemas.openxmlformats.org/drawingml/2006/main">
            <a:off x="400050" y="5095875"/>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The comparison is valid because an ancestor already owns a dominating alternative.</a:t>
            </a:r>
          </a:p>
        </p:txBody>
      </p:sp>
    </p:spTree>
    <p:extLst>
      <p:ext uri="{BB962C8B-B14F-4D97-AF65-F5344CB8AC3E}">
        <p14:creationId xmlns:p14="http://schemas.microsoft.com/office/powerpoint/2010/main" val="16432578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title-7">
            <a:extLst xmlns:a="http://schemas.openxmlformats.org/drawingml/2006/main">
              <a:ext uri="{FF2B5EF4-FFF2-40B4-BE49-F238E27FC236}">
                <a16:creationId xmlns:a16="http://schemas.microsoft.com/office/drawing/2014/main" id="{1F84955B-1995-4872-8897-3102BE5FAD0C}"/>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Alpha-beta threads bounds through recursion</a:t>
            </a:r>
          </a:p>
        </p:txBody>
      </p:sp>
      <p:sp>
        <p:nvSpPr>
          <p:cNvPr id="2" name="title-accent-7">
            <a:extLst xmlns:a="http://schemas.openxmlformats.org/drawingml/2006/main">
              <a:ext uri="{FF2B5EF4-FFF2-40B4-BE49-F238E27FC236}">
                <a16:creationId xmlns:a16="http://schemas.microsoft.com/office/drawing/2014/main" id="{87CEF06F-73F3-4D0B-925D-A3800C04E7CB}"/>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9" name="title-rule-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7">
            <a:extLst xmlns:a="http://schemas.openxmlformats.org/drawingml/2006/main">
              <a:ext uri="{FF2B5EF4-FFF2-40B4-BE49-F238E27FC236}">
                <a16:creationId xmlns:a16="http://schemas.microsoft.com/office/drawing/2014/main" id="{2B7AAD24-A85E-4153-A1AC-97DC538AF15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7">
            <a:extLst xmlns:a="http://schemas.openxmlformats.org/drawingml/2006/main">
              <a:ext uri="{FF2B5EF4-FFF2-40B4-BE49-F238E27FC236}">
                <a16:creationId xmlns:a16="http://schemas.microsoft.com/office/drawing/2014/main" id="{C0E4EF54-6321-4A08-8636-33C23D20C7F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7</a:t>
            </a:r>
          </a:p>
        </p:txBody>
      </p:sp>
      <p:sp>
        <p:nvSpPr>
          <p:cNvPr id="6" name="code-panel-7">
            <a:extLst xmlns:a="http://schemas.openxmlformats.org/drawingml/2006/main">
              <a:ext uri="{FF2B5EF4-FFF2-40B4-BE49-F238E27FC236}">
                <a16:creationId xmlns:a16="http://schemas.microsoft.com/office/drawing/2014/main" id="{75137F20-B7AA-412E-AE18-24A67B5E39DF}"/>
              </a:ext>
            </a:extLst>
          </p:cNvPr>
          <p:cNvSpPr>
            <a:spLocks xmlns:a="http://schemas.openxmlformats.org/drawingml/2006/main" noGrp="1"/>
          </p:cNvSpPr>
          <p:nvPr/>
        </p:nvSpPr>
        <p:spPr>
          <a:xfrm xmlns:a="http://schemas.openxmlformats.org/drawingml/2006/main">
            <a:off x="400050" y="1600200"/>
            <a:ext cx="7410450" cy="4095750"/>
          </a:xfrm>
          <a:prstGeom xmlns:a="http://schemas.openxmlformats.org/drawingml/2006/main" prst="rect">
            <a:avLst/>
          </a:prstGeom>
          <a:solidFill xmlns:a="http://schemas.openxmlformats.org/drawingml/2006/main">
            <a:srgbClr val="F5F6F7"/>
          </a:solidFill>
          <a:ln xmlns:a="http://schemas.openxmlformats.org/drawingml/2006/main" w="9525">
            <a:solidFill>
              <a:srgbClr val="B8BCC4"/>
            </a:solidFill>
            <a:prstDash val="solid"/>
          </a:ln>
        </p:spPr>
      </p:sp>
      <p:sp>
        <p:nvSpPr>
          <p:cNvPr id="7" name="code-7">
            <a:extLst xmlns:a="http://schemas.openxmlformats.org/drawingml/2006/main">
              <a:ext uri="{FF2B5EF4-FFF2-40B4-BE49-F238E27FC236}">
                <a16:creationId xmlns:a16="http://schemas.microsoft.com/office/drawing/2014/main" id="{38503E59-3D0D-47B8-A417-745355C71D3F}"/>
              </a:ext>
            </a:extLst>
          </p:cNvPr>
          <p:cNvSpPr>
            <a:spLocks xmlns:a="http://schemas.openxmlformats.org/drawingml/2006/main" noGrp="1"/>
          </p:cNvSpPr>
          <p:nvPr/>
        </p:nvSpPr>
        <p:spPr>
          <a:xfrm xmlns:a="http://schemas.openxmlformats.org/drawingml/2006/main">
            <a:off x="647700" y="1838325"/>
            <a:ext cx="691515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function MAX_VALUE(s, alpha, beta):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cutoff(s): return evaluate(s)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v = -infinity</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for a in ordered_actions(s):</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v = max(v, MIN_VALUE(result(s,a), alpha, beta))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if v &gt;= beta:</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return v</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alpha = max(alpha, v)</a:t>
            </a:r>
          </a:p>
          <a:p xmlns:a="http://schemas.openxmlformats.org/drawingml/2006/main">
            <a:pPr algn="l">
              <a:defRPr sz="1350" b="0">
                <a:solidFill>
                  <a:srgbClr val="111111"/>
                </a:solidFill>
                <a:latin typeface="Consolas"/>
                <a:ea typeface="Consolas"/>
                <a:cs typeface="Consolas"/>
              </a:defRPr>
            </a:pPr>
            <a:r>
              <a:rPr sz="1350" b="0">
                <a:solidFill>
                  <a:srgbClr val="111111"/>
                </a:solidFill>
                <a:latin typeface="Consolas"/>
                <a:ea typeface="Consolas"/>
                <a:cs typeface="Consolas"/>
              </a:rPr>
              <a:t>    return v</a:t>
            </a:r>
          </a:p>
        </p:txBody>
      </p:sp>
      <p:sp>
        <p:nvSpPr>
          <p:cNvPr id="8" name="code-rail-title-7">
            <a:extLst xmlns:a="http://schemas.openxmlformats.org/drawingml/2006/main">
              <a:ext uri="{FF2B5EF4-FFF2-40B4-BE49-F238E27FC236}">
                <a16:creationId xmlns:a16="http://schemas.microsoft.com/office/drawing/2014/main" id="{0A501FD8-62B6-42D6-9560-712ADA5654DE}"/>
              </a:ext>
            </a:extLst>
          </p:cNvPr>
          <p:cNvSpPr>
            <a:spLocks xmlns:a="http://schemas.openxmlformats.org/drawingml/2006/main" noGrp="1"/>
          </p:cNvSpPr>
          <p:nvPr/>
        </p:nvSpPr>
        <p:spPr>
          <a:xfrm xmlns:a="http://schemas.openxmlformats.org/drawingml/2006/main">
            <a:off x="8191500" y="1685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MIN is symmetric</a:t>
            </a:r>
          </a:p>
        </p:txBody>
      </p:sp>
      <p:sp>
        <p:nvSpPr>
          <p:cNvPr id="9" name="code-rail-7-marker-1">
            <a:extLst xmlns:a="http://schemas.openxmlformats.org/drawingml/2006/main">
              <a:ext uri="{FF2B5EF4-FFF2-40B4-BE49-F238E27FC236}">
                <a16:creationId xmlns:a16="http://schemas.microsoft.com/office/drawing/2014/main" id="{8231DF9B-3F54-4145-8738-0E0477C7E8F9}"/>
              </a:ext>
            </a:extLst>
          </p:cNvPr>
          <p:cNvSpPr>
            <a:spLocks xmlns:a="http://schemas.openxmlformats.org/drawingml/2006/main" noGrp="1"/>
          </p:cNvSpPr>
          <p:nvPr/>
        </p:nvSpPr>
        <p:spPr>
          <a:xfrm xmlns:a="http://schemas.openxmlformats.org/drawingml/2006/main">
            <a:off x="8191500" y="24669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code-rail-7-text-1">
            <a:extLst xmlns:a="http://schemas.openxmlformats.org/drawingml/2006/main">
              <a:ext uri="{FF2B5EF4-FFF2-40B4-BE49-F238E27FC236}">
                <a16:creationId xmlns:a16="http://schemas.microsoft.com/office/drawing/2014/main" id="{23CD615F-0B22-4D68-B397-AE07E454A2A3}"/>
              </a:ext>
            </a:extLst>
          </p:cNvPr>
          <p:cNvSpPr>
            <a:spLocks xmlns:a="http://schemas.openxmlformats.org/drawingml/2006/main" noGrp="1"/>
          </p:cNvSpPr>
          <p:nvPr/>
        </p:nvSpPr>
        <p:spPr>
          <a:xfrm xmlns:a="http://schemas.openxmlformats.org/drawingml/2006/main">
            <a:off x="8420100" y="23812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Start v=+infinity.</a:t>
            </a:r>
          </a:p>
        </p:txBody>
      </p:sp>
      <p:sp>
        <p:nvSpPr>
          <p:cNvPr id="11" name="code-rail-7-marker-2">
            <a:extLst xmlns:a="http://schemas.openxmlformats.org/drawingml/2006/main">
              <a:ext uri="{FF2B5EF4-FFF2-40B4-BE49-F238E27FC236}">
                <a16:creationId xmlns:a16="http://schemas.microsoft.com/office/drawing/2014/main" id="{8370AE6A-1DF9-4C52-B128-30D31F96D25B}"/>
              </a:ext>
            </a:extLst>
          </p:cNvPr>
          <p:cNvSpPr>
            <a:spLocks xmlns:a="http://schemas.openxmlformats.org/drawingml/2006/main" noGrp="1"/>
          </p:cNvSpPr>
          <p:nvPr/>
        </p:nvSpPr>
        <p:spPr>
          <a:xfrm xmlns:a="http://schemas.openxmlformats.org/drawingml/2006/main">
            <a:off x="8191500" y="32099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code-rail-7-text-2">
            <a:extLst xmlns:a="http://schemas.openxmlformats.org/drawingml/2006/main">
              <a:ext uri="{FF2B5EF4-FFF2-40B4-BE49-F238E27FC236}">
                <a16:creationId xmlns:a16="http://schemas.microsoft.com/office/drawing/2014/main" id="{CDA05214-0799-4C4E-A14A-3169FC7A1192}"/>
              </a:ext>
            </a:extLst>
          </p:cNvPr>
          <p:cNvSpPr>
            <a:spLocks xmlns:a="http://schemas.openxmlformats.org/drawingml/2006/main" noGrp="1"/>
          </p:cNvSpPr>
          <p:nvPr/>
        </p:nvSpPr>
        <p:spPr>
          <a:xfrm xmlns:a="http://schemas.openxmlformats.org/drawingml/2006/main">
            <a:off x="8420100" y="31242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Cut when v&lt;=alpha.</a:t>
            </a:r>
          </a:p>
        </p:txBody>
      </p:sp>
      <p:sp>
        <p:nvSpPr>
          <p:cNvPr id="13" name="code-rail-7-marker-3">
            <a:extLst xmlns:a="http://schemas.openxmlformats.org/drawingml/2006/main">
              <a:ext uri="{FF2B5EF4-FFF2-40B4-BE49-F238E27FC236}">
                <a16:creationId xmlns:a16="http://schemas.microsoft.com/office/drawing/2014/main" id="{04FB4330-A82E-414C-83E8-0676E0C1216C}"/>
              </a:ext>
            </a:extLst>
          </p:cNvPr>
          <p:cNvSpPr>
            <a:spLocks xmlns:a="http://schemas.openxmlformats.org/drawingml/2006/main" noGrp="1"/>
          </p:cNvSpPr>
          <p:nvPr/>
        </p:nvSpPr>
        <p:spPr>
          <a:xfrm xmlns:a="http://schemas.openxmlformats.org/drawingml/2006/main">
            <a:off x="8191500" y="39528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code-rail-7-text-3">
            <a:extLst xmlns:a="http://schemas.openxmlformats.org/drawingml/2006/main">
              <a:ext uri="{FF2B5EF4-FFF2-40B4-BE49-F238E27FC236}">
                <a16:creationId xmlns:a16="http://schemas.microsoft.com/office/drawing/2014/main" id="{43A0DAB2-CB39-4D53-B394-D4C1F75B056C}"/>
              </a:ext>
            </a:extLst>
          </p:cNvPr>
          <p:cNvSpPr>
            <a:spLocks xmlns:a="http://schemas.openxmlformats.org/drawingml/2006/main" noGrp="1"/>
          </p:cNvSpPr>
          <p:nvPr/>
        </p:nvSpPr>
        <p:spPr>
          <a:xfrm xmlns:a="http://schemas.openxmlformats.org/drawingml/2006/main">
            <a:off x="8420100" y="386715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Update beta=min(beta,v).</a:t>
            </a:r>
          </a:p>
        </p:txBody>
      </p:sp>
      <p:sp>
        <p:nvSpPr>
          <p:cNvPr id="15" name="code-rail-7-marker-4">
            <a:extLst xmlns:a="http://schemas.openxmlformats.org/drawingml/2006/main">
              <a:ext uri="{FF2B5EF4-FFF2-40B4-BE49-F238E27FC236}">
                <a16:creationId xmlns:a16="http://schemas.microsoft.com/office/drawing/2014/main" id="{860DC874-EE46-4F5F-9DA5-75F980A9296D}"/>
              </a:ext>
            </a:extLst>
          </p:cNvPr>
          <p:cNvSpPr>
            <a:spLocks xmlns:a="http://schemas.openxmlformats.org/drawingml/2006/main" noGrp="1"/>
          </p:cNvSpPr>
          <p:nvPr/>
        </p:nvSpPr>
        <p:spPr>
          <a:xfrm xmlns:a="http://schemas.openxmlformats.org/drawingml/2006/main">
            <a:off x="8191500" y="4695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code-rail-7-text-4">
            <a:extLst xmlns:a="http://schemas.openxmlformats.org/drawingml/2006/main">
              <a:ext uri="{FF2B5EF4-FFF2-40B4-BE49-F238E27FC236}">
                <a16:creationId xmlns:a16="http://schemas.microsoft.com/office/drawing/2014/main" id="{5FBE9852-F4F5-4421-BDCB-44B3951E8087}"/>
              </a:ext>
            </a:extLst>
          </p:cNvPr>
          <p:cNvSpPr>
            <a:spLocks xmlns:a="http://schemas.openxmlformats.org/drawingml/2006/main" noGrp="1"/>
          </p:cNvSpPr>
          <p:nvPr/>
        </p:nvSpPr>
        <p:spPr>
          <a:xfrm xmlns:a="http://schemas.openxmlformats.org/drawingml/2006/main">
            <a:off x="8420100" y="4610100"/>
            <a:ext cx="320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Keep one utility perspective.</a:t>
            </a:r>
          </a:p>
        </p:txBody>
      </p:sp>
    </p:spTree>
    <p:extLst>
      <p:ext uri="{BB962C8B-B14F-4D97-AF65-F5344CB8AC3E}">
        <p14:creationId xmlns:p14="http://schemas.microsoft.com/office/powerpoint/2010/main" val="23619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8">
            <a:extLst xmlns:a="http://schemas.openxmlformats.org/drawingml/2006/main">
              <a:ext uri="{FF2B5EF4-FFF2-40B4-BE49-F238E27FC236}">
                <a16:creationId xmlns:a16="http://schemas.microsoft.com/office/drawing/2014/main" id="{42EC65BA-6A06-470D-8461-8017213D7A2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Worked alpha-beta cutoff</a:t>
            </a:r>
          </a:p>
        </p:txBody>
      </p:sp>
      <p:sp>
        <p:nvSpPr>
          <p:cNvPr id="2" name="title-accent-8">
            <a:extLst xmlns:a="http://schemas.openxmlformats.org/drawingml/2006/main">
              <a:ext uri="{FF2B5EF4-FFF2-40B4-BE49-F238E27FC236}">
                <a16:creationId xmlns:a16="http://schemas.microsoft.com/office/drawing/2014/main" id="{6A10758F-F611-46C6-A175-A4A476EE00DD}"/>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8">
            <a:extLst xmlns:a="http://schemas.openxmlformats.org/drawingml/2006/main">
              <a:ext uri="{FF2B5EF4-FFF2-40B4-BE49-F238E27FC236}">
                <a16:creationId xmlns:a16="http://schemas.microsoft.com/office/drawing/2014/main" id="{5AFE1430-A7D5-4B51-9934-058243A3DF6D}"/>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8">
            <a:extLst xmlns:a="http://schemas.openxmlformats.org/drawingml/2006/main">
              <a:ext uri="{FF2B5EF4-FFF2-40B4-BE49-F238E27FC236}">
                <a16:creationId xmlns:a16="http://schemas.microsoft.com/office/drawing/2014/main" id="{326D1F54-BA7B-4771-B06D-FBEF45F4694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8</a:t>
            </a:r>
          </a:p>
        </p:txBody>
      </p:sp>
      <p:sp>
        <p:nvSpPr>
          <p:cNvPr id="6" name="example-label-8">
            <a:extLst xmlns:a="http://schemas.openxmlformats.org/drawingml/2006/main">
              <a:ext uri="{FF2B5EF4-FFF2-40B4-BE49-F238E27FC236}">
                <a16:creationId xmlns:a16="http://schemas.microsoft.com/office/drawing/2014/main" id="{E05E9682-5DE7-4A69-89A0-3F047939480E}"/>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8">
            <a:extLst xmlns:a="http://schemas.openxmlformats.org/drawingml/2006/main">
              <a:ext uri="{FF2B5EF4-FFF2-40B4-BE49-F238E27FC236}">
                <a16:creationId xmlns:a16="http://schemas.microsoft.com/office/drawing/2014/main" id="{B3CC46FF-8309-49F7-9031-4C9B9233B4AC}"/>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MAX's first MIN child returns 5, so alpha becomes 5. A second MIN child first reveals value 3.</a:t>
            </a:r>
          </a:p>
        </p:txBody>
      </p:sp>
      <p:cxnSp>
        <p:nvCxnSpPr>
          <p:cNvPr id="26" name="example-divider-8"/>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8-marker-1">
            <a:extLst xmlns:a="http://schemas.openxmlformats.org/drawingml/2006/main">
              <a:ext uri="{FF2B5EF4-FFF2-40B4-BE49-F238E27FC236}">
                <a16:creationId xmlns:a16="http://schemas.microsoft.com/office/drawing/2014/main" id="{AFC1CDF4-847F-44AF-9F11-EEF3167BE5C4}"/>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8-text-1">
            <a:extLst xmlns:a="http://schemas.openxmlformats.org/drawingml/2006/main">
              <a:ext uri="{FF2B5EF4-FFF2-40B4-BE49-F238E27FC236}">
                <a16:creationId xmlns:a16="http://schemas.microsoft.com/office/drawing/2014/main" id="{773A17FA-E45A-4C81-B4D3-A44BDF61D9BE}"/>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second child is controlled by MIN.</a:t>
            </a:r>
          </a:p>
        </p:txBody>
      </p:sp>
      <p:sp>
        <p:nvSpPr>
          <p:cNvPr id="11" name="example-step-8-marker-2">
            <a:extLst xmlns:a="http://schemas.openxmlformats.org/drawingml/2006/main">
              <a:ext uri="{FF2B5EF4-FFF2-40B4-BE49-F238E27FC236}">
                <a16:creationId xmlns:a16="http://schemas.microsoft.com/office/drawing/2014/main" id="{D8CCCDB2-5E36-4DBF-B500-354A7105BDE5}"/>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8-text-2">
            <a:extLst xmlns:a="http://schemas.openxmlformats.org/drawingml/2006/main">
              <a:ext uri="{FF2B5EF4-FFF2-40B4-BE49-F238E27FC236}">
                <a16:creationId xmlns:a16="http://schemas.microsoft.com/office/drawing/2014/main" id="{D1A43225-E4B7-4316-905E-CCB3226B06B7}"/>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Its current value is at most 3.</a:t>
            </a:r>
          </a:p>
        </p:txBody>
      </p:sp>
      <p:sp>
        <p:nvSpPr>
          <p:cNvPr id="13" name="example-step-8-marker-3">
            <a:extLst xmlns:a="http://schemas.openxmlformats.org/drawingml/2006/main">
              <a:ext uri="{FF2B5EF4-FFF2-40B4-BE49-F238E27FC236}">
                <a16:creationId xmlns:a16="http://schemas.microsoft.com/office/drawing/2014/main" id="{94E28DF9-B7BE-403E-822E-AF01B819DF90}"/>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8-text-3">
            <a:extLst xmlns:a="http://schemas.openxmlformats.org/drawingml/2006/main">
              <a:ext uri="{FF2B5EF4-FFF2-40B4-BE49-F238E27FC236}">
                <a16:creationId xmlns:a16="http://schemas.microsoft.com/office/drawing/2014/main" id="{4ECB3BBC-BE5D-4578-9199-8924A579A5EA}"/>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MAX already has an alternative worth 5.</a:t>
            </a:r>
          </a:p>
        </p:txBody>
      </p:sp>
      <p:sp>
        <p:nvSpPr>
          <p:cNvPr id="15" name="example-step-8-marker-4">
            <a:extLst xmlns:a="http://schemas.openxmlformats.org/drawingml/2006/main">
              <a:ext uri="{FF2B5EF4-FFF2-40B4-BE49-F238E27FC236}">
                <a16:creationId xmlns:a16="http://schemas.microsoft.com/office/drawing/2014/main" id="{AFC7C6F3-01A9-468F-B596-74EFC967F6F6}"/>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8-text-4">
            <a:extLst xmlns:a="http://schemas.openxmlformats.org/drawingml/2006/main">
              <a:ext uri="{FF2B5EF4-FFF2-40B4-BE49-F238E27FC236}">
                <a16:creationId xmlns:a16="http://schemas.microsoft.com/office/drawing/2014/main" id="{B25DBE04-405F-49F5-99B0-015F3852737C}"/>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Remaining siblings under that MIN node cannot improve MAX's choice.</a:t>
            </a:r>
          </a:p>
        </p:txBody>
      </p:sp>
      <p:sp>
        <p:nvSpPr>
          <p:cNvPr id="17" name="example-result-panel-8">
            <a:extLst xmlns:a="http://schemas.openxmlformats.org/drawingml/2006/main">
              <a:ext uri="{FF2B5EF4-FFF2-40B4-BE49-F238E27FC236}">
                <a16:creationId xmlns:a16="http://schemas.microsoft.com/office/drawing/2014/main" id="{20B6238F-D693-4B64-AB84-CBC7828C2ADE}"/>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8">
            <a:extLst xmlns:a="http://schemas.openxmlformats.org/drawingml/2006/main">
              <a:ext uri="{FF2B5EF4-FFF2-40B4-BE49-F238E27FC236}">
                <a16:creationId xmlns:a16="http://schemas.microsoft.com/office/drawing/2014/main" id="{A5833ABB-C8E7-49ED-8AC2-B921F462A89A}"/>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Prune the remaining siblings; the root value remains 5.</a:t>
            </a:r>
          </a:p>
        </p:txBody>
      </p:sp>
    </p:spTree>
    <p:extLst>
      <p:ext uri="{BB962C8B-B14F-4D97-AF65-F5344CB8AC3E}">
        <p14:creationId xmlns:p14="http://schemas.microsoft.com/office/powerpoint/2010/main" val="4482352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9">
            <a:extLst xmlns:a="http://schemas.openxmlformats.org/drawingml/2006/main">
              <a:ext uri="{FF2B5EF4-FFF2-40B4-BE49-F238E27FC236}">
                <a16:creationId xmlns:a16="http://schemas.microsoft.com/office/drawing/2014/main" id="{9E21CDB6-F46C-4EE4-889C-A077891738FB}"/>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Move ordering controls pruning efficiency</a:t>
            </a:r>
          </a:p>
        </p:txBody>
      </p:sp>
      <p:sp>
        <p:nvSpPr>
          <p:cNvPr id="2" name="title-accent-9">
            <a:extLst xmlns:a="http://schemas.openxmlformats.org/drawingml/2006/main">
              <a:ext uri="{FF2B5EF4-FFF2-40B4-BE49-F238E27FC236}">
                <a16:creationId xmlns:a16="http://schemas.microsoft.com/office/drawing/2014/main" id="{24A459D1-B552-4EE8-A809-D8A88BAD5A0A}"/>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9"/>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9">
            <a:extLst xmlns:a="http://schemas.openxmlformats.org/drawingml/2006/main">
              <a:ext uri="{FF2B5EF4-FFF2-40B4-BE49-F238E27FC236}">
                <a16:creationId xmlns:a16="http://schemas.microsoft.com/office/drawing/2014/main" id="{575BD247-7C13-4D24-B245-CF8F57EF832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9">
            <a:extLst xmlns:a="http://schemas.openxmlformats.org/drawingml/2006/main">
              <a:ext uri="{FF2B5EF4-FFF2-40B4-BE49-F238E27FC236}">
                <a16:creationId xmlns:a16="http://schemas.microsoft.com/office/drawing/2014/main" id="{5F2FD2A2-0BBC-4A3A-BEA3-937B4FC5FDA2}"/>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9</a:t>
            </a:r>
          </a:p>
        </p:txBody>
      </p:sp>
      <p:sp>
        <p:nvSpPr>
          <p:cNvPr id="6" name="comparison-title-9-1">
            <a:extLst xmlns:a="http://schemas.openxmlformats.org/drawingml/2006/main">
              <a:ext uri="{FF2B5EF4-FFF2-40B4-BE49-F238E27FC236}">
                <a16:creationId xmlns:a16="http://schemas.microsoft.com/office/drawing/2014/main" id="{32CE7B89-EC3C-4B71-9BB1-0A02B3D49BCD}"/>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Best first</a:t>
            </a:r>
          </a:p>
        </p:txBody>
      </p:sp>
      <p:sp>
        <p:nvSpPr>
          <p:cNvPr id="7" name="comparison-tagline-9-1">
            <a:extLst xmlns:a="http://schemas.openxmlformats.org/drawingml/2006/main">
              <a:ext uri="{FF2B5EF4-FFF2-40B4-BE49-F238E27FC236}">
                <a16:creationId xmlns:a16="http://schemas.microsoft.com/office/drawing/2014/main" id="{81F67C3F-5ECD-4476-8C3C-88B4B946D6C1}"/>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Strong bounds early</a:t>
            </a:r>
          </a:p>
        </p:txBody>
      </p:sp>
      <p:sp>
        <p:nvSpPr>
          <p:cNvPr id="8" name="comparison-bullet-9-1-marker-1">
            <a:extLst xmlns:a="http://schemas.openxmlformats.org/drawingml/2006/main">
              <a:ext uri="{FF2B5EF4-FFF2-40B4-BE49-F238E27FC236}">
                <a16:creationId xmlns:a16="http://schemas.microsoft.com/office/drawing/2014/main" id="{60894FF7-97C4-4F7E-A734-BC00A4C22AB8}"/>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9" name="comparison-bullet-9-1-text-1">
            <a:extLst xmlns:a="http://schemas.openxmlformats.org/drawingml/2006/main">
              <a:ext uri="{FF2B5EF4-FFF2-40B4-BE49-F238E27FC236}">
                <a16:creationId xmlns:a16="http://schemas.microsoft.com/office/drawing/2014/main" id="{0E80F61D-792C-47D6-86F6-AACED23086F0}"/>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MAX sees high values early.</a:t>
            </a:r>
          </a:p>
        </p:txBody>
      </p:sp>
      <p:sp>
        <p:nvSpPr>
          <p:cNvPr id="10" name="comparison-bullet-9-1-marker-2">
            <a:extLst xmlns:a="http://schemas.openxmlformats.org/drawingml/2006/main">
              <a:ext uri="{FF2B5EF4-FFF2-40B4-BE49-F238E27FC236}">
                <a16:creationId xmlns:a16="http://schemas.microsoft.com/office/drawing/2014/main" id="{90F810D9-A104-46EC-8275-7F1F58A69572}"/>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11" name="comparison-bullet-9-1-text-2">
            <a:extLst xmlns:a="http://schemas.openxmlformats.org/drawingml/2006/main">
              <a:ext uri="{FF2B5EF4-FFF2-40B4-BE49-F238E27FC236}">
                <a16:creationId xmlns:a16="http://schemas.microsoft.com/office/drawing/2014/main" id="{07F24356-5B33-46D7-A16D-8F36A6D04915}"/>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MIN sees low values early.</a:t>
            </a:r>
          </a:p>
        </p:txBody>
      </p:sp>
      <p:sp>
        <p:nvSpPr>
          <p:cNvPr id="12" name="comparison-bullet-9-1-marker-3">
            <a:extLst xmlns:a="http://schemas.openxmlformats.org/drawingml/2006/main">
              <a:ext uri="{FF2B5EF4-FFF2-40B4-BE49-F238E27FC236}">
                <a16:creationId xmlns:a16="http://schemas.microsoft.com/office/drawing/2014/main" id="{4C758794-CA32-4F35-86E9-974BD93EBC8C}"/>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13" name="comparison-bullet-9-1-text-3">
            <a:extLst xmlns:a="http://schemas.openxmlformats.org/drawingml/2006/main">
              <a:ext uri="{FF2B5EF4-FFF2-40B4-BE49-F238E27FC236}">
                <a16:creationId xmlns:a16="http://schemas.microsoft.com/office/drawing/2014/main" id="{D91CDB7F-24D8-4C7D-BFEC-57AC1BC02617}"/>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Many cutoffs.</a:t>
            </a:r>
          </a:p>
        </p:txBody>
      </p:sp>
      <p:sp>
        <p:nvSpPr>
          <p:cNvPr id="14" name="comparison-bullet-9-1-marker-4">
            <a:extLst xmlns:a="http://schemas.openxmlformats.org/drawingml/2006/main">
              <a:ext uri="{FF2B5EF4-FFF2-40B4-BE49-F238E27FC236}">
                <a16:creationId xmlns:a16="http://schemas.microsoft.com/office/drawing/2014/main" id="{973BD26D-D0F3-45C1-897A-FA32386BC265}"/>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15" name="comparison-bullet-9-1-text-4">
            <a:extLst xmlns:a="http://schemas.openxmlformats.org/drawingml/2006/main">
              <a:ext uri="{FF2B5EF4-FFF2-40B4-BE49-F238E27FC236}">
                <a16:creationId xmlns:a16="http://schemas.microsoft.com/office/drawing/2014/main" id="{B4851548-96BE-4E83-AA23-FECA056DF80C}"/>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Depth roughly doubles for same work.</a:t>
            </a:r>
          </a:p>
        </p:txBody>
      </p:sp>
      <p:cxnSp>
        <p:nvCxnSpPr>
          <p:cNvPr id="53" name="comparison-divider-9-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9-2">
            <a:extLst xmlns:a="http://schemas.openxmlformats.org/drawingml/2006/main">
              <a:ext uri="{FF2B5EF4-FFF2-40B4-BE49-F238E27FC236}">
                <a16:creationId xmlns:a16="http://schemas.microsoft.com/office/drawing/2014/main" id="{E1165573-3FEF-4C23-8D34-3C416CC29E58}"/>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Random</a:t>
            </a:r>
          </a:p>
        </p:txBody>
      </p:sp>
      <p:sp>
        <p:nvSpPr>
          <p:cNvPr id="18" name="comparison-tagline-9-2">
            <a:extLst xmlns:a="http://schemas.openxmlformats.org/drawingml/2006/main">
              <a:ext uri="{FF2B5EF4-FFF2-40B4-BE49-F238E27FC236}">
                <a16:creationId xmlns:a16="http://schemas.microsoft.com/office/drawing/2014/main" id="{196B473C-AC6A-4694-97E3-440CCF56F70E}"/>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Moderate pruning</a:t>
            </a:r>
          </a:p>
        </p:txBody>
      </p:sp>
      <p:sp>
        <p:nvSpPr>
          <p:cNvPr id="19" name="comparison-bullet-9-2-marker-1">
            <a:extLst xmlns:a="http://schemas.openxmlformats.org/drawingml/2006/main">
              <a:ext uri="{FF2B5EF4-FFF2-40B4-BE49-F238E27FC236}">
                <a16:creationId xmlns:a16="http://schemas.microsoft.com/office/drawing/2014/main" id="{8158A7A7-0518-44F7-BBDE-B3C2AFF4F612}"/>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comparison-bullet-9-2-text-1">
            <a:extLst xmlns:a="http://schemas.openxmlformats.org/drawingml/2006/main">
              <a:ext uri="{FF2B5EF4-FFF2-40B4-BE49-F238E27FC236}">
                <a16:creationId xmlns:a16="http://schemas.microsoft.com/office/drawing/2014/main" id="{87929304-4141-47DA-A4B6-C2833B8E4C4F}"/>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Some useful early bounds.</a:t>
            </a:r>
          </a:p>
        </p:txBody>
      </p:sp>
      <p:sp>
        <p:nvSpPr>
          <p:cNvPr id="21" name="comparison-bullet-9-2-marker-2">
            <a:extLst xmlns:a="http://schemas.openxmlformats.org/drawingml/2006/main">
              <a:ext uri="{FF2B5EF4-FFF2-40B4-BE49-F238E27FC236}">
                <a16:creationId xmlns:a16="http://schemas.microsoft.com/office/drawing/2014/main" id="{361B70F3-680D-443F-B6F0-C0231405D5F7}"/>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comparison-bullet-9-2-text-2">
            <a:extLst xmlns:a="http://schemas.openxmlformats.org/drawingml/2006/main">
              <a:ext uri="{FF2B5EF4-FFF2-40B4-BE49-F238E27FC236}">
                <a16:creationId xmlns:a16="http://schemas.microsoft.com/office/drawing/2014/main" id="{60E48E1A-6B37-403B-962D-03DAECD3C711}"/>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Variable node counts.</a:t>
            </a:r>
          </a:p>
        </p:txBody>
      </p:sp>
      <p:sp>
        <p:nvSpPr>
          <p:cNvPr id="23" name="comparison-bullet-9-2-marker-3">
            <a:extLst xmlns:a="http://schemas.openxmlformats.org/drawingml/2006/main">
              <a:ext uri="{FF2B5EF4-FFF2-40B4-BE49-F238E27FC236}">
                <a16:creationId xmlns:a16="http://schemas.microsoft.com/office/drawing/2014/main" id="{E1FFAE33-BE54-4713-92B5-94DB51675768}"/>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comparison-bullet-9-2-text-3">
            <a:extLst xmlns:a="http://schemas.openxmlformats.org/drawingml/2006/main">
              <a:ext uri="{FF2B5EF4-FFF2-40B4-BE49-F238E27FC236}">
                <a16:creationId xmlns:a16="http://schemas.microsoft.com/office/drawing/2014/main" id="{6C9EFA08-813E-4630-B165-182CB5943E09}"/>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Value remains exact.</a:t>
            </a:r>
          </a:p>
        </p:txBody>
      </p:sp>
      <p:sp>
        <p:nvSpPr>
          <p:cNvPr id="25" name="comparison-bullet-9-2-marker-4">
            <a:extLst xmlns:a="http://schemas.openxmlformats.org/drawingml/2006/main">
              <a:ext uri="{FF2B5EF4-FFF2-40B4-BE49-F238E27FC236}">
                <a16:creationId xmlns:a16="http://schemas.microsoft.com/office/drawing/2014/main" id="{9B0C680E-C9A1-4ECC-876B-92DF2FD7D5C2}"/>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6" name="comparison-bullet-9-2-text-4">
            <a:extLst xmlns:a="http://schemas.openxmlformats.org/drawingml/2006/main">
              <a:ext uri="{FF2B5EF4-FFF2-40B4-BE49-F238E27FC236}">
                <a16:creationId xmlns:a16="http://schemas.microsoft.com/office/drawing/2014/main" id="{474040F8-6540-4FAD-BB54-2ABE52B70049}"/>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Seed for reproducibility.</a:t>
            </a:r>
          </a:p>
        </p:txBody>
      </p:sp>
      <p:cxnSp>
        <p:nvCxnSpPr>
          <p:cNvPr id="64" name="comparison-divider-9-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9-3">
            <a:extLst xmlns:a="http://schemas.openxmlformats.org/drawingml/2006/main">
              <a:ext uri="{FF2B5EF4-FFF2-40B4-BE49-F238E27FC236}">
                <a16:creationId xmlns:a16="http://schemas.microsoft.com/office/drawing/2014/main" id="{8B805EA1-66B6-46C9-9521-38152CF1319F}"/>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B3261E"/>
                </a:solidFill>
                <a:latin typeface="Arial"/>
                <a:ea typeface="Arial"/>
                <a:cs typeface="Arial"/>
              </a:defRPr>
            </a:pPr>
            <a:r>
              <a:rPr sz="2025" b="1">
                <a:solidFill>
                  <a:srgbClr val="B3261E"/>
                </a:solidFill>
                <a:latin typeface="Arial"/>
                <a:ea typeface="Arial"/>
                <a:cs typeface="Arial"/>
              </a:rPr>
              <a:t>Worst first</a:t>
            </a:r>
          </a:p>
        </p:txBody>
      </p:sp>
      <p:sp>
        <p:nvSpPr>
          <p:cNvPr id="29" name="comparison-tagline-9-3">
            <a:extLst xmlns:a="http://schemas.openxmlformats.org/drawingml/2006/main">
              <a:ext uri="{FF2B5EF4-FFF2-40B4-BE49-F238E27FC236}">
                <a16:creationId xmlns:a16="http://schemas.microsoft.com/office/drawing/2014/main" id="{3F191274-8543-4EC1-A6AA-17E79AF06A89}"/>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Weak bounds</a:t>
            </a:r>
          </a:p>
        </p:txBody>
      </p:sp>
      <p:sp>
        <p:nvSpPr>
          <p:cNvPr id="30" name="comparison-bullet-9-3-marker-1">
            <a:extLst xmlns:a="http://schemas.openxmlformats.org/drawingml/2006/main">
              <a:ext uri="{FF2B5EF4-FFF2-40B4-BE49-F238E27FC236}">
                <a16:creationId xmlns:a16="http://schemas.microsoft.com/office/drawing/2014/main" id="{1CFB9174-3971-44AF-8633-607FDCB0E1C8}"/>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31" name="comparison-bullet-9-3-text-1">
            <a:extLst xmlns:a="http://schemas.openxmlformats.org/drawingml/2006/main">
              <a:ext uri="{FF2B5EF4-FFF2-40B4-BE49-F238E27FC236}">
                <a16:creationId xmlns:a16="http://schemas.microsoft.com/office/drawing/2014/main" id="{0A18F178-6FB4-416F-982E-93E676E59609}"/>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Cutoffs arrive late.</a:t>
            </a:r>
          </a:p>
        </p:txBody>
      </p:sp>
      <p:sp>
        <p:nvSpPr>
          <p:cNvPr id="32" name="comparison-bullet-9-3-marker-2">
            <a:extLst xmlns:a="http://schemas.openxmlformats.org/drawingml/2006/main">
              <a:ext uri="{FF2B5EF4-FFF2-40B4-BE49-F238E27FC236}">
                <a16:creationId xmlns:a16="http://schemas.microsoft.com/office/drawing/2014/main" id="{2380236C-8429-4C75-82A4-AF8CAA63A3E5}"/>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33" name="comparison-bullet-9-3-text-2">
            <a:extLst xmlns:a="http://schemas.openxmlformats.org/drawingml/2006/main">
              <a:ext uri="{FF2B5EF4-FFF2-40B4-BE49-F238E27FC236}">
                <a16:creationId xmlns:a16="http://schemas.microsoft.com/office/drawing/2014/main" id="{FE5B8613-C6CE-4B10-A495-392D47C6B838}"/>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Approaches plain minimax.</a:t>
            </a:r>
          </a:p>
        </p:txBody>
      </p:sp>
      <p:sp>
        <p:nvSpPr>
          <p:cNvPr id="34" name="comparison-bullet-9-3-marker-3">
            <a:extLst xmlns:a="http://schemas.openxmlformats.org/drawingml/2006/main">
              <a:ext uri="{FF2B5EF4-FFF2-40B4-BE49-F238E27FC236}">
                <a16:creationId xmlns:a16="http://schemas.microsoft.com/office/drawing/2014/main" id="{9584C4D0-8B32-4A34-A0DE-6F7E2F06B2FB}"/>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35" name="comparison-bullet-9-3-text-3">
            <a:extLst xmlns:a="http://schemas.openxmlformats.org/drawingml/2006/main">
              <a:ext uri="{FF2B5EF4-FFF2-40B4-BE49-F238E27FC236}">
                <a16:creationId xmlns:a16="http://schemas.microsoft.com/office/drawing/2014/main" id="{9AB96D18-E821-4CC8-A478-D7EE8D7B0405}"/>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Value remains exact.</a:t>
            </a:r>
          </a:p>
        </p:txBody>
      </p:sp>
      <p:sp>
        <p:nvSpPr>
          <p:cNvPr id="36" name="comparison-bullet-9-3-marker-4">
            <a:extLst xmlns:a="http://schemas.openxmlformats.org/drawingml/2006/main">
              <a:ext uri="{FF2B5EF4-FFF2-40B4-BE49-F238E27FC236}">
                <a16:creationId xmlns:a16="http://schemas.microsoft.com/office/drawing/2014/main" id="{D11A7C00-7203-4525-B9E7-70623D6A7545}"/>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B3261E"/>
          </a:solidFill>
          <a:ln xmlns:a="http://schemas.openxmlformats.org/drawingml/2006/main" w="0">
            <a:noFill/>
            <a:prstDash val="solid"/>
          </a:ln>
        </p:spPr>
      </p:sp>
      <p:sp>
        <p:nvSpPr>
          <p:cNvPr id="37" name="comparison-bullet-9-3-text-4">
            <a:extLst xmlns:a="http://schemas.openxmlformats.org/drawingml/2006/main">
              <a:ext uri="{FF2B5EF4-FFF2-40B4-BE49-F238E27FC236}">
                <a16:creationId xmlns:a16="http://schemas.microsoft.com/office/drawing/2014/main" id="{767A4ADC-7A2D-48F0-BDF5-AD2EE4AF0E67}"/>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Ordering heuristic matters.</a:t>
            </a:r>
          </a:p>
        </p:txBody>
      </p:sp>
    </p:spTree>
    <p:extLst>
      <p:ext uri="{BB962C8B-B14F-4D97-AF65-F5344CB8AC3E}">
        <p14:creationId xmlns:p14="http://schemas.microsoft.com/office/powerpoint/2010/main" val="1338639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0">
            <a:extLst xmlns:a="http://schemas.openxmlformats.org/drawingml/2006/main">
              <a:ext uri="{FF2B5EF4-FFF2-40B4-BE49-F238E27FC236}">
                <a16:creationId xmlns:a16="http://schemas.microsoft.com/office/drawing/2014/main" id="{A0AAED33-0ED5-4E17-BCDA-D9CD4451744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identify the cutoff</a:t>
            </a:r>
          </a:p>
        </p:txBody>
      </p:sp>
      <p:sp>
        <p:nvSpPr>
          <p:cNvPr id="2" name="title-accent-10">
            <a:extLst xmlns:a="http://schemas.openxmlformats.org/drawingml/2006/main">
              <a:ext uri="{FF2B5EF4-FFF2-40B4-BE49-F238E27FC236}">
                <a16:creationId xmlns:a16="http://schemas.microsoft.com/office/drawing/2014/main" id="{947F7747-B86C-4ED8-AC12-892E6435FF59}"/>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0"/>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0">
            <a:extLst xmlns:a="http://schemas.openxmlformats.org/drawingml/2006/main">
              <a:ext uri="{FF2B5EF4-FFF2-40B4-BE49-F238E27FC236}">
                <a16:creationId xmlns:a16="http://schemas.microsoft.com/office/drawing/2014/main" id="{683B094D-62C0-4E19-B5E8-4112867EE04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10">
            <a:extLst xmlns:a="http://schemas.openxmlformats.org/drawingml/2006/main">
              <a:ext uri="{FF2B5EF4-FFF2-40B4-BE49-F238E27FC236}">
                <a16:creationId xmlns:a16="http://schemas.microsoft.com/office/drawing/2014/main" id="{32101289-8283-4EB0-BBA3-515F2723FAE5}"/>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10</a:t>
            </a:r>
          </a:p>
        </p:txBody>
      </p:sp>
      <p:sp>
        <p:nvSpPr>
          <p:cNvPr id="6" name="checkpoint-label-10">
            <a:extLst xmlns:a="http://schemas.openxmlformats.org/drawingml/2006/main">
              <a:ext uri="{FF2B5EF4-FFF2-40B4-BE49-F238E27FC236}">
                <a16:creationId xmlns:a16="http://schemas.microsoft.com/office/drawing/2014/main" id="{B0AB6369-7950-4A10-A4E9-198306D3D7F6}"/>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0">
            <a:extLst xmlns:a="http://schemas.openxmlformats.org/drawingml/2006/main">
              <a:ext uri="{FF2B5EF4-FFF2-40B4-BE49-F238E27FC236}">
                <a16:creationId xmlns:a16="http://schemas.microsoft.com/office/drawing/2014/main" id="{5647585E-68E2-4283-A883-908220B741A2}"/>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At a MIN node with alpha=4, the first child returns 2. Can the remaining children be pruned?</a:t>
            </a:r>
          </a:p>
        </p:txBody>
      </p:sp>
      <p:cxnSp>
        <p:nvCxnSpPr>
          <p:cNvPr id="22" name="checkpoint-rule-10"/>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0-1">
            <a:extLst xmlns:a="http://schemas.openxmlformats.org/drawingml/2006/main">
              <a:ext uri="{FF2B5EF4-FFF2-40B4-BE49-F238E27FC236}">
                <a16:creationId xmlns:a16="http://schemas.microsoft.com/office/drawing/2014/main" id="{9716387F-F0A9-4D73-9831-5DB3E439BEB7}"/>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0-1">
            <a:extLst xmlns:a="http://schemas.openxmlformats.org/drawingml/2006/main">
              <a:ext uri="{FF2B5EF4-FFF2-40B4-BE49-F238E27FC236}">
                <a16:creationId xmlns:a16="http://schemas.microsoft.com/office/drawing/2014/main" id="{79B9EF5C-F060-4DF3-BF07-C1EA90C6C812}"/>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Update the MIN node's current value.</a:t>
            </a:r>
          </a:p>
        </p:txBody>
      </p:sp>
      <p:sp>
        <p:nvSpPr>
          <p:cNvPr id="11" name="checkpoint-prompt-number-10-2">
            <a:extLst xmlns:a="http://schemas.openxmlformats.org/drawingml/2006/main">
              <a:ext uri="{FF2B5EF4-FFF2-40B4-BE49-F238E27FC236}">
                <a16:creationId xmlns:a16="http://schemas.microsoft.com/office/drawing/2014/main" id="{B12C6CDA-4B23-4B1B-978F-D7A1719E58A6}"/>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0-2">
            <a:extLst xmlns:a="http://schemas.openxmlformats.org/drawingml/2006/main">
              <a:ext uri="{FF2B5EF4-FFF2-40B4-BE49-F238E27FC236}">
                <a16:creationId xmlns:a16="http://schemas.microsoft.com/office/drawing/2014/main" id="{3515B9E4-4DC0-4EEF-B279-BD72DCE259C5}"/>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Compare v with alpha.</a:t>
            </a:r>
          </a:p>
        </p:txBody>
      </p:sp>
      <p:sp>
        <p:nvSpPr>
          <p:cNvPr id="13" name="checkpoint-prompt-number-10-3">
            <a:extLst xmlns:a="http://schemas.openxmlformats.org/drawingml/2006/main">
              <a:ext uri="{FF2B5EF4-FFF2-40B4-BE49-F238E27FC236}">
                <a16:creationId xmlns:a16="http://schemas.microsoft.com/office/drawing/2014/main" id="{D0B70747-9797-40FE-9045-78E330F609B4}"/>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0-3">
            <a:extLst xmlns:a="http://schemas.openxmlformats.org/drawingml/2006/main">
              <a:ext uri="{FF2B5EF4-FFF2-40B4-BE49-F238E27FC236}">
                <a16:creationId xmlns:a16="http://schemas.microsoft.com/office/drawing/2014/main" id="{7135104F-0A1F-443D-99BA-08ADE8686BE6}"/>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Explain the ancestor's existing alternative.</a:t>
            </a:r>
          </a:p>
        </p:txBody>
      </p:sp>
    </p:spTree>
    <p:extLst>
      <p:ext uri="{BB962C8B-B14F-4D97-AF65-F5344CB8AC3E}">
        <p14:creationId xmlns:p14="http://schemas.microsoft.com/office/powerpoint/2010/main" val="10215824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title-11">
            <a:extLst xmlns:a="http://schemas.openxmlformats.org/drawingml/2006/main">
              <a:ext uri="{FF2B5EF4-FFF2-40B4-BE49-F238E27FC236}">
                <a16:creationId xmlns:a16="http://schemas.microsoft.com/office/drawing/2014/main" id="{FAEB272B-FD3C-46A2-9E9A-AF39CBCB5766}"/>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Expectimax models chance rather than hostility</a:t>
            </a:r>
          </a:p>
        </p:txBody>
      </p:sp>
      <p:sp>
        <p:nvSpPr>
          <p:cNvPr id="2" name="title-accent-11">
            <a:extLst xmlns:a="http://schemas.openxmlformats.org/drawingml/2006/main">
              <a:ext uri="{FF2B5EF4-FFF2-40B4-BE49-F238E27FC236}">
                <a16:creationId xmlns:a16="http://schemas.microsoft.com/office/drawing/2014/main" id="{BA22395A-D4C8-49ED-B7C4-3A670853A3E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7" name="title-rule-11"/>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1">
            <a:extLst xmlns:a="http://schemas.openxmlformats.org/drawingml/2006/main">
              <a:ext uri="{FF2B5EF4-FFF2-40B4-BE49-F238E27FC236}">
                <a16:creationId xmlns:a16="http://schemas.microsoft.com/office/drawing/2014/main" id="{9701C3B8-0A95-437D-BD21-91FCC2698228}"/>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11">
            <a:extLst xmlns:a="http://schemas.openxmlformats.org/drawingml/2006/main">
              <a:ext uri="{FF2B5EF4-FFF2-40B4-BE49-F238E27FC236}">
                <a16:creationId xmlns:a16="http://schemas.microsoft.com/office/drawing/2014/main" id="{B6B29AE5-238E-4387-B21E-7194ADBDF093}"/>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11</a:t>
            </a:r>
          </a:p>
        </p:txBody>
      </p:sp>
      <p:cxnSp>
        <p:nvCxnSpPr>
          <p:cNvPr id="30" name="column-divider-11"/>
          <p:cNvCxnSpPr/>
          <p:nvPr/>
        </p:nvCxnSpPr>
        <p:spPr>
          <a:xfrm xmlns:a="http://schemas.openxmlformats.org/drawingml/2006/main">
            <a:off x="6096000" y="1638300"/>
            <a:ext cx="0" cy="4095750"/>
          </a:xfrm>
          <a:prstGeom xmlns:a="http://schemas.openxmlformats.org/drawingml/2006/main" prst="straightConnector1">
            <a:avLst/>
          </a:prstGeom>
          <a:ln xmlns:a="http://schemas.openxmlformats.org/drawingml/2006/main" w="9525">
            <a:solidFill>
              <a:srgbClr val="B8BCC4"/>
            </a:solidFill>
            <a:prstDash val="solid"/>
          </a:ln>
        </p:spPr>
      </p:cxnSp>
      <p:sp>
        <p:nvSpPr>
          <p:cNvPr id="7" name="left-title-11">
            <a:extLst xmlns:a="http://schemas.openxmlformats.org/drawingml/2006/main">
              <a:ext uri="{FF2B5EF4-FFF2-40B4-BE49-F238E27FC236}">
                <a16:creationId xmlns:a16="http://schemas.microsoft.com/office/drawing/2014/main" id="{3E307E79-E86A-4666-8B9E-783A5DBFC7B6}"/>
              </a:ext>
            </a:extLst>
          </p:cNvPr>
          <p:cNvSpPr>
            <a:spLocks xmlns:a="http://schemas.openxmlformats.org/drawingml/2006/main" noGrp="1"/>
          </p:cNvSpPr>
          <p:nvPr/>
        </p:nvSpPr>
        <p:spPr>
          <a:xfrm xmlns:a="http://schemas.openxmlformats.org/drawingml/2006/main">
            <a:off x="400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MIN node</a:t>
            </a:r>
          </a:p>
        </p:txBody>
      </p:sp>
      <p:sp>
        <p:nvSpPr>
          <p:cNvPr id="8" name="right-title-11">
            <a:extLst xmlns:a="http://schemas.openxmlformats.org/drawingml/2006/main">
              <a:ext uri="{FF2B5EF4-FFF2-40B4-BE49-F238E27FC236}">
                <a16:creationId xmlns:a16="http://schemas.microsoft.com/office/drawing/2014/main" id="{1564E241-7D3E-4348-9A43-F6CFCECF144C}"/>
              </a:ext>
            </a:extLst>
          </p:cNvPr>
          <p:cNvSpPr>
            <a:spLocks xmlns:a="http://schemas.openxmlformats.org/drawingml/2006/main" noGrp="1"/>
          </p:cNvSpPr>
          <p:nvPr/>
        </p:nvSpPr>
        <p:spPr>
          <a:xfrm xmlns:a="http://schemas.openxmlformats.org/drawingml/2006/main">
            <a:off x="6496050" y="1571625"/>
            <a:ext cx="523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Chance node</a:t>
            </a:r>
          </a:p>
        </p:txBody>
      </p:sp>
      <p:sp>
        <p:nvSpPr>
          <p:cNvPr id="9" name="left-bullet-11-marker-1">
            <a:extLst xmlns:a="http://schemas.openxmlformats.org/drawingml/2006/main">
              <a:ext uri="{FF2B5EF4-FFF2-40B4-BE49-F238E27FC236}">
                <a16:creationId xmlns:a16="http://schemas.microsoft.com/office/drawing/2014/main" id="{5426F113-74D5-4225-8EE7-24934E2ED00B}"/>
              </a:ext>
            </a:extLst>
          </p:cNvPr>
          <p:cNvSpPr>
            <a:spLocks xmlns:a="http://schemas.openxmlformats.org/drawingml/2006/main" noGrp="1"/>
          </p:cNvSpPr>
          <p:nvPr/>
        </p:nvSpPr>
        <p:spPr>
          <a:xfrm xmlns:a="http://schemas.openxmlformats.org/drawingml/2006/main">
            <a:off x="400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left-bullet-11-text-1">
            <a:extLst xmlns:a="http://schemas.openxmlformats.org/drawingml/2006/main">
              <a:ext uri="{FF2B5EF4-FFF2-40B4-BE49-F238E27FC236}">
                <a16:creationId xmlns:a16="http://schemas.microsoft.com/office/drawing/2014/main" id="{6940841D-AAF6-4DBA-AD05-75673930746C}"/>
              </a:ext>
            </a:extLst>
          </p:cNvPr>
          <p:cNvSpPr>
            <a:spLocks xmlns:a="http://schemas.openxmlformats.org/drawingml/2006/main" noGrp="1"/>
          </p:cNvSpPr>
          <p:nvPr/>
        </p:nvSpPr>
        <p:spPr>
          <a:xfrm xmlns:a="http://schemas.openxmlformats.org/drawingml/2006/main">
            <a:off x="628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Another agent chooses an action.</a:t>
            </a:r>
          </a:p>
        </p:txBody>
      </p:sp>
      <p:sp>
        <p:nvSpPr>
          <p:cNvPr id="11" name="left-bullet-11-marker-2">
            <a:extLst xmlns:a="http://schemas.openxmlformats.org/drawingml/2006/main">
              <a:ext uri="{FF2B5EF4-FFF2-40B4-BE49-F238E27FC236}">
                <a16:creationId xmlns:a16="http://schemas.microsoft.com/office/drawing/2014/main" id="{8FA1E5D3-7069-4C11-B29D-07387D90AAF1}"/>
              </a:ext>
            </a:extLst>
          </p:cNvPr>
          <p:cNvSpPr>
            <a:spLocks xmlns:a="http://schemas.openxmlformats.org/drawingml/2006/main" noGrp="1"/>
          </p:cNvSpPr>
          <p:nvPr/>
        </p:nvSpPr>
        <p:spPr>
          <a:xfrm xmlns:a="http://schemas.openxmlformats.org/drawingml/2006/main">
            <a:off x="400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eft-bullet-11-text-2">
            <a:extLst xmlns:a="http://schemas.openxmlformats.org/drawingml/2006/main">
              <a:ext uri="{FF2B5EF4-FFF2-40B4-BE49-F238E27FC236}">
                <a16:creationId xmlns:a16="http://schemas.microsoft.com/office/drawing/2014/main" id="{4DE2E967-8574-423B-B7DD-1B0A97519BBF}"/>
              </a:ext>
            </a:extLst>
          </p:cNvPr>
          <p:cNvSpPr>
            <a:spLocks xmlns:a="http://schemas.openxmlformats.org/drawingml/2006/main" noGrp="1"/>
          </p:cNvSpPr>
          <p:nvPr/>
        </p:nvSpPr>
        <p:spPr>
          <a:xfrm xmlns:a="http://schemas.openxmlformats.org/drawingml/2006/main">
            <a:off x="628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Backup is minimum utility.</a:t>
            </a:r>
          </a:p>
        </p:txBody>
      </p:sp>
      <p:sp>
        <p:nvSpPr>
          <p:cNvPr id="13" name="left-bullet-11-marker-3">
            <a:extLst xmlns:a="http://schemas.openxmlformats.org/drawingml/2006/main">
              <a:ext uri="{FF2B5EF4-FFF2-40B4-BE49-F238E27FC236}">
                <a16:creationId xmlns:a16="http://schemas.microsoft.com/office/drawing/2014/main" id="{A7A759E0-AA8F-4E72-A3C2-6D244121F00A}"/>
              </a:ext>
            </a:extLst>
          </p:cNvPr>
          <p:cNvSpPr>
            <a:spLocks xmlns:a="http://schemas.openxmlformats.org/drawingml/2006/main" noGrp="1"/>
          </p:cNvSpPr>
          <p:nvPr/>
        </p:nvSpPr>
        <p:spPr>
          <a:xfrm xmlns:a="http://schemas.openxmlformats.org/drawingml/2006/main">
            <a:off x="400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left-bullet-11-text-3">
            <a:extLst xmlns:a="http://schemas.openxmlformats.org/drawingml/2006/main">
              <a:ext uri="{FF2B5EF4-FFF2-40B4-BE49-F238E27FC236}">
                <a16:creationId xmlns:a16="http://schemas.microsoft.com/office/drawing/2014/main" id="{280615FC-98BD-45AF-9237-935DA777CE50}"/>
              </a:ext>
            </a:extLst>
          </p:cNvPr>
          <p:cNvSpPr>
            <a:spLocks xmlns:a="http://schemas.openxmlformats.org/drawingml/2006/main" noGrp="1"/>
          </p:cNvSpPr>
          <p:nvPr/>
        </p:nvSpPr>
        <p:spPr>
          <a:xfrm xmlns:a="http://schemas.openxmlformats.org/drawingml/2006/main">
            <a:off x="628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Represents worst rational reply.</a:t>
            </a:r>
          </a:p>
        </p:txBody>
      </p:sp>
      <p:sp>
        <p:nvSpPr>
          <p:cNvPr id="15" name="left-bullet-11-marker-4">
            <a:extLst xmlns:a="http://schemas.openxmlformats.org/drawingml/2006/main">
              <a:ext uri="{FF2B5EF4-FFF2-40B4-BE49-F238E27FC236}">
                <a16:creationId xmlns:a16="http://schemas.microsoft.com/office/drawing/2014/main" id="{03EDEAA7-A4FB-4645-A98F-016E6BF19378}"/>
              </a:ext>
            </a:extLst>
          </p:cNvPr>
          <p:cNvSpPr>
            <a:spLocks xmlns:a="http://schemas.openxmlformats.org/drawingml/2006/main" noGrp="1"/>
          </p:cNvSpPr>
          <p:nvPr/>
        </p:nvSpPr>
        <p:spPr>
          <a:xfrm xmlns:a="http://schemas.openxmlformats.org/drawingml/2006/main">
            <a:off x="400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eft-bullet-11-text-4">
            <a:extLst xmlns:a="http://schemas.openxmlformats.org/drawingml/2006/main">
              <a:ext uri="{FF2B5EF4-FFF2-40B4-BE49-F238E27FC236}">
                <a16:creationId xmlns:a16="http://schemas.microsoft.com/office/drawing/2014/main" id="{1F953EAA-5CEF-4105-9E2F-BAE1F081751A}"/>
              </a:ext>
            </a:extLst>
          </p:cNvPr>
          <p:cNvSpPr>
            <a:spLocks xmlns:a="http://schemas.openxmlformats.org/drawingml/2006/main" noGrp="1"/>
          </p:cNvSpPr>
          <p:nvPr/>
        </p:nvSpPr>
        <p:spPr>
          <a:xfrm xmlns:a="http://schemas.openxmlformats.org/drawingml/2006/main">
            <a:off x="628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Needs adversarial assumption.</a:t>
            </a:r>
          </a:p>
        </p:txBody>
      </p:sp>
      <p:sp>
        <p:nvSpPr>
          <p:cNvPr id="17" name="right-bullet-11-marker-1">
            <a:extLst xmlns:a="http://schemas.openxmlformats.org/drawingml/2006/main">
              <a:ext uri="{FF2B5EF4-FFF2-40B4-BE49-F238E27FC236}">
                <a16:creationId xmlns:a16="http://schemas.microsoft.com/office/drawing/2014/main" id="{AB773A2C-D831-419C-9D9D-D2D850A6A5EC}"/>
              </a:ext>
            </a:extLst>
          </p:cNvPr>
          <p:cNvSpPr>
            <a:spLocks xmlns:a="http://schemas.openxmlformats.org/drawingml/2006/main" noGrp="1"/>
          </p:cNvSpPr>
          <p:nvPr/>
        </p:nvSpPr>
        <p:spPr>
          <a:xfrm xmlns:a="http://schemas.openxmlformats.org/drawingml/2006/main">
            <a:off x="6496050" y="23717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right-bullet-11-text-1">
            <a:extLst xmlns:a="http://schemas.openxmlformats.org/drawingml/2006/main">
              <a:ext uri="{FF2B5EF4-FFF2-40B4-BE49-F238E27FC236}">
                <a16:creationId xmlns:a16="http://schemas.microsoft.com/office/drawing/2014/main" id="{1385821B-D4B8-400B-B528-D6338598E799}"/>
              </a:ext>
            </a:extLst>
          </p:cNvPr>
          <p:cNvSpPr>
            <a:spLocks xmlns:a="http://schemas.openxmlformats.org/drawingml/2006/main" noGrp="1"/>
          </p:cNvSpPr>
          <p:nvPr/>
        </p:nvSpPr>
        <p:spPr>
          <a:xfrm xmlns:a="http://schemas.openxmlformats.org/drawingml/2006/main">
            <a:off x="6724650" y="22860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Outcome is sampled from a distribution.</a:t>
            </a:r>
          </a:p>
        </p:txBody>
      </p:sp>
      <p:sp>
        <p:nvSpPr>
          <p:cNvPr id="19" name="right-bullet-11-marker-2">
            <a:extLst xmlns:a="http://schemas.openxmlformats.org/drawingml/2006/main">
              <a:ext uri="{FF2B5EF4-FFF2-40B4-BE49-F238E27FC236}">
                <a16:creationId xmlns:a16="http://schemas.microsoft.com/office/drawing/2014/main" id="{FE009895-3F44-4573-B981-ACF62B0508F0}"/>
              </a:ext>
            </a:extLst>
          </p:cNvPr>
          <p:cNvSpPr>
            <a:spLocks xmlns:a="http://schemas.openxmlformats.org/drawingml/2006/main" noGrp="1"/>
          </p:cNvSpPr>
          <p:nvPr/>
        </p:nvSpPr>
        <p:spPr>
          <a:xfrm xmlns:a="http://schemas.openxmlformats.org/drawingml/2006/main">
            <a:off x="6496050" y="30765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right-bullet-11-text-2">
            <a:extLst xmlns:a="http://schemas.openxmlformats.org/drawingml/2006/main">
              <a:ext uri="{FF2B5EF4-FFF2-40B4-BE49-F238E27FC236}">
                <a16:creationId xmlns:a16="http://schemas.microsoft.com/office/drawing/2014/main" id="{C8EA395C-057B-41C2-A013-2541E1C53705}"/>
              </a:ext>
            </a:extLst>
          </p:cNvPr>
          <p:cNvSpPr>
            <a:spLocks xmlns:a="http://schemas.openxmlformats.org/drawingml/2006/main" noGrp="1"/>
          </p:cNvSpPr>
          <p:nvPr/>
        </p:nvSpPr>
        <p:spPr>
          <a:xfrm xmlns:a="http://schemas.openxmlformats.org/drawingml/2006/main">
            <a:off x="6724650" y="29908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Backup is probability-weighted mean.</a:t>
            </a:r>
          </a:p>
        </p:txBody>
      </p:sp>
      <p:sp>
        <p:nvSpPr>
          <p:cNvPr id="21" name="right-bullet-11-marker-3">
            <a:extLst xmlns:a="http://schemas.openxmlformats.org/drawingml/2006/main">
              <a:ext uri="{FF2B5EF4-FFF2-40B4-BE49-F238E27FC236}">
                <a16:creationId xmlns:a16="http://schemas.microsoft.com/office/drawing/2014/main" id="{1710BC25-1E4D-466A-9591-66126FBAA980}"/>
              </a:ext>
            </a:extLst>
          </p:cNvPr>
          <p:cNvSpPr>
            <a:spLocks xmlns:a="http://schemas.openxmlformats.org/drawingml/2006/main" noGrp="1"/>
          </p:cNvSpPr>
          <p:nvPr/>
        </p:nvSpPr>
        <p:spPr>
          <a:xfrm xmlns:a="http://schemas.openxmlformats.org/drawingml/2006/main">
            <a:off x="6496050" y="37814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right-bullet-11-text-3">
            <a:extLst xmlns:a="http://schemas.openxmlformats.org/drawingml/2006/main">
              <a:ext uri="{FF2B5EF4-FFF2-40B4-BE49-F238E27FC236}">
                <a16:creationId xmlns:a16="http://schemas.microsoft.com/office/drawing/2014/main" id="{4A39FB8F-A5DD-4D11-A885-114789AD2F1C}"/>
              </a:ext>
            </a:extLst>
          </p:cNvPr>
          <p:cNvSpPr>
            <a:spLocks xmlns:a="http://schemas.openxmlformats.org/drawingml/2006/main" noGrp="1"/>
          </p:cNvSpPr>
          <p:nvPr/>
        </p:nvSpPr>
        <p:spPr>
          <a:xfrm xmlns:a="http://schemas.openxmlformats.org/drawingml/2006/main">
            <a:off x="6724650" y="369570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Represents stochastic dynamics.</a:t>
            </a:r>
          </a:p>
        </p:txBody>
      </p:sp>
      <p:sp>
        <p:nvSpPr>
          <p:cNvPr id="23" name="right-bullet-11-marker-4">
            <a:extLst xmlns:a="http://schemas.openxmlformats.org/drawingml/2006/main">
              <a:ext uri="{FF2B5EF4-FFF2-40B4-BE49-F238E27FC236}">
                <a16:creationId xmlns:a16="http://schemas.microsoft.com/office/drawing/2014/main" id="{EF811B93-ED68-46F0-9C3B-2B395F0134BC}"/>
              </a:ext>
            </a:extLst>
          </p:cNvPr>
          <p:cNvSpPr>
            <a:spLocks xmlns:a="http://schemas.openxmlformats.org/drawingml/2006/main" noGrp="1"/>
          </p:cNvSpPr>
          <p:nvPr/>
        </p:nvSpPr>
        <p:spPr>
          <a:xfrm xmlns:a="http://schemas.openxmlformats.org/drawingml/2006/main">
            <a:off x="6496050" y="44862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right-bullet-11-text-4">
            <a:extLst xmlns:a="http://schemas.openxmlformats.org/drawingml/2006/main">
              <a:ext uri="{FF2B5EF4-FFF2-40B4-BE49-F238E27FC236}">
                <a16:creationId xmlns:a16="http://schemas.microsoft.com/office/drawing/2014/main" id="{1911B9C5-70DA-4D5B-929A-F3EAB8670CD6}"/>
              </a:ext>
            </a:extLst>
          </p:cNvPr>
          <p:cNvSpPr>
            <a:spLocks xmlns:a="http://schemas.openxmlformats.org/drawingml/2006/main" noGrp="1"/>
          </p:cNvSpPr>
          <p:nvPr/>
        </p:nvSpPr>
        <p:spPr>
          <a:xfrm xmlns:a="http://schemas.openxmlformats.org/drawingml/2006/main">
            <a:off x="6724650" y="4400550"/>
            <a:ext cx="50101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Needs calibrated probabilities.</a:t>
            </a:r>
          </a:p>
        </p:txBody>
      </p:sp>
    </p:spTree>
    <p:extLst>
      <p:ext uri="{BB962C8B-B14F-4D97-AF65-F5344CB8AC3E}">
        <p14:creationId xmlns:p14="http://schemas.microsoft.com/office/powerpoint/2010/main" val="157649812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2">
            <a:extLst xmlns:a="http://schemas.openxmlformats.org/drawingml/2006/main">
              <a:ext uri="{FF2B5EF4-FFF2-40B4-BE49-F238E27FC236}">
                <a16:creationId xmlns:a16="http://schemas.microsoft.com/office/drawing/2014/main" id="{C09950FE-7F87-43AD-A6E6-E0D857123ADF}"/>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Chance nodes back up expected value</a:t>
            </a:r>
          </a:p>
        </p:txBody>
      </p:sp>
      <p:sp>
        <p:nvSpPr>
          <p:cNvPr id="2" name="title-accent-12">
            <a:extLst xmlns:a="http://schemas.openxmlformats.org/drawingml/2006/main">
              <a:ext uri="{FF2B5EF4-FFF2-40B4-BE49-F238E27FC236}">
                <a16:creationId xmlns:a16="http://schemas.microsoft.com/office/drawing/2014/main" id="{E5A2285E-7B98-4002-9679-ED89EC1FDA32}"/>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2"/>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2">
            <a:extLst xmlns:a="http://schemas.openxmlformats.org/drawingml/2006/main">
              <a:ext uri="{FF2B5EF4-FFF2-40B4-BE49-F238E27FC236}">
                <a16:creationId xmlns:a16="http://schemas.microsoft.com/office/drawing/2014/main" id="{18479359-0CDA-42BE-830E-E272312F2A15}"/>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12">
            <a:extLst xmlns:a="http://schemas.openxmlformats.org/drawingml/2006/main">
              <a:ext uri="{FF2B5EF4-FFF2-40B4-BE49-F238E27FC236}">
                <a16:creationId xmlns:a16="http://schemas.microsoft.com/office/drawing/2014/main" id="{E2A4C037-8AEA-426B-8878-990C0BCF4BA7}"/>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12</a:t>
            </a:r>
          </a:p>
        </p:txBody>
      </p:sp>
      <p:sp>
        <p:nvSpPr>
          <p:cNvPr id="6" name="formula-panel-12">
            <a:extLst xmlns:a="http://schemas.openxmlformats.org/drawingml/2006/main">
              <a:ext uri="{FF2B5EF4-FFF2-40B4-BE49-F238E27FC236}">
                <a16:creationId xmlns:a16="http://schemas.microsoft.com/office/drawing/2014/main" id="{83B4B0A2-E913-459E-AA2F-0872E0B48A1D}"/>
              </a:ext>
            </a:extLst>
          </p:cNvPr>
          <p:cNvSpPr>
            <a:spLocks xmlns:a="http://schemas.openxmlformats.org/drawingml/2006/main" noGrp="1"/>
          </p:cNvSpPr>
          <p:nvPr/>
        </p:nvSpPr>
        <p:spPr>
          <a:xfrm xmlns:a="http://schemas.openxmlformats.org/drawingml/2006/main">
            <a:off x="400050" y="1657350"/>
            <a:ext cx="113919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ormula-12">
            <a:extLst xmlns:a="http://schemas.openxmlformats.org/drawingml/2006/main">
              <a:ext uri="{FF2B5EF4-FFF2-40B4-BE49-F238E27FC236}">
                <a16:creationId xmlns:a16="http://schemas.microsoft.com/office/drawing/2014/main" id="{650DB34D-C816-4CC8-A266-45F411D29ED9}"/>
              </a:ext>
            </a:extLst>
          </p:cNvPr>
          <p:cNvSpPr>
            <a:spLocks xmlns:a="http://schemas.openxmlformats.org/drawingml/2006/main" noGrp="1"/>
          </p:cNvSpPr>
          <p:nvPr/>
        </p:nvSpPr>
        <p:spPr>
          <a:xfrm xmlns:a="http://schemas.openxmlformats.org/drawingml/2006/main">
            <a:off x="781050" y="1952625"/>
            <a:ext cx="10629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3300" b="1">
                <a:solidFill>
                  <a:srgbClr val="111111"/>
                </a:solidFill>
                <a:latin typeface="Cambria Math"/>
                <a:ea typeface="Cambria Math"/>
                <a:cs typeface="Cambria Math"/>
              </a:defRPr>
            </a:pPr>
            <a:r>
              <a:rPr sz="3300" b="1">
                <a:solidFill>
                  <a:srgbClr val="111111"/>
                </a:solidFill>
                <a:latin typeface="Cambria Math"/>
                <a:ea typeface="Cambria Math"/>
                <a:cs typeface="Cambria Math"/>
              </a:rPr>
              <a:t>V(s) = sum_o P(o | s) V(RESULT(s,o))</a:t>
            </a:r>
          </a:p>
        </p:txBody>
      </p:sp>
      <p:sp>
        <p:nvSpPr>
          <p:cNvPr id="8" name="formula-definition-12-marker-1">
            <a:extLst xmlns:a="http://schemas.openxmlformats.org/drawingml/2006/main">
              <a:ext uri="{FF2B5EF4-FFF2-40B4-BE49-F238E27FC236}">
                <a16:creationId xmlns:a16="http://schemas.microsoft.com/office/drawing/2014/main" id="{D5C6F5CB-B63A-4BD8-B368-80E595C34CB0}"/>
              </a:ext>
            </a:extLst>
          </p:cNvPr>
          <p:cNvSpPr>
            <a:spLocks xmlns:a="http://schemas.openxmlformats.org/drawingml/2006/main" noGrp="1"/>
          </p:cNvSpPr>
          <p:nvPr/>
        </p:nvSpPr>
        <p:spPr>
          <a:xfrm xmlns:a="http://schemas.openxmlformats.org/drawingml/2006/main">
            <a:off x="400050" y="38195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formula-definition-12-text-1">
            <a:extLst xmlns:a="http://schemas.openxmlformats.org/drawingml/2006/main">
              <a:ext uri="{FF2B5EF4-FFF2-40B4-BE49-F238E27FC236}">
                <a16:creationId xmlns:a16="http://schemas.microsoft.com/office/drawing/2014/main" id="{FCB382B4-3E3D-40FC-8C50-4906BE11E34E}"/>
              </a:ext>
            </a:extLst>
          </p:cNvPr>
          <p:cNvSpPr>
            <a:spLocks xmlns:a="http://schemas.openxmlformats.org/drawingml/2006/main" noGrp="1"/>
          </p:cNvSpPr>
          <p:nvPr/>
        </p:nvSpPr>
        <p:spPr>
          <a:xfrm xmlns:a="http://schemas.openxmlformats.org/drawingml/2006/main">
            <a:off x="628650" y="37338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Outcomes o are mutually exclusive.</a:t>
            </a:r>
          </a:p>
        </p:txBody>
      </p:sp>
      <p:sp>
        <p:nvSpPr>
          <p:cNvPr id="10" name="formula-definition-12-marker-2">
            <a:extLst xmlns:a="http://schemas.openxmlformats.org/drawingml/2006/main">
              <a:ext uri="{FF2B5EF4-FFF2-40B4-BE49-F238E27FC236}">
                <a16:creationId xmlns:a16="http://schemas.microsoft.com/office/drawing/2014/main" id="{3ECA2072-AFC3-477B-9301-13034D235C85}"/>
              </a:ext>
            </a:extLst>
          </p:cNvPr>
          <p:cNvSpPr>
            <a:spLocks xmlns:a="http://schemas.openxmlformats.org/drawingml/2006/main" noGrp="1"/>
          </p:cNvSpPr>
          <p:nvPr/>
        </p:nvSpPr>
        <p:spPr>
          <a:xfrm xmlns:a="http://schemas.openxmlformats.org/drawingml/2006/main">
            <a:off x="400050" y="44481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formula-definition-12-text-2">
            <a:extLst xmlns:a="http://schemas.openxmlformats.org/drawingml/2006/main">
              <a:ext uri="{FF2B5EF4-FFF2-40B4-BE49-F238E27FC236}">
                <a16:creationId xmlns:a16="http://schemas.microsoft.com/office/drawing/2014/main" id="{B4EF53D8-2784-4C91-8729-449FA0842002}"/>
              </a:ext>
            </a:extLst>
          </p:cNvPr>
          <p:cNvSpPr>
            <a:spLocks xmlns:a="http://schemas.openxmlformats.org/drawingml/2006/main" noGrp="1"/>
          </p:cNvSpPr>
          <p:nvPr/>
        </p:nvSpPr>
        <p:spPr>
          <a:xfrm xmlns:a="http://schemas.openxmlformats.org/drawingml/2006/main">
            <a:off x="628650" y="43624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Probabilities are nonnegative.</a:t>
            </a:r>
          </a:p>
        </p:txBody>
      </p:sp>
      <p:sp>
        <p:nvSpPr>
          <p:cNvPr id="12" name="formula-definition-12-marker-3">
            <a:extLst xmlns:a="http://schemas.openxmlformats.org/drawingml/2006/main">
              <a:ext uri="{FF2B5EF4-FFF2-40B4-BE49-F238E27FC236}">
                <a16:creationId xmlns:a16="http://schemas.microsoft.com/office/drawing/2014/main" id="{2B6F9A6C-D889-4338-8A0B-7732FE5AF105}"/>
              </a:ext>
            </a:extLst>
          </p:cNvPr>
          <p:cNvSpPr>
            <a:spLocks xmlns:a="http://schemas.openxmlformats.org/drawingml/2006/main" noGrp="1"/>
          </p:cNvSpPr>
          <p:nvPr/>
        </p:nvSpPr>
        <p:spPr>
          <a:xfrm xmlns:a="http://schemas.openxmlformats.org/drawingml/2006/main">
            <a:off x="400050" y="507682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formula-definition-12-text-3">
            <a:extLst xmlns:a="http://schemas.openxmlformats.org/drawingml/2006/main">
              <a:ext uri="{FF2B5EF4-FFF2-40B4-BE49-F238E27FC236}">
                <a16:creationId xmlns:a16="http://schemas.microsoft.com/office/drawing/2014/main" id="{A9D4FAD1-87AD-455F-B8FC-5FB22DF3281F}"/>
              </a:ext>
            </a:extLst>
          </p:cNvPr>
          <p:cNvSpPr>
            <a:spLocks xmlns:a="http://schemas.openxmlformats.org/drawingml/2006/main" noGrp="1"/>
          </p:cNvSpPr>
          <p:nvPr/>
        </p:nvSpPr>
        <p:spPr>
          <a:xfrm xmlns:a="http://schemas.openxmlformats.org/drawingml/2006/main">
            <a:off x="628650" y="499110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Probabilities sum to 1.</a:t>
            </a:r>
          </a:p>
        </p:txBody>
      </p:sp>
      <p:sp>
        <p:nvSpPr>
          <p:cNvPr id="14" name="formula-definition-12-marker-4">
            <a:extLst xmlns:a="http://schemas.openxmlformats.org/drawingml/2006/main">
              <a:ext uri="{FF2B5EF4-FFF2-40B4-BE49-F238E27FC236}">
                <a16:creationId xmlns:a16="http://schemas.microsoft.com/office/drawing/2014/main" id="{F28AFB0B-62B0-4958-B0F4-D781B4ECC58A}"/>
              </a:ext>
            </a:extLst>
          </p:cNvPr>
          <p:cNvSpPr>
            <a:spLocks xmlns:a="http://schemas.openxmlformats.org/drawingml/2006/main" noGrp="1"/>
          </p:cNvSpPr>
          <p:nvPr/>
        </p:nvSpPr>
        <p:spPr>
          <a:xfrm xmlns:a="http://schemas.openxmlformats.org/drawingml/2006/main">
            <a:off x="400050" y="5705475"/>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formula-definition-12-text-4">
            <a:extLst xmlns:a="http://schemas.openxmlformats.org/drawingml/2006/main">
              <a:ext uri="{FF2B5EF4-FFF2-40B4-BE49-F238E27FC236}">
                <a16:creationId xmlns:a16="http://schemas.microsoft.com/office/drawing/2014/main" id="{BEDDAB0E-8120-4CE1-A8D3-CC6D2483B1EF}"/>
              </a:ext>
            </a:extLst>
          </p:cNvPr>
          <p:cNvSpPr>
            <a:spLocks xmlns:a="http://schemas.openxmlformats.org/drawingml/2006/main" noGrp="1"/>
          </p:cNvSpPr>
          <p:nvPr/>
        </p:nvSpPr>
        <p:spPr>
          <a:xfrm xmlns:a="http://schemas.openxmlformats.org/drawingml/2006/main">
            <a:off x="628650" y="5619750"/>
            <a:ext cx="72009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Child values use the same utility scale.</a:t>
            </a:r>
          </a:p>
        </p:txBody>
      </p:sp>
      <p:sp>
        <p:nvSpPr>
          <p:cNvPr id="16" name="formula-implication-panel-12">
            <a:extLst xmlns:a="http://schemas.openxmlformats.org/drawingml/2006/main">
              <a:ext uri="{FF2B5EF4-FFF2-40B4-BE49-F238E27FC236}">
                <a16:creationId xmlns:a16="http://schemas.microsoft.com/office/drawing/2014/main" id="{21423C8F-B09D-4441-91E0-FA32D8D60E68}"/>
              </a:ext>
            </a:extLst>
          </p:cNvPr>
          <p:cNvSpPr>
            <a:spLocks xmlns:a="http://schemas.openxmlformats.org/drawingml/2006/main" noGrp="1"/>
          </p:cNvSpPr>
          <p:nvPr/>
        </p:nvSpPr>
        <p:spPr>
          <a:xfrm xmlns:a="http://schemas.openxmlformats.org/drawingml/2006/main">
            <a:off x="8191500" y="3733800"/>
            <a:ext cx="3600450" cy="1885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7" name="formula-implication-label-12">
            <a:extLst xmlns:a="http://schemas.openxmlformats.org/drawingml/2006/main">
              <a:ext uri="{FF2B5EF4-FFF2-40B4-BE49-F238E27FC236}">
                <a16:creationId xmlns:a16="http://schemas.microsoft.com/office/drawing/2014/main" id="{A51B3276-DA70-4C28-BBD7-1F67F31F9767}"/>
              </a:ext>
            </a:extLst>
          </p:cNvPr>
          <p:cNvSpPr>
            <a:spLocks xmlns:a="http://schemas.openxmlformats.org/drawingml/2006/main" noGrp="1"/>
          </p:cNvSpPr>
          <p:nvPr/>
        </p:nvSpPr>
        <p:spPr>
          <a:xfrm xmlns:a="http://schemas.openxmlformats.org/drawingml/2006/main">
            <a:off x="8458200" y="3990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ENGINEERING IMPLICATION</a:t>
            </a:r>
          </a:p>
        </p:txBody>
      </p:sp>
      <p:sp>
        <p:nvSpPr>
          <p:cNvPr id="18" name="formula-implication-12">
            <a:extLst xmlns:a="http://schemas.openxmlformats.org/drawingml/2006/main">
              <a:ext uri="{FF2B5EF4-FFF2-40B4-BE49-F238E27FC236}">
                <a16:creationId xmlns:a16="http://schemas.microsoft.com/office/drawing/2014/main" id="{0C5BD552-6B3B-4C77-A851-96D5FD7BDB76}"/>
              </a:ext>
            </a:extLst>
          </p:cNvPr>
          <p:cNvSpPr>
            <a:spLocks xmlns:a="http://schemas.openxmlformats.org/drawingml/2006/main" noGrp="1"/>
          </p:cNvSpPr>
          <p:nvPr/>
        </p:nvSpPr>
        <p:spPr>
          <a:xfrm xmlns:a="http://schemas.openxmlformats.org/drawingml/2006/main">
            <a:off x="8458200" y="4438650"/>
            <a:ext cx="3048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Expectimax can prefer risk when a high payoff raises expected utility.</a:t>
            </a:r>
          </a:p>
        </p:txBody>
      </p:sp>
    </p:spTree>
    <p:extLst>
      <p:ext uri="{BB962C8B-B14F-4D97-AF65-F5344CB8AC3E}">
        <p14:creationId xmlns:p14="http://schemas.microsoft.com/office/powerpoint/2010/main" val="13692731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3">
            <a:extLst xmlns:a="http://schemas.openxmlformats.org/drawingml/2006/main">
              <a:ext uri="{FF2B5EF4-FFF2-40B4-BE49-F238E27FC236}">
                <a16:creationId xmlns:a16="http://schemas.microsoft.com/office/drawing/2014/main" id="{B30BC232-73BC-40AD-B488-E1D2E0885255}"/>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Minimax and expectimax can choose differently</a:t>
            </a:r>
          </a:p>
        </p:txBody>
      </p:sp>
      <p:sp>
        <p:nvSpPr>
          <p:cNvPr id="2" name="title-accent-13">
            <a:extLst xmlns:a="http://schemas.openxmlformats.org/drawingml/2006/main">
              <a:ext uri="{FF2B5EF4-FFF2-40B4-BE49-F238E27FC236}">
                <a16:creationId xmlns:a16="http://schemas.microsoft.com/office/drawing/2014/main" id="{B6939384-19AB-43FB-ADE5-AF345109679E}"/>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3"/>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3">
            <a:extLst xmlns:a="http://schemas.openxmlformats.org/drawingml/2006/main">
              <a:ext uri="{FF2B5EF4-FFF2-40B4-BE49-F238E27FC236}">
                <a16:creationId xmlns:a16="http://schemas.microsoft.com/office/drawing/2014/main" id="{9AC1E67B-44EE-4463-9A5D-E0E77BD86A0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13">
            <a:extLst xmlns:a="http://schemas.openxmlformats.org/drawingml/2006/main">
              <a:ext uri="{FF2B5EF4-FFF2-40B4-BE49-F238E27FC236}">
                <a16:creationId xmlns:a16="http://schemas.microsoft.com/office/drawing/2014/main" id="{C149DA25-9715-4367-A0A5-BDDB9A98290D}"/>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13</a:t>
            </a:r>
          </a:p>
        </p:txBody>
      </p:sp>
      <p:sp>
        <p:nvSpPr>
          <p:cNvPr id="6" name="example-label-13">
            <a:extLst xmlns:a="http://schemas.openxmlformats.org/drawingml/2006/main">
              <a:ext uri="{FF2B5EF4-FFF2-40B4-BE49-F238E27FC236}">
                <a16:creationId xmlns:a16="http://schemas.microsoft.com/office/drawing/2014/main" id="{6454180F-C209-47EE-9D7E-7DB7C35F8981}"/>
              </a:ext>
            </a:extLst>
          </p:cNvPr>
          <p:cNvSpPr>
            <a:spLocks xmlns:a="http://schemas.openxmlformats.org/drawingml/2006/main" noGrp="1"/>
          </p:cNvSpPr>
          <p:nvPr/>
        </p:nvSpPr>
        <p:spPr>
          <a:xfrm xmlns:a="http://schemas.openxmlformats.org/drawingml/2006/main">
            <a:off x="400050" y="156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SCENARIO</a:t>
            </a:r>
          </a:p>
        </p:txBody>
      </p:sp>
      <p:sp>
        <p:nvSpPr>
          <p:cNvPr id="7" name="example-scenario-13">
            <a:extLst xmlns:a="http://schemas.openxmlformats.org/drawingml/2006/main">
              <a:ext uri="{FF2B5EF4-FFF2-40B4-BE49-F238E27FC236}">
                <a16:creationId xmlns:a16="http://schemas.microsoft.com/office/drawing/2014/main" id="{A0B2656B-0AE1-42D6-B8E8-247ECC052C35}"/>
              </a:ext>
            </a:extLst>
          </p:cNvPr>
          <p:cNvSpPr>
            <a:spLocks xmlns:a="http://schemas.openxmlformats.org/drawingml/2006/main" noGrp="1"/>
          </p:cNvSpPr>
          <p:nvPr/>
        </p:nvSpPr>
        <p:spPr>
          <a:xfrm xmlns:a="http://schemas.openxmlformats.org/drawingml/2006/main">
            <a:off x="400050" y="1952625"/>
            <a:ext cx="447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100" b="1">
                <a:solidFill>
                  <a:srgbClr val="111111"/>
                </a:solidFill>
                <a:latin typeface="Arial"/>
                <a:ea typeface="Arial"/>
                <a:cs typeface="Arial"/>
              </a:defRPr>
            </a:pPr>
            <a:r>
              <a:rPr sz="2100" b="1">
                <a:solidFill>
                  <a:srgbClr val="111111"/>
                </a:solidFill>
                <a:latin typeface="Arial"/>
                <a:ea typeface="Arial"/>
                <a:cs typeface="Arial"/>
              </a:rPr>
              <a:t>Safe action returns 4. Risky action returns 0 or 10 with probability 0.5 each.</a:t>
            </a:r>
          </a:p>
        </p:txBody>
      </p:sp>
      <p:cxnSp>
        <p:nvCxnSpPr>
          <p:cNvPr id="26" name="example-divider-13"/>
          <p:cNvCxnSpPr/>
          <p:nvPr/>
        </p:nvCxnSpPr>
        <p:spPr>
          <a:xfrm xmlns:a="http://schemas.openxmlformats.org/drawingml/2006/main">
            <a:off x="5238750" y="1657350"/>
            <a:ext cx="0" cy="3048000"/>
          </a:xfrm>
          <a:prstGeom xmlns:a="http://schemas.openxmlformats.org/drawingml/2006/main" prst="straightConnector1">
            <a:avLst/>
          </a:prstGeom>
          <a:ln xmlns:a="http://schemas.openxmlformats.org/drawingml/2006/main" w="9525">
            <a:solidFill>
              <a:srgbClr val="B8BCC4"/>
            </a:solidFill>
            <a:prstDash val="solid"/>
          </a:ln>
        </p:spPr>
      </p:cxnSp>
      <p:sp>
        <p:nvSpPr>
          <p:cNvPr id="9" name="example-step-13-marker-1">
            <a:extLst xmlns:a="http://schemas.openxmlformats.org/drawingml/2006/main">
              <a:ext uri="{FF2B5EF4-FFF2-40B4-BE49-F238E27FC236}">
                <a16:creationId xmlns:a16="http://schemas.microsoft.com/office/drawing/2014/main" id="{923CF9B4-1137-4CF8-BFBD-2D91D37FF039}"/>
              </a:ext>
            </a:extLst>
          </p:cNvPr>
          <p:cNvSpPr>
            <a:spLocks xmlns:a="http://schemas.openxmlformats.org/drawingml/2006/main" noGrp="1"/>
          </p:cNvSpPr>
          <p:nvPr/>
        </p:nvSpPr>
        <p:spPr>
          <a:xfrm xmlns:a="http://schemas.openxmlformats.org/drawingml/2006/main">
            <a:off x="5667375" y="1847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example-step-13-text-1">
            <a:extLst xmlns:a="http://schemas.openxmlformats.org/drawingml/2006/main">
              <a:ext uri="{FF2B5EF4-FFF2-40B4-BE49-F238E27FC236}">
                <a16:creationId xmlns:a16="http://schemas.microsoft.com/office/drawing/2014/main" id="{36F613AB-BF49-41F1-B302-51645ADC7F9D}"/>
              </a:ext>
            </a:extLst>
          </p:cNvPr>
          <p:cNvSpPr>
            <a:spLocks xmlns:a="http://schemas.openxmlformats.org/drawingml/2006/main" noGrp="1"/>
          </p:cNvSpPr>
          <p:nvPr/>
        </p:nvSpPr>
        <p:spPr>
          <a:xfrm xmlns:a="http://schemas.openxmlformats.org/drawingml/2006/main">
            <a:off x="5895975" y="17621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Minimax values Risky at min(0,10)=0.</a:t>
            </a:r>
          </a:p>
        </p:txBody>
      </p:sp>
      <p:sp>
        <p:nvSpPr>
          <p:cNvPr id="11" name="example-step-13-marker-2">
            <a:extLst xmlns:a="http://schemas.openxmlformats.org/drawingml/2006/main">
              <a:ext uri="{FF2B5EF4-FFF2-40B4-BE49-F238E27FC236}">
                <a16:creationId xmlns:a16="http://schemas.microsoft.com/office/drawing/2014/main" id="{A9BA5105-3459-4344-A8E9-4C6804999821}"/>
              </a:ext>
            </a:extLst>
          </p:cNvPr>
          <p:cNvSpPr>
            <a:spLocks xmlns:a="http://schemas.openxmlformats.org/drawingml/2006/main" noGrp="1"/>
          </p:cNvSpPr>
          <p:nvPr/>
        </p:nvSpPr>
        <p:spPr>
          <a:xfrm xmlns:a="http://schemas.openxmlformats.org/drawingml/2006/main">
            <a:off x="5667375" y="25336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example-step-13-text-2">
            <a:extLst xmlns:a="http://schemas.openxmlformats.org/drawingml/2006/main">
              <a:ext uri="{FF2B5EF4-FFF2-40B4-BE49-F238E27FC236}">
                <a16:creationId xmlns:a16="http://schemas.microsoft.com/office/drawing/2014/main" id="{FCCC9F5A-874B-4C25-8768-8315A760C740}"/>
              </a:ext>
            </a:extLst>
          </p:cNvPr>
          <p:cNvSpPr>
            <a:spLocks xmlns:a="http://schemas.openxmlformats.org/drawingml/2006/main" noGrp="1"/>
          </p:cNvSpPr>
          <p:nvPr/>
        </p:nvSpPr>
        <p:spPr>
          <a:xfrm xmlns:a="http://schemas.openxmlformats.org/drawingml/2006/main">
            <a:off x="5895975" y="24479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Expectimax values Risky at 0.5*0+0.5*10=5.</a:t>
            </a:r>
          </a:p>
        </p:txBody>
      </p:sp>
      <p:sp>
        <p:nvSpPr>
          <p:cNvPr id="13" name="example-step-13-marker-3">
            <a:extLst xmlns:a="http://schemas.openxmlformats.org/drawingml/2006/main">
              <a:ext uri="{FF2B5EF4-FFF2-40B4-BE49-F238E27FC236}">
                <a16:creationId xmlns:a16="http://schemas.microsoft.com/office/drawing/2014/main" id="{A396FF5B-5EF7-4C3E-A0FB-0D41291EFC06}"/>
              </a:ext>
            </a:extLst>
          </p:cNvPr>
          <p:cNvSpPr>
            <a:spLocks xmlns:a="http://schemas.openxmlformats.org/drawingml/2006/main" noGrp="1"/>
          </p:cNvSpPr>
          <p:nvPr/>
        </p:nvSpPr>
        <p:spPr>
          <a:xfrm xmlns:a="http://schemas.openxmlformats.org/drawingml/2006/main">
            <a:off x="5667375" y="32194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example-step-13-text-3">
            <a:extLst xmlns:a="http://schemas.openxmlformats.org/drawingml/2006/main">
              <a:ext uri="{FF2B5EF4-FFF2-40B4-BE49-F238E27FC236}">
                <a16:creationId xmlns:a16="http://schemas.microsoft.com/office/drawing/2014/main" id="{F6D6D371-3EE9-4E2E-A0E6-4D8352A061BA}"/>
              </a:ext>
            </a:extLst>
          </p:cNvPr>
          <p:cNvSpPr>
            <a:spLocks xmlns:a="http://schemas.openxmlformats.org/drawingml/2006/main" noGrp="1"/>
          </p:cNvSpPr>
          <p:nvPr/>
        </p:nvSpPr>
        <p:spPr>
          <a:xfrm xmlns:a="http://schemas.openxmlformats.org/drawingml/2006/main">
            <a:off x="5895975" y="31337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Safe remains value 4.</a:t>
            </a:r>
          </a:p>
        </p:txBody>
      </p:sp>
      <p:sp>
        <p:nvSpPr>
          <p:cNvPr id="15" name="example-step-13-marker-4">
            <a:extLst xmlns:a="http://schemas.openxmlformats.org/drawingml/2006/main">
              <a:ext uri="{FF2B5EF4-FFF2-40B4-BE49-F238E27FC236}">
                <a16:creationId xmlns:a16="http://schemas.microsoft.com/office/drawing/2014/main" id="{EA73B32E-5BF4-4C5A-8049-60CA807E1FA3}"/>
              </a:ext>
            </a:extLst>
          </p:cNvPr>
          <p:cNvSpPr>
            <a:spLocks xmlns:a="http://schemas.openxmlformats.org/drawingml/2006/main" noGrp="1"/>
          </p:cNvSpPr>
          <p:nvPr/>
        </p:nvSpPr>
        <p:spPr>
          <a:xfrm xmlns:a="http://schemas.openxmlformats.org/drawingml/2006/main">
            <a:off x="5667375" y="39052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example-step-13-text-4">
            <a:extLst xmlns:a="http://schemas.openxmlformats.org/drawingml/2006/main">
              <a:ext uri="{FF2B5EF4-FFF2-40B4-BE49-F238E27FC236}">
                <a16:creationId xmlns:a16="http://schemas.microsoft.com/office/drawing/2014/main" id="{79F547E6-77E3-4E64-A1F1-C1208F7880BC}"/>
              </a:ext>
            </a:extLst>
          </p:cNvPr>
          <p:cNvSpPr>
            <a:spLocks xmlns:a="http://schemas.openxmlformats.org/drawingml/2006/main" noGrp="1"/>
          </p:cNvSpPr>
          <p:nvPr/>
        </p:nvSpPr>
        <p:spPr>
          <a:xfrm xmlns:a="http://schemas.openxmlformats.org/drawingml/2006/main">
            <a:off x="5895975" y="3819525"/>
            <a:ext cx="5581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The preferred action depends on the model.</a:t>
            </a:r>
          </a:p>
        </p:txBody>
      </p:sp>
      <p:sp>
        <p:nvSpPr>
          <p:cNvPr id="17" name="example-result-panel-13">
            <a:extLst xmlns:a="http://schemas.openxmlformats.org/drawingml/2006/main">
              <a:ext uri="{FF2B5EF4-FFF2-40B4-BE49-F238E27FC236}">
                <a16:creationId xmlns:a16="http://schemas.microsoft.com/office/drawing/2014/main" id="{1300ABDE-2A31-48F2-BE62-D997F112FADA}"/>
              </a:ext>
            </a:extLst>
          </p:cNvPr>
          <p:cNvSpPr>
            <a:spLocks xmlns:a="http://schemas.openxmlformats.org/drawingml/2006/main" noGrp="1"/>
          </p:cNvSpPr>
          <p:nvPr/>
        </p:nvSpPr>
        <p:spPr>
          <a:xfrm xmlns:a="http://schemas.openxmlformats.org/drawingml/2006/main">
            <a:off x="400050" y="5000625"/>
            <a:ext cx="11391900" cy="8001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8" name="example-result-13">
            <a:extLst xmlns:a="http://schemas.openxmlformats.org/drawingml/2006/main">
              <a:ext uri="{FF2B5EF4-FFF2-40B4-BE49-F238E27FC236}">
                <a16:creationId xmlns:a16="http://schemas.microsoft.com/office/drawing/2014/main" id="{E5091E9E-410C-4D05-8387-C12BA994BC3A}"/>
              </a:ext>
            </a:extLst>
          </p:cNvPr>
          <p:cNvSpPr>
            <a:spLocks xmlns:a="http://schemas.openxmlformats.org/drawingml/2006/main" noGrp="1"/>
          </p:cNvSpPr>
          <p:nvPr/>
        </p:nvSpPr>
        <p:spPr>
          <a:xfrm xmlns:a="http://schemas.openxmlformats.org/drawingml/2006/main">
            <a:off x="685800" y="5181600"/>
            <a:ext cx="10820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Minimax selects Safe; expectimax selects Risky under the stated probabilities.</a:t>
            </a:r>
          </a:p>
        </p:txBody>
      </p:sp>
    </p:spTree>
    <p:extLst>
      <p:ext uri="{BB962C8B-B14F-4D97-AF65-F5344CB8AC3E}">
        <p14:creationId xmlns:p14="http://schemas.microsoft.com/office/powerpoint/2010/main" val="18019900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14">
            <a:extLst xmlns:a="http://schemas.openxmlformats.org/drawingml/2006/main">
              <a:ext uri="{FF2B5EF4-FFF2-40B4-BE49-F238E27FC236}">
                <a16:creationId xmlns:a16="http://schemas.microsoft.com/office/drawing/2014/main" id="{BE9A253A-70B7-4965-9A11-88D7AB47F7C7}"/>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Evaluation design remains a practical bottleneck</a:t>
            </a:r>
          </a:p>
        </p:txBody>
      </p:sp>
      <p:sp>
        <p:nvSpPr>
          <p:cNvPr id="2" name="title-accent-14">
            <a:extLst xmlns:a="http://schemas.openxmlformats.org/drawingml/2006/main">
              <a:ext uri="{FF2B5EF4-FFF2-40B4-BE49-F238E27FC236}">
                <a16:creationId xmlns:a16="http://schemas.microsoft.com/office/drawing/2014/main" id="{8053666A-8AE2-4C66-A27E-672CC25D2DB4}"/>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40" name="title-rule-14"/>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4">
            <a:extLst xmlns:a="http://schemas.openxmlformats.org/drawingml/2006/main">
              <a:ext uri="{FF2B5EF4-FFF2-40B4-BE49-F238E27FC236}">
                <a16:creationId xmlns:a16="http://schemas.microsoft.com/office/drawing/2014/main" id="{3C231660-A596-4C06-B73B-2E7C65EDC8A0}"/>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14">
            <a:extLst xmlns:a="http://schemas.openxmlformats.org/drawingml/2006/main">
              <a:ext uri="{FF2B5EF4-FFF2-40B4-BE49-F238E27FC236}">
                <a16:creationId xmlns:a16="http://schemas.microsoft.com/office/drawing/2014/main" id="{15DBB221-72D6-41D1-ABFD-ACDE31762BC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14</a:t>
            </a:r>
          </a:p>
        </p:txBody>
      </p:sp>
      <p:sp>
        <p:nvSpPr>
          <p:cNvPr id="6" name="comparison-title-14-1">
            <a:extLst xmlns:a="http://schemas.openxmlformats.org/drawingml/2006/main">
              <a:ext uri="{FF2B5EF4-FFF2-40B4-BE49-F238E27FC236}">
                <a16:creationId xmlns:a16="http://schemas.microsoft.com/office/drawing/2014/main" id="{D705940A-2FD6-43D1-B650-0A8743D41700}"/>
              </a:ext>
            </a:extLst>
          </p:cNvPr>
          <p:cNvSpPr>
            <a:spLocks xmlns:a="http://schemas.openxmlformats.org/drawingml/2006/main" noGrp="1"/>
          </p:cNvSpPr>
          <p:nvPr/>
        </p:nvSpPr>
        <p:spPr>
          <a:xfrm xmlns:a="http://schemas.openxmlformats.org/drawingml/2006/main">
            <a:off x="4000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Features</a:t>
            </a:r>
          </a:p>
        </p:txBody>
      </p:sp>
      <p:sp>
        <p:nvSpPr>
          <p:cNvPr id="7" name="comparison-tagline-14-1">
            <a:extLst xmlns:a="http://schemas.openxmlformats.org/drawingml/2006/main">
              <a:ext uri="{FF2B5EF4-FFF2-40B4-BE49-F238E27FC236}">
                <a16:creationId xmlns:a16="http://schemas.microsoft.com/office/drawing/2014/main" id="{BF1D2126-FAD4-4F70-8E94-32FFC193C619}"/>
              </a:ext>
            </a:extLst>
          </p:cNvPr>
          <p:cNvSpPr>
            <a:spLocks xmlns:a="http://schemas.openxmlformats.org/drawingml/2006/main" noGrp="1"/>
          </p:cNvSpPr>
          <p:nvPr/>
        </p:nvSpPr>
        <p:spPr>
          <a:xfrm xmlns:a="http://schemas.openxmlformats.org/drawingml/2006/main">
            <a:off x="4000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State evidence</a:t>
            </a:r>
          </a:p>
        </p:txBody>
      </p:sp>
      <p:sp>
        <p:nvSpPr>
          <p:cNvPr id="8" name="comparison-bullet-14-1-marker-1">
            <a:extLst xmlns:a="http://schemas.openxmlformats.org/drawingml/2006/main">
              <a:ext uri="{FF2B5EF4-FFF2-40B4-BE49-F238E27FC236}">
                <a16:creationId xmlns:a16="http://schemas.microsoft.com/office/drawing/2014/main" id="{DCF42C09-C3EB-425F-A8EF-6FE03FF2D5DC}"/>
              </a:ext>
            </a:extLst>
          </p:cNvPr>
          <p:cNvSpPr>
            <a:spLocks xmlns:a="http://schemas.openxmlformats.org/drawingml/2006/main" noGrp="1"/>
          </p:cNvSpPr>
          <p:nvPr/>
        </p:nvSpPr>
        <p:spPr>
          <a:xfrm xmlns:a="http://schemas.openxmlformats.org/drawingml/2006/main">
            <a:off x="400050" y="29908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comparison-bullet-14-1-text-1">
            <a:extLst xmlns:a="http://schemas.openxmlformats.org/drawingml/2006/main">
              <a:ext uri="{FF2B5EF4-FFF2-40B4-BE49-F238E27FC236}">
                <a16:creationId xmlns:a16="http://schemas.microsoft.com/office/drawing/2014/main" id="{6A05B2E9-8AEE-461E-A4ED-A0D949E2709A}"/>
              </a:ext>
            </a:extLst>
          </p:cNvPr>
          <p:cNvSpPr>
            <a:spLocks xmlns:a="http://schemas.openxmlformats.org/drawingml/2006/main" noGrp="1"/>
          </p:cNvSpPr>
          <p:nvPr/>
        </p:nvSpPr>
        <p:spPr>
          <a:xfrm xmlns:a="http://schemas.openxmlformats.org/drawingml/2006/main">
            <a:off x="6286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Progress toward objective.</a:t>
            </a:r>
          </a:p>
        </p:txBody>
      </p:sp>
      <p:sp>
        <p:nvSpPr>
          <p:cNvPr id="10" name="comparison-bullet-14-1-marker-2">
            <a:extLst xmlns:a="http://schemas.openxmlformats.org/drawingml/2006/main">
              <a:ext uri="{FF2B5EF4-FFF2-40B4-BE49-F238E27FC236}">
                <a16:creationId xmlns:a16="http://schemas.microsoft.com/office/drawing/2014/main" id="{02C41C61-E1FD-4269-82FE-08D0DF8A5D1A}"/>
              </a:ext>
            </a:extLst>
          </p:cNvPr>
          <p:cNvSpPr>
            <a:spLocks xmlns:a="http://schemas.openxmlformats.org/drawingml/2006/main" noGrp="1"/>
          </p:cNvSpPr>
          <p:nvPr/>
        </p:nvSpPr>
        <p:spPr>
          <a:xfrm xmlns:a="http://schemas.openxmlformats.org/drawingml/2006/main">
            <a:off x="400050" y="36576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omparison-bullet-14-1-text-2">
            <a:extLst xmlns:a="http://schemas.openxmlformats.org/drawingml/2006/main">
              <a:ext uri="{FF2B5EF4-FFF2-40B4-BE49-F238E27FC236}">
                <a16:creationId xmlns:a16="http://schemas.microsoft.com/office/drawing/2014/main" id="{E3350E87-C424-4CD9-B97C-ACBE6BFD7797}"/>
              </a:ext>
            </a:extLst>
          </p:cNvPr>
          <p:cNvSpPr>
            <a:spLocks xmlns:a="http://schemas.openxmlformats.org/drawingml/2006/main" noGrp="1"/>
          </p:cNvSpPr>
          <p:nvPr/>
        </p:nvSpPr>
        <p:spPr>
          <a:xfrm xmlns:a="http://schemas.openxmlformats.org/drawingml/2006/main">
            <a:off x="6286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Threat and opportunity.</a:t>
            </a:r>
          </a:p>
        </p:txBody>
      </p:sp>
      <p:sp>
        <p:nvSpPr>
          <p:cNvPr id="12" name="comparison-bullet-14-1-marker-3">
            <a:extLst xmlns:a="http://schemas.openxmlformats.org/drawingml/2006/main">
              <a:ext uri="{FF2B5EF4-FFF2-40B4-BE49-F238E27FC236}">
                <a16:creationId xmlns:a16="http://schemas.microsoft.com/office/drawing/2014/main" id="{C5D715C0-CD03-4F43-BC25-A04B78812B7E}"/>
              </a:ext>
            </a:extLst>
          </p:cNvPr>
          <p:cNvSpPr>
            <a:spLocks xmlns:a="http://schemas.openxmlformats.org/drawingml/2006/main" noGrp="1"/>
          </p:cNvSpPr>
          <p:nvPr/>
        </p:nvSpPr>
        <p:spPr>
          <a:xfrm xmlns:a="http://schemas.openxmlformats.org/drawingml/2006/main">
            <a:off x="400050" y="432435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omparison-bullet-14-1-text-3">
            <a:extLst xmlns:a="http://schemas.openxmlformats.org/drawingml/2006/main">
              <a:ext uri="{FF2B5EF4-FFF2-40B4-BE49-F238E27FC236}">
                <a16:creationId xmlns:a16="http://schemas.microsoft.com/office/drawing/2014/main" id="{F5817DCF-55E8-42D0-BB88-6BFA5488003E}"/>
              </a:ext>
            </a:extLst>
          </p:cNvPr>
          <p:cNvSpPr>
            <a:spLocks xmlns:a="http://schemas.openxmlformats.org/drawingml/2006/main" noGrp="1"/>
          </p:cNvSpPr>
          <p:nvPr/>
        </p:nvSpPr>
        <p:spPr>
          <a:xfrm xmlns:a="http://schemas.openxmlformats.org/drawingml/2006/main">
            <a:off x="6286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Mobility or control.</a:t>
            </a:r>
          </a:p>
        </p:txBody>
      </p:sp>
      <p:sp>
        <p:nvSpPr>
          <p:cNvPr id="14" name="comparison-bullet-14-1-marker-4">
            <a:extLst xmlns:a="http://schemas.openxmlformats.org/drawingml/2006/main">
              <a:ext uri="{FF2B5EF4-FFF2-40B4-BE49-F238E27FC236}">
                <a16:creationId xmlns:a16="http://schemas.microsoft.com/office/drawing/2014/main" id="{14915C58-61E6-423C-B52D-6686025A4CCA}"/>
              </a:ext>
            </a:extLst>
          </p:cNvPr>
          <p:cNvSpPr>
            <a:spLocks xmlns:a="http://schemas.openxmlformats.org/drawingml/2006/main" noGrp="1"/>
          </p:cNvSpPr>
          <p:nvPr/>
        </p:nvSpPr>
        <p:spPr>
          <a:xfrm xmlns:a="http://schemas.openxmlformats.org/drawingml/2006/main">
            <a:off x="400050" y="4991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omparison-bullet-14-1-text-4">
            <a:extLst xmlns:a="http://schemas.openxmlformats.org/drawingml/2006/main">
              <a:ext uri="{FF2B5EF4-FFF2-40B4-BE49-F238E27FC236}">
                <a16:creationId xmlns:a16="http://schemas.microsoft.com/office/drawing/2014/main" id="{7D2E1DC9-2AC3-4CFB-8DCB-80539C998EDF}"/>
              </a:ext>
            </a:extLst>
          </p:cNvPr>
          <p:cNvSpPr>
            <a:spLocks xmlns:a="http://schemas.openxmlformats.org/drawingml/2006/main" noGrp="1"/>
          </p:cNvSpPr>
          <p:nvPr/>
        </p:nvSpPr>
        <p:spPr>
          <a:xfrm xmlns:a="http://schemas.openxmlformats.org/drawingml/2006/main">
            <a:off x="6286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Terminal conditions dominate.</a:t>
            </a:r>
          </a:p>
        </p:txBody>
      </p:sp>
      <p:cxnSp>
        <p:nvCxnSpPr>
          <p:cNvPr id="53" name="comparison-divider-14-1"/>
          <p:cNvCxnSpPr/>
          <p:nvPr/>
        </p:nvCxnSpPr>
        <p:spPr>
          <a:xfrm xmlns:a="http://schemas.openxmlformats.org/drawingml/2006/main">
            <a:off x="41465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17" name="comparison-title-14-2">
            <a:extLst xmlns:a="http://schemas.openxmlformats.org/drawingml/2006/main">
              <a:ext uri="{FF2B5EF4-FFF2-40B4-BE49-F238E27FC236}">
                <a16:creationId xmlns:a16="http://schemas.microsoft.com/office/drawing/2014/main" id="{13303245-78C6-427A-8BAB-2F46DA1ED4F4}"/>
              </a:ext>
            </a:extLst>
          </p:cNvPr>
          <p:cNvSpPr>
            <a:spLocks xmlns:a="http://schemas.openxmlformats.org/drawingml/2006/main" noGrp="1"/>
          </p:cNvSpPr>
          <p:nvPr/>
        </p:nvSpPr>
        <p:spPr>
          <a:xfrm xmlns:a="http://schemas.openxmlformats.org/drawingml/2006/main">
            <a:off x="42989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B7A53"/>
                </a:solidFill>
                <a:latin typeface="Arial"/>
                <a:ea typeface="Arial"/>
                <a:cs typeface="Arial"/>
              </a:defRPr>
            </a:pPr>
            <a:r>
              <a:rPr sz="2025" b="1">
                <a:solidFill>
                  <a:srgbClr val="0B7A53"/>
                </a:solidFill>
                <a:latin typeface="Arial"/>
                <a:ea typeface="Arial"/>
                <a:cs typeface="Arial"/>
              </a:rPr>
              <a:t>Weights</a:t>
            </a:r>
          </a:p>
        </p:txBody>
      </p:sp>
      <p:sp>
        <p:nvSpPr>
          <p:cNvPr id="18" name="comparison-tagline-14-2">
            <a:extLst xmlns:a="http://schemas.openxmlformats.org/drawingml/2006/main">
              <a:ext uri="{FF2B5EF4-FFF2-40B4-BE49-F238E27FC236}">
                <a16:creationId xmlns:a16="http://schemas.microsoft.com/office/drawing/2014/main" id="{5C1309FB-5D96-4ED8-92BC-230FB49F9070}"/>
              </a:ext>
            </a:extLst>
          </p:cNvPr>
          <p:cNvSpPr>
            <a:spLocks xmlns:a="http://schemas.openxmlformats.org/drawingml/2006/main" noGrp="1"/>
          </p:cNvSpPr>
          <p:nvPr/>
        </p:nvSpPr>
        <p:spPr>
          <a:xfrm xmlns:a="http://schemas.openxmlformats.org/drawingml/2006/main">
            <a:off x="42989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Tradeoff scale</a:t>
            </a:r>
          </a:p>
        </p:txBody>
      </p:sp>
      <p:sp>
        <p:nvSpPr>
          <p:cNvPr id="19" name="comparison-bullet-14-2-marker-1">
            <a:extLst xmlns:a="http://schemas.openxmlformats.org/drawingml/2006/main">
              <a:ext uri="{FF2B5EF4-FFF2-40B4-BE49-F238E27FC236}">
                <a16:creationId xmlns:a16="http://schemas.microsoft.com/office/drawing/2014/main" id="{68A9F46E-12F3-4274-AD59-0007FE9A0788}"/>
              </a:ext>
            </a:extLst>
          </p:cNvPr>
          <p:cNvSpPr>
            <a:spLocks xmlns:a="http://schemas.openxmlformats.org/drawingml/2006/main" noGrp="1"/>
          </p:cNvSpPr>
          <p:nvPr/>
        </p:nvSpPr>
        <p:spPr>
          <a:xfrm xmlns:a="http://schemas.openxmlformats.org/drawingml/2006/main">
            <a:off x="4298950" y="29908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0" name="comparison-bullet-14-2-text-1">
            <a:extLst xmlns:a="http://schemas.openxmlformats.org/drawingml/2006/main">
              <a:ext uri="{FF2B5EF4-FFF2-40B4-BE49-F238E27FC236}">
                <a16:creationId xmlns:a16="http://schemas.microsoft.com/office/drawing/2014/main" id="{DDB1B1A2-4D17-47DA-BDFC-0309516D283F}"/>
              </a:ext>
            </a:extLst>
          </p:cNvPr>
          <p:cNvSpPr>
            <a:spLocks xmlns:a="http://schemas.openxmlformats.org/drawingml/2006/main" noGrp="1"/>
          </p:cNvSpPr>
          <p:nvPr/>
        </p:nvSpPr>
        <p:spPr>
          <a:xfrm xmlns:a="http://schemas.openxmlformats.org/drawingml/2006/main">
            <a:off x="45275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Normalize magnitudes.</a:t>
            </a:r>
          </a:p>
        </p:txBody>
      </p:sp>
      <p:sp>
        <p:nvSpPr>
          <p:cNvPr id="21" name="comparison-bullet-14-2-marker-2">
            <a:extLst xmlns:a="http://schemas.openxmlformats.org/drawingml/2006/main">
              <a:ext uri="{FF2B5EF4-FFF2-40B4-BE49-F238E27FC236}">
                <a16:creationId xmlns:a16="http://schemas.microsoft.com/office/drawing/2014/main" id="{43C04F0B-05C2-402E-8B4D-F2A3289E2623}"/>
              </a:ext>
            </a:extLst>
          </p:cNvPr>
          <p:cNvSpPr>
            <a:spLocks xmlns:a="http://schemas.openxmlformats.org/drawingml/2006/main" noGrp="1"/>
          </p:cNvSpPr>
          <p:nvPr/>
        </p:nvSpPr>
        <p:spPr>
          <a:xfrm xmlns:a="http://schemas.openxmlformats.org/drawingml/2006/main">
            <a:off x="4298950" y="36576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2" name="comparison-bullet-14-2-text-2">
            <a:extLst xmlns:a="http://schemas.openxmlformats.org/drawingml/2006/main">
              <a:ext uri="{FF2B5EF4-FFF2-40B4-BE49-F238E27FC236}">
                <a16:creationId xmlns:a16="http://schemas.microsoft.com/office/drawing/2014/main" id="{AB3DE2BA-5157-4335-A230-24E15F4766E7}"/>
              </a:ext>
            </a:extLst>
          </p:cNvPr>
          <p:cNvSpPr>
            <a:spLocks xmlns:a="http://schemas.openxmlformats.org/drawingml/2006/main" noGrp="1"/>
          </p:cNvSpPr>
          <p:nvPr/>
        </p:nvSpPr>
        <p:spPr>
          <a:xfrm xmlns:a="http://schemas.openxmlformats.org/drawingml/2006/main">
            <a:off x="45275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Document sign and units.</a:t>
            </a:r>
          </a:p>
        </p:txBody>
      </p:sp>
      <p:sp>
        <p:nvSpPr>
          <p:cNvPr id="23" name="comparison-bullet-14-2-marker-3">
            <a:extLst xmlns:a="http://schemas.openxmlformats.org/drawingml/2006/main">
              <a:ext uri="{FF2B5EF4-FFF2-40B4-BE49-F238E27FC236}">
                <a16:creationId xmlns:a16="http://schemas.microsoft.com/office/drawing/2014/main" id="{EFF1F791-6F0C-4AD0-B04F-F2FA377247E1}"/>
              </a:ext>
            </a:extLst>
          </p:cNvPr>
          <p:cNvSpPr>
            <a:spLocks xmlns:a="http://schemas.openxmlformats.org/drawingml/2006/main" noGrp="1"/>
          </p:cNvSpPr>
          <p:nvPr/>
        </p:nvSpPr>
        <p:spPr>
          <a:xfrm xmlns:a="http://schemas.openxmlformats.org/drawingml/2006/main">
            <a:off x="4298950" y="432435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4" name="comparison-bullet-14-2-text-3">
            <a:extLst xmlns:a="http://schemas.openxmlformats.org/drawingml/2006/main">
              <a:ext uri="{FF2B5EF4-FFF2-40B4-BE49-F238E27FC236}">
                <a16:creationId xmlns:a16="http://schemas.microsoft.com/office/drawing/2014/main" id="{2F9E2F81-12DC-43C4-A303-95FF7A5EBF9F}"/>
              </a:ext>
            </a:extLst>
          </p:cNvPr>
          <p:cNvSpPr>
            <a:spLocks xmlns:a="http://schemas.openxmlformats.org/drawingml/2006/main" noGrp="1"/>
          </p:cNvSpPr>
          <p:nvPr/>
        </p:nvSpPr>
        <p:spPr>
          <a:xfrm xmlns:a="http://schemas.openxmlformats.org/drawingml/2006/main">
            <a:off x="45275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Avoid double counting.</a:t>
            </a:r>
          </a:p>
        </p:txBody>
      </p:sp>
      <p:sp>
        <p:nvSpPr>
          <p:cNvPr id="25" name="comparison-bullet-14-2-marker-4">
            <a:extLst xmlns:a="http://schemas.openxmlformats.org/drawingml/2006/main">
              <a:ext uri="{FF2B5EF4-FFF2-40B4-BE49-F238E27FC236}">
                <a16:creationId xmlns:a16="http://schemas.microsoft.com/office/drawing/2014/main" id="{62D7AE9D-A3B6-412B-AD04-B6B173897473}"/>
              </a:ext>
            </a:extLst>
          </p:cNvPr>
          <p:cNvSpPr>
            <a:spLocks xmlns:a="http://schemas.openxmlformats.org/drawingml/2006/main" noGrp="1"/>
          </p:cNvSpPr>
          <p:nvPr/>
        </p:nvSpPr>
        <p:spPr>
          <a:xfrm xmlns:a="http://schemas.openxmlformats.org/drawingml/2006/main">
            <a:off x="4298950" y="4991100"/>
            <a:ext cx="85725" cy="85725"/>
          </a:xfrm>
          <a:prstGeom xmlns:a="http://schemas.openxmlformats.org/drawingml/2006/main" prst="rect">
            <a:avLst/>
          </a:prstGeom>
          <a:solidFill xmlns:a="http://schemas.openxmlformats.org/drawingml/2006/main">
            <a:srgbClr val="0B7A53"/>
          </a:solidFill>
          <a:ln xmlns:a="http://schemas.openxmlformats.org/drawingml/2006/main" w="0">
            <a:noFill/>
            <a:prstDash val="solid"/>
          </a:ln>
        </p:spPr>
      </p:sp>
      <p:sp>
        <p:nvSpPr>
          <p:cNvPr id="26" name="comparison-bullet-14-2-text-4">
            <a:extLst xmlns:a="http://schemas.openxmlformats.org/drawingml/2006/main">
              <a:ext uri="{FF2B5EF4-FFF2-40B4-BE49-F238E27FC236}">
                <a16:creationId xmlns:a16="http://schemas.microsoft.com/office/drawing/2014/main" id="{6668EB1B-DAD4-4986-90AD-D475EFA60FB9}"/>
              </a:ext>
            </a:extLst>
          </p:cNvPr>
          <p:cNvSpPr>
            <a:spLocks xmlns:a="http://schemas.openxmlformats.org/drawingml/2006/main" noGrp="1"/>
          </p:cNvSpPr>
          <p:nvPr/>
        </p:nvSpPr>
        <p:spPr>
          <a:xfrm xmlns:a="http://schemas.openxmlformats.org/drawingml/2006/main">
            <a:off x="45275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Validate on tactical cases.</a:t>
            </a:r>
          </a:p>
        </p:txBody>
      </p:sp>
      <p:cxnSp>
        <p:nvCxnSpPr>
          <p:cNvPr id="64" name="comparison-divider-14-2"/>
          <p:cNvCxnSpPr/>
          <p:nvPr/>
        </p:nvCxnSpPr>
        <p:spPr>
          <a:xfrm xmlns:a="http://schemas.openxmlformats.org/drawingml/2006/main">
            <a:off x="8045450" y="1657350"/>
            <a:ext cx="0" cy="3943350"/>
          </a:xfrm>
          <a:prstGeom xmlns:a="http://schemas.openxmlformats.org/drawingml/2006/main" prst="straightConnector1">
            <a:avLst/>
          </a:prstGeom>
          <a:ln xmlns:a="http://schemas.openxmlformats.org/drawingml/2006/main" w="9525">
            <a:solidFill>
              <a:srgbClr val="B8BCC4"/>
            </a:solidFill>
            <a:prstDash val="solid"/>
          </a:ln>
        </p:spPr>
      </p:cxnSp>
      <p:sp>
        <p:nvSpPr>
          <p:cNvPr id="28" name="comparison-title-14-3">
            <a:extLst xmlns:a="http://schemas.openxmlformats.org/drawingml/2006/main">
              <a:ext uri="{FF2B5EF4-FFF2-40B4-BE49-F238E27FC236}">
                <a16:creationId xmlns:a16="http://schemas.microsoft.com/office/drawing/2014/main" id="{7A3DA00B-A427-497D-9D7C-58B667C5A42A}"/>
              </a:ext>
            </a:extLst>
          </p:cNvPr>
          <p:cNvSpPr>
            <a:spLocks xmlns:a="http://schemas.openxmlformats.org/drawingml/2006/main" noGrp="1"/>
          </p:cNvSpPr>
          <p:nvPr/>
        </p:nvSpPr>
        <p:spPr>
          <a:xfrm xmlns:a="http://schemas.openxmlformats.org/drawingml/2006/main">
            <a:off x="8197850" y="1657350"/>
            <a:ext cx="359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Ordering</a:t>
            </a:r>
          </a:p>
        </p:txBody>
      </p:sp>
      <p:sp>
        <p:nvSpPr>
          <p:cNvPr id="29" name="comparison-tagline-14-3">
            <a:extLst xmlns:a="http://schemas.openxmlformats.org/drawingml/2006/main">
              <a:ext uri="{FF2B5EF4-FFF2-40B4-BE49-F238E27FC236}">
                <a16:creationId xmlns:a16="http://schemas.microsoft.com/office/drawing/2014/main" id="{D6C758D3-4129-4E08-9551-AD73F2D160F5}"/>
              </a:ext>
            </a:extLst>
          </p:cNvPr>
          <p:cNvSpPr>
            <a:spLocks xmlns:a="http://schemas.openxmlformats.org/drawingml/2006/main" noGrp="1"/>
          </p:cNvSpPr>
          <p:nvPr/>
        </p:nvSpPr>
        <p:spPr>
          <a:xfrm xmlns:a="http://schemas.openxmlformats.org/drawingml/2006/main">
            <a:off x="8197850" y="2238375"/>
            <a:ext cx="359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5C6470"/>
                </a:solidFill>
                <a:latin typeface="Arial"/>
                <a:ea typeface="Arial"/>
                <a:cs typeface="Arial"/>
              </a:defRPr>
            </a:pPr>
            <a:r>
              <a:rPr sz="1350" b="0">
                <a:solidFill>
                  <a:srgbClr val="5C6470"/>
                </a:solidFill>
                <a:latin typeface="Arial"/>
                <a:ea typeface="Arial"/>
                <a:cs typeface="Arial"/>
              </a:rPr>
              <a:t>Search efficiency</a:t>
            </a:r>
          </a:p>
        </p:txBody>
      </p:sp>
      <p:sp>
        <p:nvSpPr>
          <p:cNvPr id="30" name="comparison-bullet-14-3-marker-1">
            <a:extLst xmlns:a="http://schemas.openxmlformats.org/drawingml/2006/main">
              <a:ext uri="{FF2B5EF4-FFF2-40B4-BE49-F238E27FC236}">
                <a16:creationId xmlns:a16="http://schemas.microsoft.com/office/drawing/2014/main" id="{534C9006-876E-4BC0-B948-6E33318ADE74}"/>
              </a:ext>
            </a:extLst>
          </p:cNvPr>
          <p:cNvSpPr>
            <a:spLocks xmlns:a="http://schemas.openxmlformats.org/drawingml/2006/main" noGrp="1"/>
          </p:cNvSpPr>
          <p:nvPr/>
        </p:nvSpPr>
        <p:spPr>
          <a:xfrm xmlns:a="http://schemas.openxmlformats.org/drawingml/2006/main">
            <a:off x="8197850" y="29908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1" name="comparison-bullet-14-3-text-1">
            <a:extLst xmlns:a="http://schemas.openxmlformats.org/drawingml/2006/main">
              <a:ext uri="{FF2B5EF4-FFF2-40B4-BE49-F238E27FC236}">
                <a16:creationId xmlns:a16="http://schemas.microsoft.com/office/drawing/2014/main" id="{64CFDDA0-1002-45C7-837F-42ED75CE25FE}"/>
              </a:ext>
            </a:extLst>
          </p:cNvPr>
          <p:cNvSpPr>
            <a:spLocks xmlns:a="http://schemas.openxmlformats.org/drawingml/2006/main" noGrp="1"/>
          </p:cNvSpPr>
          <p:nvPr/>
        </p:nvSpPr>
        <p:spPr>
          <a:xfrm xmlns:a="http://schemas.openxmlformats.org/drawingml/2006/main">
            <a:off x="8426450" y="29051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Reuse evaluation cheaply.</a:t>
            </a:r>
          </a:p>
        </p:txBody>
      </p:sp>
      <p:sp>
        <p:nvSpPr>
          <p:cNvPr id="32" name="comparison-bullet-14-3-marker-2">
            <a:extLst xmlns:a="http://schemas.openxmlformats.org/drawingml/2006/main">
              <a:ext uri="{FF2B5EF4-FFF2-40B4-BE49-F238E27FC236}">
                <a16:creationId xmlns:a16="http://schemas.microsoft.com/office/drawing/2014/main" id="{4774BC2E-3EEC-4F08-8968-4C8C2F045958}"/>
              </a:ext>
            </a:extLst>
          </p:cNvPr>
          <p:cNvSpPr>
            <a:spLocks xmlns:a="http://schemas.openxmlformats.org/drawingml/2006/main" noGrp="1"/>
          </p:cNvSpPr>
          <p:nvPr/>
        </p:nvSpPr>
        <p:spPr>
          <a:xfrm xmlns:a="http://schemas.openxmlformats.org/drawingml/2006/main">
            <a:off x="8197850" y="36576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3" name="comparison-bullet-14-3-text-2">
            <a:extLst xmlns:a="http://schemas.openxmlformats.org/drawingml/2006/main">
              <a:ext uri="{FF2B5EF4-FFF2-40B4-BE49-F238E27FC236}">
                <a16:creationId xmlns:a16="http://schemas.microsoft.com/office/drawing/2014/main" id="{3DAC843A-0BCD-46B4-90E9-DEB212BF9F41}"/>
              </a:ext>
            </a:extLst>
          </p:cNvPr>
          <p:cNvSpPr>
            <a:spLocks xmlns:a="http://schemas.openxmlformats.org/drawingml/2006/main" noGrp="1"/>
          </p:cNvSpPr>
          <p:nvPr/>
        </p:nvSpPr>
        <p:spPr>
          <a:xfrm xmlns:a="http://schemas.openxmlformats.org/drawingml/2006/main">
            <a:off x="8426450" y="35718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Try promising moves first.</a:t>
            </a:r>
          </a:p>
        </p:txBody>
      </p:sp>
      <p:sp>
        <p:nvSpPr>
          <p:cNvPr id="34" name="comparison-bullet-14-3-marker-3">
            <a:extLst xmlns:a="http://schemas.openxmlformats.org/drawingml/2006/main">
              <a:ext uri="{FF2B5EF4-FFF2-40B4-BE49-F238E27FC236}">
                <a16:creationId xmlns:a16="http://schemas.microsoft.com/office/drawing/2014/main" id="{A7436450-7F76-4DC2-9ADB-F649149844E3}"/>
              </a:ext>
            </a:extLst>
          </p:cNvPr>
          <p:cNvSpPr>
            <a:spLocks xmlns:a="http://schemas.openxmlformats.org/drawingml/2006/main" noGrp="1"/>
          </p:cNvSpPr>
          <p:nvPr/>
        </p:nvSpPr>
        <p:spPr>
          <a:xfrm xmlns:a="http://schemas.openxmlformats.org/drawingml/2006/main">
            <a:off x="8197850" y="432435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5" name="comparison-bullet-14-3-text-3">
            <a:extLst xmlns:a="http://schemas.openxmlformats.org/drawingml/2006/main">
              <a:ext uri="{FF2B5EF4-FFF2-40B4-BE49-F238E27FC236}">
                <a16:creationId xmlns:a16="http://schemas.microsoft.com/office/drawing/2014/main" id="{1D465108-0EE5-4010-99A9-0E2C56231D5C}"/>
              </a:ext>
            </a:extLst>
          </p:cNvPr>
          <p:cNvSpPr>
            <a:spLocks xmlns:a="http://schemas.openxmlformats.org/drawingml/2006/main" noGrp="1"/>
          </p:cNvSpPr>
          <p:nvPr/>
        </p:nvSpPr>
        <p:spPr>
          <a:xfrm xmlns:a="http://schemas.openxmlformats.org/drawingml/2006/main">
            <a:off x="8426450" y="423862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Cache repeated states.</a:t>
            </a:r>
          </a:p>
        </p:txBody>
      </p:sp>
      <p:sp>
        <p:nvSpPr>
          <p:cNvPr id="36" name="comparison-bullet-14-3-marker-4">
            <a:extLst xmlns:a="http://schemas.openxmlformats.org/drawingml/2006/main">
              <a:ext uri="{FF2B5EF4-FFF2-40B4-BE49-F238E27FC236}">
                <a16:creationId xmlns:a16="http://schemas.microsoft.com/office/drawing/2014/main" id="{7FFC18AD-D540-4BD6-B22D-B0A8DD1430F1}"/>
              </a:ext>
            </a:extLst>
          </p:cNvPr>
          <p:cNvSpPr>
            <a:spLocks xmlns:a="http://schemas.openxmlformats.org/drawingml/2006/main" noGrp="1"/>
          </p:cNvSpPr>
          <p:nvPr/>
        </p:nvSpPr>
        <p:spPr>
          <a:xfrm xmlns:a="http://schemas.openxmlformats.org/drawingml/2006/main">
            <a:off x="8197850" y="4991100"/>
            <a:ext cx="85725" cy="857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37" name="comparison-bullet-14-3-text-4">
            <a:extLst xmlns:a="http://schemas.openxmlformats.org/drawingml/2006/main">
              <a:ext uri="{FF2B5EF4-FFF2-40B4-BE49-F238E27FC236}">
                <a16:creationId xmlns:a16="http://schemas.microsoft.com/office/drawing/2014/main" id="{0C262EBB-2E7F-4301-83FE-1B539857BC03}"/>
              </a:ext>
            </a:extLst>
          </p:cNvPr>
          <p:cNvSpPr>
            <a:spLocks xmlns:a="http://schemas.openxmlformats.org/drawingml/2006/main" noGrp="1"/>
          </p:cNvSpPr>
          <p:nvPr/>
        </p:nvSpPr>
        <p:spPr>
          <a:xfrm xmlns:a="http://schemas.openxmlformats.org/drawingml/2006/main">
            <a:off x="8426450" y="4905375"/>
            <a:ext cx="3365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Do not change backed-up rule.</a:t>
            </a:r>
          </a:p>
        </p:txBody>
      </p:sp>
    </p:spTree>
    <p:extLst>
      <p:ext uri="{BB962C8B-B14F-4D97-AF65-F5344CB8AC3E}">
        <p14:creationId xmlns:p14="http://schemas.microsoft.com/office/powerpoint/2010/main" val="141824482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15">
            <a:extLst xmlns:a="http://schemas.openxmlformats.org/drawingml/2006/main">
              <a:ext uri="{FF2B5EF4-FFF2-40B4-BE49-F238E27FC236}">
                <a16:creationId xmlns:a16="http://schemas.microsoft.com/office/drawing/2014/main" id="{6394DD45-6337-4F25-BED3-2486F492E07E}"/>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Checkpoint: compute a chance backup</a:t>
            </a:r>
          </a:p>
        </p:txBody>
      </p:sp>
      <p:sp>
        <p:nvSpPr>
          <p:cNvPr id="2" name="title-accent-15">
            <a:extLst xmlns:a="http://schemas.openxmlformats.org/drawingml/2006/main">
              <a:ext uri="{FF2B5EF4-FFF2-40B4-BE49-F238E27FC236}">
                <a16:creationId xmlns:a16="http://schemas.microsoft.com/office/drawing/2014/main" id="{7616AC7C-A79C-43DD-8F9B-E374F25A1EF3}"/>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7" name="title-rule-15"/>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5">
            <a:extLst xmlns:a="http://schemas.openxmlformats.org/drawingml/2006/main">
              <a:ext uri="{FF2B5EF4-FFF2-40B4-BE49-F238E27FC236}">
                <a16:creationId xmlns:a16="http://schemas.microsoft.com/office/drawing/2014/main" id="{B8D0D887-3DFC-4BE4-91A8-C91C9DE89E44}"/>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15">
            <a:extLst xmlns:a="http://schemas.openxmlformats.org/drawingml/2006/main">
              <a:ext uri="{FF2B5EF4-FFF2-40B4-BE49-F238E27FC236}">
                <a16:creationId xmlns:a16="http://schemas.microsoft.com/office/drawing/2014/main" id="{297B3E2A-6F0E-4D27-841F-8225247038C4}"/>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15</a:t>
            </a:r>
          </a:p>
        </p:txBody>
      </p:sp>
      <p:sp>
        <p:nvSpPr>
          <p:cNvPr id="6" name="checkpoint-label-15">
            <a:extLst xmlns:a="http://schemas.openxmlformats.org/drawingml/2006/main">
              <a:ext uri="{FF2B5EF4-FFF2-40B4-BE49-F238E27FC236}">
                <a16:creationId xmlns:a16="http://schemas.microsoft.com/office/drawing/2014/main" id="{F4BB78F3-3AC8-46DC-A815-8BDEE2B5F008}"/>
              </a:ext>
            </a:extLst>
          </p:cNvPr>
          <p:cNvSpPr>
            <a:spLocks xmlns:a="http://schemas.openxmlformats.org/drawingml/2006/main" noGrp="1"/>
          </p:cNvSpPr>
          <p:nvPr/>
        </p:nvSpPr>
        <p:spPr>
          <a:xfrm xmlns:a="http://schemas.openxmlformats.org/drawingml/2006/main">
            <a:off x="400050" y="159067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CHECKPOINT</a:t>
            </a:r>
          </a:p>
        </p:txBody>
      </p:sp>
      <p:sp>
        <p:nvSpPr>
          <p:cNvPr id="7" name="checkpoint-question-15">
            <a:extLst xmlns:a="http://schemas.openxmlformats.org/drawingml/2006/main">
              <a:ext uri="{FF2B5EF4-FFF2-40B4-BE49-F238E27FC236}">
                <a16:creationId xmlns:a16="http://schemas.microsoft.com/office/drawing/2014/main" id="{93E0598E-6BDA-4D8E-B5B8-D56F61A1792F}"/>
              </a:ext>
            </a:extLst>
          </p:cNvPr>
          <p:cNvSpPr>
            <a:spLocks xmlns:a="http://schemas.openxmlformats.org/drawingml/2006/main" noGrp="1"/>
          </p:cNvSpPr>
          <p:nvPr/>
        </p:nvSpPr>
        <p:spPr>
          <a:xfrm xmlns:a="http://schemas.openxmlformats.org/drawingml/2006/main">
            <a:off x="400050" y="2047875"/>
            <a:ext cx="1066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A chance node reaches values -2, 4, and 10 with probabilities 0.2, 0.5, and 0.3. What value backs up?</a:t>
            </a:r>
          </a:p>
        </p:txBody>
      </p:sp>
      <p:cxnSp>
        <p:nvCxnSpPr>
          <p:cNvPr id="22" name="checkpoint-rule-15"/>
          <p:cNvCxnSpPr/>
          <p:nvPr/>
        </p:nvCxnSpPr>
        <p:spPr>
          <a:xfrm xmlns:a="http://schemas.openxmlformats.org/drawingml/2006/main">
            <a:off x="400050" y="3971925"/>
            <a:ext cx="113919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checkpoint-prompt-number-15-1">
            <a:extLst xmlns:a="http://schemas.openxmlformats.org/drawingml/2006/main">
              <a:ext uri="{FF2B5EF4-FFF2-40B4-BE49-F238E27FC236}">
                <a16:creationId xmlns:a16="http://schemas.microsoft.com/office/drawing/2014/main" id="{E463A880-3A35-439D-B187-66931F239D03}"/>
              </a:ext>
            </a:extLst>
          </p:cNvPr>
          <p:cNvSpPr>
            <a:spLocks xmlns:a="http://schemas.openxmlformats.org/drawingml/2006/main" noGrp="1"/>
          </p:cNvSpPr>
          <p:nvPr/>
        </p:nvSpPr>
        <p:spPr>
          <a:xfrm xmlns:a="http://schemas.openxmlformats.org/drawingml/2006/main">
            <a:off x="4000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01</a:t>
            </a:r>
          </a:p>
        </p:txBody>
      </p:sp>
      <p:sp>
        <p:nvSpPr>
          <p:cNvPr id="10" name="checkpoint-prompt-15-1">
            <a:extLst xmlns:a="http://schemas.openxmlformats.org/drawingml/2006/main">
              <a:ext uri="{FF2B5EF4-FFF2-40B4-BE49-F238E27FC236}">
                <a16:creationId xmlns:a16="http://schemas.microsoft.com/office/drawing/2014/main" id="{3633A14B-21FF-4144-934F-F70729152075}"/>
              </a:ext>
            </a:extLst>
          </p:cNvPr>
          <p:cNvSpPr>
            <a:spLocks xmlns:a="http://schemas.openxmlformats.org/drawingml/2006/main" noGrp="1"/>
          </p:cNvSpPr>
          <p:nvPr/>
        </p:nvSpPr>
        <p:spPr>
          <a:xfrm xmlns:a="http://schemas.openxmlformats.org/drawingml/2006/main">
            <a:off x="4000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Check that probabilities sum to 1.</a:t>
            </a:r>
          </a:p>
        </p:txBody>
      </p:sp>
      <p:sp>
        <p:nvSpPr>
          <p:cNvPr id="11" name="checkpoint-prompt-number-15-2">
            <a:extLst xmlns:a="http://schemas.openxmlformats.org/drawingml/2006/main">
              <a:ext uri="{FF2B5EF4-FFF2-40B4-BE49-F238E27FC236}">
                <a16:creationId xmlns:a16="http://schemas.microsoft.com/office/drawing/2014/main" id="{DCEFF065-FC32-40FD-9EAB-4C03333D5431}"/>
              </a:ext>
            </a:extLst>
          </p:cNvPr>
          <p:cNvSpPr>
            <a:spLocks xmlns:a="http://schemas.openxmlformats.org/drawingml/2006/main" noGrp="1"/>
          </p:cNvSpPr>
          <p:nvPr/>
        </p:nvSpPr>
        <p:spPr>
          <a:xfrm xmlns:a="http://schemas.openxmlformats.org/drawingml/2006/main">
            <a:off x="426720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02</a:t>
            </a:r>
          </a:p>
        </p:txBody>
      </p:sp>
      <p:sp>
        <p:nvSpPr>
          <p:cNvPr id="12" name="checkpoint-prompt-15-2">
            <a:extLst xmlns:a="http://schemas.openxmlformats.org/drawingml/2006/main">
              <a:ext uri="{FF2B5EF4-FFF2-40B4-BE49-F238E27FC236}">
                <a16:creationId xmlns:a16="http://schemas.microsoft.com/office/drawing/2014/main" id="{00F38500-8A81-44CB-AE9F-BB2FDDF40D25}"/>
              </a:ext>
            </a:extLst>
          </p:cNvPr>
          <p:cNvSpPr>
            <a:spLocks xmlns:a="http://schemas.openxmlformats.org/drawingml/2006/main" noGrp="1"/>
          </p:cNvSpPr>
          <p:nvPr/>
        </p:nvSpPr>
        <p:spPr>
          <a:xfrm xmlns:a="http://schemas.openxmlformats.org/drawingml/2006/main">
            <a:off x="426720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Multiply each value by its probability.</a:t>
            </a:r>
          </a:p>
        </p:txBody>
      </p:sp>
      <p:sp>
        <p:nvSpPr>
          <p:cNvPr id="13" name="checkpoint-prompt-number-15-3">
            <a:extLst xmlns:a="http://schemas.openxmlformats.org/drawingml/2006/main">
              <a:ext uri="{FF2B5EF4-FFF2-40B4-BE49-F238E27FC236}">
                <a16:creationId xmlns:a16="http://schemas.microsoft.com/office/drawing/2014/main" id="{F89C3DE4-D538-42EE-80D6-E409D5F85338}"/>
              </a:ext>
            </a:extLst>
          </p:cNvPr>
          <p:cNvSpPr>
            <a:spLocks xmlns:a="http://schemas.openxmlformats.org/drawingml/2006/main" noGrp="1"/>
          </p:cNvSpPr>
          <p:nvPr/>
        </p:nvSpPr>
        <p:spPr>
          <a:xfrm xmlns:a="http://schemas.openxmlformats.org/drawingml/2006/main">
            <a:off x="8134350" y="4343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03</a:t>
            </a:r>
          </a:p>
        </p:txBody>
      </p:sp>
      <p:sp>
        <p:nvSpPr>
          <p:cNvPr id="14" name="checkpoint-prompt-15-3">
            <a:extLst xmlns:a="http://schemas.openxmlformats.org/drawingml/2006/main">
              <a:ext uri="{FF2B5EF4-FFF2-40B4-BE49-F238E27FC236}">
                <a16:creationId xmlns:a16="http://schemas.microsoft.com/office/drawing/2014/main" id="{8FB13285-7667-47C7-8FB2-D16CB85F7DB7}"/>
              </a:ext>
            </a:extLst>
          </p:cNvPr>
          <p:cNvSpPr>
            <a:spLocks xmlns:a="http://schemas.openxmlformats.org/drawingml/2006/main" noGrp="1"/>
          </p:cNvSpPr>
          <p:nvPr/>
        </p:nvSpPr>
        <p:spPr>
          <a:xfrm xmlns:a="http://schemas.openxmlformats.org/drawingml/2006/main">
            <a:off x="8134350" y="4829175"/>
            <a:ext cx="333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111111"/>
                </a:solidFill>
                <a:latin typeface="Arial"/>
                <a:ea typeface="Arial"/>
                <a:cs typeface="Arial"/>
              </a:defRPr>
            </a:pPr>
            <a:r>
              <a:rPr sz="1500" b="0">
                <a:solidFill>
                  <a:srgbClr val="111111"/>
                </a:solidFill>
                <a:latin typeface="Arial"/>
                <a:ea typeface="Arial"/>
                <a:cs typeface="Arial"/>
              </a:rPr>
              <a:t>Add the three contributions.</a:t>
            </a:r>
          </a:p>
        </p:txBody>
      </p:sp>
    </p:spTree>
    <p:extLst>
      <p:ext uri="{BB962C8B-B14F-4D97-AF65-F5344CB8AC3E}">
        <p14:creationId xmlns:p14="http://schemas.microsoft.com/office/powerpoint/2010/main" val="8455667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6">
            <a:extLst xmlns:a="http://schemas.openxmlformats.org/drawingml/2006/main">
              <a:ext uri="{FF2B5EF4-FFF2-40B4-BE49-F238E27FC236}">
                <a16:creationId xmlns:a16="http://schemas.microsoft.com/office/drawing/2014/main" id="{0CC68AD8-1978-4AF3-B178-8A7E8EE1F575}"/>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Cross-check exact optimization against the baseline</a:t>
            </a:r>
          </a:p>
        </p:txBody>
      </p:sp>
      <p:sp>
        <p:nvSpPr>
          <p:cNvPr id="2" name="title-accent-16">
            <a:extLst xmlns:a="http://schemas.openxmlformats.org/drawingml/2006/main">
              <a:ext uri="{FF2B5EF4-FFF2-40B4-BE49-F238E27FC236}">
                <a16:creationId xmlns:a16="http://schemas.microsoft.com/office/drawing/2014/main" id="{CB2EF52B-8A09-4404-9112-19C1B5BAF4C7}"/>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6"/>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6">
            <a:extLst xmlns:a="http://schemas.openxmlformats.org/drawingml/2006/main">
              <a:ext uri="{FF2B5EF4-FFF2-40B4-BE49-F238E27FC236}">
                <a16:creationId xmlns:a16="http://schemas.microsoft.com/office/drawing/2014/main" id="{A427D4DD-F0E8-4E23-9B7D-FBEEA22B6F76}"/>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16">
            <a:extLst xmlns:a="http://schemas.openxmlformats.org/drawingml/2006/main">
              <a:ext uri="{FF2B5EF4-FFF2-40B4-BE49-F238E27FC236}">
                <a16:creationId xmlns:a16="http://schemas.microsoft.com/office/drawing/2014/main" id="{607E709C-DB30-46D5-9F6D-7FECD513A9C0}"/>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16</a:t>
            </a:r>
          </a:p>
        </p:txBody>
      </p:sp>
      <p:sp>
        <p:nvSpPr>
          <p:cNvPr id="6" name="claim-16">
            <a:extLst xmlns:a="http://schemas.openxmlformats.org/drawingml/2006/main">
              <a:ext uri="{FF2B5EF4-FFF2-40B4-BE49-F238E27FC236}">
                <a16:creationId xmlns:a16="http://schemas.microsoft.com/office/drawing/2014/main" id="{81B65931-B93F-46B5-B997-8AEA3D504771}"/>
              </a:ext>
            </a:extLst>
          </p:cNvPr>
          <p:cNvSpPr>
            <a:spLocks xmlns:a="http://schemas.openxmlformats.org/drawingml/2006/main" noGrp="1"/>
          </p:cNvSpPr>
          <p:nvPr/>
        </p:nvSpPr>
        <p:spPr>
          <a:xfrm xmlns:a="http://schemas.openxmlformats.org/drawingml/2006/main">
            <a:off x="400050" y="158115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150" b="1">
                <a:solidFill>
                  <a:srgbClr val="111111"/>
                </a:solidFill>
                <a:latin typeface="Arial"/>
                <a:ea typeface="Arial"/>
                <a:cs typeface="Arial"/>
              </a:defRPr>
            </a:pPr>
            <a:r>
              <a:rPr sz="3150" b="1">
                <a:solidFill>
                  <a:srgbClr val="111111"/>
                </a:solidFill>
                <a:latin typeface="Arial"/>
                <a:ea typeface="Arial"/>
                <a:cs typeface="Arial"/>
              </a:rPr>
              <a:t>Every alpha-beta implementation should match plain minimax on small trees while expanding no more nodes.</a:t>
            </a:r>
          </a:p>
        </p:txBody>
      </p:sp>
      <p:sp>
        <p:nvSpPr>
          <p:cNvPr id="7" name="claim-panel-16">
            <a:extLst xmlns:a="http://schemas.openxmlformats.org/drawingml/2006/main">
              <a:ext uri="{FF2B5EF4-FFF2-40B4-BE49-F238E27FC236}">
                <a16:creationId xmlns:a16="http://schemas.microsoft.com/office/drawing/2014/main" id="{8C91E7A9-9236-4D1C-A54D-5C829225F3F8}"/>
              </a:ext>
            </a:extLst>
          </p:cNvPr>
          <p:cNvSpPr>
            <a:spLocks xmlns:a="http://schemas.openxmlformats.org/drawingml/2006/main" noGrp="1"/>
          </p:cNvSpPr>
          <p:nvPr/>
        </p:nvSpPr>
        <p:spPr>
          <a:xfrm xmlns:a="http://schemas.openxmlformats.org/drawingml/2006/main">
            <a:off x="8191500" y="1581150"/>
            <a:ext cx="360045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claim-keyword-16">
            <a:extLst xmlns:a="http://schemas.openxmlformats.org/drawingml/2006/main">
              <a:ext uri="{FF2B5EF4-FFF2-40B4-BE49-F238E27FC236}">
                <a16:creationId xmlns:a16="http://schemas.microsoft.com/office/drawing/2014/main" id="{34B99115-DD9C-4FAE-9E5D-363AF6B8C6DB}"/>
              </a:ext>
            </a:extLst>
          </p:cNvPr>
          <p:cNvSpPr>
            <a:spLocks xmlns:a="http://schemas.openxmlformats.org/drawingml/2006/main" noGrp="1"/>
          </p:cNvSpPr>
          <p:nvPr/>
        </p:nvSpPr>
        <p:spPr>
          <a:xfrm xmlns:a="http://schemas.openxmlformats.org/drawingml/2006/main">
            <a:off x="8524875" y="18859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2700" b="1">
                <a:solidFill>
                  <a:srgbClr val="3D8DFF"/>
                </a:solidFill>
                <a:latin typeface="Arial"/>
                <a:ea typeface="Arial"/>
                <a:cs typeface="Arial"/>
              </a:defRPr>
            </a:pPr>
            <a:r>
              <a:rPr sz="2700" b="1">
                <a:solidFill>
                  <a:srgbClr val="3D8DFF"/>
                </a:solidFill>
                <a:latin typeface="Arial"/>
                <a:ea typeface="Arial"/>
                <a:cs typeface="Arial"/>
              </a:rPr>
              <a:t>Equivalence</a:t>
            </a:r>
          </a:p>
        </p:txBody>
      </p:sp>
      <p:sp>
        <p:nvSpPr>
          <p:cNvPr id="9" name="claim-keyword-detail-16">
            <a:extLst xmlns:a="http://schemas.openxmlformats.org/drawingml/2006/main">
              <a:ext uri="{FF2B5EF4-FFF2-40B4-BE49-F238E27FC236}">
                <a16:creationId xmlns:a16="http://schemas.microsoft.com/office/drawing/2014/main" id="{DD1F7857-FFB0-4037-9F04-85B76855DD71}"/>
              </a:ext>
            </a:extLst>
          </p:cNvPr>
          <p:cNvSpPr>
            <a:spLocks xmlns:a="http://schemas.openxmlformats.org/drawingml/2006/main" noGrp="1"/>
          </p:cNvSpPr>
          <p:nvPr/>
        </p:nvSpPr>
        <p:spPr>
          <a:xfrm xmlns:a="http://schemas.openxmlformats.org/drawingml/2006/main">
            <a:off x="8524875" y="26098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111111"/>
                </a:solidFill>
                <a:latin typeface="Arial"/>
                <a:ea typeface="Arial"/>
                <a:cs typeface="Arial"/>
              </a:defRPr>
            </a:pPr>
            <a:r>
              <a:rPr sz="1425" b="0">
                <a:solidFill>
                  <a:srgbClr val="111111"/>
                </a:solidFill>
                <a:latin typeface="Arial"/>
                <a:ea typeface="Arial"/>
                <a:cs typeface="Arial"/>
              </a:rPr>
              <a:t>Value and root action are correctness evidence; node count is optimization evidence.</a:t>
            </a:r>
          </a:p>
        </p:txBody>
      </p:sp>
      <p:sp>
        <p:nvSpPr>
          <p:cNvPr id="10" name="claim-detail-16-marker-1">
            <a:extLst xmlns:a="http://schemas.openxmlformats.org/drawingml/2006/main">
              <a:ext uri="{FF2B5EF4-FFF2-40B4-BE49-F238E27FC236}">
                <a16:creationId xmlns:a16="http://schemas.microsoft.com/office/drawing/2014/main" id="{4667A56E-108B-4A94-B143-258273FB8A38}"/>
              </a:ext>
            </a:extLst>
          </p:cNvPr>
          <p:cNvSpPr>
            <a:spLocks xmlns:a="http://schemas.openxmlformats.org/drawingml/2006/main" noGrp="1"/>
          </p:cNvSpPr>
          <p:nvPr/>
        </p:nvSpPr>
        <p:spPr>
          <a:xfrm xmlns:a="http://schemas.openxmlformats.org/drawingml/2006/main">
            <a:off x="400050" y="38481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claim-detail-16-text-1">
            <a:extLst xmlns:a="http://schemas.openxmlformats.org/drawingml/2006/main">
              <a:ext uri="{FF2B5EF4-FFF2-40B4-BE49-F238E27FC236}">
                <a16:creationId xmlns:a16="http://schemas.microsoft.com/office/drawing/2014/main" id="{EEA80CED-FA60-4E73-A6D9-351151FD7A19}"/>
              </a:ext>
            </a:extLst>
          </p:cNvPr>
          <p:cNvSpPr>
            <a:spLocks xmlns:a="http://schemas.openxmlformats.org/drawingml/2006/main" noGrp="1"/>
          </p:cNvSpPr>
          <p:nvPr/>
        </p:nvSpPr>
        <p:spPr>
          <a:xfrm xmlns:a="http://schemas.openxmlformats.org/drawingml/2006/main">
            <a:off x="628650" y="37623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Generate small deterministic trees with known leaves.</a:t>
            </a:r>
          </a:p>
        </p:txBody>
      </p:sp>
      <p:sp>
        <p:nvSpPr>
          <p:cNvPr id="12" name="claim-detail-16-marker-2">
            <a:extLst xmlns:a="http://schemas.openxmlformats.org/drawingml/2006/main">
              <a:ext uri="{FF2B5EF4-FFF2-40B4-BE49-F238E27FC236}">
                <a16:creationId xmlns:a16="http://schemas.microsoft.com/office/drawing/2014/main" id="{C3236FA7-7E40-4DCE-8674-2455104F39EE}"/>
              </a:ext>
            </a:extLst>
          </p:cNvPr>
          <p:cNvSpPr>
            <a:spLocks xmlns:a="http://schemas.openxmlformats.org/drawingml/2006/main" noGrp="1"/>
          </p:cNvSpPr>
          <p:nvPr/>
        </p:nvSpPr>
        <p:spPr>
          <a:xfrm xmlns:a="http://schemas.openxmlformats.org/drawingml/2006/main">
            <a:off x="400050" y="44577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claim-detail-16-text-2">
            <a:extLst xmlns:a="http://schemas.openxmlformats.org/drawingml/2006/main">
              <a:ext uri="{FF2B5EF4-FFF2-40B4-BE49-F238E27FC236}">
                <a16:creationId xmlns:a16="http://schemas.microsoft.com/office/drawing/2014/main" id="{C80C4C6C-55CB-4AA3-8AF0-CACE6487788A}"/>
              </a:ext>
            </a:extLst>
          </p:cNvPr>
          <p:cNvSpPr>
            <a:spLocks xmlns:a="http://schemas.openxmlformats.org/drawingml/2006/main" noGrp="1"/>
          </p:cNvSpPr>
          <p:nvPr/>
        </p:nvSpPr>
        <p:spPr>
          <a:xfrm xmlns:a="http://schemas.openxmlformats.org/drawingml/2006/main">
            <a:off x="628650" y="43719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Compare values across multiple action orders.</a:t>
            </a:r>
          </a:p>
        </p:txBody>
      </p:sp>
      <p:sp>
        <p:nvSpPr>
          <p:cNvPr id="14" name="claim-detail-16-marker-3">
            <a:extLst xmlns:a="http://schemas.openxmlformats.org/drawingml/2006/main">
              <a:ext uri="{FF2B5EF4-FFF2-40B4-BE49-F238E27FC236}">
                <a16:creationId xmlns:a16="http://schemas.microsoft.com/office/drawing/2014/main" id="{DECE5736-36C8-43DF-90AC-AE661975F2AA}"/>
              </a:ext>
            </a:extLst>
          </p:cNvPr>
          <p:cNvSpPr>
            <a:spLocks xmlns:a="http://schemas.openxmlformats.org/drawingml/2006/main" noGrp="1"/>
          </p:cNvSpPr>
          <p:nvPr/>
        </p:nvSpPr>
        <p:spPr>
          <a:xfrm xmlns:a="http://schemas.openxmlformats.org/drawingml/2006/main">
            <a:off x="400050" y="5067300"/>
            <a:ext cx="85725" cy="857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claim-detail-16-text-3">
            <a:extLst xmlns:a="http://schemas.openxmlformats.org/drawingml/2006/main">
              <a:ext uri="{FF2B5EF4-FFF2-40B4-BE49-F238E27FC236}">
                <a16:creationId xmlns:a16="http://schemas.microsoft.com/office/drawing/2014/main" id="{40E41EE0-C6B8-4D22-BBF8-5051CC74DD50}"/>
              </a:ext>
            </a:extLst>
          </p:cNvPr>
          <p:cNvSpPr>
            <a:spLocks xmlns:a="http://schemas.openxmlformats.org/drawingml/2006/main" noGrp="1"/>
          </p:cNvSpPr>
          <p:nvPr/>
        </p:nvSpPr>
        <p:spPr>
          <a:xfrm xmlns:a="http://schemas.openxmlformats.org/drawingml/2006/main">
            <a:off x="628650" y="4981575"/>
            <a:ext cx="108204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Test expectimax separately with normalized probability tables.</a:t>
            </a:r>
          </a:p>
        </p:txBody>
      </p:sp>
    </p:spTree>
    <p:extLst>
      <p:ext uri="{BB962C8B-B14F-4D97-AF65-F5344CB8AC3E}">
        <p14:creationId xmlns:p14="http://schemas.microsoft.com/office/powerpoint/2010/main" val="55376460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17">
            <a:extLst xmlns:a="http://schemas.openxmlformats.org/drawingml/2006/main">
              <a:ext uri="{FF2B5EF4-FFF2-40B4-BE49-F238E27FC236}">
                <a16:creationId xmlns:a16="http://schemas.microsoft.com/office/drawing/2014/main" id="{5C26043A-1467-43D8-AD70-2C9263E00C03}"/>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Key takeaways</a:t>
            </a:r>
          </a:p>
        </p:txBody>
      </p:sp>
      <p:sp>
        <p:nvSpPr>
          <p:cNvPr id="2" name="title-accent-17">
            <a:extLst xmlns:a="http://schemas.openxmlformats.org/drawingml/2006/main">
              <a:ext uri="{FF2B5EF4-FFF2-40B4-BE49-F238E27FC236}">
                <a16:creationId xmlns:a16="http://schemas.microsoft.com/office/drawing/2014/main" id="{F0A17EF2-0607-408A-8187-EDE0E40BBD61}"/>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21" name="title-rule-17"/>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7">
            <a:extLst xmlns:a="http://schemas.openxmlformats.org/drawingml/2006/main">
              <a:ext uri="{FF2B5EF4-FFF2-40B4-BE49-F238E27FC236}">
                <a16:creationId xmlns:a16="http://schemas.microsoft.com/office/drawing/2014/main" id="{B6670091-210C-4457-BA0F-081FA39EE1E1}"/>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17">
            <a:extLst xmlns:a="http://schemas.openxmlformats.org/drawingml/2006/main">
              <a:ext uri="{FF2B5EF4-FFF2-40B4-BE49-F238E27FC236}">
                <a16:creationId xmlns:a16="http://schemas.microsoft.com/office/drawing/2014/main" id="{4335D51E-2627-43AB-84B1-2A013E3C0809}"/>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17</a:t>
            </a:r>
          </a:p>
        </p:txBody>
      </p:sp>
      <p:sp>
        <p:nvSpPr>
          <p:cNvPr id="6" name="summary-number-17-1">
            <a:extLst xmlns:a="http://schemas.openxmlformats.org/drawingml/2006/main">
              <a:ext uri="{FF2B5EF4-FFF2-40B4-BE49-F238E27FC236}">
                <a16:creationId xmlns:a16="http://schemas.microsoft.com/office/drawing/2014/main" id="{47142ADE-26D1-4318-8A8F-482DFAEA21BF}"/>
              </a:ext>
            </a:extLst>
          </p:cNvPr>
          <p:cNvSpPr>
            <a:spLocks xmlns:a="http://schemas.openxmlformats.org/drawingml/2006/main" noGrp="1"/>
          </p:cNvSpPr>
          <p:nvPr/>
        </p:nvSpPr>
        <p:spPr>
          <a:xfrm xmlns:a="http://schemas.openxmlformats.org/drawingml/2006/main">
            <a:off x="400050" y="16192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cxnSp>
        <p:nvCxnSpPr>
          <p:cNvPr id="25" name="summary-rule-17-1"/>
          <p:cNvCxnSpPr/>
          <p:nvPr/>
        </p:nvCxnSpPr>
        <p:spPr>
          <a:xfrm xmlns:a="http://schemas.openxmlformats.org/drawingml/2006/main">
            <a:off x="1123950" y="19240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summary-text-17-1">
            <a:extLst xmlns:a="http://schemas.openxmlformats.org/drawingml/2006/main">
              <a:ext uri="{FF2B5EF4-FFF2-40B4-BE49-F238E27FC236}">
                <a16:creationId xmlns:a16="http://schemas.microsoft.com/office/drawing/2014/main" id="{4BCE8E57-4029-4F82-921D-03F8B7A7F6F6}"/>
              </a:ext>
            </a:extLst>
          </p:cNvPr>
          <p:cNvSpPr>
            <a:spLocks xmlns:a="http://schemas.openxmlformats.org/drawingml/2006/main" noGrp="1"/>
          </p:cNvSpPr>
          <p:nvPr/>
        </p:nvSpPr>
        <p:spPr>
          <a:xfrm xmlns:a="http://schemas.openxmlformats.org/drawingml/2006/main">
            <a:off x="2324100" y="16192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Alpha-beta is an exact minimax optimization.</a:t>
            </a:r>
          </a:p>
        </p:txBody>
      </p:sp>
      <p:sp>
        <p:nvSpPr>
          <p:cNvPr id="9" name="summary-number-17-2">
            <a:extLst xmlns:a="http://schemas.openxmlformats.org/drawingml/2006/main">
              <a:ext uri="{FF2B5EF4-FFF2-40B4-BE49-F238E27FC236}">
                <a16:creationId xmlns:a16="http://schemas.microsoft.com/office/drawing/2014/main" id="{5D341E91-4AC5-4853-BC62-95FCE603B69F}"/>
              </a:ext>
            </a:extLst>
          </p:cNvPr>
          <p:cNvSpPr>
            <a:spLocks xmlns:a="http://schemas.openxmlformats.org/drawingml/2006/main" noGrp="1"/>
          </p:cNvSpPr>
          <p:nvPr/>
        </p:nvSpPr>
        <p:spPr>
          <a:xfrm xmlns:a="http://schemas.openxmlformats.org/drawingml/2006/main">
            <a:off x="400050" y="26098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cxnSp>
        <p:nvCxnSpPr>
          <p:cNvPr id="28" name="summary-rule-17-2"/>
          <p:cNvCxnSpPr/>
          <p:nvPr/>
        </p:nvCxnSpPr>
        <p:spPr>
          <a:xfrm xmlns:a="http://schemas.openxmlformats.org/drawingml/2006/main">
            <a:off x="1123950" y="29146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1" name="summary-text-17-2">
            <a:extLst xmlns:a="http://schemas.openxmlformats.org/drawingml/2006/main">
              <a:ext uri="{FF2B5EF4-FFF2-40B4-BE49-F238E27FC236}">
                <a16:creationId xmlns:a16="http://schemas.microsoft.com/office/drawing/2014/main" id="{FBCAB7FD-FDDF-4161-9248-5D351175E916}"/>
              </a:ext>
            </a:extLst>
          </p:cNvPr>
          <p:cNvSpPr>
            <a:spLocks xmlns:a="http://schemas.openxmlformats.org/drawingml/2006/main" noGrp="1"/>
          </p:cNvSpPr>
          <p:nvPr/>
        </p:nvSpPr>
        <p:spPr>
          <a:xfrm xmlns:a="http://schemas.openxmlformats.org/drawingml/2006/main">
            <a:off x="2324100" y="26098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Alpha and beta are path-relative decision bounds.</a:t>
            </a:r>
          </a:p>
        </p:txBody>
      </p:sp>
      <p:sp>
        <p:nvSpPr>
          <p:cNvPr id="12" name="summary-number-17-3">
            <a:extLst xmlns:a="http://schemas.openxmlformats.org/drawingml/2006/main">
              <a:ext uri="{FF2B5EF4-FFF2-40B4-BE49-F238E27FC236}">
                <a16:creationId xmlns:a16="http://schemas.microsoft.com/office/drawing/2014/main" id="{E970EEBB-00FE-4506-8498-8FB8F4CBD9A3}"/>
              </a:ext>
            </a:extLst>
          </p:cNvPr>
          <p:cNvSpPr>
            <a:spLocks xmlns:a="http://schemas.openxmlformats.org/drawingml/2006/main" noGrp="1"/>
          </p:cNvSpPr>
          <p:nvPr/>
        </p:nvSpPr>
        <p:spPr>
          <a:xfrm xmlns:a="http://schemas.openxmlformats.org/drawingml/2006/main">
            <a:off x="400050" y="36004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cxnSp>
        <p:nvCxnSpPr>
          <p:cNvPr id="31" name="summary-rule-17-3"/>
          <p:cNvCxnSpPr/>
          <p:nvPr/>
        </p:nvCxnSpPr>
        <p:spPr>
          <a:xfrm xmlns:a="http://schemas.openxmlformats.org/drawingml/2006/main">
            <a:off x="1123950" y="39052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summary-text-17-3">
            <a:extLst xmlns:a="http://schemas.openxmlformats.org/drawingml/2006/main">
              <a:ext uri="{FF2B5EF4-FFF2-40B4-BE49-F238E27FC236}">
                <a16:creationId xmlns:a16="http://schemas.microsoft.com/office/drawing/2014/main" id="{42CEF1D2-3324-48A9-B578-D83C999D2972}"/>
              </a:ext>
            </a:extLst>
          </p:cNvPr>
          <p:cNvSpPr>
            <a:spLocks xmlns:a="http://schemas.openxmlformats.org/drawingml/2006/main" noGrp="1"/>
          </p:cNvSpPr>
          <p:nvPr/>
        </p:nvSpPr>
        <p:spPr>
          <a:xfrm xmlns:a="http://schemas.openxmlformats.org/drawingml/2006/main">
            <a:off x="2324100" y="36004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Move ordering changes work but not value.</a:t>
            </a:r>
          </a:p>
        </p:txBody>
      </p:sp>
      <p:sp>
        <p:nvSpPr>
          <p:cNvPr id="15" name="summary-number-17-4">
            <a:extLst xmlns:a="http://schemas.openxmlformats.org/drawingml/2006/main">
              <a:ext uri="{FF2B5EF4-FFF2-40B4-BE49-F238E27FC236}">
                <a16:creationId xmlns:a16="http://schemas.microsoft.com/office/drawing/2014/main" id="{58069172-FCC2-4AE8-8419-BF0D1784DB77}"/>
              </a:ext>
            </a:extLst>
          </p:cNvPr>
          <p:cNvSpPr>
            <a:spLocks xmlns:a="http://schemas.openxmlformats.org/drawingml/2006/main" noGrp="1"/>
          </p:cNvSpPr>
          <p:nvPr/>
        </p:nvSpPr>
        <p:spPr>
          <a:xfrm xmlns:a="http://schemas.openxmlformats.org/drawingml/2006/main">
            <a:off x="400050" y="4591050"/>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cxnSp>
        <p:nvCxnSpPr>
          <p:cNvPr id="34" name="summary-rule-17-4"/>
          <p:cNvCxnSpPr/>
          <p:nvPr/>
        </p:nvCxnSpPr>
        <p:spPr>
          <a:xfrm xmlns:a="http://schemas.openxmlformats.org/drawingml/2006/main">
            <a:off x="1123950" y="4895850"/>
            <a:ext cx="990600" cy="0"/>
          </a:xfrm>
          <a:prstGeom xmlns:a="http://schemas.openxmlformats.org/drawingml/2006/main" prst="straightConnector1">
            <a:avLst/>
          </a:prstGeom>
          <a:ln xmlns:a="http://schemas.openxmlformats.org/drawingml/2006/main" w="9525">
            <a:solidFill>
              <a:srgbClr val="B8BCC4"/>
            </a:solidFill>
            <a:prstDash val="solid"/>
          </a:ln>
        </p:spPr>
      </p:cxnSp>
      <p:sp>
        <p:nvSpPr>
          <p:cNvPr id="17" name="summary-text-17-4">
            <a:extLst xmlns:a="http://schemas.openxmlformats.org/drawingml/2006/main">
              <a:ext uri="{FF2B5EF4-FFF2-40B4-BE49-F238E27FC236}">
                <a16:creationId xmlns:a16="http://schemas.microsoft.com/office/drawing/2014/main" id="{0F361515-1217-4FC0-9989-D98126A094FB}"/>
              </a:ext>
            </a:extLst>
          </p:cNvPr>
          <p:cNvSpPr>
            <a:spLocks xmlns:a="http://schemas.openxmlformats.org/drawingml/2006/main" noGrp="1"/>
          </p:cNvSpPr>
          <p:nvPr/>
        </p:nvSpPr>
        <p:spPr>
          <a:xfrm xmlns:a="http://schemas.openxmlformats.org/drawingml/2006/main">
            <a:off x="2324100" y="45910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725" b="0">
                <a:solidFill>
                  <a:srgbClr val="111111"/>
                </a:solidFill>
                <a:latin typeface="Arial"/>
                <a:ea typeface="Arial"/>
                <a:cs typeface="Arial"/>
              </a:defRPr>
            </a:pPr>
            <a:r>
              <a:rPr sz="1725" b="0">
                <a:solidFill>
                  <a:srgbClr val="111111"/>
                </a:solidFill>
                <a:latin typeface="Arial"/>
                <a:ea typeface="Arial"/>
                <a:cs typeface="Arial"/>
              </a:rPr>
              <a:t>Expectimax replaces adversarial minimum with a probability-weighted mean.</a:t>
            </a:r>
          </a:p>
        </p:txBody>
      </p:sp>
      <p:sp>
        <p:nvSpPr>
          <p:cNvPr id="18" name="summary-next-17">
            <a:extLst xmlns:a="http://schemas.openxmlformats.org/drawingml/2006/main">
              <a:ext uri="{FF2B5EF4-FFF2-40B4-BE49-F238E27FC236}">
                <a16:creationId xmlns:a16="http://schemas.microsoft.com/office/drawing/2014/main" id="{D06C6F09-9B6C-4B1C-93E0-73ED350F75CE}"/>
              </a:ext>
            </a:extLst>
          </p:cNvPr>
          <p:cNvSpPr>
            <a:spLocks xmlns:a="http://schemas.openxmlformats.org/drawingml/2006/main" noGrp="1"/>
          </p:cNvSpPr>
          <p:nvPr/>
        </p:nvSpPr>
        <p:spPr>
          <a:xfrm xmlns:a="http://schemas.openxmlformats.org/drawingml/2006/main">
            <a:off x="400050" y="5667375"/>
            <a:ext cx="1104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Next: Week 4 generalizes sequential decision making under uncertainty with Markov decision processes.</a:t>
            </a:r>
          </a:p>
        </p:txBody>
      </p:sp>
    </p:spTree>
    <p:extLst>
      <p:ext uri="{BB962C8B-B14F-4D97-AF65-F5344CB8AC3E}">
        <p14:creationId xmlns:p14="http://schemas.microsoft.com/office/powerpoint/2010/main" val="12881537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title-18">
            <a:extLst xmlns:a="http://schemas.openxmlformats.org/drawingml/2006/main">
              <a:ext uri="{FF2B5EF4-FFF2-40B4-BE49-F238E27FC236}">
                <a16:creationId xmlns:a16="http://schemas.microsoft.com/office/drawing/2014/main" id="{46B300FE-EDAF-4C94-A1D5-C814BA5B6ED2}"/>
              </a:ext>
            </a:extLst>
          </p:cNvPr>
          <p:cNvSpPr>
            <a:spLocks xmlns:a="http://schemas.openxmlformats.org/drawingml/2006/main" noGrp="1"/>
          </p:cNvSpPr>
          <p:nvPr/>
        </p:nvSpPr>
        <p:spPr>
          <a:xfrm xmlns:a="http://schemas.openxmlformats.org/drawingml/2006/main">
            <a:off x="400050" y="285750"/>
            <a:ext cx="110966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3000" b="1">
                <a:solidFill>
                  <a:srgbClr val="111111"/>
                </a:solidFill>
                <a:latin typeface="Arial"/>
                <a:ea typeface="Arial"/>
                <a:cs typeface="Arial"/>
              </a:defRPr>
            </a:pPr>
            <a:r>
              <a:rPr sz="3000" b="1">
                <a:solidFill>
                  <a:srgbClr val="111111"/>
                </a:solidFill>
                <a:latin typeface="Arial"/>
                <a:ea typeface="Arial"/>
                <a:cs typeface="Arial"/>
              </a:rPr>
              <a:t>Check your understanding</a:t>
            </a:r>
          </a:p>
        </p:txBody>
      </p:sp>
      <p:sp>
        <p:nvSpPr>
          <p:cNvPr id="2" name="title-accent-18">
            <a:extLst xmlns:a="http://schemas.openxmlformats.org/drawingml/2006/main">
              <a:ext uri="{FF2B5EF4-FFF2-40B4-BE49-F238E27FC236}">
                <a16:creationId xmlns:a16="http://schemas.microsoft.com/office/drawing/2014/main" id="{3C97D9CD-5A63-49E6-9274-71E9E2F83986}"/>
              </a:ext>
            </a:extLst>
          </p:cNvPr>
          <p:cNvSpPr>
            <a:spLocks xmlns:a="http://schemas.openxmlformats.org/drawingml/2006/main" noGrp="1"/>
          </p:cNvSpPr>
          <p:nvPr/>
        </p:nvSpPr>
        <p:spPr>
          <a:xfrm xmlns:a="http://schemas.openxmlformats.org/drawingml/2006/main">
            <a:off x="400050" y="1133475"/>
            <a:ext cx="1571625" cy="47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cxnSp>
        <p:nvCxnSpPr>
          <p:cNvPr id="18" name="title-rule-18"/>
          <p:cNvCxnSpPr/>
          <p:nvPr/>
        </p:nvCxnSpPr>
        <p:spPr>
          <a:xfrm xmlns:a="http://schemas.openxmlformats.org/drawingml/2006/main">
            <a:off x="2047875" y="1152525"/>
            <a:ext cx="9744075" cy="0"/>
          </a:xfrm>
          <a:prstGeom xmlns:a="http://schemas.openxmlformats.org/drawingml/2006/main" prst="straightConnector1">
            <a:avLst/>
          </a:prstGeom>
          <a:ln xmlns:a="http://schemas.openxmlformats.org/drawingml/2006/main" w="9525">
            <a:solidFill>
              <a:srgbClr val="B8BCC4"/>
            </a:solidFill>
            <a:prstDash val="solid"/>
          </a:ln>
        </p:spPr>
      </p:cxnSp>
      <p:sp>
        <p:nvSpPr>
          <p:cNvPr id="4" name="footer-course-18">
            <a:extLst xmlns:a="http://schemas.openxmlformats.org/drawingml/2006/main">
              <a:ext uri="{FF2B5EF4-FFF2-40B4-BE49-F238E27FC236}">
                <a16:creationId xmlns:a16="http://schemas.microsoft.com/office/drawing/2014/main" id="{59B6A5A8-6647-42C0-B199-2AF90D77D09F}"/>
              </a:ext>
            </a:extLst>
          </p:cNvPr>
          <p:cNvSpPr>
            <a:spLocks xmlns:a="http://schemas.openxmlformats.org/drawingml/2006/main" noGrp="1"/>
          </p:cNvSpPr>
          <p:nvPr/>
        </p:nvSpPr>
        <p:spPr>
          <a:xfrm xmlns:a="http://schemas.openxmlformats.org/drawingml/2006/main">
            <a:off x="400050" y="641985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0">
                <a:solidFill>
                  <a:srgbClr val="5C6470"/>
                </a:solidFill>
                <a:latin typeface="Arial"/>
                <a:ea typeface="Arial"/>
                <a:cs typeface="Arial"/>
              </a:defRPr>
            </a:pPr>
            <a:r>
              <a:rPr sz="1050" b="0">
                <a:solidFill>
                  <a:srgbClr val="5C6470"/>
                </a:solidFill>
                <a:latin typeface="Arial"/>
                <a:ea typeface="Arial"/>
                <a:cs typeface="Arial"/>
              </a:rPr>
              <a:t>CMPSC 480  |  Week 3  |  Lesson 2</a:t>
            </a:r>
          </a:p>
        </p:txBody>
      </p:sp>
      <p:sp>
        <p:nvSpPr>
          <p:cNvPr id="5" name="footer-number-18">
            <a:extLst xmlns:a="http://schemas.openxmlformats.org/drawingml/2006/main">
              <a:ext uri="{FF2B5EF4-FFF2-40B4-BE49-F238E27FC236}">
                <a16:creationId xmlns:a16="http://schemas.microsoft.com/office/drawing/2014/main" id="{83925756-BB95-40CE-928C-EBA500C28EFC}"/>
              </a:ext>
            </a:extLst>
          </p:cNvPr>
          <p:cNvSpPr>
            <a:spLocks xmlns:a="http://schemas.openxmlformats.org/drawingml/2006/main" noGrp="1"/>
          </p:cNvSpPr>
          <p:nvPr/>
        </p:nvSpPr>
        <p:spPr>
          <a:xfrm xmlns:a="http://schemas.openxmlformats.org/drawingml/2006/main">
            <a:off x="1123950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r">
              <a:defRPr sz="1050" b="0">
                <a:solidFill>
                  <a:srgbClr val="5C6470"/>
                </a:solidFill>
                <a:latin typeface="Arial"/>
                <a:ea typeface="Arial"/>
                <a:cs typeface="Arial"/>
              </a:defRPr>
            </a:pPr>
            <a:r>
              <a:rPr sz="1050" b="0">
                <a:solidFill>
                  <a:srgbClr val="5C6470"/>
                </a:solidFill>
                <a:latin typeface="Arial"/>
                <a:ea typeface="Arial"/>
                <a:cs typeface="Arial"/>
              </a:rPr>
              <a:t>18</a:t>
            </a:r>
          </a:p>
        </p:txBody>
      </p:sp>
      <p:sp>
        <p:nvSpPr>
          <p:cNvPr id="6" name="question-number-18-1">
            <a:extLst xmlns:a="http://schemas.openxmlformats.org/drawingml/2006/main">
              <a:ext uri="{FF2B5EF4-FFF2-40B4-BE49-F238E27FC236}">
                <a16:creationId xmlns:a16="http://schemas.microsoft.com/office/drawing/2014/main" id="{4DFADA95-4248-4713-8DA3-0938B8DFF36C}"/>
              </a:ext>
            </a:extLst>
          </p:cNvPr>
          <p:cNvSpPr>
            <a:spLocks xmlns:a="http://schemas.openxmlformats.org/drawingml/2006/main" noGrp="1"/>
          </p:cNvSpPr>
          <p:nvPr/>
        </p:nvSpPr>
        <p:spPr>
          <a:xfrm xmlns:a="http://schemas.openxmlformats.org/drawingml/2006/main">
            <a:off x="400050" y="15716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Q1</a:t>
            </a:r>
          </a:p>
        </p:txBody>
      </p:sp>
      <p:sp>
        <p:nvSpPr>
          <p:cNvPr id="7" name="question-text-18-1">
            <a:extLst xmlns:a="http://schemas.openxmlformats.org/drawingml/2006/main">
              <a:ext uri="{FF2B5EF4-FFF2-40B4-BE49-F238E27FC236}">
                <a16:creationId xmlns:a16="http://schemas.microsoft.com/office/drawing/2014/main" id="{F2E62B84-E954-460A-8C3E-DF95E8B9A291}"/>
              </a:ext>
            </a:extLst>
          </p:cNvPr>
          <p:cNvSpPr>
            <a:spLocks xmlns:a="http://schemas.openxmlformats.org/drawingml/2006/main" noGrp="1"/>
          </p:cNvSpPr>
          <p:nvPr/>
        </p:nvSpPr>
        <p:spPr>
          <a:xfrm xmlns:a="http://schemas.openxmlformats.org/drawingml/2006/main">
            <a:off x="1257300" y="15716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Trace alpha-beta on a two-ply tree.</a:t>
            </a:r>
          </a:p>
        </p:txBody>
      </p:sp>
      <p:sp>
        <p:nvSpPr>
          <p:cNvPr id="8" name="question-number-18-2">
            <a:extLst xmlns:a="http://schemas.openxmlformats.org/drawingml/2006/main">
              <a:ext uri="{FF2B5EF4-FFF2-40B4-BE49-F238E27FC236}">
                <a16:creationId xmlns:a16="http://schemas.microsoft.com/office/drawing/2014/main" id="{DE8B084A-73FA-4C27-A17D-185332C0A6B0}"/>
              </a:ext>
            </a:extLst>
          </p:cNvPr>
          <p:cNvSpPr>
            <a:spLocks xmlns:a="http://schemas.openxmlformats.org/drawingml/2006/main" noGrp="1"/>
          </p:cNvSpPr>
          <p:nvPr/>
        </p:nvSpPr>
        <p:spPr>
          <a:xfrm xmlns:a="http://schemas.openxmlformats.org/drawingml/2006/main">
            <a:off x="400050" y="243840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Q2</a:t>
            </a:r>
          </a:p>
        </p:txBody>
      </p:sp>
      <p:sp>
        <p:nvSpPr>
          <p:cNvPr id="9" name="question-text-18-2">
            <a:extLst xmlns:a="http://schemas.openxmlformats.org/drawingml/2006/main">
              <a:ext uri="{FF2B5EF4-FFF2-40B4-BE49-F238E27FC236}">
                <a16:creationId xmlns:a16="http://schemas.microsoft.com/office/drawing/2014/main" id="{41D3ECE5-18A3-40D7-8CC0-C3DA1889380C}"/>
              </a:ext>
            </a:extLst>
          </p:cNvPr>
          <p:cNvSpPr>
            <a:spLocks xmlns:a="http://schemas.openxmlformats.org/drawingml/2006/main" noGrp="1"/>
          </p:cNvSpPr>
          <p:nvPr/>
        </p:nvSpPr>
        <p:spPr>
          <a:xfrm xmlns:a="http://schemas.openxmlformats.org/drawingml/2006/main">
            <a:off x="1257300" y="243840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Explain why a cutoff preserves value.</a:t>
            </a:r>
          </a:p>
        </p:txBody>
      </p:sp>
      <p:sp>
        <p:nvSpPr>
          <p:cNvPr id="10" name="question-number-18-3">
            <a:extLst xmlns:a="http://schemas.openxmlformats.org/drawingml/2006/main">
              <a:ext uri="{FF2B5EF4-FFF2-40B4-BE49-F238E27FC236}">
                <a16:creationId xmlns:a16="http://schemas.microsoft.com/office/drawing/2014/main" id="{03D3830E-8169-4996-8C38-24619A58109C}"/>
              </a:ext>
            </a:extLst>
          </p:cNvPr>
          <p:cNvSpPr>
            <a:spLocks xmlns:a="http://schemas.openxmlformats.org/drawingml/2006/main" noGrp="1"/>
          </p:cNvSpPr>
          <p:nvPr/>
        </p:nvSpPr>
        <p:spPr>
          <a:xfrm xmlns:a="http://schemas.openxmlformats.org/drawingml/2006/main">
            <a:off x="400050" y="330517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Q3</a:t>
            </a:r>
          </a:p>
        </p:txBody>
      </p:sp>
      <p:sp>
        <p:nvSpPr>
          <p:cNvPr id="11" name="question-text-18-3">
            <a:extLst xmlns:a="http://schemas.openxmlformats.org/drawingml/2006/main">
              <a:ext uri="{FF2B5EF4-FFF2-40B4-BE49-F238E27FC236}">
                <a16:creationId xmlns:a16="http://schemas.microsoft.com/office/drawing/2014/main" id="{FFF9E516-C257-4048-8A95-85C7BF491BD7}"/>
              </a:ext>
            </a:extLst>
          </p:cNvPr>
          <p:cNvSpPr>
            <a:spLocks xmlns:a="http://schemas.openxmlformats.org/drawingml/2006/main" noGrp="1"/>
          </p:cNvSpPr>
          <p:nvPr/>
        </p:nvSpPr>
        <p:spPr>
          <a:xfrm xmlns:a="http://schemas.openxmlformats.org/drawingml/2006/main">
            <a:off x="1257300" y="330517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Derive the best-case square-root branching effect.</a:t>
            </a:r>
          </a:p>
        </p:txBody>
      </p:sp>
      <p:sp>
        <p:nvSpPr>
          <p:cNvPr id="12" name="question-number-18-4">
            <a:extLst xmlns:a="http://schemas.openxmlformats.org/drawingml/2006/main">
              <a:ext uri="{FF2B5EF4-FFF2-40B4-BE49-F238E27FC236}">
                <a16:creationId xmlns:a16="http://schemas.microsoft.com/office/drawing/2014/main" id="{CB28B518-3EC5-495E-B0D8-F9A1C808304E}"/>
              </a:ext>
            </a:extLst>
          </p:cNvPr>
          <p:cNvSpPr>
            <a:spLocks xmlns:a="http://schemas.openxmlformats.org/drawingml/2006/main" noGrp="1"/>
          </p:cNvSpPr>
          <p:nvPr/>
        </p:nvSpPr>
        <p:spPr>
          <a:xfrm xmlns:a="http://schemas.openxmlformats.org/drawingml/2006/main">
            <a:off x="400050" y="4171950"/>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Q4</a:t>
            </a:r>
          </a:p>
        </p:txBody>
      </p:sp>
      <p:sp>
        <p:nvSpPr>
          <p:cNvPr id="13" name="question-text-18-4">
            <a:extLst xmlns:a="http://schemas.openxmlformats.org/drawingml/2006/main">
              <a:ext uri="{FF2B5EF4-FFF2-40B4-BE49-F238E27FC236}">
                <a16:creationId xmlns:a16="http://schemas.microsoft.com/office/drawing/2014/main" id="{56AC7550-47A1-4718-8E5C-20B51651791F}"/>
              </a:ext>
            </a:extLst>
          </p:cNvPr>
          <p:cNvSpPr>
            <a:spLocks xmlns:a="http://schemas.openxmlformats.org/drawingml/2006/main" noGrp="1"/>
          </p:cNvSpPr>
          <p:nvPr/>
        </p:nvSpPr>
        <p:spPr>
          <a:xfrm xmlns:a="http://schemas.openxmlformats.org/drawingml/2006/main">
            <a:off x="1257300" y="4171950"/>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Compute a chance-node expectation.</a:t>
            </a:r>
          </a:p>
        </p:txBody>
      </p:sp>
      <p:sp>
        <p:nvSpPr>
          <p:cNvPr id="14" name="question-number-18-5">
            <a:extLst xmlns:a="http://schemas.openxmlformats.org/drawingml/2006/main">
              <a:ext uri="{FF2B5EF4-FFF2-40B4-BE49-F238E27FC236}">
                <a16:creationId xmlns:a16="http://schemas.microsoft.com/office/drawing/2014/main" id="{6F14279B-3C0D-44AF-A5D3-A30FF8F22EC7}"/>
              </a:ext>
            </a:extLst>
          </p:cNvPr>
          <p:cNvSpPr>
            <a:spLocks xmlns:a="http://schemas.openxmlformats.org/drawingml/2006/main" noGrp="1"/>
          </p:cNvSpPr>
          <p:nvPr/>
        </p:nvSpPr>
        <p:spPr>
          <a:xfrm xmlns:a="http://schemas.openxmlformats.org/drawingml/2006/main">
            <a:off x="400050" y="5038725"/>
            <a:ext cx="714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Q5</a:t>
            </a:r>
          </a:p>
        </p:txBody>
      </p:sp>
      <p:sp>
        <p:nvSpPr>
          <p:cNvPr id="15" name="question-text-18-5">
            <a:extLst xmlns:a="http://schemas.openxmlformats.org/drawingml/2006/main">
              <a:ext uri="{FF2B5EF4-FFF2-40B4-BE49-F238E27FC236}">
                <a16:creationId xmlns:a16="http://schemas.microsoft.com/office/drawing/2014/main" id="{779DB8EF-F848-4AFF-A759-73FCEAFEEE0B}"/>
              </a:ext>
            </a:extLst>
          </p:cNvPr>
          <p:cNvSpPr>
            <a:spLocks xmlns:a="http://schemas.openxmlformats.org/drawingml/2006/main" noGrp="1"/>
          </p:cNvSpPr>
          <p:nvPr/>
        </p:nvSpPr>
        <p:spPr>
          <a:xfrm xmlns:a="http://schemas.openxmlformats.org/drawingml/2006/main">
            <a:off x="1257300" y="5038725"/>
            <a:ext cx="1019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Choose minimax or expectimax for a stated domain.</a:t>
            </a:r>
          </a:p>
        </p:txBody>
      </p:sp>
    </p:spTree>
    <p:extLst>
      <p:ext uri="{BB962C8B-B14F-4D97-AF65-F5344CB8AC3E}">
        <p14:creationId xmlns:p14="http://schemas.microsoft.com/office/powerpoint/2010/main" val="1549866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2026-07-27T10:16:06.9450000Z</dcterms:created>
  <dcterms:modified xsi:type="dcterms:W3CDTF">2026-07-27T10:16:06.9450000Z</dcterms:modified>
</coreProperties>
</file>