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fe83dded81419a" /><Relationship Type="http://schemas.openxmlformats.org/officeDocument/2006/relationships/extended-properties" Target="/docProps/app.xml" Id="R9bd81e899e7b4aed" /><Relationship Type="http://schemas.openxmlformats.org/officeDocument/2006/relationships/officeDocument" Target="/ppt/presentation.xml" Id="R6a71f745d30d4eb9" /></Relationships>
</file>

<file path=ppt/presentation.xml><?xml version="1.0" encoding="utf-8"?>
<p:presentation xmlns:p="http://schemas.openxmlformats.org/presentationml/2006/main">
  <p:sldMasterIdLst>
    <p:sldMasterId xmlns:r="http://schemas.openxmlformats.org/officeDocument/2006/relationships" id="2147483648" r:id="R138d6c3dc5d944ca"/>
  </p:sldMasterIdLst>
  <p:notesMasterIdLst>
    <p:notesMasterId xmlns:r="http://schemas.openxmlformats.org/officeDocument/2006/relationships" r:id="R7c7295004b7f4bee"/>
  </p:notesMasterIdLst>
  <p:sldIdLst>
    <p:sldId xmlns:r="http://schemas.openxmlformats.org/officeDocument/2006/relationships" id="256" r:id="Re466fe4be4454689"/>
    <p:sldId xmlns:r="http://schemas.openxmlformats.org/officeDocument/2006/relationships" id="257" r:id="R2fbdd7855f7148fe"/>
    <p:sldId xmlns:r="http://schemas.openxmlformats.org/officeDocument/2006/relationships" id="258" r:id="Rad2096285ecd4ae9"/>
    <p:sldId xmlns:r="http://schemas.openxmlformats.org/officeDocument/2006/relationships" id="259" r:id="Red0cdbbcaf9d4ba7"/>
    <p:sldId xmlns:r="http://schemas.openxmlformats.org/officeDocument/2006/relationships" id="260" r:id="R97b1ca17d9a34a8d"/>
    <p:sldId xmlns:r="http://schemas.openxmlformats.org/officeDocument/2006/relationships" id="261" r:id="R23fa2181030249f1"/>
    <p:sldId xmlns:r="http://schemas.openxmlformats.org/officeDocument/2006/relationships" id="262" r:id="R6961c85123f54fd1"/>
    <p:sldId xmlns:r="http://schemas.openxmlformats.org/officeDocument/2006/relationships" id="263" r:id="Rf293e3c5b75c4c6d"/>
    <p:sldId xmlns:r="http://schemas.openxmlformats.org/officeDocument/2006/relationships" id="264" r:id="R90382431d59e46f9"/>
    <p:sldId xmlns:r="http://schemas.openxmlformats.org/officeDocument/2006/relationships" id="265" r:id="R2caab91061b840b6"/>
    <p:sldId xmlns:r="http://schemas.openxmlformats.org/officeDocument/2006/relationships" id="266" r:id="R77d9699f38e94cf5"/>
    <p:sldId xmlns:r="http://schemas.openxmlformats.org/officeDocument/2006/relationships" id="267" r:id="R46d62f8a38c040d0"/>
    <p:sldId xmlns:r="http://schemas.openxmlformats.org/officeDocument/2006/relationships" id="268" r:id="Rac142ffcd5d641b2"/>
    <p:sldId xmlns:r="http://schemas.openxmlformats.org/officeDocument/2006/relationships" id="269" r:id="Re6afb06e339844ea"/>
    <p:sldId xmlns:r="http://schemas.openxmlformats.org/officeDocument/2006/relationships" id="270" r:id="R04e5ffdd258c47ef"/>
    <p:sldId xmlns:r="http://schemas.openxmlformats.org/officeDocument/2006/relationships" id="271" r:id="R74d8cd615b044edc"/>
    <p:sldId xmlns:r="http://schemas.openxmlformats.org/officeDocument/2006/relationships" id="272" r:id="R7ae438991a554c4e"/>
    <p:sldId xmlns:r="http://schemas.openxmlformats.org/officeDocument/2006/relationships" id="273" r:id="Reffa1203fd4046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7216934faa4d3d" /><Relationship Type="http://schemas.openxmlformats.org/officeDocument/2006/relationships/slideMaster" Target="/ppt/slideMasters/slideMaster1.xml" Id="R138d6c3dc5d944ca" /><Relationship Type="http://schemas.openxmlformats.org/officeDocument/2006/relationships/notesMaster" Target="/ppt/notesMasters/notesMaster1.xml" Id="R7c7295004b7f4bee" /><Relationship Type="http://schemas.openxmlformats.org/officeDocument/2006/relationships/presProps" Target="/ppt/presProps.xml" Id="Rc23df7e09e5d4dd9" /><Relationship Type="http://schemas.openxmlformats.org/officeDocument/2006/relationships/tableStyles" Target="/ppt/tableStyles.xml" Id="R48f6457865794c34" /><Relationship Type="http://schemas.openxmlformats.org/officeDocument/2006/relationships/slide" Target="/ppt/slides/slide1.xml" Id="Re466fe4be4454689" /><Relationship Type="http://schemas.openxmlformats.org/officeDocument/2006/relationships/slide" Target="/ppt/slides/slide2.xml" Id="R2fbdd7855f7148fe" /><Relationship Type="http://schemas.openxmlformats.org/officeDocument/2006/relationships/slide" Target="/ppt/slides/slide3.xml" Id="Rad2096285ecd4ae9" /><Relationship Type="http://schemas.openxmlformats.org/officeDocument/2006/relationships/slide" Target="/ppt/slides/slide4.xml" Id="Red0cdbbcaf9d4ba7" /><Relationship Type="http://schemas.openxmlformats.org/officeDocument/2006/relationships/slide" Target="/ppt/slides/slide5.xml" Id="R97b1ca17d9a34a8d" /><Relationship Type="http://schemas.openxmlformats.org/officeDocument/2006/relationships/slide" Target="/ppt/slides/slide6.xml" Id="R23fa2181030249f1" /><Relationship Type="http://schemas.openxmlformats.org/officeDocument/2006/relationships/slide" Target="/ppt/slides/slide7.xml" Id="R6961c85123f54fd1" /><Relationship Type="http://schemas.openxmlformats.org/officeDocument/2006/relationships/slide" Target="/ppt/slides/slide8.xml" Id="Rf293e3c5b75c4c6d" /><Relationship Type="http://schemas.openxmlformats.org/officeDocument/2006/relationships/slide" Target="/ppt/slides/slide9.xml" Id="R90382431d59e46f9" /><Relationship Type="http://schemas.openxmlformats.org/officeDocument/2006/relationships/slide" Target="/ppt/slides/slide10.xml" Id="R2caab91061b840b6" /><Relationship Type="http://schemas.openxmlformats.org/officeDocument/2006/relationships/slide" Target="/ppt/slides/slide11.xml" Id="R77d9699f38e94cf5" /><Relationship Type="http://schemas.openxmlformats.org/officeDocument/2006/relationships/slide" Target="/ppt/slides/slide12.xml" Id="R46d62f8a38c040d0" /><Relationship Type="http://schemas.openxmlformats.org/officeDocument/2006/relationships/slide" Target="/ppt/slides/slide13.xml" Id="Rac142ffcd5d641b2" /><Relationship Type="http://schemas.openxmlformats.org/officeDocument/2006/relationships/slide" Target="/ppt/slides/slide14.xml" Id="Re6afb06e339844ea" /><Relationship Type="http://schemas.openxmlformats.org/officeDocument/2006/relationships/slide" Target="/ppt/slides/slide15.xml" Id="R04e5ffdd258c47ef" /><Relationship Type="http://schemas.openxmlformats.org/officeDocument/2006/relationships/slide" Target="/ppt/slides/slide16.xml" Id="R74d8cd615b044edc" /><Relationship Type="http://schemas.openxmlformats.org/officeDocument/2006/relationships/slide" Target="/ppt/slides/slide17.xml" Id="R7ae438991a554c4e" /><Relationship Type="http://schemas.openxmlformats.org/officeDocument/2006/relationships/slide" Target="/ppt/slides/slide18.xml" Id="Reffa1203fd4046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d4aacf234940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207802ec24457c" /><Relationship Type="http://schemas.openxmlformats.org/officeDocument/2006/relationships/notesMaster" Target="/ppt/notesMasters/notesMaster1.xml" Id="R3e99906f0330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5108621ee54f3b" /><Relationship Type="http://schemas.openxmlformats.org/officeDocument/2006/relationships/notesMaster" Target="/ppt/notesMasters/notesMaster1.xml" Id="Rc406a54704814c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73ba956dae4f9a" /><Relationship Type="http://schemas.openxmlformats.org/officeDocument/2006/relationships/notesMaster" Target="/ppt/notesMasters/notesMaster1.xml" Id="R36572c6cbb7b42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32c8fc45334f5a" /><Relationship Type="http://schemas.openxmlformats.org/officeDocument/2006/relationships/notesMaster" Target="/ppt/notesMasters/notesMaster1.xml" Id="R028d7442fba243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678206f0654164" /><Relationship Type="http://schemas.openxmlformats.org/officeDocument/2006/relationships/notesMaster" Target="/ppt/notesMasters/notesMaster1.xml" Id="R1f146f21dd9844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0627dd26a84b70" /><Relationship Type="http://schemas.openxmlformats.org/officeDocument/2006/relationships/notesMaster" Target="/ppt/notesMasters/notesMaster1.xml" Id="Rbe74731b33cd48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a3474ecdfe4b39" /><Relationship Type="http://schemas.openxmlformats.org/officeDocument/2006/relationships/notesMaster" Target="/ppt/notesMasters/notesMaster1.xml" Id="Re0aec1491c4a4f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7e2bca3f1943cb" /><Relationship Type="http://schemas.openxmlformats.org/officeDocument/2006/relationships/notesMaster" Target="/ppt/notesMasters/notesMaster1.xml" Id="R2e169473d213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ff030388664347" /><Relationship Type="http://schemas.openxmlformats.org/officeDocument/2006/relationships/notesMaster" Target="/ppt/notesMasters/notesMaster1.xml" Id="Ra1dddc906e194f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bcba26bd8046a2" /><Relationship Type="http://schemas.openxmlformats.org/officeDocument/2006/relationships/notesMaster" Target="/ppt/notesMasters/notesMaster1.xml" Id="R142ebf7eeaf042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56dda35eaf44f3" /><Relationship Type="http://schemas.openxmlformats.org/officeDocument/2006/relationships/notesMaster" Target="/ppt/notesMasters/notesMaster1.xml" Id="R9e437a6f99b94b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ea177d04cb4db6" /><Relationship Type="http://schemas.openxmlformats.org/officeDocument/2006/relationships/notesMaster" Target="/ppt/notesMasters/notesMaster1.xml" Id="Rdec58791dab046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de2e18e1f54bfb" /><Relationship Type="http://schemas.openxmlformats.org/officeDocument/2006/relationships/notesMaster" Target="/ppt/notesMasters/notesMaster1.xml" Id="Rce9d6fc38d7f482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50d23ed35144fb" /><Relationship Type="http://schemas.openxmlformats.org/officeDocument/2006/relationships/notesMaster" Target="/ppt/notesMasters/notesMaster1.xml" Id="R29a0a306388f47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5934a0b9964387" /><Relationship Type="http://schemas.openxmlformats.org/officeDocument/2006/relationships/notesMaster" Target="/ppt/notesMasters/notesMaster1.xml" Id="R583b17800f0745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7ece5d7f624823" /><Relationship Type="http://schemas.openxmlformats.org/officeDocument/2006/relationships/notesMaster" Target="/ppt/notesMasters/notesMaster1.xml" Id="R193b0bfea13e47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58ece380bd49eb" /><Relationship Type="http://schemas.openxmlformats.org/officeDocument/2006/relationships/notesMaster" Target="/ppt/notesMasters/notesMaster1.xml" Id="R32dbf7b19dfb4e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13c725f40149ae" /><Relationship Type="http://schemas.openxmlformats.org/officeDocument/2006/relationships/notesMaster" Target="/ppt/notesMasters/notesMaster1.xml" Id="R4c14670aed214b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Adversarial search retains states, actions, successors, and a tree, but the objective changes because another decision maker selects harmful replies.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Define game state, player function, terminal test, utility, and game tree. 2) Compute minimax values by backward induction. 3) Trace mutually recursive MAX and MIN procedures. 4) Sketch minimax correctness under optimal play. 5) Derive O(b^m) time and O(bm) depth-first space. 6) Design and test depth-limited evaluation functions.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Minimax values a state by assuming MAX optimizes utility and MIN optimizes the opposing objective. The supporting details make the claim operational. 1) MAX chooses the largest child value. 2) MIN chooses the smallest child value. 3) Terminal utility anchors the recursion. The highlighted idea, Contingency, is the part to retain when the surrounding notation changes. A plan must specify a response to every opponent action, not one fixed path.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V(s)=UTILITY(s) if terminal; max_a V(RESULT(s,a)) for MAX; min_a V(RESULT(s,a)) for MIN. The symbols mean the following. 1) PLAYER(s) identifies who moves. 2) ACTIONS(s) lists legal moves. 3) RESULT(s,a) gives the successor. 4) UTILITY(s) is defined at terminal states. The engineering implication is The root action is selected by child value, not by a single predicted opponent move.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Pathfinding search: Environment does not choose against the agent. Solution is one action sequence. Goal and path cost evaluate a path. Frontier ordering guides expansion. On the right, Game-tree search: Players alternate control. Solution is a contingent strategy. Terminal utility evaluates outcomes. Backups propagate values.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Expand: Generate legal continuations. 2) Anchor: Assign utility at terminals. 3) Minimize: Back up MIN choices. 4) Maximize: Back up MAX choices. 5) Choose: Select the root action with highest value. The emphasized stage deserves extra attention because defects introduced there propagate to every later result. Every backup represents control by the player named at that state.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Terminal test must stop. Utility uses MAX's perspective. Turns alternate correctly. Ties are deterministic.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MAX has Left and Right. Their MIN children lead to leaves [3,5] and [2,9]. Work through it in the displayed order. 1) Left MIN chooses min(3,5)=3. 2) Right MIN chooses min(2,9)=2. 3) MAX compares 3 and 2. 4) MAX chooses Left. The resulting conclusion is The root minimax value is 3 even though the tree contains a leaf worth 9.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Zero-sum: One scalar utility. MIN lowers MAX value. Standard minimax model. Tie policy still matters. In contrast, Perfect information: No hidden cards or state. Legal actions are known. Deterministic successor. Chance is absent. In contrast, Optimal play: Opponent selects best reply. Value is conservative. Weak opponents may do better. Guarantee is model-relative.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MIN node has three MAX children valued 4, -1, and 6. What value is returned, and which branch can MIN select? Use the prompts to structure the response. 1) Identify the player controlling the node. 2) Apply the correct extremum. 3) Interpret the result from MAX's perspective. The expected reasoning is MIN returns -1 and may select the second branch because utility is measured from MAX's perspective.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Terminal utility: Exact for completed games. Aligned with win, loss, or score. Too deep in large games. No approximation at leaves. On the right, Evaluation function: Estimates nonterminal strength. Combines informative features. Must use one consistent perspective. Creates approximation error.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nodes through depth m = 1+b+...+b^m = O(b^m). The symbols mean the following. 1) b is average legal-move count. 2) m is search depth in plies. 3) Each ply adds another branching layer. 4) Depth-first recursion stores O(bm) pending siblings and path state. The engineering implication is A modest depth increase can multiply work by b, making cutoffs operationally necessary.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Pacman-style state is cut off before a terminal win or loss. Work through it in the displayed order. 1) Reward current score and nearby food. 2) Penalize collision risk and nearby active ghosts. 3) Treat scared ghosts with a different sign. 4) Normalize feature scales before weighting. The resulting conclusion is The evaluator ranks frontier states but does not change the legal game model.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Perspective error: MIN and MAX disagree. Wins can look bad. Backups remain consistent but wrong. Use one utility convention. In contrast, Horizon effect: Threat is delayed. Shallow value looks safe. Quiescence can help. Test tactical positions. In contrast, Scale error: One term overwhelms others. Weights become uninterpretable. Scores become unstable. Inspect component values.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At a depth-limited MIN node, evaluation values are 7, 3, and 5 from MAX's perspective. What value backs up? Use the prompts to structure the response. 1) Keep the perspective fixed. 2) Apply MIN at the cutoff's parent. 3) State whether the value is exact. The expected reasoning is The backed-up value is 3. It is an estimate because the children were evaluated before terminal outcomes.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turn alternation, terminal handling, value perspective, and tie order independently. The supporting details make the claim operational. 1) Compare recursive output with a hand-computed tree. 2) Assert the input state is not mutated. 3) Instrument depth, generated nodes, and chosen root action. The highlighted idea, Oracle, is the part to retain when the surrounding notation changes. Tiny hand-valued trees provide exact expected outputs.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Minimax backs values through alternating MAX and MIN control. 2) Its result is a contingent strategy under optimal play. 3) Time is O(b^m), so practical search uses depth limits. 4) Evaluation quality and perspective are part of correctness. These are connected: the formal model supplies the algorithm, the algorithm's invariant supports its guarantee, and the implementation contract makes that guarantee testable. The next topic is Alpha-beta pruning preserves the minimax value while avoiding irrelevant branches; expectimax adds chance.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Back up a two-ply minimax tree. 2) Explain why a strategy is not one path. 3) Derive O(b^m). 4) Design an evaluation function for a small game. 5) Name tests for turn and utility defects.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week_03/Week_3_Lesson_1_Adversarial_Search_Minimax.md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c5e2ded84a41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b2f35cc0b74057" /><Relationship Type="http://schemas.openxmlformats.org/officeDocument/2006/relationships/slideLayout" Target="/ppt/slideLayouts/slideLayout1.xml" Id="R7bb42353ab3047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42353ab3047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fdc83945e447f2" /><Relationship Type="http://schemas.openxmlformats.org/officeDocument/2006/relationships/notesSlide" Target="/ppt/notesSlides/notesSlide1.xml" Id="R86817cc68e3b40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361b0ea09346a4" /><Relationship Type="http://schemas.openxmlformats.org/officeDocument/2006/relationships/notesSlide" Target="/ppt/notesSlides/notesSlide2.xml" Id="Rc5777b3b287b47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aa1d6e51b74b6e" /><Relationship Type="http://schemas.openxmlformats.org/officeDocument/2006/relationships/notesSlide" Target="/ppt/notesSlides/notesSlide3.xml" Id="R17a550ea22194c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2f1b53ffcc4de5" /><Relationship Type="http://schemas.openxmlformats.org/officeDocument/2006/relationships/notesSlide" Target="/ppt/notesSlides/notesSlide4.xml" Id="R6d9d877462b445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767ce6656b4d55" /><Relationship Type="http://schemas.openxmlformats.org/officeDocument/2006/relationships/notesSlide" Target="/ppt/notesSlides/notesSlide5.xml" Id="R7c835a3d68ca48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eea08d363c4853" /><Relationship Type="http://schemas.openxmlformats.org/officeDocument/2006/relationships/notesSlide" Target="/ppt/notesSlides/notesSlide6.xml" Id="R97b7b3a7220d42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de107770834291" /><Relationship Type="http://schemas.openxmlformats.org/officeDocument/2006/relationships/notesSlide" Target="/ppt/notesSlides/notesSlide7.xml" Id="R62be59c02e7f49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3bdee7863b4272" /><Relationship Type="http://schemas.openxmlformats.org/officeDocument/2006/relationships/notesSlide" Target="/ppt/notesSlides/notesSlide8.xml" Id="Rfa5c9e99868547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10d0a1e2c24d41" /><Relationship Type="http://schemas.openxmlformats.org/officeDocument/2006/relationships/notesSlide" Target="/ppt/notesSlides/notesSlide9.xml" Id="Re37cff176be744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4a4dce08004b35" /><Relationship Type="http://schemas.openxmlformats.org/officeDocument/2006/relationships/notesSlide" Target="/ppt/notesSlides/notesSlide10.xml" Id="R5c2ccb12cb0c46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c0228016bb4d55" /><Relationship Type="http://schemas.openxmlformats.org/officeDocument/2006/relationships/notesSlide" Target="/ppt/notesSlides/notesSlide11.xml" Id="R6f64f147592540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19cec1088d4bf7" /><Relationship Type="http://schemas.openxmlformats.org/officeDocument/2006/relationships/notesSlide" Target="/ppt/notesSlides/notesSlide12.xml" Id="Ra3f38ed6ec6544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ba0cc37498447a" /><Relationship Type="http://schemas.openxmlformats.org/officeDocument/2006/relationships/notesSlide" Target="/ppt/notesSlides/notesSlide13.xml" Id="R71ac72e279294c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055d0b6ddb4d05" /><Relationship Type="http://schemas.openxmlformats.org/officeDocument/2006/relationships/notesSlide" Target="/ppt/notesSlides/notesSlide14.xml" Id="R0277b9938adf42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9fb1dbef8548ba" /><Relationship Type="http://schemas.openxmlformats.org/officeDocument/2006/relationships/notesSlide" Target="/ppt/notesSlides/notesSlide15.xml" Id="R334868c1f1634e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13d37b5dc044cf" /><Relationship Type="http://schemas.openxmlformats.org/officeDocument/2006/relationships/notesSlide" Target="/ppt/notesSlides/notesSlide16.xml" Id="R654ecda31fd64f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db1ef49421426e" /><Relationship Type="http://schemas.openxmlformats.org/officeDocument/2006/relationships/notesSlide" Target="/ppt/notesSlides/notesSlide17.xml" Id="R7e283308ccda43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877c7101bc04c40" /><Relationship Type="http://schemas.openxmlformats.org/officeDocument/2006/relationships/notesSlide" Target="/ppt/notesSlides/notesSlide18.xml" Id="R9764c56e79b944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57744D8E-FA32-4286-B9F5-3ECD67461E2B}"/>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03  |  LESSON 1</a:t>
            </a:r>
          </a:p>
        </p:txBody>
      </p:sp>
      <p:sp>
        <p:nvSpPr>
          <p:cNvPr id="2" name="title-accent-field">
            <a:extLst xmlns:a="http://schemas.openxmlformats.org/drawingml/2006/main">
              <a:ext uri="{FF2B5EF4-FFF2-40B4-BE49-F238E27FC236}">
                <a16:creationId xmlns:a16="http://schemas.microsoft.com/office/drawing/2014/main" id="{59B0D32D-4AD2-4BAA-9147-C9549F6AF3E0}"/>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5BABA448-4E87-4E54-94DC-37B7C0E23F37}"/>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Adversarial Search: Game Trees and Minimax</a:t>
            </a:r>
          </a:p>
        </p:txBody>
      </p:sp>
      <p:sp>
        <p:nvSpPr>
          <p:cNvPr id="4" name="deck-subtitle">
            <a:extLst xmlns:a="http://schemas.openxmlformats.org/drawingml/2006/main">
              <a:ext uri="{FF2B5EF4-FFF2-40B4-BE49-F238E27FC236}">
                <a16:creationId xmlns:a16="http://schemas.microsoft.com/office/drawing/2014/main" id="{04543644-F80B-4E0B-B1D1-4C4F7845A62C}"/>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Choosing actions when another rational agent controls the response</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7A191D73-3BC4-403D-9141-C9AADFE090FE}"/>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DC3D6182-5189-4E9A-BF18-010DDBD91565}"/>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6544421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68182255-5855-4F66-9721-BE49A4A0DB0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A0048DF8-0A8A-4745-BDCD-6C60D347E15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343FF4C2-A571-474C-B0A1-A736985EEEC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2">
            <a:extLst xmlns:a="http://schemas.openxmlformats.org/drawingml/2006/main">
              <a:ext uri="{FF2B5EF4-FFF2-40B4-BE49-F238E27FC236}">
                <a16:creationId xmlns:a16="http://schemas.microsoft.com/office/drawing/2014/main" id="{69284D42-F425-45FA-A7FF-0A5BB6C91ED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B9C0C565-B360-4CBF-8ED0-DFB1C017D595}"/>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68E27F8D-48CE-4091-A9DF-47E42F4B647E}"/>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059C7D62-F77D-47BF-AFB3-D7B7BA969548}"/>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game state, player function, terminal test, utility, and game tree.</a:t>
            </a:r>
          </a:p>
        </p:txBody>
      </p:sp>
      <p:sp>
        <p:nvSpPr>
          <p:cNvPr id="10" name="objective-number-2">
            <a:extLst xmlns:a="http://schemas.openxmlformats.org/drawingml/2006/main">
              <a:ext uri="{FF2B5EF4-FFF2-40B4-BE49-F238E27FC236}">
                <a16:creationId xmlns:a16="http://schemas.microsoft.com/office/drawing/2014/main" id="{603108C3-AA57-4DA9-AF24-E43DA33ACFDC}"/>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29F33CC8-14E9-4F62-821D-A2B03F17E74A}"/>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minimax values by backward induction.</a:t>
            </a:r>
          </a:p>
        </p:txBody>
      </p:sp>
      <p:sp>
        <p:nvSpPr>
          <p:cNvPr id="13" name="objective-number-3">
            <a:extLst xmlns:a="http://schemas.openxmlformats.org/drawingml/2006/main">
              <a:ext uri="{FF2B5EF4-FFF2-40B4-BE49-F238E27FC236}">
                <a16:creationId xmlns:a16="http://schemas.microsoft.com/office/drawing/2014/main" id="{6D739988-2859-4C76-B0FA-D2CB12A91C69}"/>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7237D5B5-69B0-49A8-A280-F63C94B2B75E}"/>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mutually recursive MAX and MIN procedures.</a:t>
            </a:r>
          </a:p>
        </p:txBody>
      </p:sp>
      <p:sp>
        <p:nvSpPr>
          <p:cNvPr id="16" name="objective-number-4">
            <a:extLst xmlns:a="http://schemas.openxmlformats.org/drawingml/2006/main">
              <a:ext uri="{FF2B5EF4-FFF2-40B4-BE49-F238E27FC236}">
                <a16:creationId xmlns:a16="http://schemas.microsoft.com/office/drawing/2014/main" id="{29BDD4E8-AA73-42F4-BD65-CF45A0B0C28F}"/>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E8D523EA-D353-405B-B1E4-F51CFAA347AF}"/>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Sketch minimax correctness under optimal play.</a:t>
            </a:r>
          </a:p>
        </p:txBody>
      </p:sp>
      <p:sp>
        <p:nvSpPr>
          <p:cNvPr id="19" name="objective-number-5">
            <a:extLst xmlns:a="http://schemas.openxmlformats.org/drawingml/2006/main">
              <a:ext uri="{FF2B5EF4-FFF2-40B4-BE49-F238E27FC236}">
                <a16:creationId xmlns:a16="http://schemas.microsoft.com/office/drawing/2014/main" id="{A820D1F2-4064-4494-A635-73C58D5AB781}"/>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7B5B54F1-5D29-41A3-ACF9-3AFC11AFB347}"/>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Derive O(b^m) time and O(bm) depth-first space.</a:t>
            </a:r>
          </a:p>
        </p:txBody>
      </p:sp>
      <p:sp>
        <p:nvSpPr>
          <p:cNvPr id="22" name="objective-number-6">
            <a:extLst xmlns:a="http://schemas.openxmlformats.org/drawingml/2006/main">
              <a:ext uri="{FF2B5EF4-FFF2-40B4-BE49-F238E27FC236}">
                <a16:creationId xmlns:a16="http://schemas.microsoft.com/office/drawing/2014/main" id="{E77D70C0-C331-49BA-AA54-D86F41162A34}"/>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4D738564-12AC-435E-9A13-1C2A0CA5E2A7}"/>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Design and test depth-limited evaluation functions.</a:t>
            </a:r>
          </a:p>
        </p:txBody>
      </p:sp>
    </p:spTree>
    <p:extLst>
      <p:ext uri="{BB962C8B-B14F-4D97-AF65-F5344CB8AC3E}">
        <p14:creationId xmlns:p14="http://schemas.microsoft.com/office/powerpoint/2010/main" val="3818087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B88A36C7-9E60-41B3-AC65-A174A438141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An opponent changes the backup, not the state-space idea</a:t>
            </a:r>
          </a:p>
        </p:txBody>
      </p:sp>
      <p:sp>
        <p:nvSpPr>
          <p:cNvPr id="2" name="title-accent-3">
            <a:extLst xmlns:a="http://schemas.openxmlformats.org/drawingml/2006/main">
              <a:ext uri="{FF2B5EF4-FFF2-40B4-BE49-F238E27FC236}">
                <a16:creationId xmlns:a16="http://schemas.microsoft.com/office/drawing/2014/main" id="{43C191D9-6B3C-4D7C-8078-52A68F26E7F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7971FD8D-844D-4B57-ABF9-C9F50C34FDA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3">
            <a:extLst xmlns:a="http://schemas.openxmlformats.org/drawingml/2006/main">
              <a:ext uri="{FF2B5EF4-FFF2-40B4-BE49-F238E27FC236}">
                <a16:creationId xmlns:a16="http://schemas.microsoft.com/office/drawing/2014/main" id="{143490FE-36B9-4882-AB60-567AB40B3CB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9790C6D3-3D4E-498A-BA46-C672A985A718}"/>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Minimax values a state by assuming MAX optimizes utility and MIN optimizes the opposing objective.</a:t>
            </a:r>
          </a:p>
        </p:txBody>
      </p:sp>
      <p:sp>
        <p:nvSpPr>
          <p:cNvPr id="7" name="claim-panel-3">
            <a:extLst xmlns:a="http://schemas.openxmlformats.org/drawingml/2006/main">
              <a:ext uri="{FF2B5EF4-FFF2-40B4-BE49-F238E27FC236}">
                <a16:creationId xmlns:a16="http://schemas.microsoft.com/office/drawing/2014/main" id="{36C08D3A-500C-4385-9BA9-D979AA6396B6}"/>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663F28BA-DC0C-448B-A129-2F1CE1C009AA}"/>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Contingency</a:t>
            </a:r>
          </a:p>
        </p:txBody>
      </p:sp>
      <p:sp>
        <p:nvSpPr>
          <p:cNvPr id="9" name="claim-keyword-detail-3">
            <a:extLst xmlns:a="http://schemas.openxmlformats.org/drawingml/2006/main">
              <a:ext uri="{FF2B5EF4-FFF2-40B4-BE49-F238E27FC236}">
                <a16:creationId xmlns:a16="http://schemas.microsoft.com/office/drawing/2014/main" id="{DB95C2DA-0427-4D6F-826A-54428BA1308C}"/>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plan must specify a response to every opponent action, not one fixed path.</a:t>
            </a:r>
          </a:p>
        </p:txBody>
      </p:sp>
      <p:sp>
        <p:nvSpPr>
          <p:cNvPr id="10" name="claim-detail-3-marker-1">
            <a:extLst xmlns:a="http://schemas.openxmlformats.org/drawingml/2006/main">
              <a:ext uri="{FF2B5EF4-FFF2-40B4-BE49-F238E27FC236}">
                <a16:creationId xmlns:a16="http://schemas.microsoft.com/office/drawing/2014/main" id="{66AC6C5E-28AE-48FA-AC53-0F2143D82789}"/>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EC72445A-5C45-45E1-8C0E-EF95B2AA1109}"/>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MAX chooses the largest child value.</a:t>
            </a:r>
          </a:p>
        </p:txBody>
      </p:sp>
      <p:sp>
        <p:nvSpPr>
          <p:cNvPr id="12" name="claim-detail-3-marker-2">
            <a:extLst xmlns:a="http://schemas.openxmlformats.org/drawingml/2006/main">
              <a:ext uri="{FF2B5EF4-FFF2-40B4-BE49-F238E27FC236}">
                <a16:creationId xmlns:a16="http://schemas.microsoft.com/office/drawing/2014/main" id="{290B3E66-C556-40FC-93E5-3EBC76CB99A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85B22483-058E-4831-9F40-734E473EAFE2}"/>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MIN chooses the smallest child value.</a:t>
            </a:r>
          </a:p>
        </p:txBody>
      </p:sp>
      <p:sp>
        <p:nvSpPr>
          <p:cNvPr id="14" name="claim-detail-3-marker-3">
            <a:extLst xmlns:a="http://schemas.openxmlformats.org/drawingml/2006/main">
              <a:ext uri="{FF2B5EF4-FFF2-40B4-BE49-F238E27FC236}">
                <a16:creationId xmlns:a16="http://schemas.microsoft.com/office/drawing/2014/main" id="{068A9957-1144-42FA-BF4B-60503CA8982A}"/>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49577332-A38A-486D-856F-D194ACBF51D4}"/>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Terminal utility anchors the recursion.</a:t>
            </a:r>
          </a:p>
        </p:txBody>
      </p:sp>
    </p:spTree>
    <p:extLst>
      <p:ext uri="{BB962C8B-B14F-4D97-AF65-F5344CB8AC3E}">
        <p14:creationId xmlns:p14="http://schemas.microsoft.com/office/powerpoint/2010/main" val="9529618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1D9D2ACB-4C00-4D4A-BFA7-3D23A13D4B0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Minimax is a recursive value definition</a:t>
            </a:r>
          </a:p>
        </p:txBody>
      </p:sp>
      <p:sp>
        <p:nvSpPr>
          <p:cNvPr id="2" name="title-accent-4">
            <a:extLst xmlns:a="http://schemas.openxmlformats.org/drawingml/2006/main">
              <a:ext uri="{FF2B5EF4-FFF2-40B4-BE49-F238E27FC236}">
                <a16:creationId xmlns:a16="http://schemas.microsoft.com/office/drawing/2014/main" id="{F306FFD3-59A5-49F7-87D0-2690D36F67C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E6B29F69-89E6-47CA-8AF8-4C708945B58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4">
            <a:extLst xmlns:a="http://schemas.openxmlformats.org/drawingml/2006/main">
              <a:ext uri="{FF2B5EF4-FFF2-40B4-BE49-F238E27FC236}">
                <a16:creationId xmlns:a16="http://schemas.microsoft.com/office/drawing/2014/main" id="{692BDFE4-0A15-4BA0-97EA-1FA333CE6D9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1BA164C2-EEE6-4791-92CF-A9F4041CBB2E}"/>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F48E2B2A-6DF8-4EE9-99A6-3C06438E4695}"/>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V(s)=UTILITY(s) if terminal; max_a V(RESULT(s,a)) for MAX; min_a V(RESULT(s,a)) for MIN</a:t>
            </a:r>
          </a:p>
        </p:txBody>
      </p:sp>
      <p:sp>
        <p:nvSpPr>
          <p:cNvPr id="8" name="formula-definition-4-marker-1">
            <a:extLst xmlns:a="http://schemas.openxmlformats.org/drawingml/2006/main">
              <a:ext uri="{FF2B5EF4-FFF2-40B4-BE49-F238E27FC236}">
                <a16:creationId xmlns:a16="http://schemas.microsoft.com/office/drawing/2014/main" id="{81AFB750-6B2B-4AE7-BE61-CDC75C693629}"/>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875B311E-B1D4-4AED-A16F-D5560115B3F7}"/>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PLAYER(s) identifies who moves.</a:t>
            </a:r>
          </a:p>
        </p:txBody>
      </p:sp>
      <p:sp>
        <p:nvSpPr>
          <p:cNvPr id="10" name="formula-definition-4-marker-2">
            <a:extLst xmlns:a="http://schemas.openxmlformats.org/drawingml/2006/main">
              <a:ext uri="{FF2B5EF4-FFF2-40B4-BE49-F238E27FC236}">
                <a16:creationId xmlns:a16="http://schemas.microsoft.com/office/drawing/2014/main" id="{5DAA490F-7566-4E23-AFBF-22A699ED9DE7}"/>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DB7FA643-D6BF-4787-99CC-17778DBA7CBD}"/>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ACTIONS(s) lists legal moves.</a:t>
            </a:r>
          </a:p>
        </p:txBody>
      </p:sp>
      <p:sp>
        <p:nvSpPr>
          <p:cNvPr id="12" name="formula-definition-4-marker-3">
            <a:extLst xmlns:a="http://schemas.openxmlformats.org/drawingml/2006/main">
              <a:ext uri="{FF2B5EF4-FFF2-40B4-BE49-F238E27FC236}">
                <a16:creationId xmlns:a16="http://schemas.microsoft.com/office/drawing/2014/main" id="{709534DB-7238-46FB-BA54-1C57D9678243}"/>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1D964AD0-E726-42EC-9507-13283E88FAA8}"/>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RESULT(s,a) gives the successor.</a:t>
            </a:r>
          </a:p>
        </p:txBody>
      </p:sp>
      <p:sp>
        <p:nvSpPr>
          <p:cNvPr id="14" name="formula-definition-4-marker-4">
            <a:extLst xmlns:a="http://schemas.openxmlformats.org/drawingml/2006/main">
              <a:ext uri="{FF2B5EF4-FFF2-40B4-BE49-F238E27FC236}">
                <a16:creationId xmlns:a16="http://schemas.microsoft.com/office/drawing/2014/main" id="{D99BBF12-9C20-4BD4-825E-64A048CCC70C}"/>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084D0E22-3EDA-4614-989B-BC14F9922EFE}"/>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UTILITY(s) is defined at terminal states.</a:t>
            </a:r>
          </a:p>
        </p:txBody>
      </p:sp>
      <p:sp>
        <p:nvSpPr>
          <p:cNvPr id="16" name="formula-implication-panel-4">
            <a:extLst xmlns:a="http://schemas.openxmlformats.org/drawingml/2006/main">
              <a:ext uri="{FF2B5EF4-FFF2-40B4-BE49-F238E27FC236}">
                <a16:creationId xmlns:a16="http://schemas.microsoft.com/office/drawing/2014/main" id="{71002108-2C51-4EFB-8CD0-FF41590E614D}"/>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6A3DAB2A-3087-4DC7-A41D-0E8399955C9D}"/>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8158EC12-F358-4C0D-941C-D24E6418993D}"/>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The root action is selected by child value, not by a single predicted opponent move.</a:t>
            </a:r>
          </a:p>
        </p:txBody>
      </p:sp>
    </p:spTree>
    <p:extLst>
      <p:ext uri="{BB962C8B-B14F-4D97-AF65-F5344CB8AC3E}">
        <p14:creationId xmlns:p14="http://schemas.microsoft.com/office/powerpoint/2010/main" val="9960947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4E86C857-DA42-40BF-80B8-CF580602C70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Single-agent paths become adversarial strategies</a:t>
            </a:r>
          </a:p>
        </p:txBody>
      </p:sp>
      <p:sp>
        <p:nvSpPr>
          <p:cNvPr id="2" name="title-accent-5">
            <a:extLst xmlns:a="http://schemas.openxmlformats.org/drawingml/2006/main">
              <a:ext uri="{FF2B5EF4-FFF2-40B4-BE49-F238E27FC236}">
                <a16:creationId xmlns:a16="http://schemas.microsoft.com/office/drawing/2014/main" id="{4474D91D-B1D7-4A4B-8FF7-8C3A4E2DF95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F8D3475C-6106-4CE8-B48B-AAF4B64F31B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5">
            <a:extLst xmlns:a="http://schemas.openxmlformats.org/drawingml/2006/main">
              <a:ext uri="{FF2B5EF4-FFF2-40B4-BE49-F238E27FC236}">
                <a16:creationId xmlns:a16="http://schemas.microsoft.com/office/drawing/2014/main" id="{EE1FBB5C-2015-47EE-905A-09E7AC77682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2716F6DE-0845-46AA-984A-B7F16D3671D6}"/>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Pathfinding search</a:t>
            </a:r>
          </a:p>
        </p:txBody>
      </p:sp>
      <p:sp>
        <p:nvSpPr>
          <p:cNvPr id="8" name="right-title-5">
            <a:extLst xmlns:a="http://schemas.openxmlformats.org/drawingml/2006/main">
              <a:ext uri="{FF2B5EF4-FFF2-40B4-BE49-F238E27FC236}">
                <a16:creationId xmlns:a16="http://schemas.microsoft.com/office/drawing/2014/main" id="{52554BB8-BB13-47E2-B718-6253FEC66AF2}"/>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Game-tree search</a:t>
            </a:r>
          </a:p>
        </p:txBody>
      </p:sp>
      <p:sp>
        <p:nvSpPr>
          <p:cNvPr id="9" name="left-bullet-5-marker-1">
            <a:extLst xmlns:a="http://schemas.openxmlformats.org/drawingml/2006/main">
              <a:ext uri="{FF2B5EF4-FFF2-40B4-BE49-F238E27FC236}">
                <a16:creationId xmlns:a16="http://schemas.microsoft.com/office/drawing/2014/main" id="{5C3C6161-D2E1-4A6B-A718-9F8451BB7116}"/>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9D3A503E-22E7-4738-A87E-82FAF29E7516}"/>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Environment does not choose against the agent.</a:t>
            </a:r>
          </a:p>
        </p:txBody>
      </p:sp>
      <p:sp>
        <p:nvSpPr>
          <p:cNvPr id="11" name="left-bullet-5-marker-2">
            <a:extLst xmlns:a="http://schemas.openxmlformats.org/drawingml/2006/main">
              <a:ext uri="{FF2B5EF4-FFF2-40B4-BE49-F238E27FC236}">
                <a16:creationId xmlns:a16="http://schemas.microsoft.com/office/drawing/2014/main" id="{4D9A89D2-93CC-4154-BD43-76B0D49450D7}"/>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B3FAB86B-50A9-4415-957F-AB2A14D2905E}"/>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Solution is one action sequence.</a:t>
            </a:r>
          </a:p>
        </p:txBody>
      </p:sp>
      <p:sp>
        <p:nvSpPr>
          <p:cNvPr id="13" name="left-bullet-5-marker-3">
            <a:extLst xmlns:a="http://schemas.openxmlformats.org/drawingml/2006/main">
              <a:ext uri="{FF2B5EF4-FFF2-40B4-BE49-F238E27FC236}">
                <a16:creationId xmlns:a16="http://schemas.microsoft.com/office/drawing/2014/main" id="{20138532-30EA-4945-9AEF-50258DA78991}"/>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D68658BD-4A65-4B46-AA9B-E6324C915944}"/>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Goal and path cost evaluate a path.</a:t>
            </a:r>
          </a:p>
        </p:txBody>
      </p:sp>
      <p:sp>
        <p:nvSpPr>
          <p:cNvPr id="15" name="left-bullet-5-marker-4">
            <a:extLst xmlns:a="http://schemas.openxmlformats.org/drawingml/2006/main">
              <a:ext uri="{FF2B5EF4-FFF2-40B4-BE49-F238E27FC236}">
                <a16:creationId xmlns:a16="http://schemas.microsoft.com/office/drawing/2014/main" id="{72811CA8-DDAB-4C30-8DF4-0A1F5B13B10A}"/>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6886C9BB-1220-4141-B873-7790ADD45330}"/>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Frontier ordering guides expansion.</a:t>
            </a:r>
          </a:p>
        </p:txBody>
      </p:sp>
      <p:sp>
        <p:nvSpPr>
          <p:cNvPr id="17" name="right-bullet-5-marker-1">
            <a:extLst xmlns:a="http://schemas.openxmlformats.org/drawingml/2006/main">
              <a:ext uri="{FF2B5EF4-FFF2-40B4-BE49-F238E27FC236}">
                <a16:creationId xmlns:a16="http://schemas.microsoft.com/office/drawing/2014/main" id="{96C0E1DA-7C4F-4A00-AD25-A332A8A67F87}"/>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1D37BB02-58CA-4607-AC7F-15383F50E0E0}"/>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Players alternate control.</a:t>
            </a:r>
          </a:p>
        </p:txBody>
      </p:sp>
      <p:sp>
        <p:nvSpPr>
          <p:cNvPr id="19" name="right-bullet-5-marker-2">
            <a:extLst xmlns:a="http://schemas.openxmlformats.org/drawingml/2006/main">
              <a:ext uri="{FF2B5EF4-FFF2-40B4-BE49-F238E27FC236}">
                <a16:creationId xmlns:a16="http://schemas.microsoft.com/office/drawing/2014/main" id="{5E12A53F-952D-41C6-84DB-70BD7C57F305}"/>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52865770-9F70-4F32-AA07-5800D53132B7}"/>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Solution is a contingent strategy.</a:t>
            </a:r>
          </a:p>
        </p:txBody>
      </p:sp>
      <p:sp>
        <p:nvSpPr>
          <p:cNvPr id="21" name="right-bullet-5-marker-3">
            <a:extLst xmlns:a="http://schemas.openxmlformats.org/drawingml/2006/main">
              <a:ext uri="{FF2B5EF4-FFF2-40B4-BE49-F238E27FC236}">
                <a16:creationId xmlns:a16="http://schemas.microsoft.com/office/drawing/2014/main" id="{A664A4B2-0BE4-46CA-A929-FE1258C42924}"/>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3537CCB5-BC61-4D65-9F73-4B54D556FE0B}"/>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Terminal utility evaluates outcomes.</a:t>
            </a:r>
          </a:p>
        </p:txBody>
      </p:sp>
      <p:sp>
        <p:nvSpPr>
          <p:cNvPr id="23" name="right-bullet-5-marker-4">
            <a:extLst xmlns:a="http://schemas.openxmlformats.org/drawingml/2006/main">
              <a:ext uri="{FF2B5EF4-FFF2-40B4-BE49-F238E27FC236}">
                <a16:creationId xmlns:a16="http://schemas.microsoft.com/office/drawing/2014/main" id="{612584EF-0EC4-490A-B633-1F8CC8E53C5E}"/>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B0BB68D7-D9FB-45B1-93D8-181445D20619}"/>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Backups propagate values.</a:t>
            </a:r>
          </a:p>
        </p:txBody>
      </p:sp>
    </p:spTree>
    <p:extLst>
      <p:ext uri="{BB962C8B-B14F-4D97-AF65-F5344CB8AC3E}">
        <p14:creationId xmlns:p14="http://schemas.microsoft.com/office/powerpoint/2010/main" val="6588749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E9FDFA88-481A-4D90-9D11-ED44336ADB1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Backward induction computes rational play</a:t>
            </a:r>
          </a:p>
        </p:txBody>
      </p:sp>
      <p:sp>
        <p:nvSpPr>
          <p:cNvPr id="2" name="title-accent-6">
            <a:extLst xmlns:a="http://schemas.openxmlformats.org/drawingml/2006/main">
              <a:ext uri="{FF2B5EF4-FFF2-40B4-BE49-F238E27FC236}">
                <a16:creationId xmlns:a16="http://schemas.microsoft.com/office/drawing/2014/main" id="{1F35085D-3F80-433A-9598-5876E314837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C292D3A5-8ADC-42EA-BBF4-D97CDC412A2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6">
            <a:extLst xmlns:a="http://schemas.openxmlformats.org/drawingml/2006/main">
              <a:ext uri="{FF2B5EF4-FFF2-40B4-BE49-F238E27FC236}">
                <a16:creationId xmlns:a16="http://schemas.microsoft.com/office/drawing/2014/main" id="{89A50064-827D-4BB4-A7ED-EEA717CC963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3FB7E437-521A-4E65-975B-2714C81F20C3}"/>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926CDB80-B409-4FC5-BD61-195D4C6C9FCD}"/>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0E5F24D3-9949-4716-B195-F6FD6341E9FA}"/>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Expand</a:t>
            </a:r>
          </a:p>
        </p:txBody>
      </p:sp>
      <p:sp>
        <p:nvSpPr>
          <p:cNvPr id="13" name="process-detail-6-1">
            <a:extLst xmlns:a="http://schemas.openxmlformats.org/drawingml/2006/main">
              <a:ext uri="{FF2B5EF4-FFF2-40B4-BE49-F238E27FC236}">
                <a16:creationId xmlns:a16="http://schemas.microsoft.com/office/drawing/2014/main" id="{74C92E3B-BBCF-41B0-A770-5371A4F0C88A}"/>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Generate legal continuations.</a:t>
            </a:r>
          </a:p>
        </p:txBody>
      </p:sp>
      <p:sp>
        <p:nvSpPr>
          <p:cNvPr id="14" name="process-node-6-2">
            <a:extLst xmlns:a="http://schemas.openxmlformats.org/drawingml/2006/main">
              <a:ext uri="{FF2B5EF4-FFF2-40B4-BE49-F238E27FC236}">
                <a16:creationId xmlns:a16="http://schemas.microsoft.com/office/drawing/2014/main" id="{B542D1B3-705E-4422-BD53-E042834DD985}"/>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CE98346C-F4CF-41BB-A801-8D6242C9E25F}"/>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64F4E5BC-61E0-467C-9122-FAEF4EF002C6}"/>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Anchor</a:t>
            </a:r>
          </a:p>
        </p:txBody>
      </p:sp>
      <p:sp>
        <p:nvSpPr>
          <p:cNvPr id="17" name="process-detail-6-2">
            <a:extLst xmlns:a="http://schemas.openxmlformats.org/drawingml/2006/main">
              <a:ext uri="{FF2B5EF4-FFF2-40B4-BE49-F238E27FC236}">
                <a16:creationId xmlns:a16="http://schemas.microsoft.com/office/drawing/2014/main" id="{591A193B-F8AA-4000-BDE0-8037756A6C5F}"/>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Assign utility at terminals.</a:t>
            </a:r>
          </a:p>
        </p:txBody>
      </p:sp>
      <p:sp>
        <p:nvSpPr>
          <p:cNvPr id="18" name="process-node-6-3">
            <a:extLst xmlns:a="http://schemas.openxmlformats.org/drawingml/2006/main">
              <a:ext uri="{FF2B5EF4-FFF2-40B4-BE49-F238E27FC236}">
                <a16:creationId xmlns:a16="http://schemas.microsoft.com/office/drawing/2014/main" id="{111CD54F-43FE-4D7F-846C-6DA2D44F34CA}"/>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A97CD27F-285B-4080-90B3-0B8F0593750A}"/>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F50A7D52-1A36-41B0-A2E9-926144DB1CF6}"/>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Minimize</a:t>
            </a:r>
          </a:p>
        </p:txBody>
      </p:sp>
      <p:sp>
        <p:nvSpPr>
          <p:cNvPr id="21" name="process-detail-6-3">
            <a:extLst xmlns:a="http://schemas.openxmlformats.org/drawingml/2006/main">
              <a:ext uri="{FF2B5EF4-FFF2-40B4-BE49-F238E27FC236}">
                <a16:creationId xmlns:a16="http://schemas.microsoft.com/office/drawing/2014/main" id="{4BA01058-0E3D-4BBD-8FCF-849C33AB451D}"/>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Back up MIN choices.</a:t>
            </a:r>
          </a:p>
        </p:txBody>
      </p:sp>
      <p:sp>
        <p:nvSpPr>
          <p:cNvPr id="22" name="process-node-6-4">
            <a:extLst xmlns:a="http://schemas.openxmlformats.org/drawingml/2006/main">
              <a:ext uri="{FF2B5EF4-FFF2-40B4-BE49-F238E27FC236}">
                <a16:creationId xmlns:a16="http://schemas.microsoft.com/office/drawing/2014/main" id="{9B4E2A66-E292-4EBD-BCDA-E92C386F3029}"/>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FE33A341-F492-40DB-A314-5184DA989D43}"/>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CA6BAF90-A707-4EE9-A3FB-8A7D965A0FE2}"/>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Maximize</a:t>
            </a:r>
          </a:p>
        </p:txBody>
      </p:sp>
      <p:sp>
        <p:nvSpPr>
          <p:cNvPr id="25" name="process-detail-6-4">
            <a:extLst xmlns:a="http://schemas.openxmlformats.org/drawingml/2006/main">
              <a:ext uri="{FF2B5EF4-FFF2-40B4-BE49-F238E27FC236}">
                <a16:creationId xmlns:a16="http://schemas.microsoft.com/office/drawing/2014/main" id="{4FC7130D-3140-4B38-A47A-AF6A8BA75148}"/>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Back up MAX choices.</a:t>
            </a:r>
          </a:p>
        </p:txBody>
      </p:sp>
      <p:sp>
        <p:nvSpPr>
          <p:cNvPr id="26" name="process-node-6-5">
            <a:extLst xmlns:a="http://schemas.openxmlformats.org/drawingml/2006/main">
              <a:ext uri="{FF2B5EF4-FFF2-40B4-BE49-F238E27FC236}">
                <a16:creationId xmlns:a16="http://schemas.microsoft.com/office/drawing/2014/main" id="{B061D4B7-07D1-45C2-BF16-B1FFC300284B}"/>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2B657938-8029-4F6E-A280-AFFD909AB5FC}"/>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723BF34F-5372-470A-B271-52539E951481}"/>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Choose</a:t>
            </a:r>
          </a:p>
        </p:txBody>
      </p:sp>
      <p:sp>
        <p:nvSpPr>
          <p:cNvPr id="29" name="process-detail-6-5">
            <a:extLst xmlns:a="http://schemas.openxmlformats.org/drawingml/2006/main">
              <a:ext uri="{FF2B5EF4-FFF2-40B4-BE49-F238E27FC236}">
                <a16:creationId xmlns:a16="http://schemas.microsoft.com/office/drawing/2014/main" id="{E13674AD-AD40-47C9-890D-092421B7DDD5}"/>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Select the root action with highest value.</a:t>
            </a:r>
          </a:p>
        </p:txBody>
      </p:sp>
      <p:sp>
        <p:nvSpPr>
          <p:cNvPr id="30" name="process-takeaway-6">
            <a:extLst xmlns:a="http://schemas.openxmlformats.org/drawingml/2006/main">
              <a:ext uri="{FF2B5EF4-FFF2-40B4-BE49-F238E27FC236}">
                <a16:creationId xmlns:a16="http://schemas.microsoft.com/office/drawing/2014/main" id="{E98E9732-A8BF-4C45-81FF-B7EF72C4C518}"/>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Every backup represents control by the player named at that state.</a:t>
            </a:r>
          </a:p>
        </p:txBody>
      </p:sp>
    </p:spTree>
    <p:extLst>
      <p:ext uri="{BB962C8B-B14F-4D97-AF65-F5344CB8AC3E}">
        <p14:creationId xmlns:p14="http://schemas.microsoft.com/office/powerpoint/2010/main" val="19099378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53D7F2F4-4CA7-40A0-B396-C6A3131FC95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Minimax alternates MAX and MIN recursion</a:t>
            </a:r>
          </a:p>
        </p:txBody>
      </p:sp>
      <p:sp>
        <p:nvSpPr>
          <p:cNvPr id="2" name="title-accent-7">
            <a:extLst xmlns:a="http://schemas.openxmlformats.org/drawingml/2006/main">
              <a:ext uri="{FF2B5EF4-FFF2-40B4-BE49-F238E27FC236}">
                <a16:creationId xmlns:a16="http://schemas.microsoft.com/office/drawing/2014/main" id="{601D6CAC-1FBB-465F-AF49-D13AF2A7AF1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CD3DB184-607B-450B-BCA3-EDDED9F7902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7">
            <a:extLst xmlns:a="http://schemas.openxmlformats.org/drawingml/2006/main">
              <a:ext uri="{FF2B5EF4-FFF2-40B4-BE49-F238E27FC236}">
                <a16:creationId xmlns:a16="http://schemas.microsoft.com/office/drawing/2014/main" id="{4EF8478E-FBAE-45C3-BC83-FD0210D64C3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B49DB6C8-ACB4-4713-AA51-0F13F6043001}"/>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CD5125AD-21E1-4186-877C-ECAAA4E2FAE9}"/>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function MAX_VALUE(s):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terminal(s): return utility(s)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-infinity</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a in actions(s):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max(v, MIN_VALUE(result(s,a)))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v</a:t>
            </a:r>
          </a:p>
          <a:p xmlns:a="http://schemas.openxmlformats.org/drawingml/2006/main">
            <a:r>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function MIN_VALUE(s):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terminal(s): return utility(s)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+infinity</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a in actions(s):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min(v, MAX_VALUE(result(s,a)))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v</a:t>
            </a:r>
          </a:p>
        </p:txBody>
      </p:sp>
      <p:sp>
        <p:nvSpPr>
          <p:cNvPr id="8" name="code-rail-title-7">
            <a:extLst xmlns:a="http://schemas.openxmlformats.org/drawingml/2006/main">
              <a:ext uri="{FF2B5EF4-FFF2-40B4-BE49-F238E27FC236}">
                <a16:creationId xmlns:a16="http://schemas.microsoft.com/office/drawing/2014/main" id="{7A8A487D-C71A-4E0F-8D25-F5A04B83ED87}"/>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Required contracts</a:t>
            </a:r>
          </a:p>
        </p:txBody>
      </p:sp>
      <p:sp>
        <p:nvSpPr>
          <p:cNvPr id="9" name="code-rail-7-marker-1">
            <a:extLst xmlns:a="http://schemas.openxmlformats.org/drawingml/2006/main">
              <a:ext uri="{FF2B5EF4-FFF2-40B4-BE49-F238E27FC236}">
                <a16:creationId xmlns:a16="http://schemas.microsoft.com/office/drawing/2014/main" id="{9AA96741-7B48-4FF5-8BF3-7AC4A1BFF994}"/>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26F4D7D6-0928-4F68-B1BA-6BDCA5DA32B9}"/>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Terminal test must stop.</a:t>
            </a:r>
          </a:p>
        </p:txBody>
      </p:sp>
      <p:sp>
        <p:nvSpPr>
          <p:cNvPr id="11" name="code-rail-7-marker-2">
            <a:extLst xmlns:a="http://schemas.openxmlformats.org/drawingml/2006/main">
              <a:ext uri="{FF2B5EF4-FFF2-40B4-BE49-F238E27FC236}">
                <a16:creationId xmlns:a16="http://schemas.microsoft.com/office/drawing/2014/main" id="{4D9607F2-9CAC-487F-9E7A-AA917E3F0329}"/>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5032949C-8B1F-4883-81AE-312913C450D9}"/>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Utility uses MAX's perspective.</a:t>
            </a:r>
          </a:p>
        </p:txBody>
      </p:sp>
      <p:sp>
        <p:nvSpPr>
          <p:cNvPr id="13" name="code-rail-7-marker-3">
            <a:extLst xmlns:a="http://schemas.openxmlformats.org/drawingml/2006/main">
              <a:ext uri="{FF2B5EF4-FFF2-40B4-BE49-F238E27FC236}">
                <a16:creationId xmlns:a16="http://schemas.microsoft.com/office/drawing/2014/main" id="{123BA4B4-46B8-4E33-BDF0-009E528C4156}"/>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FD6145E7-DFA4-4811-8C0C-AF4F0DA51DDD}"/>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Turns alternate correctly.</a:t>
            </a:r>
          </a:p>
        </p:txBody>
      </p:sp>
      <p:sp>
        <p:nvSpPr>
          <p:cNvPr id="15" name="code-rail-7-marker-4">
            <a:extLst xmlns:a="http://schemas.openxmlformats.org/drawingml/2006/main">
              <a:ext uri="{FF2B5EF4-FFF2-40B4-BE49-F238E27FC236}">
                <a16:creationId xmlns:a16="http://schemas.microsoft.com/office/drawing/2014/main" id="{52B54234-7394-42C1-88E1-C0D241EC0BC5}"/>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F2E925ED-5CDE-4ED6-99ED-B1CB095501ED}"/>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Ties are deterministic.</a:t>
            </a:r>
          </a:p>
        </p:txBody>
      </p:sp>
    </p:spTree>
    <p:extLst>
      <p:ext uri="{BB962C8B-B14F-4D97-AF65-F5344CB8AC3E}">
        <p14:creationId xmlns:p14="http://schemas.microsoft.com/office/powerpoint/2010/main" val="9398084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BE95A361-8F45-4914-ACFE-2B259F6BBFC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minimax backup</a:t>
            </a:r>
          </a:p>
        </p:txBody>
      </p:sp>
      <p:sp>
        <p:nvSpPr>
          <p:cNvPr id="2" name="title-accent-8">
            <a:extLst xmlns:a="http://schemas.openxmlformats.org/drawingml/2006/main">
              <a:ext uri="{FF2B5EF4-FFF2-40B4-BE49-F238E27FC236}">
                <a16:creationId xmlns:a16="http://schemas.microsoft.com/office/drawing/2014/main" id="{6A269B4F-2823-4EE0-8BAF-1116F54558F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DAB38F5C-60E7-4E5E-8299-09F34C8637C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8">
            <a:extLst xmlns:a="http://schemas.openxmlformats.org/drawingml/2006/main">
              <a:ext uri="{FF2B5EF4-FFF2-40B4-BE49-F238E27FC236}">
                <a16:creationId xmlns:a16="http://schemas.microsoft.com/office/drawing/2014/main" id="{AC74184E-B876-4069-B503-F0FB9F19F07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137D596B-C1A7-43BE-94AA-4326FA2D9A90}"/>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20F00179-BB67-48EE-9464-E2A61DCCD0A4}"/>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MAX has Left and Right. Their MIN children lead to leaves [3,5] and [2,9].</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28440567-8ACA-4FD6-846B-CD110F503EA1}"/>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AFB6DF9C-0CA7-4445-8CE8-EAC51935AD53}"/>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Left MIN chooses min(3,5)=3.</a:t>
            </a:r>
          </a:p>
        </p:txBody>
      </p:sp>
      <p:sp>
        <p:nvSpPr>
          <p:cNvPr id="11" name="example-step-8-marker-2">
            <a:extLst xmlns:a="http://schemas.openxmlformats.org/drawingml/2006/main">
              <a:ext uri="{FF2B5EF4-FFF2-40B4-BE49-F238E27FC236}">
                <a16:creationId xmlns:a16="http://schemas.microsoft.com/office/drawing/2014/main" id="{C48CFB60-49FC-4027-B37C-EB64B1CB5097}"/>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838F9FA5-B353-4142-8A04-97DE0C1E35DD}"/>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Right MIN chooses min(2,9)=2.</a:t>
            </a:r>
          </a:p>
        </p:txBody>
      </p:sp>
      <p:sp>
        <p:nvSpPr>
          <p:cNvPr id="13" name="example-step-8-marker-3">
            <a:extLst xmlns:a="http://schemas.openxmlformats.org/drawingml/2006/main">
              <a:ext uri="{FF2B5EF4-FFF2-40B4-BE49-F238E27FC236}">
                <a16:creationId xmlns:a16="http://schemas.microsoft.com/office/drawing/2014/main" id="{FB266A2D-E95C-4687-888C-F2EBE15F66EB}"/>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4A065BD7-65F7-48CA-824B-D90A31084A37}"/>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MAX compares 3 and 2.</a:t>
            </a:r>
          </a:p>
        </p:txBody>
      </p:sp>
      <p:sp>
        <p:nvSpPr>
          <p:cNvPr id="15" name="example-step-8-marker-4">
            <a:extLst xmlns:a="http://schemas.openxmlformats.org/drawingml/2006/main">
              <a:ext uri="{FF2B5EF4-FFF2-40B4-BE49-F238E27FC236}">
                <a16:creationId xmlns:a16="http://schemas.microsoft.com/office/drawing/2014/main" id="{3D0A0272-1C6E-4DF3-9A6B-E0F73A1664B0}"/>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49E6B26D-C60D-498F-8B2C-F2E016027372}"/>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MAX chooses Left.</a:t>
            </a:r>
          </a:p>
        </p:txBody>
      </p:sp>
      <p:sp>
        <p:nvSpPr>
          <p:cNvPr id="17" name="example-result-panel-8">
            <a:extLst xmlns:a="http://schemas.openxmlformats.org/drawingml/2006/main">
              <a:ext uri="{FF2B5EF4-FFF2-40B4-BE49-F238E27FC236}">
                <a16:creationId xmlns:a16="http://schemas.microsoft.com/office/drawing/2014/main" id="{0D815C06-09DF-4852-B59B-E733953D7F96}"/>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7E8503F9-EDB1-4AAB-82B5-A67602356A98}"/>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root minimax value is 3 even though the tree contains a leaf worth 9.</a:t>
            </a:r>
          </a:p>
        </p:txBody>
      </p:sp>
    </p:spTree>
    <p:extLst>
      <p:ext uri="{BB962C8B-B14F-4D97-AF65-F5344CB8AC3E}">
        <p14:creationId xmlns:p14="http://schemas.microsoft.com/office/powerpoint/2010/main" val="5898708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3431E9B7-6318-4E6A-8E36-525B6803985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Game assumptions determine what minimax means</a:t>
            </a:r>
          </a:p>
        </p:txBody>
      </p:sp>
      <p:sp>
        <p:nvSpPr>
          <p:cNvPr id="2" name="title-accent-9">
            <a:extLst xmlns:a="http://schemas.openxmlformats.org/drawingml/2006/main">
              <a:ext uri="{FF2B5EF4-FFF2-40B4-BE49-F238E27FC236}">
                <a16:creationId xmlns:a16="http://schemas.microsoft.com/office/drawing/2014/main" id="{3F807B71-35B0-4B81-9DFB-71B7C9F8B3A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721CE839-D40D-49CF-9FF1-3B17DB9C52A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9">
            <a:extLst xmlns:a="http://schemas.openxmlformats.org/drawingml/2006/main">
              <a:ext uri="{FF2B5EF4-FFF2-40B4-BE49-F238E27FC236}">
                <a16:creationId xmlns:a16="http://schemas.microsoft.com/office/drawing/2014/main" id="{DC4901E0-C3D0-4CAA-A498-13D265238F9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2598BDED-DDA5-42FB-B9CF-356F24835BD5}"/>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Zero-sum</a:t>
            </a:r>
          </a:p>
        </p:txBody>
      </p:sp>
      <p:sp>
        <p:nvSpPr>
          <p:cNvPr id="7" name="comparison-tagline-9-1">
            <a:extLst xmlns:a="http://schemas.openxmlformats.org/drawingml/2006/main">
              <a:ext uri="{FF2B5EF4-FFF2-40B4-BE49-F238E27FC236}">
                <a16:creationId xmlns:a16="http://schemas.microsoft.com/office/drawing/2014/main" id="{F965D6B9-02AB-44E7-BA1D-C0C2FF4F51A8}"/>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Opposed utility</a:t>
            </a:r>
          </a:p>
        </p:txBody>
      </p:sp>
      <p:sp>
        <p:nvSpPr>
          <p:cNvPr id="8" name="comparison-bullet-9-1-marker-1">
            <a:extLst xmlns:a="http://schemas.openxmlformats.org/drawingml/2006/main">
              <a:ext uri="{FF2B5EF4-FFF2-40B4-BE49-F238E27FC236}">
                <a16:creationId xmlns:a16="http://schemas.microsoft.com/office/drawing/2014/main" id="{E0CEAA33-D62B-4170-A32E-F643ED9E6DF3}"/>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69DF26CD-15A8-4A74-AEEE-004C507668EB}"/>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One scalar utility.</a:t>
            </a:r>
          </a:p>
        </p:txBody>
      </p:sp>
      <p:sp>
        <p:nvSpPr>
          <p:cNvPr id="10" name="comparison-bullet-9-1-marker-2">
            <a:extLst xmlns:a="http://schemas.openxmlformats.org/drawingml/2006/main">
              <a:ext uri="{FF2B5EF4-FFF2-40B4-BE49-F238E27FC236}">
                <a16:creationId xmlns:a16="http://schemas.microsoft.com/office/drawing/2014/main" id="{780489AF-81A7-4434-91CD-87D89E1F2AC9}"/>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2D22AAB6-7D72-4F41-B04B-FD1299FF6346}"/>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MIN lowers MAX value.</a:t>
            </a:r>
          </a:p>
        </p:txBody>
      </p:sp>
      <p:sp>
        <p:nvSpPr>
          <p:cNvPr id="12" name="comparison-bullet-9-1-marker-3">
            <a:extLst xmlns:a="http://schemas.openxmlformats.org/drawingml/2006/main">
              <a:ext uri="{FF2B5EF4-FFF2-40B4-BE49-F238E27FC236}">
                <a16:creationId xmlns:a16="http://schemas.microsoft.com/office/drawing/2014/main" id="{14B1E10C-7AEB-4B3E-AA6F-120BAB54DC92}"/>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AD49958B-DD30-4511-93DE-A3AF79690131}"/>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Standard minimax model.</a:t>
            </a:r>
          </a:p>
        </p:txBody>
      </p:sp>
      <p:sp>
        <p:nvSpPr>
          <p:cNvPr id="14" name="comparison-bullet-9-1-marker-4">
            <a:extLst xmlns:a="http://schemas.openxmlformats.org/drawingml/2006/main">
              <a:ext uri="{FF2B5EF4-FFF2-40B4-BE49-F238E27FC236}">
                <a16:creationId xmlns:a16="http://schemas.microsoft.com/office/drawing/2014/main" id="{FAE17FE0-C335-419A-9DD5-262A831BE0F8}"/>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078C3019-F31A-4867-9105-3E686E9654C1}"/>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Tie policy still matters.</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16ED2393-25AB-4ECD-BFAA-C81ADF54157E}"/>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Perfect information</a:t>
            </a:r>
          </a:p>
        </p:txBody>
      </p:sp>
      <p:sp>
        <p:nvSpPr>
          <p:cNvPr id="18" name="comparison-tagline-9-2">
            <a:extLst xmlns:a="http://schemas.openxmlformats.org/drawingml/2006/main">
              <a:ext uri="{FF2B5EF4-FFF2-40B4-BE49-F238E27FC236}">
                <a16:creationId xmlns:a16="http://schemas.microsoft.com/office/drawing/2014/main" id="{A8FC9950-4E47-47E4-A2E8-67A6EFAF304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 is visible</a:t>
            </a:r>
          </a:p>
        </p:txBody>
      </p:sp>
      <p:sp>
        <p:nvSpPr>
          <p:cNvPr id="19" name="comparison-bullet-9-2-marker-1">
            <a:extLst xmlns:a="http://schemas.openxmlformats.org/drawingml/2006/main">
              <a:ext uri="{FF2B5EF4-FFF2-40B4-BE49-F238E27FC236}">
                <a16:creationId xmlns:a16="http://schemas.microsoft.com/office/drawing/2014/main" id="{31628573-D8F3-4093-ACC0-6E5369E63C37}"/>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7DBA5B17-9ACE-4ADC-900F-B54B3DFC86F5}"/>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hidden cards or state.</a:t>
            </a:r>
          </a:p>
        </p:txBody>
      </p:sp>
      <p:sp>
        <p:nvSpPr>
          <p:cNvPr id="21" name="comparison-bullet-9-2-marker-2">
            <a:extLst xmlns:a="http://schemas.openxmlformats.org/drawingml/2006/main">
              <a:ext uri="{FF2B5EF4-FFF2-40B4-BE49-F238E27FC236}">
                <a16:creationId xmlns:a16="http://schemas.microsoft.com/office/drawing/2014/main" id="{1CF45020-C8FE-4058-B883-282708C63D70}"/>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A55A867B-3F98-4F88-93CC-BC4CEA0617A4}"/>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Legal actions are known.</a:t>
            </a:r>
          </a:p>
        </p:txBody>
      </p:sp>
      <p:sp>
        <p:nvSpPr>
          <p:cNvPr id="23" name="comparison-bullet-9-2-marker-3">
            <a:extLst xmlns:a="http://schemas.openxmlformats.org/drawingml/2006/main">
              <a:ext uri="{FF2B5EF4-FFF2-40B4-BE49-F238E27FC236}">
                <a16:creationId xmlns:a16="http://schemas.microsoft.com/office/drawing/2014/main" id="{CBACAF98-3A00-4470-8596-26DAF62541EF}"/>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5F22A38A-6679-4219-9516-2C924631A90B}"/>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Deterministic successor.</a:t>
            </a:r>
          </a:p>
        </p:txBody>
      </p:sp>
      <p:sp>
        <p:nvSpPr>
          <p:cNvPr id="25" name="comparison-bullet-9-2-marker-4">
            <a:extLst xmlns:a="http://schemas.openxmlformats.org/drawingml/2006/main">
              <a:ext uri="{FF2B5EF4-FFF2-40B4-BE49-F238E27FC236}">
                <a16:creationId xmlns:a16="http://schemas.microsoft.com/office/drawing/2014/main" id="{36BDAD40-8A5E-46FB-9A09-A27749164EC5}"/>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B23B1592-D7B0-4F31-A7D7-5F09C4CE135D}"/>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Chance is absent.</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E7B7501A-DDBE-496C-A8CB-1A23FE4BE1B6}"/>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Optimal play</a:t>
            </a:r>
          </a:p>
        </p:txBody>
      </p:sp>
      <p:sp>
        <p:nvSpPr>
          <p:cNvPr id="29" name="comparison-tagline-9-3">
            <a:extLst xmlns:a="http://schemas.openxmlformats.org/drawingml/2006/main">
              <a:ext uri="{FF2B5EF4-FFF2-40B4-BE49-F238E27FC236}">
                <a16:creationId xmlns:a16="http://schemas.microsoft.com/office/drawing/2014/main" id="{DD2AF8BA-9667-49D3-9757-F1172B236696}"/>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Rational response</a:t>
            </a:r>
          </a:p>
        </p:txBody>
      </p:sp>
      <p:sp>
        <p:nvSpPr>
          <p:cNvPr id="30" name="comparison-bullet-9-3-marker-1">
            <a:extLst xmlns:a="http://schemas.openxmlformats.org/drawingml/2006/main">
              <a:ext uri="{FF2B5EF4-FFF2-40B4-BE49-F238E27FC236}">
                <a16:creationId xmlns:a16="http://schemas.microsoft.com/office/drawing/2014/main" id="{4B0E6FE1-C0D3-464C-91B5-1D6E7EEB6A6F}"/>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5F921146-1AE7-4242-ACF6-3ADFD049C08B}"/>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Opponent selects best reply.</a:t>
            </a:r>
          </a:p>
        </p:txBody>
      </p:sp>
      <p:sp>
        <p:nvSpPr>
          <p:cNvPr id="32" name="comparison-bullet-9-3-marker-2">
            <a:extLst xmlns:a="http://schemas.openxmlformats.org/drawingml/2006/main">
              <a:ext uri="{FF2B5EF4-FFF2-40B4-BE49-F238E27FC236}">
                <a16:creationId xmlns:a16="http://schemas.microsoft.com/office/drawing/2014/main" id="{83C3E02C-AE07-4E37-9512-FA1DCE0316C2}"/>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23F0CB5C-A5EC-4B60-978E-3ACD4B5BB930}"/>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Value is conservative.</a:t>
            </a:r>
          </a:p>
        </p:txBody>
      </p:sp>
      <p:sp>
        <p:nvSpPr>
          <p:cNvPr id="34" name="comparison-bullet-9-3-marker-3">
            <a:extLst xmlns:a="http://schemas.openxmlformats.org/drawingml/2006/main">
              <a:ext uri="{FF2B5EF4-FFF2-40B4-BE49-F238E27FC236}">
                <a16:creationId xmlns:a16="http://schemas.microsoft.com/office/drawing/2014/main" id="{2C013098-14B6-4A7E-8D5C-FDADD38ABCF7}"/>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EB2770D6-5B8E-45CC-A1A7-7A1420B8096F}"/>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Weak opponents may do better.</a:t>
            </a:r>
          </a:p>
        </p:txBody>
      </p:sp>
      <p:sp>
        <p:nvSpPr>
          <p:cNvPr id="36" name="comparison-bullet-9-3-marker-4">
            <a:extLst xmlns:a="http://schemas.openxmlformats.org/drawingml/2006/main">
              <a:ext uri="{FF2B5EF4-FFF2-40B4-BE49-F238E27FC236}">
                <a16:creationId xmlns:a16="http://schemas.microsoft.com/office/drawing/2014/main" id="{812BB0D0-5A1A-45A3-AEF4-0E8D4D4171A5}"/>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D4068A6E-D4FD-4400-B504-FEAAAB9D96EF}"/>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Guarantee is model-relative.</a:t>
            </a:r>
          </a:p>
        </p:txBody>
      </p:sp>
    </p:spTree>
    <p:extLst>
      <p:ext uri="{BB962C8B-B14F-4D97-AF65-F5344CB8AC3E}">
        <p14:creationId xmlns:p14="http://schemas.microsoft.com/office/powerpoint/2010/main" val="17271536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67089675-AF4C-41B0-93B3-A0B3D713777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back up a small tree</a:t>
            </a:r>
          </a:p>
        </p:txBody>
      </p:sp>
      <p:sp>
        <p:nvSpPr>
          <p:cNvPr id="2" name="title-accent-10">
            <a:extLst xmlns:a="http://schemas.openxmlformats.org/drawingml/2006/main">
              <a:ext uri="{FF2B5EF4-FFF2-40B4-BE49-F238E27FC236}">
                <a16:creationId xmlns:a16="http://schemas.microsoft.com/office/drawing/2014/main" id="{A1816451-9549-4891-ADF7-E01EB014D77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9EDD2839-C7A9-48A6-9CD2-0FD5AA525B9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0">
            <a:extLst xmlns:a="http://schemas.openxmlformats.org/drawingml/2006/main">
              <a:ext uri="{FF2B5EF4-FFF2-40B4-BE49-F238E27FC236}">
                <a16:creationId xmlns:a16="http://schemas.microsoft.com/office/drawing/2014/main" id="{DB256EDC-7C28-4449-B854-3FB354FE9D5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C5C44E60-1EE5-496A-B867-B01CCB59EE10}"/>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0A94594D-B902-4F1F-B6F7-3935C1F68E6A}"/>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MIN node has three MAX children valued 4, -1, and 6. What value is returned, and which branch can MIN select?</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FB7B9382-0337-4AD2-8EC4-5769E3887FE9}"/>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03478263-2CF8-4701-9F67-EA8BF37648ED}"/>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the player controlling the node.</a:t>
            </a:r>
          </a:p>
        </p:txBody>
      </p:sp>
      <p:sp>
        <p:nvSpPr>
          <p:cNvPr id="11" name="checkpoint-prompt-number-10-2">
            <a:extLst xmlns:a="http://schemas.openxmlformats.org/drawingml/2006/main">
              <a:ext uri="{FF2B5EF4-FFF2-40B4-BE49-F238E27FC236}">
                <a16:creationId xmlns:a16="http://schemas.microsoft.com/office/drawing/2014/main" id="{A53828B4-5043-4767-987E-01B210E64748}"/>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DD559CE7-3D20-4AC0-8E41-69BF6642F702}"/>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Apply the correct extremum.</a:t>
            </a:r>
          </a:p>
        </p:txBody>
      </p:sp>
      <p:sp>
        <p:nvSpPr>
          <p:cNvPr id="13" name="checkpoint-prompt-number-10-3">
            <a:extLst xmlns:a="http://schemas.openxmlformats.org/drawingml/2006/main">
              <a:ext uri="{FF2B5EF4-FFF2-40B4-BE49-F238E27FC236}">
                <a16:creationId xmlns:a16="http://schemas.microsoft.com/office/drawing/2014/main" id="{0D7E8C4F-4F08-4941-B4DE-B74AE66E5E71}"/>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8A64ECDD-0A7F-4306-BBD8-A0D3BE03E6A9}"/>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Interpret the result from MAX's perspective.</a:t>
            </a:r>
          </a:p>
        </p:txBody>
      </p:sp>
    </p:spTree>
    <p:extLst>
      <p:ext uri="{BB962C8B-B14F-4D97-AF65-F5344CB8AC3E}">
        <p14:creationId xmlns:p14="http://schemas.microsoft.com/office/powerpoint/2010/main" val="1412765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4011F83D-178D-488E-8E20-51D91EFC0B5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Depth limits replace terminal utility with evaluation</a:t>
            </a:r>
          </a:p>
        </p:txBody>
      </p:sp>
      <p:sp>
        <p:nvSpPr>
          <p:cNvPr id="2" name="title-accent-11">
            <a:extLst xmlns:a="http://schemas.openxmlformats.org/drawingml/2006/main">
              <a:ext uri="{FF2B5EF4-FFF2-40B4-BE49-F238E27FC236}">
                <a16:creationId xmlns:a16="http://schemas.microsoft.com/office/drawing/2014/main" id="{B8680F62-CAD6-4F9D-9578-2F4B9AD3A6C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50C7F390-4DA8-4985-A652-9B0ADB49CA3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1">
            <a:extLst xmlns:a="http://schemas.openxmlformats.org/drawingml/2006/main">
              <a:ext uri="{FF2B5EF4-FFF2-40B4-BE49-F238E27FC236}">
                <a16:creationId xmlns:a16="http://schemas.microsoft.com/office/drawing/2014/main" id="{380AE219-A17A-4773-9D93-AD1572E8CD5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264EAD46-70E3-49F7-838E-13798CBBE9E6}"/>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Terminal utility</a:t>
            </a:r>
          </a:p>
        </p:txBody>
      </p:sp>
      <p:sp>
        <p:nvSpPr>
          <p:cNvPr id="8" name="right-title-11">
            <a:extLst xmlns:a="http://schemas.openxmlformats.org/drawingml/2006/main">
              <a:ext uri="{FF2B5EF4-FFF2-40B4-BE49-F238E27FC236}">
                <a16:creationId xmlns:a16="http://schemas.microsoft.com/office/drawing/2014/main" id="{E9877C90-7403-4EB4-B0AB-D9A6F4F23220}"/>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Evaluation function</a:t>
            </a:r>
          </a:p>
        </p:txBody>
      </p:sp>
      <p:sp>
        <p:nvSpPr>
          <p:cNvPr id="9" name="left-bullet-11-marker-1">
            <a:extLst xmlns:a="http://schemas.openxmlformats.org/drawingml/2006/main">
              <a:ext uri="{FF2B5EF4-FFF2-40B4-BE49-F238E27FC236}">
                <a16:creationId xmlns:a16="http://schemas.microsoft.com/office/drawing/2014/main" id="{480E2ACB-46CB-47FE-9B4B-FC9F887C47B2}"/>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4DDD32C8-18F6-4E82-B8F9-2E6DFC604F91}"/>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Exact for completed games.</a:t>
            </a:r>
          </a:p>
        </p:txBody>
      </p:sp>
      <p:sp>
        <p:nvSpPr>
          <p:cNvPr id="11" name="left-bullet-11-marker-2">
            <a:extLst xmlns:a="http://schemas.openxmlformats.org/drawingml/2006/main">
              <a:ext uri="{FF2B5EF4-FFF2-40B4-BE49-F238E27FC236}">
                <a16:creationId xmlns:a16="http://schemas.microsoft.com/office/drawing/2014/main" id="{2EE92341-F6A6-402A-9A4F-6F558A023A93}"/>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6B908D41-6A6E-483F-B62B-10CF6A7A4038}"/>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Aligned with win, loss, or score.</a:t>
            </a:r>
          </a:p>
        </p:txBody>
      </p:sp>
      <p:sp>
        <p:nvSpPr>
          <p:cNvPr id="13" name="left-bullet-11-marker-3">
            <a:extLst xmlns:a="http://schemas.openxmlformats.org/drawingml/2006/main">
              <a:ext uri="{FF2B5EF4-FFF2-40B4-BE49-F238E27FC236}">
                <a16:creationId xmlns:a16="http://schemas.microsoft.com/office/drawing/2014/main" id="{179CFB4C-3148-42D8-A68C-8F906F43EB14}"/>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4CE233C8-90D2-41A3-853F-74EC70284CCC}"/>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Too deep in large games.</a:t>
            </a:r>
          </a:p>
        </p:txBody>
      </p:sp>
      <p:sp>
        <p:nvSpPr>
          <p:cNvPr id="15" name="left-bullet-11-marker-4">
            <a:extLst xmlns:a="http://schemas.openxmlformats.org/drawingml/2006/main">
              <a:ext uri="{FF2B5EF4-FFF2-40B4-BE49-F238E27FC236}">
                <a16:creationId xmlns:a16="http://schemas.microsoft.com/office/drawing/2014/main" id="{A29C3E1B-943C-421E-A6C9-CB0575EE29CA}"/>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355E9EE3-B723-440C-803B-36BF7C36C9CD}"/>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 approximation at leaves.</a:t>
            </a:r>
          </a:p>
        </p:txBody>
      </p:sp>
      <p:sp>
        <p:nvSpPr>
          <p:cNvPr id="17" name="right-bullet-11-marker-1">
            <a:extLst xmlns:a="http://schemas.openxmlformats.org/drawingml/2006/main">
              <a:ext uri="{FF2B5EF4-FFF2-40B4-BE49-F238E27FC236}">
                <a16:creationId xmlns:a16="http://schemas.microsoft.com/office/drawing/2014/main" id="{97ABDACD-E301-4216-A7AF-CD67B2E7032E}"/>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EAE44B1A-4528-4EFB-B198-225124201A20}"/>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Estimates nonterminal strength.</a:t>
            </a:r>
          </a:p>
        </p:txBody>
      </p:sp>
      <p:sp>
        <p:nvSpPr>
          <p:cNvPr id="19" name="right-bullet-11-marker-2">
            <a:extLst xmlns:a="http://schemas.openxmlformats.org/drawingml/2006/main">
              <a:ext uri="{FF2B5EF4-FFF2-40B4-BE49-F238E27FC236}">
                <a16:creationId xmlns:a16="http://schemas.microsoft.com/office/drawing/2014/main" id="{7AFF5642-48A0-437E-A5F9-206C6D589546}"/>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94E1ACE2-7D57-46AB-9694-1BE2411E7F33}"/>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Combines informative features.</a:t>
            </a:r>
          </a:p>
        </p:txBody>
      </p:sp>
      <p:sp>
        <p:nvSpPr>
          <p:cNvPr id="21" name="right-bullet-11-marker-3">
            <a:extLst xmlns:a="http://schemas.openxmlformats.org/drawingml/2006/main">
              <a:ext uri="{FF2B5EF4-FFF2-40B4-BE49-F238E27FC236}">
                <a16:creationId xmlns:a16="http://schemas.microsoft.com/office/drawing/2014/main" id="{C29515CB-38B7-4BAF-A994-F1E588B90CC7}"/>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66C03D1A-72D5-42F2-9ACB-BA15504ED3DF}"/>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Must use one consistent perspective.</a:t>
            </a:r>
          </a:p>
        </p:txBody>
      </p:sp>
      <p:sp>
        <p:nvSpPr>
          <p:cNvPr id="23" name="right-bullet-11-marker-4">
            <a:extLst xmlns:a="http://schemas.openxmlformats.org/drawingml/2006/main">
              <a:ext uri="{FF2B5EF4-FFF2-40B4-BE49-F238E27FC236}">
                <a16:creationId xmlns:a16="http://schemas.microsoft.com/office/drawing/2014/main" id="{0E690245-62AB-42F1-8543-6742A1CDFF1E}"/>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FDACF9E1-FFE7-4937-8BA5-A49CD9DD1F2B}"/>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Creates approximation error.</a:t>
            </a:r>
          </a:p>
        </p:txBody>
      </p:sp>
    </p:spTree>
    <p:extLst>
      <p:ext uri="{BB962C8B-B14F-4D97-AF65-F5344CB8AC3E}">
        <p14:creationId xmlns:p14="http://schemas.microsoft.com/office/powerpoint/2010/main" val="19285581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3255D078-390B-4BC5-ABBD-66ECDE58F32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Game trees grow exponentially</a:t>
            </a:r>
          </a:p>
        </p:txBody>
      </p:sp>
      <p:sp>
        <p:nvSpPr>
          <p:cNvPr id="2" name="title-accent-12">
            <a:extLst xmlns:a="http://schemas.openxmlformats.org/drawingml/2006/main">
              <a:ext uri="{FF2B5EF4-FFF2-40B4-BE49-F238E27FC236}">
                <a16:creationId xmlns:a16="http://schemas.microsoft.com/office/drawing/2014/main" id="{E5192E02-F8FA-475F-8D7A-D3EC34BA3B5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7D33C816-A07D-4449-92D4-5D5AD90615A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2">
            <a:extLst xmlns:a="http://schemas.openxmlformats.org/drawingml/2006/main">
              <a:ext uri="{FF2B5EF4-FFF2-40B4-BE49-F238E27FC236}">
                <a16:creationId xmlns:a16="http://schemas.microsoft.com/office/drawing/2014/main" id="{2570455B-7DF0-463E-B8DD-CD777C2CD13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A72A525C-FA6D-4162-8AF0-08B5EA91AAAD}"/>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09F8AE50-1BDB-404C-A224-A9A42CB33AD3}"/>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nodes through depth m = 1+b+...+b^m = O(b^m)</a:t>
            </a:r>
          </a:p>
        </p:txBody>
      </p:sp>
      <p:sp>
        <p:nvSpPr>
          <p:cNvPr id="8" name="formula-definition-12-marker-1">
            <a:extLst xmlns:a="http://schemas.openxmlformats.org/drawingml/2006/main">
              <a:ext uri="{FF2B5EF4-FFF2-40B4-BE49-F238E27FC236}">
                <a16:creationId xmlns:a16="http://schemas.microsoft.com/office/drawing/2014/main" id="{DE9CE53F-62AB-4077-B58E-A2ABB92B5676}"/>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3AE233F5-3889-4386-A105-579F3B481806}"/>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 is average legal-move count.</a:t>
            </a:r>
          </a:p>
        </p:txBody>
      </p:sp>
      <p:sp>
        <p:nvSpPr>
          <p:cNvPr id="10" name="formula-definition-12-marker-2">
            <a:extLst xmlns:a="http://schemas.openxmlformats.org/drawingml/2006/main">
              <a:ext uri="{FF2B5EF4-FFF2-40B4-BE49-F238E27FC236}">
                <a16:creationId xmlns:a16="http://schemas.microsoft.com/office/drawing/2014/main" id="{EA8990E9-9371-433F-9CB3-744B767FB8D8}"/>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D278220D-455A-4DDC-88DF-A2F587838306}"/>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 is search depth in plies.</a:t>
            </a:r>
          </a:p>
        </p:txBody>
      </p:sp>
      <p:sp>
        <p:nvSpPr>
          <p:cNvPr id="12" name="formula-definition-12-marker-3">
            <a:extLst xmlns:a="http://schemas.openxmlformats.org/drawingml/2006/main">
              <a:ext uri="{FF2B5EF4-FFF2-40B4-BE49-F238E27FC236}">
                <a16:creationId xmlns:a16="http://schemas.microsoft.com/office/drawing/2014/main" id="{8B8B262F-20AB-4F26-9760-3BD6E6D5CF9F}"/>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98E21628-F995-4486-912F-E5377A3E2D44}"/>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Each ply adds another branching layer.</a:t>
            </a:r>
          </a:p>
        </p:txBody>
      </p:sp>
      <p:sp>
        <p:nvSpPr>
          <p:cNvPr id="14" name="formula-definition-12-marker-4">
            <a:extLst xmlns:a="http://schemas.openxmlformats.org/drawingml/2006/main">
              <a:ext uri="{FF2B5EF4-FFF2-40B4-BE49-F238E27FC236}">
                <a16:creationId xmlns:a16="http://schemas.microsoft.com/office/drawing/2014/main" id="{031E0819-F829-4947-8771-40DC5732633F}"/>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F6BF3E13-5B77-46D4-A53A-E67774DBA0FD}"/>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Depth-first recursion stores O(bm) pending siblings and path state.</a:t>
            </a:r>
          </a:p>
        </p:txBody>
      </p:sp>
      <p:sp>
        <p:nvSpPr>
          <p:cNvPr id="16" name="formula-implication-panel-12">
            <a:extLst xmlns:a="http://schemas.openxmlformats.org/drawingml/2006/main">
              <a:ext uri="{FF2B5EF4-FFF2-40B4-BE49-F238E27FC236}">
                <a16:creationId xmlns:a16="http://schemas.microsoft.com/office/drawing/2014/main" id="{DA1201F5-F0FF-4D57-B9DE-83FA2F99E309}"/>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099B72CC-C3C1-4618-BE7E-05D8C21E2CC8}"/>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CEEDBB64-3514-45AD-8B32-2F388332BCD7}"/>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modest depth increase can multiply work by b, making cutoffs operationally necessary.</a:t>
            </a:r>
          </a:p>
        </p:txBody>
      </p:sp>
    </p:spTree>
    <p:extLst>
      <p:ext uri="{BB962C8B-B14F-4D97-AF65-F5344CB8AC3E}">
        <p14:creationId xmlns:p14="http://schemas.microsoft.com/office/powerpoint/2010/main" val="6318883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045AB808-4FE5-477E-B412-7E47EEA1562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Evaluation features encode strategic judgment</a:t>
            </a:r>
          </a:p>
        </p:txBody>
      </p:sp>
      <p:sp>
        <p:nvSpPr>
          <p:cNvPr id="2" name="title-accent-13">
            <a:extLst xmlns:a="http://schemas.openxmlformats.org/drawingml/2006/main">
              <a:ext uri="{FF2B5EF4-FFF2-40B4-BE49-F238E27FC236}">
                <a16:creationId xmlns:a16="http://schemas.microsoft.com/office/drawing/2014/main" id="{83B050ED-5FF7-469E-9AE4-FB0AD82C10E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D579F0EA-2922-4DB8-8D9A-7D1ED007339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3">
            <a:extLst xmlns:a="http://schemas.openxmlformats.org/drawingml/2006/main">
              <a:ext uri="{FF2B5EF4-FFF2-40B4-BE49-F238E27FC236}">
                <a16:creationId xmlns:a16="http://schemas.microsoft.com/office/drawing/2014/main" id="{7E0178FC-D77F-4287-B581-F5A308EF731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0E81E213-11C9-4B7E-AADF-A8D0981D369F}"/>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1AB90FF8-EA9A-41C3-8F63-731BD3ACE13A}"/>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Pacman-style state is cut off before a terminal win or loss.</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84A9A10E-E3AC-4708-A8FE-C16AF39D4F24}"/>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B91251DB-0746-46EF-99B0-9B981B985A97}"/>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Reward current score and nearby food.</a:t>
            </a:r>
          </a:p>
        </p:txBody>
      </p:sp>
      <p:sp>
        <p:nvSpPr>
          <p:cNvPr id="11" name="example-step-13-marker-2">
            <a:extLst xmlns:a="http://schemas.openxmlformats.org/drawingml/2006/main">
              <a:ext uri="{FF2B5EF4-FFF2-40B4-BE49-F238E27FC236}">
                <a16:creationId xmlns:a16="http://schemas.microsoft.com/office/drawing/2014/main" id="{CA0DC419-28CF-41AF-84B3-C4CCB473A2A4}"/>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144C5530-D65A-46F6-890C-9DB302D64A60}"/>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Penalize collision risk and nearby active ghosts.</a:t>
            </a:r>
          </a:p>
        </p:txBody>
      </p:sp>
      <p:sp>
        <p:nvSpPr>
          <p:cNvPr id="13" name="example-step-13-marker-3">
            <a:extLst xmlns:a="http://schemas.openxmlformats.org/drawingml/2006/main">
              <a:ext uri="{FF2B5EF4-FFF2-40B4-BE49-F238E27FC236}">
                <a16:creationId xmlns:a16="http://schemas.microsoft.com/office/drawing/2014/main" id="{D42B9B69-1001-4A33-8BF9-885E0D1620FF}"/>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556BBBE7-8907-4BC5-801E-C8B06B415D9E}"/>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Treat scared ghosts with a different sign.</a:t>
            </a:r>
          </a:p>
        </p:txBody>
      </p:sp>
      <p:sp>
        <p:nvSpPr>
          <p:cNvPr id="15" name="example-step-13-marker-4">
            <a:extLst xmlns:a="http://schemas.openxmlformats.org/drawingml/2006/main">
              <a:ext uri="{FF2B5EF4-FFF2-40B4-BE49-F238E27FC236}">
                <a16:creationId xmlns:a16="http://schemas.microsoft.com/office/drawing/2014/main" id="{08E56640-4832-406A-A6D1-2497AAD7DACD}"/>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DE9A86BF-A702-4BA3-A858-9C54C2BE0617}"/>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Normalize feature scales before weighting.</a:t>
            </a:r>
          </a:p>
        </p:txBody>
      </p:sp>
      <p:sp>
        <p:nvSpPr>
          <p:cNvPr id="17" name="example-result-panel-13">
            <a:extLst xmlns:a="http://schemas.openxmlformats.org/drawingml/2006/main">
              <a:ext uri="{FF2B5EF4-FFF2-40B4-BE49-F238E27FC236}">
                <a16:creationId xmlns:a16="http://schemas.microsoft.com/office/drawing/2014/main" id="{649FA972-5928-448E-8F2A-274EFDC6F38C}"/>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B9C68708-47B7-445F-A5A4-9889A00DB1C9}"/>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evaluator ranks frontier states but does not change the legal game model.</a:t>
            </a:r>
          </a:p>
        </p:txBody>
      </p:sp>
    </p:spTree>
    <p:extLst>
      <p:ext uri="{BB962C8B-B14F-4D97-AF65-F5344CB8AC3E}">
        <p14:creationId xmlns:p14="http://schemas.microsoft.com/office/powerpoint/2010/main" val="6024401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3331E43B-D7BE-4BDA-88DA-A7579F48D9D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Evaluation defects can dominate deeper search</a:t>
            </a:r>
          </a:p>
        </p:txBody>
      </p:sp>
      <p:sp>
        <p:nvSpPr>
          <p:cNvPr id="2" name="title-accent-14">
            <a:extLst xmlns:a="http://schemas.openxmlformats.org/drawingml/2006/main">
              <a:ext uri="{FF2B5EF4-FFF2-40B4-BE49-F238E27FC236}">
                <a16:creationId xmlns:a16="http://schemas.microsoft.com/office/drawing/2014/main" id="{D61E43FB-337F-4DB1-853C-DB408DB5E5A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9589F43D-47AB-45F6-884E-AA1DAFB0EFD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4">
            <a:extLst xmlns:a="http://schemas.openxmlformats.org/drawingml/2006/main">
              <a:ext uri="{FF2B5EF4-FFF2-40B4-BE49-F238E27FC236}">
                <a16:creationId xmlns:a16="http://schemas.microsoft.com/office/drawing/2014/main" id="{7FCED67E-7ABB-4409-81EB-7CAEB0413EA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BDD85AD1-7648-4F5B-94C1-A1275F6C4DBA}"/>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Perspective error</a:t>
            </a:r>
          </a:p>
        </p:txBody>
      </p:sp>
      <p:sp>
        <p:nvSpPr>
          <p:cNvPr id="7" name="comparison-tagline-14-1">
            <a:extLst xmlns:a="http://schemas.openxmlformats.org/drawingml/2006/main">
              <a:ext uri="{FF2B5EF4-FFF2-40B4-BE49-F238E27FC236}">
                <a16:creationId xmlns:a16="http://schemas.microsoft.com/office/drawing/2014/main" id="{F3451604-76CB-4BC4-AFE2-E3791D431FB4}"/>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Sign mismatch</a:t>
            </a:r>
          </a:p>
        </p:txBody>
      </p:sp>
      <p:sp>
        <p:nvSpPr>
          <p:cNvPr id="8" name="comparison-bullet-14-1-marker-1">
            <a:extLst xmlns:a="http://schemas.openxmlformats.org/drawingml/2006/main">
              <a:ext uri="{FF2B5EF4-FFF2-40B4-BE49-F238E27FC236}">
                <a16:creationId xmlns:a16="http://schemas.microsoft.com/office/drawing/2014/main" id="{5432E402-7D9B-4075-8D65-D19B0C775E10}"/>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93C68399-4972-43D5-BBC5-DF5999AF1F0F}"/>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MIN and MAX disagree.</a:t>
            </a:r>
          </a:p>
        </p:txBody>
      </p:sp>
      <p:sp>
        <p:nvSpPr>
          <p:cNvPr id="10" name="comparison-bullet-14-1-marker-2">
            <a:extLst xmlns:a="http://schemas.openxmlformats.org/drawingml/2006/main">
              <a:ext uri="{FF2B5EF4-FFF2-40B4-BE49-F238E27FC236}">
                <a16:creationId xmlns:a16="http://schemas.microsoft.com/office/drawing/2014/main" id="{80C2B7A3-0163-4512-A3C6-D911D0F69AE4}"/>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33059EBE-2A4D-4FD8-BEAD-E6BC8E1B9D8A}"/>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Wins can look bad.</a:t>
            </a:r>
          </a:p>
        </p:txBody>
      </p:sp>
      <p:sp>
        <p:nvSpPr>
          <p:cNvPr id="12" name="comparison-bullet-14-1-marker-3">
            <a:extLst xmlns:a="http://schemas.openxmlformats.org/drawingml/2006/main">
              <a:ext uri="{FF2B5EF4-FFF2-40B4-BE49-F238E27FC236}">
                <a16:creationId xmlns:a16="http://schemas.microsoft.com/office/drawing/2014/main" id="{E45CD3E4-F518-4654-9DCF-E9936AA7AC09}"/>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F020B9B0-2472-41A5-9444-EEB79F11D19F}"/>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Backups remain consistent but wrong.</a:t>
            </a:r>
          </a:p>
        </p:txBody>
      </p:sp>
      <p:sp>
        <p:nvSpPr>
          <p:cNvPr id="14" name="comparison-bullet-14-1-marker-4">
            <a:extLst xmlns:a="http://schemas.openxmlformats.org/drawingml/2006/main">
              <a:ext uri="{FF2B5EF4-FFF2-40B4-BE49-F238E27FC236}">
                <a16:creationId xmlns:a16="http://schemas.microsoft.com/office/drawing/2014/main" id="{658FA1E3-2C5E-42F9-A1C9-0CD7218C990D}"/>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8BECEC63-F634-4C75-9744-ED205B58130D}"/>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 one utility convention.</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C43A00E2-D0B6-4F46-BA66-5320C0359DB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Horizon effect</a:t>
            </a:r>
          </a:p>
        </p:txBody>
      </p:sp>
      <p:sp>
        <p:nvSpPr>
          <p:cNvPr id="18" name="comparison-tagline-14-2">
            <a:extLst xmlns:a="http://schemas.openxmlformats.org/drawingml/2006/main">
              <a:ext uri="{FF2B5EF4-FFF2-40B4-BE49-F238E27FC236}">
                <a16:creationId xmlns:a16="http://schemas.microsoft.com/office/drawing/2014/main" id="{89557915-B86D-483E-A097-818ED0E50883}"/>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Consequence beyond cutoff</a:t>
            </a:r>
          </a:p>
        </p:txBody>
      </p:sp>
      <p:sp>
        <p:nvSpPr>
          <p:cNvPr id="19" name="comparison-bullet-14-2-marker-1">
            <a:extLst xmlns:a="http://schemas.openxmlformats.org/drawingml/2006/main">
              <a:ext uri="{FF2B5EF4-FFF2-40B4-BE49-F238E27FC236}">
                <a16:creationId xmlns:a16="http://schemas.microsoft.com/office/drawing/2014/main" id="{5282ADFF-5EC3-43E3-BC93-6C34F9899671}"/>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9E02BDDC-E6E2-4286-B10B-4A81E7854B6A}"/>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Threat is delayed.</a:t>
            </a:r>
          </a:p>
        </p:txBody>
      </p:sp>
      <p:sp>
        <p:nvSpPr>
          <p:cNvPr id="21" name="comparison-bullet-14-2-marker-2">
            <a:extLst xmlns:a="http://schemas.openxmlformats.org/drawingml/2006/main">
              <a:ext uri="{FF2B5EF4-FFF2-40B4-BE49-F238E27FC236}">
                <a16:creationId xmlns:a16="http://schemas.microsoft.com/office/drawing/2014/main" id="{76D33F31-A5BB-4E54-B2B2-7D2EA6AE164B}"/>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A12FC314-0F80-4B79-B9FB-58F603BBA536}"/>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Shallow value looks safe.</a:t>
            </a:r>
          </a:p>
        </p:txBody>
      </p:sp>
      <p:sp>
        <p:nvSpPr>
          <p:cNvPr id="23" name="comparison-bullet-14-2-marker-3">
            <a:extLst xmlns:a="http://schemas.openxmlformats.org/drawingml/2006/main">
              <a:ext uri="{FF2B5EF4-FFF2-40B4-BE49-F238E27FC236}">
                <a16:creationId xmlns:a16="http://schemas.microsoft.com/office/drawing/2014/main" id="{787F5593-EAB7-48B3-8DDC-427EBB953DBA}"/>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1FE6AAEE-46E2-456D-80EB-6EA586FEB4EC}"/>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Quiescence can help.</a:t>
            </a:r>
          </a:p>
        </p:txBody>
      </p:sp>
      <p:sp>
        <p:nvSpPr>
          <p:cNvPr id="25" name="comparison-bullet-14-2-marker-4">
            <a:extLst xmlns:a="http://schemas.openxmlformats.org/drawingml/2006/main">
              <a:ext uri="{FF2B5EF4-FFF2-40B4-BE49-F238E27FC236}">
                <a16:creationId xmlns:a16="http://schemas.microsoft.com/office/drawing/2014/main" id="{27ED6FA8-3100-4839-9741-6D011734C004}"/>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1FA622CF-1F84-4588-94B4-FF861BFE63E6}"/>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Test tactical positions.</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2230BA45-D110-4261-8E2A-CDD7FA247BCA}"/>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Scale error</a:t>
            </a:r>
          </a:p>
        </p:txBody>
      </p:sp>
      <p:sp>
        <p:nvSpPr>
          <p:cNvPr id="29" name="comparison-tagline-14-3">
            <a:extLst xmlns:a="http://schemas.openxmlformats.org/drawingml/2006/main">
              <a:ext uri="{FF2B5EF4-FFF2-40B4-BE49-F238E27FC236}">
                <a16:creationId xmlns:a16="http://schemas.microsoft.com/office/drawing/2014/main" id="{1C97EDEB-51A1-49A2-8805-0C0288158A6B}"/>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Feature imbalance</a:t>
            </a:r>
          </a:p>
        </p:txBody>
      </p:sp>
      <p:sp>
        <p:nvSpPr>
          <p:cNvPr id="30" name="comparison-bullet-14-3-marker-1">
            <a:extLst xmlns:a="http://schemas.openxmlformats.org/drawingml/2006/main">
              <a:ext uri="{FF2B5EF4-FFF2-40B4-BE49-F238E27FC236}">
                <a16:creationId xmlns:a16="http://schemas.microsoft.com/office/drawing/2014/main" id="{24255C48-D0CE-407B-BA33-0A8FF8B68DB5}"/>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D9A2AD07-6CF6-4056-8415-69FE0170F534}"/>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One term overwhelms others.</a:t>
            </a:r>
          </a:p>
        </p:txBody>
      </p:sp>
      <p:sp>
        <p:nvSpPr>
          <p:cNvPr id="32" name="comparison-bullet-14-3-marker-2">
            <a:extLst xmlns:a="http://schemas.openxmlformats.org/drawingml/2006/main">
              <a:ext uri="{FF2B5EF4-FFF2-40B4-BE49-F238E27FC236}">
                <a16:creationId xmlns:a16="http://schemas.microsoft.com/office/drawing/2014/main" id="{55A02964-2514-41EC-B2D4-576583D4C7E2}"/>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D16AE244-60B3-4520-9E57-A43884712EC0}"/>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Weights become uninterpretable.</a:t>
            </a:r>
          </a:p>
        </p:txBody>
      </p:sp>
      <p:sp>
        <p:nvSpPr>
          <p:cNvPr id="34" name="comparison-bullet-14-3-marker-3">
            <a:extLst xmlns:a="http://schemas.openxmlformats.org/drawingml/2006/main">
              <a:ext uri="{FF2B5EF4-FFF2-40B4-BE49-F238E27FC236}">
                <a16:creationId xmlns:a16="http://schemas.microsoft.com/office/drawing/2014/main" id="{3281F3B7-95CE-4424-9D4C-2766C5B684E6}"/>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26620FBF-17E3-4411-8DD5-FC9A99364F02}"/>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Scores become unstable.</a:t>
            </a:r>
          </a:p>
        </p:txBody>
      </p:sp>
      <p:sp>
        <p:nvSpPr>
          <p:cNvPr id="36" name="comparison-bullet-14-3-marker-4">
            <a:extLst xmlns:a="http://schemas.openxmlformats.org/drawingml/2006/main">
              <a:ext uri="{FF2B5EF4-FFF2-40B4-BE49-F238E27FC236}">
                <a16:creationId xmlns:a16="http://schemas.microsoft.com/office/drawing/2014/main" id="{DF823E30-B8D7-476B-AAB4-7177438CE354}"/>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C3E40A9C-873B-4CBD-BDB0-F18EB2052284}"/>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Inspect component values.</a:t>
            </a:r>
          </a:p>
        </p:txBody>
      </p:sp>
    </p:spTree>
    <p:extLst>
      <p:ext uri="{BB962C8B-B14F-4D97-AF65-F5344CB8AC3E}">
        <p14:creationId xmlns:p14="http://schemas.microsoft.com/office/powerpoint/2010/main" val="2381716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2FDB8ABA-24C3-4F7D-ACAD-D881F1DB3E1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choose a cutoff result</a:t>
            </a:r>
          </a:p>
        </p:txBody>
      </p:sp>
      <p:sp>
        <p:nvSpPr>
          <p:cNvPr id="2" name="title-accent-15">
            <a:extLst xmlns:a="http://schemas.openxmlformats.org/drawingml/2006/main">
              <a:ext uri="{FF2B5EF4-FFF2-40B4-BE49-F238E27FC236}">
                <a16:creationId xmlns:a16="http://schemas.microsoft.com/office/drawing/2014/main" id="{C45C58AD-DDA2-48E4-96C2-DA851DB09A4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9424247A-7D6F-409A-A427-F5480806CC2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5">
            <a:extLst xmlns:a="http://schemas.openxmlformats.org/drawingml/2006/main">
              <a:ext uri="{FF2B5EF4-FFF2-40B4-BE49-F238E27FC236}">
                <a16:creationId xmlns:a16="http://schemas.microsoft.com/office/drawing/2014/main" id="{26B71F61-97DA-4EF7-8C5D-2244A9D191F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171C507D-EA1A-41EA-A8EC-445BB19B5D37}"/>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A2654773-83F4-41B8-B281-AC843237F64B}"/>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At a depth-limited MIN node, evaluation values are 7, 3, and 5 from MAX's perspective. What value backs up?</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4D94D25A-2EAA-49FB-BAAF-0D165F46D5A2}"/>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C4B5EC8D-848E-4188-9E2C-C6D546952D2E}"/>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Keep the perspective fixed.</a:t>
            </a:r>
          </a:p>
        </p:txBody>
      </p:sp>
      <p:sp>
        <p:nvSpPr>
          <p:cNvPr id="11" name="checkpoint-prompt-number-15-2">
            <a:extLst xmlns:a="http://schemas.openxmlformats.org/drawingml/2006/main">
              <a:ext uri="{FF2B5EF4-FFF2-40B4-BE49-F238E27FC236}">
                <a16:creationId xmlns:a16="http://schemas.microsoft.com/office/drawing/2014/main" id="{5DE9DEF9-F05F-4069-805A-D306B19892B1}"/>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A5F4058B-9B30-4C15-8847-53F07B1D62FB}"/>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Apply MIN at the cutoff's parent.</a:t>
            </a:r>
          </a:p>
        </p:txBody>
      </p:sp>
      <p:sp>
        <p:nvSpPr>
          <p:cNvPr id="13" name="checkpoint-prompt-number-15-3">
            <a:extLst xmlns:a="http://schemas.openxmlformats.org/drawingml/2006/main">
              <a:ext uri="{FF2B5EF4-FFF2-40B4-BE49-F238E27FC236}">
                <a16:creationId xmlns:a16="http://schemas.microsoft.com/office/drawing/2014/main" id="{15A889A0-E11A-4300-B4AC-E15F934E9EA8}"/>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A7D602FF-74DE-4D94-937A-C0A2E70C03C6}"/>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whether the value is exact.</a:t>
            </a:r>
          </a:p>
        </p:txBody>
      </p:sp>
    </p:spTree>
    <p:extLst>
      <p:ext uri="{BB962C8B-B14F-4D97-AF65-F5344CB8AC3E}">
        <p14:creationId xmlns:p14="http://schemas.microsoft.com/office/powerpoint/2010/main" val="21228038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9AD80753-D2B2-4124-B918-B146C0C7929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minimax implementation needs structural tests</a:t>
            </a:r>
          </a:p>
        </p:txBody>
      </p:sp>
      <p:sp>
        <p:nvSpPr>
          <p:cNvPr id="2" name="title-accent-16">
            <a:extLst xmlns:a="http://schemas.openxmlformats.org/drawingml/2006/main">
              <a:ext uri="{FF2B5EF4-FFF2-40B4-BE49-F238E27FC236}">
                <a16:creationId xmlns:a16="http://schemas.microsoft.com/office/drawing/2014/main" id="{5BBC318E-09CC-4928-A00A-D4199D4C6F9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C6BAE1F6-B1D3-4CD5-B61B-C1B4E17151E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6">
            <a:extLst xmlns:a="http://schemas.openxmlformats.org/drawingml/2006/main">
              <a:ext uri="{FF2B5EF4-FFF2-40B4-BE49-F238E27FC236}">
                <a16:creationId xmlns:a16="http://schemas.microsoft.com/office/drawing/2014/main" id="{E7AFEB7C-2D70-4827-8134-EEC413ACAB0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DBB827F2-7E27-447B-86D2-E2C610B814CE}"/>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Test turn alternation, terminal handling, value perspective, and tie order independently.</a:t>
            </a:r>
          </a:p>
        </p:txBody>
      </p:sp>
      <p:sp>
        <p:nvSpPr>
          <p:cNvPr id="7" name="claim-panel-16">
            <a:extLst xmlns:a="http://schemas.openxmlformats.org/drawingml/2006/main">
              <a:ext uri="{FF2B5EF4-FFF2-40B4-BE49-F238E27FC236}">
                <a16:creationId xmlns:a16="http://schemas.microsoft.com/office/drawing/2014/main" id="{D49C90D3-DF5F-44AF-9056-2DB533BFA4C9}"/>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4FB42AF5-7EB4-4F25-83B2-28D4D120ED56}"/>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Oracle</a:t>
            </a:r>
          </a:p>
        </p:txBody>
      </p:sp>
      <p:sp>
        <p:nvSpPr>
          <p:cNvPr id="9" name="claim-keyword-detail-16">
            <a:extLst xmlns:a="http://schemas.openxmlformats.org/drawingml/2006/main">
              <a:ext uri="{FF2B5EF4-FFF2-40B4-BE49-F238E27FC236}">
                <a16:creationId xmlns:a16="http://schemas.microsoft.com/office/drawing/2014/main" id="{CCD7CDD8-AB81-4F38-9F34-D6C0A2F3A9CF}"/>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Tiny hand-valued trees provide exact expected outputs.</a:t>
            </a:r>
          </a:p>
        </p:txBody>
      </p:sp>
      <p:sp>
        <p:nvSpPr>
          <p:cNvPr id="10" name="claim-detail-16-marker-1">
            <a:extLst xmlns:a="http://schemas.openxmlformats.org/drawingml/2006/main">
              <a:ext uri="{FF2B5EF4-FFF2-40B4-BE49-F238E27FC236}">
                <a16:creationId xmlns:a16="http://schemas.microsoft.com/office/drawing/2014/main" id="{56DEDC74-F54B-4A95-99C6-9B4BCA63DC87}"/>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F139FC72-A1BA-43FE-A310-B9DCD0D2308B}"/>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recursive output with a hand-computed tree.</a:t>
            </a:r>
          </a:p>
        </p:txBody>
      </p:sp>
      <p:sp>
        <p:nvSpPr>
          <p:cNvPr id="12" name="claim-detail-16-marker-2">
            <a:extLst xmlns:a="http://schemas.openxmlformats.org/drawingml/2006/main">
              <a:ext uri="{FF2B5EF4-FFF2-40B4-BE49-F238E27FC236}">
                <a16:creationId xmlns:a16="http://schemas.microsoft.com/office/drawing/2014/main" id="{CED058FC-DB38-44A3-A47A-E6ED88E93154}"/>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E4535634-2DE0-4C07-9D66-E5EF539258E0}"/>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Assert the input state is not mutated.</a:t>
            </a:r>
          </a:p>
        </p:txBody>
      </p:sp>
      <p:sp>
        <p:nvSpPr>
          <p:cNvPr id="14" name="claim-detail-16-marker-3">
            <a:extLst xmlns:a="http://schemas.openxmlformats.org/drawingml/2006/main">
              <a:ext uri="{FF2B5EF4-FFF2-40B4-BE49-F238E27FC236}">
                <a16:creationId xmlns:a16="http://schemas.microsoft.com/office/drawing/2014/main" id="{9C16AC1B-1825-4E93-8783-38E78D9449A4}"/>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78EB106A-EA05-43F0-A2AC-DF2CED344894}"/>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Instrument depth, generated nodes, and chosen root action.</a:t>
            </a:r>
          </a:p>
        </p:txBody>
      </p:sp>
    </p:spTree>
    <p:extLst>
      <p:ext uri="{BB962C8B-B14F-4D97-AF65-F5344CB8AC3E}">
        <p14:creationId xmlns:p14="http://schemas.microsoft.com/office/powerpoint/2010/main" val="1759272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4A36EC33-0F67-4660-A2B9-D953C3BE575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EA12475F-B224-414F-9E9A-E5D0E0972FA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B3BF51D6-C492-41A6-949F-034137EACC3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7">
            <a:extLst xmlns:a="http://schemas.openxmlformats.org/drawingml/2006/main">
              <a:ext uri="{FF2B5EF4-FFF2-40B4-BE49-F238E27FC236}">
                <a16:creationId xmlns:a16="http://schemas.microsoft.com/office/drawing/2014/main" id="{E8346B20-00DC-4D20-9180-5BED649B15A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046C5DE5-02C4-4699-B9B8-DFFC74812C53}"/>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8E929874-0E58-441C-AACA-BC5A250E4120}"/>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Minimax backs values through alternating MAX and MIN control.</a:t>
            </a:r>
          </a:p>
        </p:txBody>
      </p:sp>
      <p:sp>
        <p:nvSpPr>
          <p:cNvPr id="9" name="summary-number-17-2">
            <a:extLst xmlns:a="http://schemas.openxmlformats.org/drawingml/2006/main">
              <a:ext uri="{FF2B5EF4-FFF2-40B4-BE49-F238E27FC236}">
                <a16:creationId xmlns:a16="http://schemas.microsoft.com/office/drawing/2014/main" id="{408E380E-DA63-4EFC-B6CD-B7FC295A0886}"/>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7DB6E5CB-EE92-4AE5-B6B5-6F1B19A288DE}"/>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Its result is a contingent strategy under optimal play.</a:t>
            </a:r>
          </a:p>
        </p:txBody>
      </p:sp>
      <p:sp>
        <p:nvSpPr>
          <p:cNvPr id="12" name="summary-number-17-3">
            <a:extLst xmlns:a="http://schemas.openxmlformats.org/drawingml/2006/main">
              <a:ext uri="{FF2B5EF4-FFF2-40B4-BE49-F238E27FC236}">
                <a16:creationId xmlns:a16="http://schemas.microsoft.com/office/drawing/2014/main" id="{4BD9640D-646B-4B1A-A17B-D8DCA465D133}"/>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6CB4F0D2-C1FA-4AD4-A753-C41954E78AB2}"/>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Time is O(b^m), so practical search uses depth limits.</a:t>
            </a:r>
          </a:p>
        </p:txBody>
      </p:sp>
      <p:sp>
        <p:nvSpPr>
          <p:cNvPr id="15" name="summary-number-17-4">
            <a:extLst xmlns:a="http://schemas.openxmlformats.org/drawingml/2006/main">
              <a:ext uri="{FF2B5EF4-FFF2-40B4-BE49-F238E27FC236}">
                <a16:creationId xmlns:a16="http://schemas.microsoft.com/office/drawing/2014/main" id="{CEDCCF4A-E772-489A-B0B2-38695BA610DC}"/>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6129E84E-D532-41CB-9E98-403DA2D5E15B}"/>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Evaluation quality and perspective are part of correctness.</a:t>
            </a:r>
          </a:p>
        </p:txBody>
      </p:sp>
      <p:sp>
        <p:nvSpPr>
          <p:cNvPr id="18" name="summary-next-17">
            <a:extLst xmlns:a="http://schemas.openxmlformats.org/drawingml/2006/main">
              <a:ext uri="{FF2B5EF4-FFF2-40B4-BE49-F238E27FC236}">
                <a16:creationId xmlns:a16="http://schemas.microsoft.com/office/drawing/2014/main" id="{5FFF3DC0-E396-43AC-9DF4-537481007F34}"/>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Alpha-beta pruning preserves the minimax value while avoiding irrelevant branches; expectimax adds chance.</a:t>
            </a:r>
          </a:p>
        </p:txBody>
      </p:sp>
    </p:spTree>
    <p:extLst>
      <p:ext uri="{BB962C8B-B14F-4D97-AF65-F5344CB8AC3E}">
        <p14:creationId xmlns:p14="http://schemas.microsoft.com/office/powerpoint/2010/main" val="14421279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DE9924AD-9195-4D91-AA2D-DB7420507AC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B50FAD0D-EDC3-49BF-8B65-75E21F4DF3B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2C756569-1DF6-48C3-89F5-D5281786E8C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1</a:t>
            </a:r>
          </a:p>
        </p:txBody>
      </p:sp>
      <p:sp>
        <p:nvSpPr>
          <p:cNvPr id="5" name="footer-number-18">
            <a:extLst xmlns:a="http://schemas.openxmlformats.org/drawingml/2006/main">
              <a:ext uri="{FF2B5EF4-FFF2-40B4-BE49-F238E27FC236}">
                <a16:creationId xmlns:a16="http://schemas.microsoft.com/office/drawing/2014/main" id="{71046E4B-5D3C-46B6-A2D8-D0CCAB9C170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9E7BC186-061F-49D8-9077-7473CDB9A756}"/>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BA52CA14-9DD0-4B5B-9133-5FBC2A920663}"/>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Back up a two-ply minimax tree.</a:t>
            </a:r>
          </a:p>
        </p:txBody>
      </p:sp>
      <p:sp>
        <p:nvSpPr>
          <p:cNvPr id="8" name="question-number-18-2">
            <a:extLst xmlns:a="http://schemas.openxmlformats.org/drawingml/2006/main">
              <a:ext uri="{FF2B5EF4-FFF2-40B4-BE49-F238E27FC236}">
                <a16:creationId xmlns:a16="http://schemas.microsoft.com/office/drawing/2014/main" id="{DA51B38D-F99A-4D56-87AE-50F323451772}"/>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DF451625-B15E-4CF4-8DB7-A2B66B9450EC}"/>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why a strategy is not one path.</a:t>
            </a:r>
          </a:p>
        </p:txBody>
      </p:sp>
      <p:sp>
        <p:nvSpPr>
          <p:cNvPr id="10" name="question-number-18-3">
            <a:extLst xmlns:a="http://schemas.openxmlformats.org/drawingml/2006/main">
              <a:ext uri="{FF2B5EF4-FFF2-40B4-BE49-F238E27FC236}">
                <a16:creationId xmlns:a16="http://schemas.microsoft.com/office/drawing/2014/main" id="{9CD0F48A-CA48-4BCC-A9F4-28994E3C85DC}"/>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2DF45134-F0EA-4C42-96CC-51D454008B74}"/>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Derive O(b^m).</a:t>
            </a:r>
          </a:p>
        </p:txBody>
      </p:sp>
      <p:sp>
        <p:nvSpPr>
          <p:cNvPr id="12" name="question-number-18-4">
            <a:extLst xmlns:a="http://schemas.openxmlformats.org/drawingml/2006/main">
              <a:ext uri="{FF2B5EF4-FFF2-40B4-BE49-F238E27FC236}">
                <a16:creationId xmlns:a16="http://schemas.microsoft.com/office/drawing/2014/main" id="{96C69EC4-A1C4-4729-A70A-246AEB02E922}"/>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768B3C62-042B-469B-B52B-14537612E27B}"/>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Design an evaluation function for a small game.</a:t>
            </a:r>
          </a:p>
        </p:txBody>
      </p:sp>
      <p:sp>
        <p:nvSpPr>
          <p:cNvPr id="14" name="question-number-18-5">
            <a:extLst xmlns:a="http://schemas.openxmlformats.org/drawingml/2006/main">
              <a:ext uri="{FF2B5EF4-FFF2-40B4-BE49-F238E27FC236}">
                <a16:creationId xmlns:a16="http://schemas.microsoft.com/office/drawing/2014/main" id="{6CCA8632-229B-40CD-B1C4-048C6D5A5DF5}"/>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06C9C9D2-CEA0-488F-A1B8-5D3169FA7D0C}"/>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Name tests for turn and utility defects.</a:t>
            </a:r>
          </a:p>
        </p:txBody>
      </p:sp>
    </p:spTree>
    <p:extLst>
      <p:ext uri="{BB962C8B-B14F-4D97-AF65-F5344CB8AC3E}">
        <p14:creationId xmlns:p14="http://schemas.microsoft.com/office/powerpoint/2010/main" val="81825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2026-07-27T10:15:54.7630000Z</dcterms:created>
  <dcterms:modified xsi:type="dcterms:W3CDTF">2026-07-27T10:15:54.7630000Z</dcterms:modified>
</coreProperties>
</file>