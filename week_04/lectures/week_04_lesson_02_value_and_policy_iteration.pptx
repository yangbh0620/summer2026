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d6d5aafbaa4aed" /><Relationship Type="http://schemas.openxmlformats.org/officeDocument/2006/relationships/extended-properties" Target="/docProps/app.xml" Id="Rc7d3cf2beff94544" /><Relationship Type="http://schemas.openxmlformats.org/officeDocument/2006/relationships/officeDocument" Target="/ppt/presentation.xml" Id="R3ab2737c7aa64a44" /></Relationships>
</file>

<file path=ppt/presentation.xml><?xml version="1.0" encoding="utf-8"?>
<p:presentation xmlns:p="http://schemas.openxmlformats.org/presentationml/2006/main">
  <p:sldMasterIdLst>
    <p:sldMasterId xmlns:r="http://schemas.openxmlformats.org/officeDocument/2006/relationships" id="2147483648" r:id="Rd84c07b9d0c24d7e"/>
  </p:sldMasterIdLst>
  <p:notesMasterIdLst>
    <p:notesMasterId xmlns:r="http://schemas.openxmlformats.org/officeDocument/2006/relationships" r:id="Rf5f8aa0c666848de"/>
  </p:notesMasterIdLst>
  <p:sldIdLst>
    <p:sldId xmlns:r="http://schemas.openxmlformats.org/officeDocument/2006/relationships" id="256" r:id="Rf43ea5bdccb84521"/>
    <p:sldId xmlns:r="http://schemas.openxmlformats.org/officeDocument/2006/relationships" id="257" r:id="R999b7d4ab97c4cb6"/>
    <p:sldId xmlns:r="http://schemas.openxmlformats.org/officeDocument/2006/relationships" id="258" r:id="R5f590297879c44eb"/>
    <p:sldId xmlns:r="http://schemas.openxmlformats.org/officeDocument/2006/relationships" id="259" r:id="Ra641d9ff04f4460f"/>
    <p:sldId xmlns:r="http://schemas.openxmlformats.org/officeDocument/2006/relationships" id="260" r:id="Re8304296a94c4a68"/>
    <p:sldId xmlns:r="http://schemas.openxmlformats.org/officeDocument/2006/relationships" id="261" r:id="R120e7da93fb749bf"/>
    <p:sldId xmlns:r="http://schemas.openxmlformats.org/officeDocument/2006/relationships" id="262" r:id="R0883d12771094960"/>
    <p:sldId xmlns:r="http://schemas.openxmlformats.org/officeDocument/2006/relationships" id="263" r:id="R0603c46f79cc4a48"/>
    <p:sldId xmlns:r="http://schemas.openxmlformats.org/officeDocument/2006/relationships" id="264" r:id="Rd3b50b4fd2614779"/>
    <p:sldId xmlns:r="http://schemas.openxmlformats.org/officeDocument/2006/relationships" id="265" r:id="R9b9992c82d6a4259"/>
    <p:sldId xmlns:r="http://schemas.openxmlformats.org/officeDocument/2006/relationships" id="266" r:id="Re6c2fa6f7f0c496d"/>
    <p:sldId xmlns:r="http://schemas.openxmlformats.org/officeDocument/2006/relationships" id="267" r:id="Rdcc594cb9e7849a8"/>
    <p:sldId xmlns:r="http://schemas.openxmlformats.org/officeDocument/2006/relationships" id="268" r:id="Ra7fe53d0836e4edd"/>
    <p:sldId xmlns:r="http://schemas.openxmlformats.org/officeDocument/2006/relationships" id="269" r:id="R70ed8ad15a8e4169"/>
    <p:sldId xmlns:r="http://schemas.openxmlformats.org/officeDocument/2006/relationships" id="270" r:id="R599ceb429a344b06"/>
    <p:sldId xmlns:r="http://schemas.openxmlformats.org/officeDocument/2006/relationships" id="271" r:id="Rf7eab386cc534c42"/>
    <p:sldId xmlns:r="http://schemas.openxmlformats.org/officeDocument/2006/relationships" id="272" r:id="Rbb736d6b7e5746ad"/>
    <p:sldId xmlns:r="http://schemas.openxmlformats.org/officeDocument/2006/relationships" id="273" r:id="Re034cbcaa9d440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8c2a1f30a74927" /><Relationship Type="http://schemas.openxmlformats.org/officeDocument/2006/relationships/slideMaster" Target="/ppt/slideMasters/slideMaster1.xml" Id="Rd84c07b9d0c24d7e" /><Relationship Type="http://schemas.openxmlformats.org/officeDocument/2006/relationships/notesMaster" Target="/ppt/notesMasters/notesMaster1.xml" Id="Rf5f8aa0c666848de" /><Relationship Type="http://schemas.openxmlformats.org/officeDocument/2006/relationships/presProps" Target="/ppt/presProps.xml" Id="R4b8c317f829e4fd3" /><Relationship Type="http://schemas.openxmlformats.org/officeDocument/2006/relationships/tableStyles" Target="/ppt/tableStyles.xml" Id="Rbf5ab5bd2fb24793" /><Relationship Type="http://schemas.openxmlformats.org/officeDocument/2006/relationships/slide" Target="/ppt/slides/slide1.xml" Id="Rf43ea5bdccb84521" /><Relationship Type="http://schemas.openxmlformats.org/officeDocument/2006/relationships/slide" Target="/ppt/slides/slide2.xml" Id="R999b7d4ab97c4cb6" /><Relationship Type="http://schemas.openxmlformats.org/officeDocument/2006/relationships/slide" Target="/ppt/slides/slide3.xml" Id="R5f590297879c44eb" /><Relationship Type="http://schemas.openxmlformats.org/officeDocument/2006/relationships/slide" Target="/ppt/slides/slide4.xml" Id="Ra641d9ff04f4460f" /><Relationship Type="http://schemas.openxmlformats.org/officeDocument/2006/relationships/slide" Target="/ppt/slides/slide5.xml" Id="Re8304296a94c4a68" /><Relationship Type="http://schemas.openxmlformats.org/officeDocument/2006/relationships/slide" Target="/ppt/slides/slide6.xml" Id="R120e7da93fb749bf" /><Relationship Type="http://schemas.openxmlformats.org/officeDocument/2006/relationships/slide" Target="/ppt/slides/slide7.xml" Id="R0883d12771094960" /><Relationship Type="http://schemas.openxmlformats.org/officeDocument/2006/relationships/slide" Target="/ppt/slides/slide8.xml" Id="R0603c46f79cc4a48" /><Relationship Type="http://schemas.openxmlformats.org/officeDocument/2006/relationships/slide" Target="/ppt/slides/slide9.xml" Id="Rd3b50b4fd2614779" /><Relationship Type="http://schemas.openxmlformats.org/officeDocument/2006/relationships/slide" Target="/ppt/slides/slide10.xml" Id="R9b9992c82d6a4259" /><Relationship Type="http://schemas.openxmlformats.org/officeDocument/2006/relationships/slide" Target="/ppt/slides/slide11.xml" Id="Re6c2fa6f7f0c496d" /><Relationship Type="http://schemas.openxmlformats.org/officeDocument/2006/relationships/slide" Target="/ppt/slides/slide12.xml" Id="Rdcc594cb9e7849a8" /><Relationship Type="http://schemas.openxmlformats.org/officeDocument/2006/relationships/slide" Target="/ppt/slides/slide13.xml" Id="Ra7fe53d0836e4edd" /><Relationship Type="http://schemas.openxmlformats.org/officeDocument/2006/relationships/slide" Target="/ppt/slides/slide14.xml" Id="R70ed8ad15a8e4169" /><Relationship Type="http://schemas.openxmlformats.org/officeDocument/2006/relationships/slide" Target="/ppt/slides/slide15.xml" Id="R599ceb429a344b06" /><Relationship Type="http://schemas.openxmlformats.org/officeDocument/2006/relationships/slide" Target="/ppt/slides/slide16.xml" Id="Rf7eab386cc534c42" /><Relationship Type="http://schemas.openxmlformats.org/officeDocument/2006/relationships/slide" Target="/ppt/slides/slide17.xml" Id="Rbb736d6b7e5746ad" /><Relationship Type="http://schemas.openxmlformats.org/officeDocument/2006/relationships/slide" Target="/ppt/slides/slide18.xml" Id="Re034cbcaa9d440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decadc08e54a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49852f67204465" /><Relationship Type="http://schemas.openxmlformats.org/officeDocument/2006/relationships/notesMaster" Target="/ppt/notesMasters/notesMaster1.xml" Id="R5ea664f677824d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1c2f8ce3ec4a83" /><Relationship Type="http://schemas.openxmlformats.org/officeDocument/2006/relationships/notesMaster" Target="/ppt/notesMasters/notesMaster1.xml" Id="R184761ec208f4c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158afb13524c9a" /><Relationship Type="http://schemas.openxmlformats.org/officeDocument/2006/relationships/notesMaster" Target="/ppt/notesMasters/notesMaster1.xml" Id="R2553260460fb4c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2247e538fd4984" /><Relationship Type="http://schemas.openxmlformats.org/officeDocument/2006/relationships/notesMaster" Target="/ppt/notesMasters/notesMaster1.xml" Id="Re71fd117ec7946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419157b7384cec" /><Relationship Type="http://schemas.openxmlformats.org/officeDocument/2006/relationships/notesMaster" Target="/ppt/notesMasters/notesMaster1.xml" Id="R24a06f80e5ba43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a2629d322e4fe3" /><Relationship Type="http://schemas.openxmlformats.org/officeDocument/2006/relationships/notesMaster" Target="/ppt/notesMasters/notesMaster1.xml" Id="Rca3b6486b75445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d0fcefd562497e" /><Relationship Type="http://schemas.openxmlformats.org/officeDocument/2006/relationships/notesMaster" Target="/ppt/notesMasters/notesMaster1.xml" Id="Ra645be94c25b4d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ae84b99b984557" /><Relationship Type="http://schemas.openxmlformats.org/officeDocument/2006/relationships/notesMaster" Target="/ppt/notesMasters/notesMaster1.xml" Id="R63d14461599d49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4988f95b53449a" /><Relationship Type="http://schemas.openxmlformats.org/officeDocument/2006/relationships/notesMaster" Target="/ppt/notesMasters/notesMaster1.xml" Id="Rd9f1c41696c643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3ac40978d34880" /><Relationship Type="http://schemas.openxmlformats.org/officeDocument/2006/relationships/notesMaster" Target="/ppt/notesMasters/notesMaster1.xml" Id="Rdaf27789595f477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86a90a756244a2" /><Relationship Type="http://schemas.openxmlformats.org/officeDocument/2006/relationships/notesMaster" Target="/ppt/notesMasters/notesMaster1.xml" Id="R24ffabb3407948d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d612e4b24d4af8" /><Relationship Type="http://schemas.openxmlformats.org/officeDocument/2006/relationships/notesMaster" Target="/ppt/notesMasters/notesMaster1.xml" Id="Rf9981d1c9dfc4f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693e0e09684d76" /><Relationship Type="http://schemas.openxmlformats.org/officeDocument/2006/relationships/notesMaster" Target="/ppt/notesMasters/notesMaster1.xml" Id="R4d2f4a9072f943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9dd9cffb38b41c2" /><Relationship Type="http://schemas.openxmlformats.org/officeDocument/2006/relationships/notesMaster" Target="/ppt/notesMasters/notesMaster1.xml" Id="Rf5464f14193146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b83433242d34215" /><Relationship Type="http://schemas.openxmlformats.org/officeDocument/2006/relationships/notesMaster" Target="/ppt/notesMasters/notesMaster1.xml" Id="R86ff19fe3c94472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b9367a80d34843" /><Relationship Type="http://schemas.openxmlformats.org/officeDocument/2006/relationships/notesMaster" Target="/ppt/notesMasters/notesMaster1.xml" Id="Rb25974e8b00048c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ea5b859cdfc474c" /><Relationship Type="http://schemas.openxmlformats.org/officeDocument/2006/relationships/notesMaster" Target="/ppt/notesMasters/notesMaster1.xml" Id="Rf20adf2e0403428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a6bd20236d04daf" /><Relationship Type="http://schemas.openxmlformats.org/officeDocument/2006/relationships/notesMaster" Target="/ppt/notesMasters/notesMaster1.xml" Id="Ra144c88d597c4e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Dynamic programming solves a known finite MDP by repeatedly applying Bellman structure until values and action choices become self-consistent. This lesson treats the topic as both a formal method and an engineering component. We will state the model, trace the algorithm on concrete data, and identify the implementation contracts that preserve its guarantees. The goal is not to memorize isolated notation. The goal is to recognize which assumptions make the method valid, what evidence can expose a defect, and how the method connects to the rest of CMPSC 480. By the end, you should be able to explain the central result, reproduce the critical calculation or trace, and design a defensive implementation that behaves predictably on normal, boundary, and invalid inputs. Keep one question active throughout: what would a skeptical reviewer need to observe before trusting the result?</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define the evidence expected after the lesson. 1) Distinguish Bellman expectation from Bellman optimality. 2) Perform a value-iteration backup. 3) Explain the gamma-contraction convergence intuition. 4) Extract a greedy policy from values. 5) Trace policy evaluation and policy improvement. 6) Compare value iteration with policy iteration. The sequence moves from vocabulary and assumptions to derivation, tracing, implementation, and judgment. As you work through the slides, attach every equation to the meaning of its variables and every algorithmic step to a data-structure operation. When a guarantee is stated, ask which precondition supports it. When an implementation choice is shown, ask which test would reveal a violation. That discipline turns the objectives into reusable engineering practice rather than a list of terms. You should finish able to explain both the successful case and the nearest counterexample.</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Bellman optimality operator chooses the action with the greatest expected one-step reward plus continuation value. The supporting details make the claim operational. 1) Expectation evaluates a specified policy. 2) Optimality maximizes over actions. 3) A greedy policy with respect to V* is optimal. The highlighted idea, Fixed point, is the part to retain when the surrounding notation changes. V* is unchanged by another optimality backup.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T^pi V: sum_a pi(a|s) q_V(s,a)        T*V: max_a q_V(s,a). The symbols mean the following. 1) q_V includes P, R, and gamma V. 2) T^pi keeps policy fixed. 3) T* selects the best action at each state. 4) V*=T*V*. The engineering implication is Do not average actions when computing an optimality backup.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Value backup: Initialize V arbitrarily. Apply T* to every nonterminal state. Use a synchronous copy for clear semantics. Stop by max-norm residual. On the right, Policy extraction: Compute q_V(s,a). Choose an argmax action. Break ties deterministically. Terminal states have no action.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process gives a disciplined execution order. 1) Initialize: Set terminal and nonterminal values. 2) Backup: Compute every new state value. 3) Measure: Find max absolute change. 4) Stop: Compare with tolerance. 5) Extract: Build the greedy policy. The emphasized stage deserves extra attention because defects introduced there propagate to every later result. A stopping rule should measure a documented residual, not an arbitrary iteration count alone. When implementing the process, record the invariant that should hold after each stage and decide how failure will be represented. When analyzing it, trace a small instance all the way through before relying on an aggregate output. A useful review asks what state enters each stage, what state leaves it, and which later stage would expose corruption.</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pseudocode shows the control structure while leaving language-specific details open. Read it from initialization through termination and identify the state that changes on each iteration. The rail lists the stable questions: Terminal value is fixed. Read old V in one sweep. Normalize transitions. Guard max iterations. A faithful implementation should make those decisions explicit rather than depend on incidental container behavior. Trace the code on a minimal legal input, a boundary case, and a case that triggers its failure path. That three-part trace usually reveals incorrect initialization, update ordering, or termination earlier than a large demonstration does. Also estimate the dominant operation and choose a data structure whose cost matches the stated complexity.</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State A has actions Exit for reward 2, or Wait for reward 0 then return to A; gamma=0.9 and current V(A)=5. Work through it in the displayed order. 1) Q(A,Exit)=2. 2) Q(A,Wait)=0+0.9*5=4.5. 3) Take the maximum. 4) Set new V(A)=4.5. The resulting conclusion is The greedy action under the current values is Wait, even though later sweeps may change it.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Operator: Maps one value vector to another. Uses max over actions. Preserves bounded values. Has fixed point V*. In contrast, Contraction: Distance shrinks by at most gamma. Requires gamma&lt;1. Repeated backups converge. Residual bounds error. In contrast, Tolerance: Tracks max change. Balances time and precision. Depends on gamma. Report iterations.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Action a has expected backup 4.2 and action b has expected backup 3.7. What value and greedy action result? Use the prompts to structure the response. 1) Identify the optimality operator. 2) Take the maximum. 3) State the tie rule if values were equal. The expected reasoning is The new value is 4.2 and the greedy action is a. If equal, use a documented deterministic tie rule.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Policy evaluation: Hold pi fixed. Solve or iterate T^pi V=V. Estimate V^pi. Stop at evaluation tolerance. On the right, Policy improvement: Hold V fixed. Choose argmax q_V(s,a). Replace inferior actions. Stop when policy is stable.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pi'(s) in argmax_a q^(pi)(s,a)  implies  V^(pi')(s) &gt;= V^pi(s). The symbols mean the following. 1) q^pi evaluates one deviation then follows pi. 2) pi' chooses a maximizing deviation. 3) Policy improvement holds statewise. 4) A stable greedy policy satisfies optimality. The engineering implication is Finite deterministic policies prevent endless strict improvement.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Under current V^pi, state A's action values are Left=1.2, Right=2.8, and Stay=2.1. Work through it in the displayed order. 1) Evaluate all legal actions with the same V^pi. 2) Find the maximum value 2.8. 3) Set pi'(A)=Right. 4) Record whether the action changed. The resulting conclusion is Right replaces the old action unless it was already selected; stability is checked across all states.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Value iteration: One optimality sweep per iteration. Many simple iterations. Easy vectorization. Policy extracted at end. In contrast, Policy iteration: Fewer outer iterations. Evaluation can be expensive. Policy is explicit throughout. Exact or approximate evaluation. In contrast, Modified PI: Partial evaluation. Regular improvement. Balances costs. Needs clear stopping rules.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A solver applies gamma V(terminal) after entering a terminal state and repeatedly collects its reward. What is wrong? Use the prompts to structure the response. 1) State the intended terminal semantics. 2) Identify double counting. 3) Describe the code-level fix. The expected reasoning is The terminal transition reward should be collected once, with no bootstrapped continuation. Fix the transition or backup so terminal successor value contributes zero and terminal states are not repeatedly rewarded.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residual, iteration count, policy stability, and validation against hand-solvable MDPs. The supporting details make the claim operational. 1) Use max-norm residual and a maximum-iteration guard. 2) Compare VI and PI policies on the same model. 3) Test gamma=0, gamma near 1, terminal-only, and unreachable states. The highlighted idea, Convergence, is the part to retain when the surrounding notation changes. A loop ending is not evidence that the intended fixed point was reached.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reduces to four reusable ideas. 1) Bellman optimality maximizes rather than averages policy actions. 2) Value iteration converges because T* is a gamma-contraction. 3) Policy iteration alternates evaluation and greedy improvement. 4) Terminal semantics and tolerance determine reliable implementations. These are connected: the formal model supplies the algorithm, the algorithm's invariant supports its guarantee, and the implementation contract makes that guarantee testable. The next topic is Week 5 removes the known transition model and learns values from sampled interaction. Before moving on, make sure you can reproduce one worked trace without notes and can name one edge case that would distinguish a correct implementation from a plausible but defective one. Keep the summary as a checklist for the corresponding code lab and review questions.</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as an exit check. 1) Compute one value-iteration sweep. 2) Explain the contraction intuition. 3) Extract a greedy policy. 4) Trace one policy-improvement step. 5) Compare VI and PI on per-iteration cost. Answer with definitions, calculations, traces, or design evidence rather than one-word labels. When a question asks for a comparison, hold the input and evaluation criterion constant. When it asks for a derivation, show the intermediate quantities. When it asks for an engineering decision, name the contract and the test that supports it. Any answer that depends on an unstated convention should make that convention explicit. A strong answer should be concise enough to audit yet complete enough to reproduce.</a:t>
            </a:r>
          </a:p>
          <a:p xmlns:a="http://schemas.openxmlformats.org/drawingml/2006/main">
            <a:r>
              <a:t/>
            </a:r>
          </a:p>
          <a:p xmlns:a="http://schemas.openxmlformats.org/drawingml/2006/main">
            <a:r>
              <a:t>[Sources]</a:t>
            </a:r>
          </a:p>
          <a:p xmlns:a="http://schemas.openxmlformats.org/drawingml/2006/main">
            <a:r>
              <a:t>- Repository prompt: week_04/Week_4_Lesson_2_Value_and_Policy_Iteration.md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9ad6c7e61046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dfef1920cb43b8" /><Relationship Type="http://schemas.openxmlformats.org/officeDocument/2006/relationships/slideLayout" Target="/ppt/slideLayouts/slideLayout1.xml" Id="R6817c0ce80824e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17c0ce80824e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69246775cd4016" /><Relationship Type="http://schemas.openxmlformats.org/officeDocument/2006/relationships/notesSlide" Target="/ppt/notesSlides/notesSlide1.xml" Id="R458c4b449d5a47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2bb71f716849eb" /><Relationship Type="http://schemas.openxmlformats.org/officeDocument/2006/relationships/notesSlide" Target="/ppt/notesSlides/notesSlide2.xml" Id="R2f8aa9c3931d49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6b70e7dcc7476f" /><Relationship Type="http://schemas.openxmlformats.org/officeDocument/2006/relationships/notesSlide" Target="/ppt/notesSlides/notesSlide3.xml" Id="R5fd62d6c41ef4c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290b01e5b74582" /><Relationship Type="http://schemas.openxmlformats.org/officeDocument/2006/relationships/notesSlide" Target="/ppt/notesSlides/notesSlide4.xml" Id="R3ae13f5df7ac49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fbeb15840634a27" /><Relationship Type="http://schemas.openxmlformats.org/officeDocument/2006/relationships/notesSlide" Target="/ppt/notesSlides/notesSlide5.xml" Id="Rea1390637faf4b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dfef273b8e46f7" /><Relationship Type="http://schemas.openxmlformats.org/officeDocument/2006/relationships/notesSlide" Target="/ppt/notesSlides/notesSlide6.xml" Id="R16ad7c6f97d84a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1b590ac6374de1" /><Relationship Type="http://schemas.openxmlformats.org/officeDocument/2006/relationships/notesSlide" Target="/ppt/notesSlides/notesSlide7.xml" Id="Ra1b5f38d6d1b44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fda65601ba4a9e" /><Relationship Type="http://schemas.openxmlformats.org/officeDocument/2006/relationships/notesSlide" Target="/ppt/notesSlides/notesSlide8.xml" Id="R189d2f90fd9144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8708011cfb34db5" /><Relationship Type="http://schemas.openxmlformats.org/officeDocument/2006/relationships/notesSlide" Target="/ppt/notesSlides/notesSlide9.xml" Id="R8dc71ddfffd545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0485fa1301c4e19" /><Relationship Type="http://schemas.openxmlformats.org/officeDocument/2006/relationships/notesSlide" Target="/ppt/notesSlides/notesSlide10.xml" Id="R8feb8c41147446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7e410e9c251429b" /><Relationship Type="http://schemas.openxmlformats.org/officeDocument/2006/relationships/notesSlide" Target="/ppt/notesSlides/notesSlide11.xml" Id="Rd8f66eb1eb0948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fa7b3c9962f4470" /><Relationship Type="http://schemas.openxmlformats.org/officeDocument/2006/relationships/notesSlide" Target="/ppt/notesSlides/notesSlide12.xml" Id="R1446b706c52d43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a62cb3cab7a4d52" /><Relationship Type="http://schemas.openxmlformats.org/officeDocument/2006/relationships/notesSlide" Target="/ppt/notesSlides/notesSlide13.xml" Id="Reac11961fa574a2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de6bc2274c34ed2" /><Relationship Type="http://schemas.openxmlformats.org/officeDocument/2006/relationships/notesSlide" Target="/ppt/notesSlides/notesSlide14.xml" Id="R968f371d2d70451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067e7a16d124e90" /><Relationship Type="http://schemas.openxmlformats.org/officeDocument/2006/relationships/notesSlide" Target="/ppt/notesSlides/notesSlide15.xml" Id="Rc71b3e5d4162494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13507df9ce64a3f" /><Relationship Type="http://schemas.openxmlformats.org/officeDocument/2006/relationships/notesSlide" Target="/ppt/notesSlides/notesSlide16.xml" Id="R68c626645d9e4d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4bc1ae8c03f4514" /><Relationship Type="http://schemas.openxmlformats.org/officeDocument/2006/relationships/notesSlide" Target="/ppt/notesSlides/notesSlide17.xml" Id="R40ffc7af64964c9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5a72b3df2194dca" /><Relationship Type="http://schemas.openxmlformats.org/officeDocument/2006/relationships/notesSlide" Target="/ppt/notesSlides/notesSlide18.xml" Id="Rd06bd3c648c1468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eyebrow">
            <a:extLst xmlns:a="http://schemas.openxmlformats.org/drawingml/2006/main">
              <a:ext uri="{FF2B5EF4-FFF2-40B4-BE49-F238E27FC236}">
                <a16:creationId xmlns:a16="http://schemas.microsoft.com/office/drawing/2014/main" id="{D3FEF8AF-5B59-4642-AC2B-9D3228DE9F4C}"/>
              </a:ext>
            </a:extLst>
          </p:cNvPr>
          <p:cNvSpPr>
            <a:spLocks xmlns:a="http://schemas.openxmlformats.org/drawingml/2006/main" noGrp="1"/>
          </p:cNvSpPr>
          <p:nvPr/>
        </p:nvSpPr>
        <p:spPr>
          <a:xfrm xmlns:a="http://schemas.openxmlformats.org/drawingml/2006/main">
            <a:off x="400050" y="4191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C6470"/>
                </a:solidFill>
                <a:latin typeface="Arial"/>
                <a:ea typeface="Arial"/>
                <a:cs typeface="Arial"/>
              </a:defRPr>
            </a:pPr>
            <a:r>
              <a:rPr sz="1500" b="1">
                <a:solidFill>
                  <a:srgbClr val="5C6470"/>
                </a:solidFill>
                <a:latin typeface="Arial"/>
                <a:ea typeface="Arial"/>
                <a:cs typeface="Arial"/>
              </a:rPr>
              <a:t>CMPSC 480  |  WEEK 04  |  LESSON 2</a:t>
            </a:r>
          </a:p>
        </p:txBody>
      </p:sp>
      <p:sp>
        <p:nvSpPr>
          <p:cNvPr id="2" name="title-accent-field">
            <a:extLst xmlns:a="http://schemas.openxmlformats.org/drawingml/2006/main">
              <a:ext uri="{FF2B5EF4-FFF2-40B4-BE49-F238E27FC236}">
                <a16:creationId xmlns:a16="http://schemas.microsoft.com/office/drawing/2014/main" id="{6B1AC5DC-AF87-4470-9328-FADAFDB83100}"/>
              </a:ext>
            </a:extLst>
          </p:cNvPr>
          <p:cNvSpPr>
            <a:spLocks xmlns:a="http://schemas.openxmlformats.org/drawingml/2006/main" noGrp="1"/>
          </p:cNvSpPr>
          <p:nvPr/>
        </p:nvSpPr>
        <p:spPr>
          <a:xfrm xmlns:a="http://schemas.openxmlformats.org/drawingml/2006/main">
            <a:off x="400050" y="1266825"/>
            <a:ext cx="15240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deck-title">
            <a:extLst xmlns:a="http://schemas.openxmlformats.org/drawingml/2006/main">
              <a:ext uri="{FF2B5EF4-FFF2-40B4-BE49-F238E27FC236}">
                <a16:creationId xmlns:a16="http://schemas.microsoft.com/office/drawing/2014/main" id="{5625D3E8-3825-4F31-9F3A-0D85050DBEBC}"/>
              </a:ext>
            </a:extLst>
          </p:cNvPr>
          <p:cNvSpPr>
            <a:spLocks xmlns:a="http://schemas.openxmlformats.org/drawingml/2006/main" noGrp="1"/>
          </p:cNvSpPr>
          <p:nvPr/>
        </p:nvSpPr>
        <p:spPr>
          <a:xfrm xmlns:a="http://schemas.openxmlformats.org/drawingml/2006/main">
            <a:off x="838200" y="1200150"/>
            <a:ext cx="10096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Solving MDPs: Value Iteration and Policy Iteration</a:t>
            </a:r>
          </a:p>
        </p:txBody>
      </p:sp>
      <p:sp>
        <p:nvSpPr>
          <p:cNvPr id="4" name="deck-subtitle">
            <a:extLst xmlns:a="http://schemas.openxmlformats.org/drawingml/2006/main">
              <a:ext uri="{FF2B5EF4-FFF2-40B4-BE49-F238E27FC236}">
                <a16:creationId xmlns:a16="http://schemas.microsoft.com/office/drawing/2014/main" id="{089E373D-6B7F-44D4-8648-AEEC1081EB11}"/>
              </a:ext>
            </a:extLst>
          </p:cNvPr>
          <p:cNvSpPr>
            <a:spLocks xmlns:a="http://schemas.openxmlformats.org/drawingml/2006/main" noGrp="1"/>
          </p:cNvSpPr>
          <p:nvPr/>
        </p:nvSpPr>
        <p:spPr>
          <a:xfrm xmlns:a="http://schemas.openxmlformats.org/drawingml/2006/main">
            <a:off x="838200" y="417195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5C6470"/>
                </a:solidFill>
                <a:latin typeface="Arial"/>
                <a:ea typeface="Arial"/>
                <a:cs typeface="Arial"/>
              </a:defRPr>
            </a:pPr>
            <a:r>
              <a:rPr sz="2100" b="0">
                <a:solidFill>
                  <a:srgbClr val="5C6470"/>
                </a:solidFill>
                <a:latin typeface="Arial"/>
                <a:ea typeface="Arial"/>
                <a:cs typeface="Arial"/>
              </a:rPr>
              <a:t>Bellman optimality, contraction, greedy improvement, and convergence</a:t>
            </a:r>
          </a:p>
        </p:txBody>
      </p:sp>
      <p:cxnSp>
        <p:nvCxnSpPr>
          <p:cNvPr id="12" name="title-bottom-rule"/>
          <p:cNvCxnSpPr/>
          <p:nvPr/>
        </p:nvCxnSpPr>
        <p:spPr>
          <a:xfrm xmlns:a="http://schemas.openxmlformats.org/drawingml/2006/main">
            <a:off x="400050" y="59531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title-duration">
            <a:extLst xmlns:a="http://schemas.openxmlformats.org/drawingml/2006/main">
              <a:ext uri="{FF2B5EF4-FFF2-40B4-BE49-F238E27FC236}">
                <a16:creationId xmlns:a16="http://schemas.microsoft.com/office/drawing/2014/main" id="{50CC1B18-3F09-4D8E-A97E-B386D7B8E7D6}"/>
              </a:ext>
            </a:extLst>
          </p:cNvPr>
          <p:cNvSpPr>
            <a:spLocks xmlns:a="http://schemas.openxmlformats.org/drawingml/2006/main" noGrp="1"/>
          </p:cNvSpPr>
          <p:nvPr/>
        </p:nvSpPr>
        <p:spPr>
          <a:xfrm xmlns:a="http://schemas.openxmlformats.org/drawingml/2006/main">
            <a:off x="400050" y="61341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470"/>
                </a:solidFill>
                <a:latin typeface="Arial"/>
                <a:ea typeface="Arial"/>
                <a:cs typeface="Arial"/>
              </a:defRPr>
            </a:pPr>
            <a:r>
              <a:rPr sz="1125" b="0">
                <a:solidFill>
                  <a:srgbClr val="5C6470"/>
                </a:solidFill>
                <a:latin typeface="Arial"/>
                <a:ea typeface="Arial"/>
                <a:cs typeface="Arial"/>
              </a:rPr>
              <a:t>Approximately 50 minutes</a:t>
            </a:r>
          </a:p>
        </p:txBody>
      </p:sp>
      <p:sp>
        <p:nvSpPr>
          <p:cNvPr id="7" name="title-slide-number">
            <a:extLst xmlns:a="http://schemas.openxmlformats.org/drawingml/2006/main">
              <a:ext uri="{FF2B5EF4-FFF2-40B4-BE49-F238E27FC236}">
                <a16:creationId xmlns:a16="http://schemas.microsoft.com/office/drawing/2014/main" id="{6E4F7454-DF98-4939-B2C6-E8E255C37512}"/>
              </a:ext>
            </a:extLst>
          </p:cNvPr>
          <p:cNvSpPr>
            <a:spLocks xmlns:a="http://schemas.openxmlformats.org/drawingml/2006/main" noGrp="1"/>
          </p:cNvSpPr>
          <p:nvPr/>
        </p:nvSpPr>
        <p:spPr>
          <a:xfrm xmlns:a="http://schemas.openxmlformats.org/drawingml/2006/main">
            <a:off x="11239500" y="61341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a:t>
            </a:r>
          </a:p>
        </p:txBody>
      </p:sp>
    </p:spTree>
    <p:extLst>
      <p:ext uri="{BB962C8B-B14F-4D97-AF65-F5344CB8AC3E}">
        <p14:creationId xmlns:p14="http://schemas.microsoft.com/office/powerpoint/2010/main" val="12957550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
            <a:extLst xmlns:a="http://schemas.openxmlformats.org/drawingml/2006/main">
              <a:ext uri="{FF2B5EF4-FFF2-40B4-BE49-F238E27FC236}">
                <a16:creationId xmlns:a16="http://schemas.microsoft.com/office/drawing/2014/main" id="{A8EF15F9-E30C-469B-9177-2F1DA08C013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objectives</a:t>
            </a:r>
          </a:p>
        </p:txBody>
      </p:sp>
      <p:sp>
        <p:nvSpPr>
          <p:cNvPr id="2" name="title-accent-2">
            <a:extLst xmlns:a="http://schemas.openxmlformats.org/drawingml/2006/main">
              <a:ext uri="{FF2B5EF4-FFF2-40B4-BE49-F238E27FC236}">
                <a16:creationId xmlns:a16="http://schemas.microsoft.com/office/drawing/2014/main" id="{F9A14D07-8CF0-4E25-831E-33E86A9D2C0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
            <a:extLst xmlns:a="http://schemas.openxmlformats.org/drawingml/2006/main">
              <a:ext uri="{FF2B5EF4-FFF2-40B4-BE49-F238E27FC236}">
                <a16:creationId xmlns:a16="http://schemas.microsoft.com/office/drawing/2014/main" id="{7AB979E9-8762-4C61-9AF5-60D19A5B717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2">
            <a:extLst xmlns:a="http://schemas.openxmlformats.org/drawingml/2006/main">
              <a:ext uri="{FF2B5EF4-FFF2-40B4-BE49-F238E27FC236}">
                <a16:creationId xmlns:a16="http://schemas.microsoft.com/office/drawing/2014/main" id="{399C554C-DB11-4F8E-B476-E68D80CF8CBC}"/>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a:t>
            </a:r>
          </a:p>
        </p:txBody>
      </p:sp>
      <p:sp>
        <p:nvSpPr>
          <p:cNvPr id="6" name="objective-intro-2">
            <a:extLst xmlns:a="http://schemas.openxmlformats.org/drawingml/2006/main">
              <a:ext uri="{FF2B5EF4-FFF2-40B4-BE49-F238E27FC236}">
                <a16:creationId xmlns:a16="http://schemas.microsoft.com/office/drawing/2014/main" id="{0A1EF209-D3E4-418C-BAFF-61012A9A80AE}"/>
              </a:ext>
            </a:extLst>
          </p:cNvPr>
          <p:cNvSpPr>
            <a:spLocks xmlns:a="http://schemas.openxmlformats.org/drawingml/2006/main" noGrp="1"/>
          </p:cNvSpPr>
          <p:nvPr/>
        </p:nvSpPr>
        <p:spPr>
          <a:xfrm xmlns:a="http://schemas.openxmlformats.org/drawingml/2006/main">
            <a:off x="400050" y="14287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C6470"/>
                </a:solidFill>
                <a:latin typeface="Arial"/>
                <a:ea typeface="Arial"/>
                <a:cs typeface="Arial"/>
              </a:defRPr>
            </a:pPr>
            <a:r>
              <a:rPr sz="1650" b="0">
                <a:solidFill>
                  <a:srgbClr val="5C6470"/>
                </a:solidFill>
                <a:latin typeface="Arial"/>
                <a:ea typeface="Arial"/>
                <a:cs typeface="Arial"/>
              </a:rPr>
              <a:t>By the end of this lesson, you should be able to:</a:t>
            </a:r>
          </a:p>
        </p:txBody>
      </p:sp>
      <p:sp>
        <p:nvSpPr>
          <p:cNvPr id="7" name="objective-number-1">
            <a:extLst xmlns:a="http://schemas.openxmlformats.org/drawingml/2006/main">
              <a:ext uri="{FF2B5EF4-FFF2-40B4-BE49-F238E27FC236}">
                <a16:creationId xmlns:a16="http://schemas.microsoft.com/office/drawing/2014/main" id="{C3CC8F36-2FAA-42AA-A845-56B1775EEC93}"/>
              </a:ext>
            </a:extLst>
          </p:cNvPr>
          <p:cNvSpPr>
            <a:spLocks xmlns:a="http://schemas.openxmlformats.org/drawingml/2006/main" noGrp="1"/>
          </p:cNvSpPr>
          <p:nvPr/>
        </p:nvSpPr>
        <p:spPr>
          <a:xfrm xmlns:a="http://schemas.openxmlformats.org/drawingml/2006/main">
            <a:off x="400050" y="20478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cxnSp>
        <p:nvCxnSpPr>
          <p:cNvPr id="32" name="objective-rule-1"/>
          <p:cNvCxnSpPr/>
          <p:nvPr/>
        </p:nvCxnSpPr>
        <p:spPr>
          <a:xfrm xmlns:a="http://schemas.openxmlformats.org/drawingml/2006/main">
            <a:off x="1076325" y="22764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objective-text-1">
            <a:extLst xmlns:a="http://schemas.openxmlformats.org/drawingml/2006/main">
              <a:ext uri="{FF2B5EF4-FFF2-40B4-BE49-F238E27FC236}">
                <a16:creationId xmlns:a16="http://schemas.microsoft.com/office/drawing/2014/main" id="{1C9A0C4E-60F7-440F-A67A-998180331625}"/>
              </a:ext>
            </a:extLst>
          </p:cNvPr>
          <p:cNvSpPr>
            <a:spLocks xmlns:a="http://schemas.openxmlformats.org/drawingml/2006/main" noGrp="1"/>
          </p:cNvSpPr>
          <p:nvPr/>
        </p:nvSpPr>
        <p:spPr>
          <a:xfrm xmlns:a="http://schemas.openxmlformats.org/drawingml/2006/main">
            <a:off x="2047875" y="20478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Distinguish Bellman expectation from Bellman optimality.</a:t>
            </a:r>
          </a:p>
        </p:txBody>
      </p:sp>
      <p:sp>
        <p:nvSpPr>
          <p:cNvPr id="10" name="objective-number-2">
            <a:extLst xmlns:a="http://schemas.openxmlformats.org/drawingml/2006/main">
              <a:ext uri="{FF2B5EF4-FFF2-40B4-BE49-F238E27FC236}">
                <a16:creationId xmlns:a16="http://schemas.microsoft.com/office/drawing/2014/main" id="{9A633768-BAE9-4E6D-AE0C-B5C3027F9F5C}"/>
              </a:ext>
            </a:extLst>
          </p:cNvPr>
          <p:cNvSpPr>
            <a:spLocks xmlns:a="http://schemas.openxmlformats.org/drawingml/2006/main" noGrp="1"/>
          </p:cNvSpPr>
          <p:nvPr/>
        </p:nvSpPr>
        <p:spPr>
          <a:xfrm xmlns:a="http://schemas.openxmlformats.org/drawingml/2006/main">
            <a:off x="400050" y="27241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cxnSp>
        <p:nvCxnSpPr>
          <p:cNvPr id="35" name="objective-rule-2"/>
          <p:cNvCxnSpPr/>
          <p:nvPr/>
        </p:nvCxnSpPr>
        <p:spPr>
          <a:xfrm xmlns:a="http://schemas.openxmlformats.org/drawingml/2006/main">
            <a:off x="1076325" y="29527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objective-text-2">
            <a:extLst xmlns:a="http://schemas.openxmlformats.org/drawingml/2006/main">
              <a:ext uri="{FF2B5EF4-FFF2-40B4-BE49-F238E27FC236}">
                <a16:creationId xmlns:a16="http://schemas.microsoft.com/office/drawing/2014/main" id="{7C163E4B-6C89-4A07-9AEA-B4C89D261A9F}"/>
              </a:ext>
            </a:extLst>
          </p:cNvPr>
          <p:cNvSpPr>
            <a:spLocks xmlns:a="http://schemas.openxmlformats.org/drawingml/2006/main" noGrp="1"/>
          </p:cNvSpPr>
          <p:nvPr/>
        </p:nvSpPr>
        <p:spPr>
          <a:xfrm xmlns:a="http://schemas.openxmlformats.org/drawingml/2006/main">
            <a:off x="2047875" y="27241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Perform a value-iteration backup.</a:t>
            </a:r>
          </a:p>
        </p:txBody>
      </p:sp>
      <p:sp>
        <p:nvSpPr>
          <p:cNvPr id="13" name="objective-number-3">
            <a:extLst xmlns:a="http://schemas.openxmlformats.org/drawingml/2006/main">
              <a:ext uri="{FF2B5EF4-FFF2-40B4-BE49-F238E27FC236}">
                <a16:creationId xmlns:a16="http://schemas.microsoft.com/office/drawing/2014/main" id="{54C56D20-1DC5-462E-AC1D-51D21F5B71F5}"/>
              </a:ext>
            </a:extLst>
          </p:cNvPr>
          <p:cNvSpPr>
            <a:spLocks xmlns:a="http://schemas.openxmlformats.org/drawingml/2006/main" noGrp="1"/>
          </p:cNvSpPr>
          <p:nvPr/>
        </p:nvSpPr>
        <p:spPr>
          <a:xfrm xmlns:a="http://schemas.openxmlformats.org/drawingml/2006/main">
            <a:off x="40005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cxnSp>
        <p:nvCxnSpPr>
          <p:cNvPr id="38" name="objective-rule-3"/>
          <p:cNvCxnSpPr/>
          <p:nvPr/>
        </p:nvCxnSpPr>
        <p:spPr>
          <a:xfrm xmlns:a="http://schemas.openxmlformats.org/drawingml/2006/main">
            <a:off x="1076325" y="362902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objective-text-3">
            <a:extLst xmlns:a="http://schemas.openxmlformats.org/drawingml/2006/main">
              <a:ext uri="{FF2B5EF4-FFF2-40B4-BE49-F238E27FC236}">
                <a16:creationId xmlns:a16="http://schemas.microsoft.com/office/drawing/2014/main" id="{F303675F-9406-4857-90DA-E995EB2C12CE}"/>
              </a:ext>
            </a:extLst>
          </p:cNvPr>
          <p:cNvSpPr>
            <a:spLocks xmlns:a="http://schemas.openxmlformats.org/drawingml/2006/main" noGrp="1"/>
          </p:cNvSpPr>
          <p:nvPr/>
        </p:nvSpPr>
        <p:spPr>
          <a:xfrm xmlns:a="http://schemas.openxmlformats.org/drawingml/2006/main">
            <a:off x="2047875" y="340042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Explain the gamma-contraction convergence intuition.</a:t>
            </a:r>
          </a:p>
        </p:txBody>
      </p:sp>
      <p:sp>
        <p:nvSpPr>
          <p:cNvPr id="16" name="objective-number-4">
            <a:extLst xmlns:a="http://schemas.openxmlformats.org/drawingml/2006/main">
              <a:ext uri="{FF2B5EF4-FFF2-40B4-BE49-F238E27FC236}">
                <a16:creationId xmlns:a16="http://schemas.microsoft.com/office/drawing/2014/main" id="{22B24EC1-5F11-4E9C-A4DB-8D402370EA9D}"/>
              </a:ext>
            </a:extLst>
          </p:cNvPr>
          <p:cNvSpPr>
            <a:spLocks xmlns:a="http://schemas.openxmlformats.org/drawingml/2006/main" noGrp="1"/>
          </p:cNvSpPr>
          <p:nvPr/>
        </p:nvSpPr>
        <p:spPr>
          <a:xfrm xmlns:a="http://schemas.openxmlformats.org/drawingml/2006/main">
            <a:off x="400050" y="40767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04</a:t>
            </a:r>
          </a:p>
        </p:txBody>
      </p:sp>
      <p:cxnSp>
        <p:nvCxnSpPr>
          <p:cNvPr id="41" name="objective-rule-4"/>
          <p:cNvCxnSpPr/>
          <p:nvPr/>
        </p:nvCxnSpPr>
        <p:spPr>
          <a:xfrm xmlns:a="http://schemas.openxmlformats.org/drawingml/2006/main">
            <a:off x="1076325" y="430530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objective-text-4">
            <a:extLst xmlns:a="http://schemas.openxmlformats.org/drawingml/2006/main">
              <a:ext uri="{FF2B5EF4-FFF2-40B4-BE49-F238E27FC236}">
                <a16:creationId xmlns:a16="http://schemas.microsoft.com/office/drawing/2014/main" id="{264151AA-CF15-4349-BA76-AD2248DB4689}"/>
              </a:ext>
            </a:extLst>
          </p:cNvPr>
          <p:cNvSpPr>
            <a:spLocks xmlns:a="http://schemas.openxmlformats.org/drawingml/2006/main" noGrp="1"/>
          </p:cNvSpPr>
          <p:nvPr/>
        </p:nvSpPr>
        <p:spPr>
          <a:xfrm xmlns:a="http://schemas.openxmlformats.org/drawingml/2006/main">
            <a:off x="2047875" y="407670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Extract a greedy policy from values.</a:t>
            </a:r>
          </a:p>
        </p:txBody>
      </p:sp>
      <p:sp>
        <p:nvSpPr>
          <p:cNvPr id="19" name="objective-number-5">
            <a:extLst xmlns:a="http://schemas.openxmlformats.org/drawingml/2006/main">
              <a:ext uri="{FF2B5EF4-FFF2-40B4-BE49-F238E27FC236}">
                <a16:creationId xmlns:a16="http://schemas.microsoft.com/office/drawing/2014/main" id="{E53BE649-CF3D-46CB-80BA-2A97A2AE6E03}"/>
              </a:ext>
            </a:extLst>
          </p:cNvPr>
          <p:cNvSpPr>
            <a:spLocks xmlns:a="http://schemas.openxmlformats.org/drawingml/2006/main" noGrp="1"/>
          </p:cNvSpPr>
          <p:nvPr/>
        </p:nvSpPr>
        <p:spPr>
          <a:xfrm xmlns:a="http://schemas.openxmlformats.org/drawingml/2006/main">
            <a:off x="400050" y="47529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05</a:t>
            </a:r>
          </a:p>
        </p:txBody>
      </p:sp>
      <p:cxnSp>
        <p:nvCxnSpPr>
          <p:cNvPr id="44" name="objective-rule-5"/>
          <p:cNvCxnSpPr/>
          <p:nvPr/>
        </p:nvCxnSpPr>
        <p:spPr>
          <a:xfrm xmlns:a="http://schemas.openxmlformats.org/drawingml/2006/main">
            <a:off x="1076325" y="49815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objective-text-5">
            <a:extLst xmlns:a="http://schemas.openxmlformats.org/drawingml/2006/main">
              <a:ext uri="{FF2B5EF4-FFF2-40B4-BE49-F238E27FC236}">
                <a16:creationId xmlns:a16="http://schemas.microsoft.com/office/drawing/2014/main" id="{D8019177-B482-45EB-A1C8-B4EF7F79D403}"/>
              </a:ext>
            </a:extLst>
          </p:cNvPr>
          <p:cNvSpPr>
            <a:spLocks xmlns:a="http://schemas.openxmlformats.org/drawingml/2006/main" noGrp="1"/>
          </p:cNvSpPr>
          <p:nvPr/>
        </p:nvSpPr>
        <p:spPr>
          <a:xfrm xmlns:a="http://schemas.openxmlformats.org/drawingml/2006/main">
            <a:off x="2047875" y="47529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Trace policy evaluation and policy improvement.</a:t>
            </a:r>
          </a:p>
        </p:txBody>
      </p:sp>
      <p:sp>
        <p:nvSpPr>
          <p:cNvPr id="22" name="objective-number-6">
            <a:extLst xmlns:a="http://schemas.openxmlformats.org/drawingml/2006/main">
              <a:ext uri="{FF2B5EF4-FFF2-40B4-BE49-F238E27FC236}">
                <a16:creationId xmlns:a16="http://schemas.microsoft.com/office/drawing/2014/main" id="{E3E16D2D-BE53-44D2-80DA-D07C4D5BC94D}"/>
              </a:ext>
            </a:extLst>
          </p:cNvPr>
          <p:cNvSpPr>
            <a:spLocks xmlns:a="http://schemas.openxmlformats.org/drawingml/2006/main" noGrp="1"/>
          </p:cNvSpPr>
          <p:nvPr/>
        </p:nvSpPr>
        <p:spPr>
          <a:xfrm xmlns:a="http://schemas.openxmlformats.org/drawingml/2006/main">
            <a:off x="400050" y="5429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06</a:t>
            </a:r>
          </a:p>
        </p:txBody>
      </p:sp>
      <p:cxnSp>
        <p:nvCxnSpPr>
          <p:cNvPr id="47" name="objective-rule-6"/>
          <p:cNvCxnSpPr/>
          <p:nvPr/>
        </p:nvCxnSpPr>
        <p:spPr>
          <a:xfrm xmlns:a="http://schemas.openxmlformats.org/drawingml/2006/main">
            <a:off x="1076325" y="56578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objective-text-6">
            <a:extLst xmlns:a="http://schemas.openxmlformats.org/drawingml/2006/main">
              <a:ext uri="{FF2B5EF4-FFF2-40B4-BE49-F238E27FC236}">
                <a16:creationId xmlns:a16="http://schemas.microsoft.com/office/drawing/2014/main" id="{AE6CDAA9-A364-4EAA-83CF-91CAAD910171}"/>
              </a:ext>
            </a:extLst>
          </p:cNvPr>
          <p:cNvSpPr>
            <a:spLocks xmlns:a="http://schemas.openxmlformats.org/drawingml/2006/main" noGrp="1"/>
          </p:cNvSpPr>
          <p:nvPr/>
        </p:nvSpPr>
        <p:spPr>
          <a:xfrm xmlns:a="http://schemas.openxmlformats.org/drawingml/2006/main">
            <a:off x="2047875" y="54292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Compare value iteration with policy iteration.</a:t>
            </a:r>
          </a:p>
        </p:txBody>
      </p:sp>
    </p:spTree>
    <p:extLst>
      <p:ext uri="{BB962C8B-B14F-4D97-AF65-F5344CB8AC3E}">
        <p14:creationId xmlns:p14="http://schemas.microsoft.com/office/powerpoint/2010/main" val="21314380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3">
            <a:extLst xmlns:a="http://schemas.openxmlformats.org/drawingml/2006/main">
              <a:ext uri="{FF2B5EF4-FFF2-40B4-BE49-F238E27FC236}">
                <a16:creationId xmlns:a16="http://schemas.microsoft.com/office/drawing/2014/main" id="{4FAA03A5-8AA7-4017-83CD-F76DA5AA7ED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Optimal control replaces policy averaging with maximization</a:t>
            </a:r>
          </a:p>
        </p:txBody>
      </p:sp>
      <p:sp>
        <p:nvSpPr>
          <p:cNvPr id="2" name="title-accent-3">
            <a:extLst xmlns:a="http://schemas.openxmlformats.org/drawingml/2006/main">
              <a:ext uri="{FF2B5EF4-FFF2-40B4-BE49-F238E27FC236}">
                <a16:creationId xmlns:a16="http://schemas.microsoft.com/office/drawing/2014/main" id="{5BA31ADC-2278-4D5A-97DB-DD7966E5C4F8}"/>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3">
            <a:extLst xmlns:a="http://schemas.openxmlformats.org/drawingml/2006/main">
              <a:ext uri="{FF2B5EF4-FFF2-40B4-BE49-F238E27FC236}">
                <a16:creationId xmlns:a16="http://schemas.microsoft.com/office/drawing/2014/main" id="{BB7251E6-D2AF-4A1E-96E5-2518645CDEEB}"/>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3">
            <a:extLst xmlns:a="http://schemas.openxmlformats.org/drawingml/2006/main">
              <a:ext uri="{FF2B5EF4-FFF2-40B4-BE49-F238E27FC236}">
                <a16:creationId xmlns:a16="http://schemas.microsoft.com/office/drawing/2014/main" id="{2F3B6E86-E601-4485-B6EA-97C2B799D9C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3</a:t>
            </a:r>
          </a:p>
        </p:txBody>
      </p:sp>
      <p:sp>
        <p:nvSpPr>
          <p:cNvPr id="6" name="claim-3">
            <a:extLst xmlns:a="http://schemas.openxmlformats.org/drawingml/2006/main">
              <a:ext uri="{FF2B5EF4-FFF2-40B4-BE49-F238E27FC236}">
                <a16:creationId xmlns:a16="http://schemas.microsoft.com/office/drawing/2014/main" id="{40576CC8-3CB2-49B7-BB10-6D565E97D857}"/>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The Bellman optimality operator chooses the action with the greatest expected one-step reward plus continuation value.</a:t>
            </a:r>
          </a:p>
        </p:txBody>
      </p:sp>
      <p:sp>
        <p:nvSpPr>
          <p:cNvPr id="7" name="claim-panel-3">
            <a:extLst xmlns:a="http://schemas.openxmlformats.org/drawingml/2006/main">
              <a:ext uri="{FF2B5EF4-FFF2-40B4-BE49-F238E27FC236}">
                <a16:creationId xmlns:a16="http://schemas.microsoft.com/office/drawing/2014/main" id="{1F9CF1FB-F5CD-4B76-B211-7D0C100DFD14}"/>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3">
            <a:extLst xmlns:a="http://schemas.openxmlformats.org/drawingml/2006/main">
              <a:ext uri="{FF2B5EF4-FFF2-40B4-BE49-F238E27FC236}">
                <a16:creationId xmlns:a16="http://schemas.microsoft.com/office/drawing/2014/main" id="{8FE65C4F-0607-48F4-AFE4-0E841AA48B3F}"/>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Fixed point</a:t>
            </a:r>
          </a:p>
        </p:txBody>
      </p:sp>
      <p:sp>
        <p:nvSpPr>
          <p:cNvPr id="9" name="claim-keyword-detail-3">
            <a:extLst xmlns:a="http://schemas.openxmlformats.org/drawingml/2006/main">
              <a:ext uri="{FF2B5EF4-FFF2-40B4-BE49-F238E27FC236}">
                <a16:creationId xmlns:a16="http://schemas.microsoft.com/office/drawing/2014/main" id="{93A0114A-B161-47A0-ADC0-2A158AFE016C}"/>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V* is unchanged by another optimality backup.</a:t>
            </a:r>
          </a:p>
        </p:txBody>
      </p:sp>
      <p:sp>
        <p:nvSpPr>
          <p:cNvPr id="10" name="claim-detail-3-marker-1">
            <a:extLst xmlns:a="http://schemas.openxmlformats.org/drawingml/2006/main">
              <a:ext uri="{FF2B5EF4-FFF2-40B4-BE49-F238E27FC236}">
                <a16:creationId xmlns:a16="http://schemas.microsoft.com/office/drawing/2014/main" id="{D78FFB1D-A6CD-4811-86CF-255ABABF60BB}"/>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3-text-1">
            <a:extLst xmlns:a="http://schemas.openxmlformats.org/drawingml/2006/main">
              <a:ext uri="{FF2B5EF4-FFF2-40B4-BE49-F238E27FC236}">
                <a16:creationId xmlns:a16="http://schemas.microsoft.com/office/drawing/2014/main" id="{6FA04232-A396-4E6C-BFEC-90979CDE189C}"/>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Expectation evaluates a specified policy.</a:t>
            </a:r>
          </a:p>
        </p:txBody>
      </p:sp>
      <p:sp>
        <p:nvSpPr>
          <p:cNvPr id="12" name="claim-detail-3-marker-2">
            <a:extLst xmlns:a="http://schemas.openxmlformats.org/drawingml/2006/main">
              <a:ext uri="{FF2B5EF4-FFF2-40B4-BE49-F238E27FC236}">
                <a16:creationId xmlns:a16="http://schemas.microsoft.com/office/drawing/2014/main" id="{E83208E6-B2AA-43AB-9D6C-6A5B6C1981B5}"/>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3-text-2">
            <a:extLst xmlns:a="http://schemas.openxmlformats.org/drawingml/2006/main">
              <a:ext uri="{FF2B5EF4-FFF2-40B4-BE49-F238E27FC236}">
                <a16:creationId xmlns:a16="http://schemas.microsoft.com/office/drawing/2014/main" id="{4025E681-2EA0-4473-99DE-73ABB2710E95}"/>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Optimality maximizes over actions.</a:t>
            </a:r>
          </a:p>
        </p:txBody>
      </p:sp>
      <p:sp>
        <p:nvSpPr>
          <p:cNvPr id="14" name="claim-detail-3-marker-3">
            <a:extLst xmlns:a="http://schemas.openxmlformats.org/drawingml/2006/main">
              <a:ext uri="{FF2B5EF4-FFF2-40B4-BE49-F238E27FC236}">
                <a16:creationId xmlns:a16="http://schemas.microsoft.com/office/drawing/2014/main" id="{EFC6BDF1-542D-461B-9D34-15BEDB6E187C}"/>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3-text-3">
            <a:extLst xmlns:a="http://schemas.openxmlformats.org/drawingml/2006/main">
              <a:ext uri="{FF2B5EF4-FFF2-40B4-BE49-F238E27FC236}">
                <a16:creationId xmlns:a16="http://schemas.microsoft.com/office/drawing/2014/main" id="{1B603C04-4EC2-4DA4-9978-5AF386DBC863}"/>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A greedy policy with respect to V* is optimal.</a:t>
            </a:r>
          </a:p>
        </p:txBody>
      </p:sp>
    </p:spTree>
    <p:extLst>
      <p:ext uri="{BB962C8B-B14F-4D97-AF65-F5344CB8AC3E}">
        <p14:creationId xmlns:p14="http://schemas.microsoft.com/office/powerpoint/2010/main" val="9372234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4">
            <a:extLst xmlns:a="http://schemas.openxmlformats.org/drawingml/2006/main">
              <a:ext uri="{FF2B5EF4-FFF2-40B4-BE49-F238E27FC236}">
                <a16:creationId xmlns:a16="http://schemas.microsoft.com/office/drawing/2014/main" id="{7531328C-3342-421B-94E0-5203256F968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Expectation and optimality use different backups</a:t>
            </a:r>
          </a:p>
        </p:txBody>
      </p:sp>
      <p:sp>
        <p:nvSpPr>
          <p:cNvPr id="2" name="title-accent-4">
            <a:extLst xmlns:a="http://schemas.openxmlformats.org/drawingml/2006/main">
              <a:ext uri="{FF2B5EF4-FFF2-40B4-BE49-F238E27FC236}">
                <a16:creationId xmlns:a16="http://schemas.microsoft.com/office/drawing/2014/main" id="{023A161E-CC64-42E7-9586-5DA6506FFD98}"/>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4">
            <a:extLst xmlns:a="http://schemas.openxmlformats.org/drawingml/2006/main">
              <a:ext uri="{FF2B5EF4-FFF2-40B4-BE49-F238E27FC236}">
                <a16:creationId xmlns:a16="http://schemas.microsoft.com/office/drawing/2014/main" id="{10EAC1CC-7199-484F-9522-3CEC0AAD19A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4">
            <a:extLst xmlns:a="http://schemas.openxmlformats.org/drawingml/2006/main">
              <a:ext uri="{FF2B5EF4-FFF2-40B4-BE49-F238E27FC236}">
                <a16:creationId xmlns:a16="http://schemas.microsoft.com/office/drawing/2014/main" id="{164E6013-F020-49CC-AF36-8F64C27E1D4C}"/>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4</a:t>
            </a:r>
          </a:p>
        </p:txBody>
      </p:sp>
      <p:sp>
        <p:nvSpPr>
          <p:cNvPr id="6" name="formula-panel-4">
            <a:extLst xmlns:a="http://schemas.openxmlformats.org/drawingml/2006/main">
              <a:ext uri="{FF2B5EF4-FFF2-40B4-BE49-F238E27FC236}">
                <a16:creationId xmlns:a16="http://schemas.microsoft.com/office/drawing/2014/main" id="{297F60AA-F756-404B-983C-610CC1316164}"/>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4">
            <a:extLst xmlns:a="http://schemas.openxmlformats.org/drawingml/2006/main">
              <a:ext uri="{FF2B5EF4-FFF2-40B4-BE49-F238E27FC236}">
                <a16:creationId xmlns:a16="http://schemas.microsoft.com/office/drawing/2014/main" id="{6B6BFB26-EE9D-4217-9B65-46C2AC0A1B5C}"/>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T^pi V: sum_a pi(a|s) q_V(s,a)        T*V: max_a q_V(s,a)</a:t>
            </a:r>
          </a:p>
        </p:txBody>
      </p:sp>
      <p:sp>
        <p:nvSpPr>
          <p:cNvPr id="8" name="formula-definition-4-marker-1">
            <a:extLst xmlns:a="http://schemas.openxmlformats.org/drawingml/2006/main">
              <a:ext uri="{FF2B5EF4-FFF2-40B4-BE49-F238E27FC236}">
                <a16:creationId xmlns:a16="http://schemas.microsoft.com/office/drawing/2014/main" id="{224A9B38-22A9-4BC3-96C3-D50EC14838A6}"/>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4-text-1">
            <a:extLst xmlns:a="http://schemas.openxmlformats.org/drawingml/2006/main">
              <a:ext uri="{FF2B5EF4-FFF2-40B4-BE49-F238E27FC236}">
                <a16:creationId xmlns:a16="http://schemas.microsoft.com/office/drawing/2014/main" id="{BEC3D500-44D6-464D-AE11-FC9253A9FD2E}"/>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q_V includes P, R, and gamma V.</a:t>
            </a:r>
          </a:p>
        </p:txBody>
      </p:sp>
      <p:sp>
        <p:nvSpPr>
          <p:cNvPr id="10" name="formula-definition-4-marker-2">
            <a:extLst xmlns:a="http://schemas.openxmlformats.org/drawingml/2006/main">
              <a:ext uri="{FF2B5EF4-FFF2-40B4-BE49-F238E27FC236}">
                <a16:creationId xmlns:a16="http://schemas.microsoft.com/office/drawing/2014/main" id="{2D270E94-43F6-415C-AD2B-CB895CF2A30B}"/>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4-text-2">
            <a:extLst xmlns:a="http://schemas.openxmlformats.org/drawingml/2006/main">
              <a:ext uri="{FF2B5EF4-FFF2-40B4-BE49-F238E27FC236}">
                <a16:creationId xmlns:a16="http://schemas.microsoft.com/office/drawing/2014/main" id="{7E8AA5BE-915B-49E9-9EDA-C5CEA5761294}"/>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T^pi keeps policy fixed.</a:t>
            </a:r>
          </a:p>
        </p:txBody>
      </p:sp>
      <p:sp>
        <p:nvSpPr>
          <p:cNvPr id="12" name="formula-definition-4-marker-3">
            <a:extLst xmlns:a="http://schemas.openxmlformats.org/drawingml/2006/main">
              <a:ext uri="{FF2B5EF4-FFF2-40B4-BE49-F238E27FC236}">
                <a16:creationId xmlns:a16="http://schemas.microsoft.com/office/drawing/2014/main" id="{BEE5C170-0747-453A-AEE5-9942912866EB}"/>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4-text-3">
            <a:extLst xmlns:a="http://schemas.openxmlformats.org/drawingml/2006/main">
              <a:ext uri="{FF2B5EF4-FFF2-40B4-BE49-F238E27FC236}">
                <a16:creationId xmlns:a16="http://schemas.microsoft.com/office/drawing/2014/main" id="{74E907C0-5756-4D7D-B5CD-A4CE60D48930}"/>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 selects the best action at each state.</a:t>
            </a:r>
          </a:p>
        </p:txBody>
      </p:sp>
      <p:sp>
        <p:nvSpPr>
          <p:cNvPr id="14" name="formula-definition-4-marker-4">
            <a:extLst xmlns:a="http://schemas.openxmlformats.org/drawingml/2006/main">
              <a:ext uri="{FF2B5EF4-FFF2-40B4-BE49-F238E27FC236}">
                <a16:creationId xmlns:a16="http://schemas.microsoft.com/office/drawing/2014/main" id="{ABD6A6FD-0385-4AAF-BCC6-B372969652E1}"/>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4-text-4">
            <a:extLst xmlns:a="http://schemas.openxmlformats.org/drawingml/2006/main">
              <a:ext uri="{FF2B5EF4-FFF2-40B4-BE49-F238E27FC236}">
                <a16:creationId xmlns:a16="http://schemas.microsoft.com/office/drawing/2014/main" id="{6EB8B70D-5A17-41E3-9F2A-A18D537421CD}"/>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V*=T*V*.</a:t>
            </a:r>
          </a:p>
        </p:txBody>
      </p:sp>
      <p:sp>
        <p:nvSpPr>
          <p:cNvPr id="16" name="formula-implication-panel-4">
            <a:extLst xmlns:a="http://schemas.openxmlformats.org/drawingml/2006/main">
              <a:ext uri="{FF2B5EF4-FFF2-40B4-BE49-F238E27FC236}">
                <a16:creationId xmlns:a16="http://schemas.microsoft.com/office/drawing/2014/main" id="{F13C8EBC-F270-4251-BAB0-978C3E34E8CD}"/>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4">
            <a:extLst xmlns:a="http://schemas.openxmlformats.org/drawingml/2006/main">
              <a:ext uri="{FF2B5EF4-FFF2-40B4-BE49-F238E27FC236}">
                <a16:creationId xmlns:a16="http://schemas.microsoft.com/office/drawing/2014/main" id="{AC435E86-4264-443D-B49B-71531792E9CB}"/>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4">
            <a:extLst xmlns:a="http://schemas.openxmlformats.org/drawingml/2006/main">
              <a:ext uri="{FF2B5EF4-FFF2-40B4-BE49-F238E27FC236}">
                <a16:creationId xmlns:a16="http://schemas.microsoft.com/office/drawing/2014/main" id="{A6FB90B4-05A3-4ACB-AB65-E714AE84E579}"/>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Do not average actions when computing an optimality backup.</a:t>
            </a:r>
          </a:p>
        </p:txBody>
      </p:sp>
    </p:spTree>
    <p:extLst>
      <p:ext uri="{BB962C8B-B14F-4D97-AF65-F5344CB8AC3E}">
        <p14:creationId xmlns:p14="http://schemas.microsoft.com/office/powerpoint/2010/main" val="18840034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5">
            <a:extLst xmlns:a="http://schemas.openxmlformats.org/drawingml/2006/main">
              <a:ext uri="{FF2B5EF4-FFF2-40B4-BE49-F238E27FC236}">
                <a16:creationId xmlns:a16="http://schemas.microsoft.com/office/drawing/2014/main" id="{2A5AF1DF-E066-4C4F-8802-06394270F0A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Value iteration mixes evaluation and improvement</a:t>
            </a:r>
          </a:p>
        </p:txBody>
      </p:sp>
      <p:sp>
        <p:nvSpPr>
          <p:cNvPr id="2" name="title-accent-5">
            <a:extLst xmlns:a="http://schemas.openxmlformats.org/drawingml/2006/main">
              <a:ext uri="{FF2B5EF4-FFF2-40B4-BE49-F238E27FC236}">
                <a16:creationId xmlns:a16="http://schemas.microsoft.com/office/drawing/2014/main" id="{AF7F8B2B-AF2F-4A56-BDBE-98AA635085A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5">
            <a:extLst xmlns:a="http://schemas.openxmlformats.org/drawingml/2006/main">
              <a:ext uri="{FF2B5EF4-FFF2-40B4-BE49-F238E27FC236}">
                <a16:creationId xmlns:a16="http://schemas.microsoft.com/office/drawing/2014/main" id="{D73D052B-1B59-49DB-86FF-F26C2BF914C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5">
            <a:extLst xmlns:a="http://schemas.openxmlformats.org/drawingml/2006/main">
              <a:ext uri="{FF2B5EF4-FFF2-40B4-BE49-F238E27FC236}">
                <a16:creationId xmlns:a16="http://schemas.microsoft.com/office/drawing/2014/main" id="{7E78A37C-1271-47FA-A390-D92A52CC3AA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5</a:t>
            </a:r>
          </a:p>
        </p:txBody>
      </p:sp>
      <p:cxnSp>
        <p:nvCxnSpPr>
          <p:cNvPr id="30" name="column-divider-5"/>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5">
            <a:extLst xmlns:a="http://schemas.openxmlformats.org/drawingml/2006/main">
              <a:ext uri="{FF2B5EF4-FFF2-40B4-BE49-F238E27FC236}">
                <a16:creationId xmlns:a16="http://schemas.microsoft.com/office/drawing/2014/main" id="{B7069269-6B57-468E-B1E6-43100ACE44C9}"/>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Value backup</a:t>
            </a:r>
          </a:p>
        </p:txBody>
      </p:sp>
      <p:sp>
        <p:nvSpPr>
          <p:cNvPr id="8" name="right-title-5">
            <a:extLst xmlns:a="http://schemas.openxmlformats.org/drawingml/2006/main">
              <a:ext uri="{FF2B5EF4-FFF2-40B4-BE49-F238E27FC236}">
                <a16:creationId xmlns:a16="http://schemas.microsoft.com/office/drawing/2014/main" id="{E7BD2A32-1D0A-4A90-808A-916B32E9814A}"/>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Policy extraction</a:t>
            </a:r>
          </a:p>
        </p:txBody>
      </p:sp>
      <p:sp>
        <p:nvSpPr>
          <p:cNvPr id="9" name="left-bullet-5-marker-1">
            <a:extLst xmlns:a="http://schemas.openxmlformats.org/drawingml/2006/main">
              <a:ext uri="{FF2B5EF4-FFF2-40B4-BE49-F238E27FC236}">
                <a16:creationId xmlns:a16="http://schemas.microsoft.com/office/drawing/2014/main" id="{947E20F0-E148-49D5-B7EC-7988DA55D524}"/>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5-text-1">
            <a:extLst xmlns:a="http://schemas.openxmlformats.org/drawingml/2006/main">
              <a:ext uri="{FF2B5EF4-FFF2-40B4-BE49-F238E27FC236}">
                <a16:creationId xmlns:a16="http://schemas.microsoft.com/office/drawing/2014/main" id="{A712E68B-9C52-4E33-B703-2B06C8C66E90}"/>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Initialize V arbitrarily.</a:t>
            </a:r>
          </a:p>
        </p:txBody>
      </p:sp>
      <p:sp>
        <p:nvSpPr>
          <p:cNvPr id="11" name="left-bullet-5-marker-2">
            <a:extLst xmlns:a="http://schemas.openxmlformats.org/drawingml/2006/main">
              <a:ext uri="{FF2B5EF4-FFF2-40B4-BE49-F238E27FC236}">
                <a16:creationId xmlns:a16="http://schemas.microsoft.com/office/drawing/2014/main" id="{1BC7A0B6-6ED4-4557-8686-DAE91752F457}"/>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5-text-2">
            <a:extLst xmlns:a="http://schemas.openxmlformats.org/drawingml/2006/main">
              <a:ext uri="{FF2B5EF4-FFF2-40B4-BE49-F238E27FC236}">
                <a16:creationId xmlns:a16="http://schemas.microsoft.com/office/drawing/2014/main" id="{B87AA483-91F8-4B4F-B9B6-B9068740C032}"/>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Apply T* to every nonterminal state.</a:t>
            </a:r>
          </a:p>
        </p:txBody>
      </p:sp>
      <p:sp>
        <p:nvSpPr>
          <p:cNvPr id="13" name="left-bullet-5-marker-3">
            <a:extLst xmlns:a="http://schemas.openxmlformats.org/drawingml/2006/main">
              <a:ext uri="{FF2B5EF4-FFF2-40B4-BE49-F238E27FC236}">
                <a16:creationId xmlns:a16="http://schemas.microsoft.com/office/drawing/2014/main" id="{969C3787-8E60-421C-AD2B-3674CE7AE87C}"/>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5-text-3">
            <a:extLst xmlns:a="http://schemas.openxmlformats.org/drawingml/2006/main">
              <a:ext uri="{FF2B5EF4-FFF2-40B4-BE49-F238E27FC236}">
                <a16:creationId xmlns:a16="http://schemas.microsoft.com/office/drawing/2014/main" id="{A0DF7B7B-9B9A-44B6-A180-6A5D703C92EF}"/>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Use a synchronous copy for clear semantics.</a:t>
            </a:r>
          </a:p>
        </p:txBody>
      </p:sp>
      <p:sp>
        <p:nvSpPr>
          <p:cNvPr id="15" name="left-bullet-5-marker-4">
            <a:extLst xmlns:a="http://schemas.openxmlformats.org/drawingml/2006/main">
              <a:ext uri="{FF2B5EF4-FFF2-40B4-BE49-F238E27FC236}">
                <a16:creationId xmlns:a16="http://schemas.microsoft.com/office/drawing/2014/main" id="{44C53418-F5E3-4C63-81C1-02C7755CC380}"/>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5-text-4">
            <a:extLst xmlns:a="http://schemas.openxmlformats.org/drawingml/2006/main">
              <a:ext uri="{FF2B5EF4-FFF2-40B4-BE49-F238E27FC236}">
                <a16:creationId xmlns:a16="http://schemas.microsoft.com/office/drawing/2014/main" id="{FC66A50E-12B0-43CD-AE61-15032E06920D}"/>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Stop by max-norm residual.</a:t>
            </a:r>
          </a:p>
        </p:txBody>
      </p:sp>
      <p:sp>
        <p:nvSpPr>
          <p:cNvPr id="17" name="right-bullet-5-marker-1">
            <a:extLst xmlns:a="http://schemas.openxmlformats.org/drawingml/2006/main">
              <a:ext uri="{FF2B5EF4-FFF2-40B4-BE49-F238E27FC236}">
                <a16:creationId xmlns:a16="http://schemas.microsoft.com/office/drawing/2014/main" id="{BFFC2CD3-BEC9-4C65-8DA7-6BD9CB15EF9E}"/>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5-text-1">
            <a:extLst xmlns:a="http://schemas.openxmlformats.org/drawingml/2006/main">
              <a:ext uri="{FF2B5EF4-FFF2-40B4-BE49-F238E27FC236}">
                <a16:creationId xmlns:a16="http://schemas.microsoft.com/office/drawing/2014/main" id="{1B99E88F-1912-405B-89E3-2303E9ECF4E4}"/>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Compute q_V(s,a).</a:t>
            </a:r>
          </a:p>
        </p:txBody>
      </p:sp>
      <p:sp>
        <p:nvSpPr>
          <p:cNvPr id="19" name="right-bullet-5-marker-2">
            <a:extLst xmlns:a="http://schemas.openxmlformats.org/drawingml/2006/main">
              <a:ext uri="{FF2B5EF4-FFF2-40B4-BE49-F238E27FC236}">
                <a16:creationId xmlns:a16="http://schemas.microsoft.com/office/drawing/2014/main" id="{890F8D30-2C09-4683-8F6A-257E00343A7E}"/>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5-text-2">
            <a:extLst xmlns:a="http://schemas.openxmlformats.org/drawingml/2006/main">
              <a:ext uri="{FF2B5EF4-FFF2-40B4-BE49-F238E27FC236}">
                <a16:creationId xmlns:a16="http://schemas.microsoft.com/office/drawing/2014/main" id="{95A8DBBA-8582-4F6A-91A1-1DDFEE9555C8}"/>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Choose an argmax action.</a:t>
            </a:r>
          </a:p>
        </p:txBody>
      </p:sp>
      <p:sp>
        <p:nvSpPr>
          <p:cNvPr id="21" name="right-bullet-5-marker-3">
            <a:extLst xmlns:a="http://schemas.openxmlformats.org/drawingml/2006/main">
              <a:ext uri="{FF2B5EF4-FFF2-40B4-BE49-F238E27FC236}">
                <a16:creationId xmlns:a16="http://schemas.microsoft.com/office/drawing/2014/main" id="{732A08FB-4D0A-4E1D-85C7-4754B0A38F7E}"/>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5-text-3">
            <a:extLst xmlns:a="http://schemas.openxmlformats.org/drawingml/2006/main">
              <a:ext uri="{FF2B5EF4-FFF2-40B4-BE49-F238E27FC236}">
                <a16:creationId xmlns:a16="http://schemas.microsoft.com/office/drawing/2014/main" id="{5C019553-F099-4335-BD06-FDF4E0E0D5C8}"/>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Break ties deterministically.</a:t>
            </a:r>
          </a:p>
        </p:txBody>
      </p:sp>
      <p:sp>
        <p:nvSpPr>
          <p:cNvPr id="23" name="right-bullet-5-marker-4">
            <a:extLst xmlns:a="http://schemas.openxmlformats.org/drawingml/2006/main">
              <a:ext uri="{FF2B5EF4-FFF2-40B4-BE49-F238E27FC236}">
                <a16:creationId xmlns:a16="http://schemas.microsoft.com/office/drawing/2014/main" id="{ED0EC472-805D-4B55-9FEE-ABFEAC7244F5}"/>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5-text-4">
            <a:extLst xmlns:a="http://schemas.openxmlformats.org/drawingml/2006/main">
              <a:ext uri="{FF2B5EF4-FFF2-40B4-BE49-F238E27FC236}">
                <a16:creationId xmlns:a16="http://schemas.microsoft.com/office/drawing/2014/main" id="{FE3BF855-12F5-4722-A56F-6857903A4242}"/>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Terminal states have no action.</a:t>
            </a:r>
          </a:p>
        </p:txBody>
      </p:sp>
    </p:spTree>
    <p:extLst>
      <p:ext uri="{BB962C8B-B14F-4D97-AF65-F5344CB8AC3E}">
        <p14:creationId xmlns:p14="http://schemas.microsoft.com/office/powerpoint/2010/main" val="16480676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6">
            <a:extLst xmlns:a="http://schemas.openxmlformats.org/drawingml/2006/main">
              <a:ext uri="{FF2B5EF4-FFF2-40B4-BE49-F238E27FC236}">
                <a16:creationId xmlns:a16="http://schemas.microsoft.com/office/drawing/2014/main" id="{158754DF-97BA-4AD6-99F3-056CEBB1A081}"/>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Value iteration converges through repeated contraction</a:t>
            </a:r>
          </a:p>
        </p:txBody>
      </p:sp>
      <p:sp>
        <p:nvSpPr>
          <p:cNvPr id="2" name="title-accent-6">
            <a:extLst xmlns:a="http://schemas.openxmlformats.org/drawingml/2006/main">
              <a:ext uri="{FF2B5EF4-FFF2-40B4-BE49-F238E27FC236}">
                <a16:creationId xmlns:a16="http://schemas.microsoft.com/office/drawing/2014/main" id="{B3D5F34A-B2EF-40C2-B751-8F080B02BB5D}"/>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3" name="title-rule-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6">
            <a:extLst xmlns:a="http://schemas.openxmlformats.org/drawingml/2006/main">
              <a:ext uri="{FF2B5EF4-FFF2-40B4-BE49-F238E27FC236}">
                <a16:creationId xmlns:a16="http://schemas.microsoft.com/office/drawing/2014/main" id="{A5A5B923-3B54-41B2-BBF2-EEF305AAC46B}"/>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6">
            <a:extLst xmlns:a="http://schemas.openxmlformats.org/drawingml/2006/main">
              <a:ext uri="{FF2B5EF4-FFF2-40B4-BE49-F238E27FC236}">
                <a16:creationId xmlns:a16="http://schemas.microsoft.com/office/drawing/2014/main" id="{383C311A-DD56-4F02-AC39-C588E5F2FD4C}"/>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6</a:t>
            </a:r>
          </a:p>
        </p:txBody>
      </p:sp>
      <p:cxnSp>
        <p:nvCxnSpPr>
          <p:cNvPr id="36" name="process-connector-6-1"/>
          <p:cNvCxnSpPr/>
          <p:nvPr/>
        </p:nvCxnSpPr>
        <p:spPr>
          <a:xfrm xmlns:a="http://schemas.openxmlformats.org/drawingml/2006/main">
            <a:off x="25241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7" name="process-connector-6-2"/>
          <p:cNvCxnSpPr/>
          <p:nvPr/>
        </p:nvCxnSpPr>
        <p:spPr>
          <a:xfrm xmlns:a="http://schemas.openxmlformats.org/drawingml/2006/main">
            <a:off x="48482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8" name="process-connector-6-3"/>
          <p:cNvCxnSpPr/>
          <p:nvPr/>
        </p:nvCxnSpPr>
        <p:spPr>
          <a:xfrm xmlns:a="http://schemas.openxmlformats.org/drawingml/2006/main">
            <a:off x="71723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9" name="process-connector-6-4"/>
          <p:cNvCxnSpPr/>
          <p:nvPr/>
        </p:nvCxnSpPr>
        <p:spPr>
          <a:xfrm xmlns:a="http://schemas.openxmlformats.org/drawingml/2006/main">
            <a:off x="9496425"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10" name="process-node-6-1">
            <a:extLst xmlns:a="http://schemas.openxmlformats.org/drawingml/2006/main">
              <a:ext uri="{FF2B5EF4-FFF2-40B4-BE49-F238E27FC236}">
                <a16:creationId xmlns:a16="http://schemas.microsoft.com/office/drawing/2014/main" id="{18B00633-C1C2-4421-8014-AA2BE75C93F1}"/>
              </a:ext>
            </a:extLst>
          </p:cNvPr>
          <p:cNvSpPr>
            <a:spLocks xmlns:a="http://schemas.openxmlformats.org/drawingml/2006/main" noGrp="1"/>
          </p:cNvSpPr>
          <p:nvPr/>
        </p:nvSpPr>
        <p:spPr>
          <a:xfrm xmlns:a="http://schemas.openxmlformats.org/drawingml/2006/main">
            <a:off x="4000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process-number-6-1">
            <a:extLst xmlns:a="http://schemas.openxmlformats.org/drawingml/2006/main">
              <a:ext uri="{FF2B5EF4-FFF2-40B4-BE49-F238E27FC236}">
                <a16:creationId xmlns:a16="http://schemas.microsoft.com/office/drawing/2014/main" id="{E0A853E8-43CD-41DD-AC58-AC6EE54D675C}"/>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2" name="process-title-6-1">
            <a:extLst xmlns:a="http://schemas.openxmlformats.org/drawingml/2006/main">
              <a:ext uri="{FF2B5EF4-FFF2-40B4-BE49-F238E27FC236}">
                <a16:creationId xmlns:a16="http://schemas.microsoft.com/office/drawing/2014/main" id="{61B9D4C1-C78C-4763-A307-63191AFA9F5F}"/>
              </a:ext>
            </a:extLst>
          </p:cNvPr>
          <p:cNvSpPr>
            <a:spLocks xmlns:a="http://schemas.openxmlformats.org/drawingml/2006/main" noGrp="1"/>
          </p:cNvSpPr>
          <p:nvPr/>
        </p:nvSpPr>
        <p:spPr>
          <a:xfrm xmlns:a="http://schemas.openxmlformats.org/drawingml/2006/main">
            <a:off x="5715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Initialize</a:t>
            </a:r>
          </a:p>
        </p:txBody>
      </p:sp>
      <p:sp>
        <p:nvSpPr>
          <p:cNvPr id="13" name="process-detail-6-1">
            <a:extLst xmlns:a="http://schemas.openxmlformats.org/drawingml/2006/main">
              <a:ext uri="{FF2B5EF4-FFF2-40B4-BE49-F238E27FC236}">
                <a16:creationId xmlns:a16="http://schemas.microsoft.com/office/drawing/2014/main" id="{48B9BDC9-9B93-4FC4-B6A9-908ED60E6247}"/>
              </a:ext>
            </a:extLst>
          </p:cNvPr>
          <p:cNvSpPr>
            <a:spLocks xmlns:a="http://schemas.openxmlformats.org/drawingml/2006/main" noGrp="1"/>
          </p:cNvSpPr>
          <p:nvPr/>
        </p:nvSpPr>
        <p:spPr>
          <a:xfrm xmlns:a="http://schemas.openxmlformats.org/drawingml/2006/main">
            <a:off x="5715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Set terminal and nonterminal values.</a:t>
            </a:r>
          </a:p>
        </p:txBody>
      </p:sp>
      <p:sp>
        <p:nvSpPr>
          <p:cNvPr id="14" name="process-node-6-2">
            <a:extLst xmlns:a="http://schemas.openxmlformats.org/drawingml/2006/main">
              <a:ext uri="{FF2B5EF4-FFF2-40B4-BE49-F238E27FC236}">
                <a16:creationId xmlns:a16="http://schemas.microsoft.com/office/drawing/2014/main" id="{A04B962A-AEFA-41A2-990C-C57D4B98277E}"/>
              </a:ext>
            </a:extLst>
          </p:cNvPr>
          <p:cNvSpPr>
            <a:spLocks xmlns:a="http://schemas.openxmlformats.org/drawingml/2006/main" noGrp="1"/>
          </p:cNvSpPr>
          <p:nvPr/>
        </p:nvSpPr>
        <p:spPr>
          <a:xfrm xmlns:a="http://schemas.openxmlformats.org/drawingml/2006/main">
            <a:off x="27241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5" name="process-number-6-2">
            <a:extLst xmlns:a="http://schemas.openxmlformats.org/drawingml/2006/main">
              <a:ext uri="{FF2B5EF4-FFF2-40B4-BE49-F238E27FC236}">
                <a16:creationId xmlns:a16="http://schemas.microsoft.com/office/drawing/2014/main" id="{50818E56-D0FD-4F12-8562-1E0EC4B4D159}"/>
              </a:ext>
            </a:extLst>
          </p:cNvPr>
          <p:cNvSpPr>
            <a:spLocks xmlns:a="http://schemas.openxmlformats.org/drawingml/2006/main" noGrp="1"/>
          </p:cNvSpPr>
          <p:nvPr/>
        </p:nvSpPr>
        <p:spPr>
          <a:xfrm xmlns:a="http://schemas.openxmlformats.org/drawingml/2006/main">
            <a:off x="28956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6" name="process-title-6-2">
            <a:extLst xmlns:a="http://schemas.openxmlformats.org/drawingml/2006/main">
              <a:ext uri="{FF2B5EF4-FFF2-40B4-BE49-F238E27FC236}">
                <a16:creationId xmlns:a16="http://schemas.microsoft.com/office/drawing/2014/main" id="{439E6C32-91E2-4B0D-B676-169AC6297F11}"/>
              </a:ext>
            </a:extLst>
          </p:cNvPr>
          <p:cNvSpPr>
            <a:spLocks xmlns:a="http://schemas.openxmlformats.org/drawingml/2006/main" noGrp="1"/>
          </p:cNvSpPr>
          <p:nvPr/>
        </p:nvSpPr>
        <p:spPr>
          <a:xfrm xmlns:a="http://schemas.openxmlformats.org/drawingml/2006/main">
            <a:off x="28956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Backup</a:t>
            </a:r>
          </a:p>
        </p:txBody>
      </p:sp>
      <p:sp>
        <p:nvSpPr>
          <p:cNvPr id="17" name="process-detail-6-2">
            <a:extLst xmlns:a="http://schemas.openxmlformats.org/drawingml/2006/main">
              <a:ext uri="{FF2B5EF4-FFF2-40B4-BE49-F238E27FC236}">
                <a16:creationId xmlns:a16="http://schemas.microsoft.com/office/drawing/2014/main" id="{C50C3BB5-6E58-45EC-BB5A-2887CE141025}"/>
              </a:ext>
            </a:extLst>
          </p:cNvPr>
          <p:cNvSpPr>
            <a:spLocks xmlns:a="http://schemas.openxmlformats.org/drawingml/2006/main" noGrp="1"/>
          </p:cNvSpPr>
          <p:nvPr/>
        </p:nvSpPr>
        <p:spPr>
          <a:xfrm xmlns:a="http://schemas.openxmlformats.org/drawingml/2006/main">
            <a:off x="28956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Compute every new state value.</a:t>
            </a:r>
          </a:p>
        </p:txBody>
      </p:sp>
      <p:sp>
        <p:nvSpPr>
          <p:cNvPr id="18" name="process-node-6-3">
            <a:extLst xmlns:a="http://schemas.openxmlformats.org/drawingml/2006/main">
              <a:ext uri="{FF2B5EF4-FFF2-40B4-BE49-F238E27FC236}">
                <a16:creationId xmlns:a16="http://schemas.microsoft.com/office/drawing/2014/main" id="{4338BE5F-AF64-4980-A948-B6499DFA2D2D}"/>
              </a:ext>
            </a:extLst>
          </p:cNvPr>
          <p:cNvSpPr>
            <a:spLocks xmlns:a="http://schemas.openxmlformats.org/drawingml/2006/main" noGrp="1"/>
          </p:cNvSpPr>
          <p:nvPr/>
        </p:nvSpPr>
        <p:spPr>
          <a:xfrm xmlns:a="http://schemas.openxmlformats.org/drawingml/2006/main">
            <a:off x="5048250" y="2238375"/>
            <a:ext cx="2095500"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9" name="process-number-6-3">
            <a:extLst xmlns:a="http://schemas.openxmlformats.org/drawingml/2006/main">
              <a:ext uri="{FF2B5EF4-FFF2-40B4-BE49-F238E27FC236}">
                <a16:creationId xmlns:a16="http://schemas.microsoft.com/office/drawing/2014/main" id="{FE309748-0F09-48B1-ADB6-E4BC3A6E3E29}"/>
              </a:ext>
            </a:extLst>
          </p:cNvPr>
          <p:cNvSpPr>
            <a:spLocks xmlns:a="http://schemas.openxmlformats.org/drawingml/2006/main" noGrp="1"/>
          </p:cNvSpPr>
          <p:nvPr/>
        </p:nvSpPr>
        <p:spPr>
          <a:xfrm xmlns:a="http://schemas.openxmlformats.org/drawingml/2006/main">
            <a:off x="52197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20" name="process-title-6-3">
            <a:extLst xmlns:a="http://schemas.openxmlformats.org/drawingml/2006/main">
              <a:ext uri="{FF2B5EF4-FFF2-40B4-BE49-F238E27FC236}">
                <a16:creationId xmlns:a16="http://schemas.microsoft.com/office/drawing/2014/main" id="{8EE4C22A-B9D9-4E07-AEB3-C4F0CD278359}"/>
              </a:ext>
            </a:extLst>
          </p:cNvPr>
          <p:cNvSpPr>
            <a:spLocks xmlns:a="http://schemas.openxmlformats.org/drawingml/2006/main" noGrp="1"/>
          </p:cNvSpPr>
          <p:nvPr/>
        </p:nvSpPr>
        <p:spPr>
          <a:xfrm xmlns:a="http://schemas.openxmlformats.org/drawingml/2006/main">
            <a:off x="52197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Measure</a:t>
            </a:r>
          </a:p>
        </p:txBody>
      </p:sp>
      <p:sp>
        <p:nvSpPr>
          <p:cNvPr id="21" name="process-detail-6-3">
            <a:extLst xmlns:a="http://schemas.openxmlformats.org/drawingml/2006/main">
              <a:ext uri="{FF2B5EF4-FFF2-40B4-BE49-F238E27FC236}">
                <a16:creationId xmlns:a16="http://schemas.microsoft.com/office/drawing/2014/main" id="{309FD951-C378-45D1-A7E8-B34C08AB4BDA}"/>
              </a:ext>
            </a:extLst>
          </p:cNvPr>
          <p:cNvSpPr>
            <a:spLocks xmlns:a="http://schemas.openxmlformats.org/drawingml/2006/main" noGrp="1"/>
          </p:cNvSpPr>
          <p:nvPr/>
        </p:nvSpPr>
        <p:spPr>
          <a:xfrm xmlns:a="http://schemas.openxmlformats.org/drawingml/2006/main">
            <a:off x="52197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Find max absolute change.</a:t>
            </a:r>
          </a:p>
        </p:txBody>
      </p:sp>
      <p:sp>
        <p:nvSpPr>
          <p:cNvPr id="22" name="process-node-6-4">
            <a:extLst xmlns:a="http://schemas.openxmlformats.org/drawingml/2006/main">
              <a:ext uri="{FF2B5EF4-FFF2-40B4-BE49-F238E27FC236}">
                <a16:creationId xmlns:a16="http://schemas.microsoft.com/office/drawing/2014/main" id="{0DB316D6-A741-4725-B2BC-5F36086A9E9F}"/>
              </a:ext>
            </a:extLst>
          </p:cNvPr>
          <p:cNvSpPr>
            <a:spLocks xmlns:a="http://schemas.openxmlformats.org/drawingml/2006/main" noGrp="1"/>
          </p:cNvSpPr>
          <p:nvPr/>
        </p:nvSpPr>
        <p:spPr>
          <a:xfrm xmlns:a="http://schemas.openxmlformats.org/drawingml/2006/main">
            <a:off x="73723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3" name="process-number-6-4">
            <a:extLst xmlns:a="http://schemas.openxmlformats.org/drawingml/2006/main">
              <a:ext uri="{FF2B5EF4-FFF2-40B4-BE49-F238E27FC236}">
                <a16:creationId xmlns:a16="http://schemas.microsoft.com/office/drawing/2014/main" id="{B51C164D-61BF-4CCE-ABC8-BE98E554D882}"/>
              </a:ext>
            </a:extLst>
          </p:cNvPr>
          <p:cNvSpPr>
            <a:spLocks xmlns:a="http://schemas.openxmlformats.org/drawingml/2006/main" noGrp="1"/>
          </p:cNvSpPr>
          <p:nvPr/>
        </p:nvSpPr>
        <p:spPr>
          <a:xfrm xmlns:a="http://schemas.openxmlformats.org/drawingml/2006/main">
            <a:off x="75438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4" name="process-title-6-4">
            <a:extLst xmlns:a="http://schemas.openxmlformats.org/drawingml/2006/main">
              <a:ext uri="{FF2B5EF4-FFF2-40B4-BE49-F238E27FC236}">
                <a16:creationId xmlns:a16="http://schemas.microsoft.com/office/drawing/2014/main" id="{994D3608-FDC8-4023-BBF6-3FBAD62C741A}"/>
              </a:ext>
            </a:extLst>
          </p:cNvPr>
          <p:cNvSpPr>
            <a:spLocks xmlns:a="http://schemas.openxmlformats.org/drawingml/2006/main" noGrp="1"/>
          </p:cNvSpPr>
          <p:nvPr/>
        </p:nvSpPr>
        <p:spPr>
          <a:xfrm xmlns:a="http://schemas.openxmlformats.org/drawingml/2006/main">
            <a:off x="75438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Stop</a:t>
            </a:r>
          </a:p>
        </p:txBody>
      </p:sp>
      <p:sp>
        <p:nvSpPr>
          <p:cNvPr id="25" name="process-detail-6-4">
            <a:extLst xmlns:a="http://schemas.openxmlformats.org/drawingml/2006/main">
              <a:ext uri="{FF2B5EF4-FFF2-40B4-BE49-F238E27FC236}">
                <a16:creationId xmlns:a16="http://schemas.microsoft.com/office/drawing/2014/main" id="{F37B1516-08E7-426E-86FC-42E9A2162995}"/>
              </a:ext>
            </a:extLst>
          </p:cNvPr>
          <p:cNvSpPr>
            <a:spLocks xmlns:a="http://schemas.openxmlformats.org/drawingml/2006/main" noGrp="1"/>
          </p:cNvSpPr>
          <p:nvPr/>
        </p:nvSpPr>
        <p:spPr>
          <a:xfrm xmlns:a="http://schemas.openxmlformats.org/drawingml/2006/main">
            <a:off x="75438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Compare with tolerance.</a:t>
            </a:r>
          </a:p>
        </p:txBody>
      </p:sp>
      <p:sp>
        <p:nvSpPr>
          <p:cNvPr id="26" name="process-node-6-5">
            <a:extLst xmlns:a="http://schemas.openxmlformats.org/drawingml/2006/main">
              <a:ext uri="{FF2B5EF4-FFF2-40B4-BE49-F238E27FC236}">
                <a16:creationId xmlns:a16="http://schemas.microsoft.com/office/drawing/2014/main" id="{7DE892A3-9A0C-4D10-BD4B-E2DEF8C56473}"/>
              </a:ext>
            </a:extLst>
          </p:cNvPr>
          <p:cNvSpPr>
            <a:spLocks xmlns:a="http://schemas.openxmlformats.org/drawingml/2006/main" noGrp="1"/>
          </p:cNvSpPr>
          <p:nvPr/>
        </p:nvSpPr>
        <p:spPr>
          <a:xfrm xmlns:a="http://schemas.openxmlformats.org/drawingml/2006/main">
            <a:off x="96964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7" name="process-number-6-5">
            <a:extLst xmlns:a="http://schemas.openxmlformats.org/drawingml/2006/main">
              <a:ext uri="{FF2B5EF4-FFF2-40B4-BE49-F238E27FC236}">
                <a16:creationId xmlns:a16="http://schemas.microsoft.com/office/drawing/2014/main" id="{487E073D-6452-48B3-BD03-F5F34C9CE81E}"/>
              </a:ext>
            </a:extLst>
          </p:cNvPr>
          <p:cNvSpPr>
            <a:spLocks xmlns:a="http://schemas.openxmlformats.org/drawingml/2006/main" noGrp="1"/>
          </p:cNvSpPr>
          <p:nvPr/>
        </p:nvSpPr>
        <p:spPr>
          <a:xfrm xmlns:a="http://schemas.openxmlformats.org/drawingml/2006/main">
            <a:off x="98679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05</a:t>
            </a:r>
          </a:p>
        </p:txBody>
      </p:sp>
      <p:sp>
        <p:nvSpPr>
          <p:cNvPr id="28" name="process-title-6-5">
            <a:extLst xmlns:a="http://schemas.openxmlformats.org/drawingml/2006/main">
              <a:ext uri="{FF2B5EF4-FFF2-40B4-BE49-F238E27FC236}">
                <a16:creationId xmlns:a16="http://schemas.microsoft.com/office/drawing/2014/main" id="{A2849AE3-F22A-4E68-9629-DDD3C024315F}"/>
              </a:ext>
            </a:extLst>
          </p:cNvPr>
          <p:cNvSpPr>
            <a:spLocks xmlns:a="http://schemas.openxmlformats.org/drawingml/2006/main" noGrp="1"/>
          </p:cNvSpPr>
          <p:nvPr/>
        </p:nvSpPr>
        <p:spPr>
          <a:xfrm xmlns:a="http://schemas.openxmlformats.org/drawingml/2006/main">
            <a:off x="98679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Extract</a:t>
            </a:r>
          </a:p>
        </p:txBody>
      </p:sp>
      <p:sp>
        <p:nvSpPr>
          <p:cNvPr id="29" name="process-detail-6-5">
            <a:extLst xmlns:a="http://schemas.openxmlformats.org/drawingml/2006/main">
              <a:ext uri="{FF2B5EF4-FFF2-40B4-BE49-F238E27FC236}">
                <a16:creationId xmlns:a16="http://schemas.microsoft.com/office/drawing/2014/main" id="{7F6E64D9-2CBD-4D16-8DDC-BC9A68D6F2E5}"/>
              </a:ext>
            </a:extLst>
          </p:cNvPr>
          <p:cNvSpPr>
            <a:spLocks xmlns:a="http://schemas.openxmlformats.org/drawingml/2006/main" noGrp="1"/>
          </p:cNvSpPr>
          <p:nvPr/>
        </p:nvSpPr>
        <p:spPr>
          <a:xfrm xmlns:a="http://schemas.openxmlformats.org/drawingml/2006/main">
            <a:off x="98679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Build the greedy policy.</a:t>
            </a:r>
          </a:p>
        </p:txBody>
      </p:sp>
      <p:sp>
        <p:nvSpPr>
          <p:cNvPr id="30" name="process-takeaway-6">
            <a:extLst xmlns:a="http://schemas.openxmlformats.org/drawingml/2006/main">
              <a:ext uri="{FF2B5EF4-FFF2-40B4-BE49-F238E27FC236}">
                <a16:creationId xmlns:a16="http://schemas.microsoft.com/office/drawing/2014/main" id="{B4AE8D21-1846-4CD4-8CA2-D11A43126347}"/>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A stopping rule should measure a documented residual, not an arbitrary iteration count alone.</a:t>
            </a:r>
          </a:p>
        </p:txBody>
      </p:sp>
    </p:spTree>
    <p:extLst>
      <p:ext uri="{BB962C8B-B14F-4D97-AF65-F5344CB8AC3E}">
        <p14:creationId xmlns:p14="http://schemas.microsoft.com/office/powerpoint/2010/main" val="3166159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7">
            <a:extLst xmlns:a="http://schemas.openxmlformats.org/drawingml/2006/main">
              <a:ext uri="{FF2B5EF4-FFF2-40B4-BE49-F238E27FC236}">
                <a16:creationId xmlns:a16="http://schemas.microsoft.com/office/drawing/2014/main" id="{3966C816-8A6A-4D58-82DA-E87A2242485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Value iteration uses a synchronous Bellman sweep</a:t>
            </a:r>
          </a:p>
        </p:txBody>
      </p:sp>
      <p:sp>
        <p:nvSpPr>
          <p:cNvPr id="2" name="title-accent-7">
            <a:extLst xmlns:a="http://schemas.openxmlformats.org/drawingml/2006/main">
              <a:ext uri="{FF2B5EF4-FFF2-40B4-BE49-F238E27FC236}">
                <a16:creationId xmlns:a16="http://schemas.microsoft.com/office/drawing/2014/main" id="{6AF410F0-6540-407F-A248-9FA81E057BC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7">
            <a:extLst xmlns:a="http://schemas.openxmlformats.org/drawingml/2006/main">
              <a:ext uri="{FF2B5EF4-FFF2-40B4-BE49-F238E27FC236}">
                <a16:creationId xmlns:a16="http://schemas.microsoft.com/office/drawing/2014/main" id="{82000148-0791-4864-B964-D438BE6AD3D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7">
            <a:extLst xmlns:a="http://schemas.openxmlformats.org/drawingml/2006/main">
              <a:ext uri="{FF2B5EF4-FFF2-40B4-BE49-F238E27FC236}">
                <a16:creationId xmlns:a16="http://schemas.microsoft.com/office/drawing/2014/main" id="{A2CCF5DE-D12D-4F5F-8D82-C3FD41502DB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7</a:t>
            </a:r>
          </a:p>
        </p:txBody>
      </p:sp>
      <p:sp>
        <p:nvSpPr>
          <p:cNvPr id="6" name="code-panel-7">
            <a:extLst xmlns:a="http://schemas.openxmlformats.org/drawingml/2006/main">
              <a:ext uri="{FF2B5EF4-FFF2-40B4-BE49-F238E27FC236}">
                <a16:creationId xmlns:a16="http://schemas.microsoft.com/office/drawing/2014/main" id="{38445B47-FE78-49DF-9324-B2B6408EB317}"/>
              </a:ext>
            </a:extLst>
          </p:cNvPr>
          <p:cNvSpPr>
            <a:spLocks xmlns:a="http://schemas.openxmlformats.org/drawingml/2006/main" noGrp="1"/>
          </p:cNvSpPr>
          <p:nvPr/>
        </p:nvSpPr>
        <p:spPr>
          <a:xfrm xmlns:a="http://schemas.openxmlformats.org/drawingml/2006/main">
            <a:off x="400050" y="1600200"/>
            <a:ext cx="7410450" cy="4095750"/>
          </a:xfrm>
          <a:prstGeom xmlns:a="http://schemas.openxmlformats.org/drawingml/2006/main" prst="rect">
            <a:avLst/>
          </a:prstGeom>
          <a:solidFill xmlns:a="http://schemas.openxmlformats.org/drawingml/2006/main">
            <a:srgbClr val="F5F6F7"/>
          </a:solidFill>
          <a:ln xmlns:a="http://schemas.openxmlformats.org/drawingml/2006/main" w="9525">
            <a:solidFill>
              <a:srgbClr val="B8BCC4"/>
            </a:solidFill>
            <a:prstDash val="solid"/>
          </a:ln>
        </p:spPr>
      </p:sp>
      <p:sp>
        <p:nvSpPr>
          <p:cNvPr id="7" name="code-7">
            <a:extLst xmlns:a="http://schemas.openxmlformats.org/drawingml/2006/main">
              <a:ext uri="{FF2B5EF4-FFF2-40B4-BE49-F238E27FC236}">
                <a16:creationId xmlns:a16="http://schemas.microsoft.com/office/drawing/2014/main" id="{F69073A5-80C2-4EE2-9303-B713CD1D5120}"/>
              </a:ext>
            </a:extLst>
          </p:cNvPr>
          <p:cNvSpPr>
            <a:spLocks xmlns:a="http://schemas.openxmlformats.org/drawingml/2006/main" noGrp="1"/>
          </p:cNvSpPr>
          <p:nvPr/>
        </p:nvSpPr>
        <p:spPr>
          <a:xfrm xmlns:a="http://schemas.openxmlformats.org/drawingml/2006/main">
            <a:off x="647700" y="1838325"/>
            <a:ext cx="69151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repeat:</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delta = 0</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newV = copy(V)</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for s in nonterminal_states: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candidates = []</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for a in actions(s):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candidates.append(expected_backup(s, a, V))</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newV[s] = max(candidates)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delta = max(delta, abs(newV[s]-V[s]))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V = newV</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until delta &lt; tolerance</a:t>
            </a:r>
          </a:p>
        </p:txBody>
      </p:sp>
      <p:sp>
        <p:nvSpPr>
          <p:cNvPr id="8" name="code-rail-title-7">
            <a:extLst xmlns:a="http://schemas.openxmlformats.org/drawingml/2006/main">
              <a:ext uri="{FF2B5EF4-FFF2-40B4-BE49-F238E27FC236}">
                <a16:creationId xmlns:a16="http://schemas.microsoft.com/office/drawing/2014/main" id="{F6314203-4446-46AC-9EE9-BD8B1029CABA}"/>
              </a:ext>
            </a:extLst>
          </p:cNvPr>
          <p:cNvSpPr>
            <a:spLocks xmlns:a="http://schemas.openxmlformats.org/drawingml/2006/main" noGrp="1"/>
          </p:cNvSpPr>
          <p:nvPr/>
        </p:nvSpPr>
        <p:spPr>
          <a:xfrm xmlns:a="http://schemas.openxmlformats.org/drawingml/2006/main">
            <a:off x="8191500" y="1685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Implementation rules</a:t>
            </a:r>
          </a:p>
        </p:txBody>
      </p:sp>
      <p:sp>
        <p:nvSpPr>
          <p:cNvPr id="9" name="code-rail-7-marker-1">
            <a:extLst xmlns:a="http://schemas.openxmlformats.org/drawingml/2006/main">
              <a:ext uri="{FF2B5EF4-FFF2-40B4-BE49-F238E27FC236}">
                <a16:creationId xmlns:a16="http://schemas.microsoft.com/office/drawing/2014/main" id="{593A11B9-5DEB-4590-A8CB-12445DD74486}"/>
              </a:ext>
            </a:extLst>
          </p:cNvPr>
          <p:cNvSpPr>
            <a:spLocks xmlns:a="http://schemas.openxmlformats.org/drawingml/2006/main" noGrp="1"/>
          </p:cNvSpPr>
          <p:nvPr/>
        </p:nvSpPr>
        <p:spPr>
          <a:xfrm xmlns:a="http://schemas.openxmlformats.org/drawingml/2006/main">
            <a:off x="8191500" y="24669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code-rail-7-text-1">
            <a:extLst xmlns:a="http://schemas.openxmlformats.org/drawingml/2006/main">
              <a:ext uri="{FF2B5EF4-FFF2-40B4-BE49-F238E27FC236}">
                <a16:creationId xmlns:a16="http://schemas.microsoft.com/office/drawing/2014/main" id="{0FC396A8-0189-4085-8229-C5A18984D97B}"/>
              </a:ext>
            </a:extLst>
          </p:cNvPr>
          <p:cNvSpPr>
            <a:spLocks xmlns:a="http://schemas.openxmlformats.org/drawingml/2006/main" noGrp="1"/>
          </p:cNvSpPr>
          <p:nvPr/>
        </p:nvSpPr>
        <p:spPr>
          <a:xfrm xmlns:a="http://schemas.openxmlformats.org/drawingml/2006/main">
            <a:off x="8420100" y="23812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Terminal value is fixed.</a:t>
            </a:r>
          </a:p>
        </p:txBody>
      </p:sp>
      <p:sp>
        <p:nvSpPr>
          <p:cNvPr id="11" name="code-rail-7-marker-2">
            <a:extLst xmlns:a="http://schemas.openxmlformats.org/drawingml/2006/main">
              <a:ext uri="{FF2B5EF4-FFF2-40B4-BE49-F238E27FC236}">
                <a16:creationId xmlns:a16="http://schemas.microsoft.com/office/drawing/2014/main" id="{ABE585FC-62CE-4177-B9E5-1C0277BFCB34}"/>
              </a:ext>
            </a:extLst>
          </p:cNvPr>
          <p:cNvSpPr>
            <a:spLocks xmlns:a="http://schemas.openxmlformats.org/drawingml/2006/main" noGrp="1"/>
          </p:cNvSpPr>
          <p:nvPr/>
        </p:nvSpPr>
        <p:spPr>
          <a:xfrm xmlns:a="http://schemas.openxmlformats.org/drawingml/2006/main">
            <a:off x="8191500" y="32099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code-rail-7-text-2">
            <a:extLst xmlns:a="http://schemas.openxmlformats.org/drawingml/2006/main">
              <a:ext uri="{FF2B5EF4-FFF2-40B4-BE49-F238E27FC236}">
                <a16:creationId xmlns:a16="http://schemas.microsoft.com/office/drawing/2014/main" id="{569DE8E4-1BE4-4604-A0F3-2B01154544EE}"/>
              </a:ext>
            </a:extLst>
          </p:cNvPr>
          <p:cNvSpPr>
            <a:spLocks xmlns:a="http://schemas.openxmlformats.org/drawingml/2006/main" noGrp="1"/>
          </p:cNvSpPr>
          <p:nvPr/>
        </p:nvSpPr>
        <p:spPr>
          <a:xfrm xmlns:a="http://schemas.openxmlformats.org/drawingml/2006/main">
            <a:off x="8420100" y="31242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Read old V in one sweep.</a:t>
            </a:r>
          </a:p>
        </p:txBody>
      </p:sp>
      <p:sp>
        <p:nvSpPr>
          <p:cNvPr id="13" name="code-rail-7-marker-3">
            <a:extLst xmlns:a="http://schemas.openxmlformats.org/drawingml/2006/main">
              <a:ext uri="{FF2B5EF4-FFF2-40B4-BE49-F238E27FC236}">
                <a16:creationId xmlns:a16="http://schemas.microsoft.com/office/drawing/2014/main" id="{9C2FC923-C7E2-490C-86E6-E19978191F9F}"/>
              </a:ext>
            </a:extLst>
          </p:cNvPr>
          <p:cNvSpPr>
            <a:spLocks xmlns:a="http://schemas.openxmlformats.org/drawingml/2006/main" noGrp="1"/>
          </p:cNvSpPr>
          <p:nvPr/>
        </p:nvSpPr>
        <p:spPr>
          <a:xfrm xmlns:a="http://schemas.openxmlformats.org/drawingml/2006/main">
            <a:off x="8191500" y="39528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code-rail-7-text-3">
            <a:extLst xmlns:a="http://schemas.openxmlformats.org/drawingml/2006/main">
              <a:ext uri="{FF2B5EF4-FFF2-40B4-BE49-F238E27FC236}">
                <a16:creationId xmlns:a16="http://schemas.microsoft.com/office/drawing/2014/main" id="{F1159DEB-21A9-44B9-A7F3-4858A503C4DB}"/>
              </a:ext>
            </a:extLst>
          </p:cNvPr>
          <p:cNvSpPr>
            <a:spLocks xmlns:a="http://schemas.openxmlformats.org/drawingml/2006/main" noGrp="1"/>
          </p:cNvSpPr>
          <p:nvPr/>
        </p:nvSpPr>
        <p:spPr>
          <a:xfrm xmlns:a="http://schemas.openxmlformats.org/drawingml/2006/main">
            <a:off x="8420100" y="38671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Normalize transitions.</a:t>
            </a:r>
          </a:p>
        </p:txBody>
      </p:sp>
      <p:sp>
        <p:nvSpPr>
          <p:cNvPr id="15" name="code-rail-7-marker-4">
            <a:extLst xmlns:a="http://schemas.openxmlformats.org/drawingml/2006/main">
              <a:ext uri="{FF2B5EF4-FFF2-40B4-BE49-F238E27FC236}">
                <a16:creationId xmlns:a16="http://schemas.microsoft.com/office/drawing/2014/main" id="{F79955B9-23D9-4AA6-B995-F8C76E6F482E}"/>
              </a:ext>
            </a:extLst>
          </p:cNvPr>
          <p:cNvSpPr>
            <a:spLocks xmlns:a="http://schemas.openxmlformats.org/drawingml/2006/main" noGrp="1"/>
          </p:cNvSpPr>
          <p:nvPr/>
        </p:nvSpPr>
        <p:spPr>
          <a:xfrm xmlns:a="http://schemas.openxmlformats.org/drawingml/2006/main">
            <a:off x="8191500" y="4695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code-rail-7-text-4">
            <a:extLst xmlns:a="http://schemas.openxmlformats.org/drawingml/2006/main">
              <a:ext uri="{FF2B5EF4-FFF2-40B4-BE49-F238E27FC236}">
                <a16:creationId xmlns:a16="http://schemas.microsoft.com/office/drawing/2014/main" id="{DF59DDDF-8F22-4BCF-AEAF-521F5ADAAA45}"/>
              </a:ext>
            </a:extLst>
          </p:cNvPr>
          <p:cNvSpPr>
            <a:spLocks xmlns:a="http://schemas.openxmlformats.org/drawingml/2006/main" noGrp="1"/>
          </p:cNvSpPr>
          <p:nvPr/>
        </p:nvSpPr>
        <p:spPr>
          <a:xfrm xmlns:a="http://schemas.openxmlformats.org/drawingml/2006/main">
            <a:off x="8420100" y="46101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Guard max iterations.</a:t>
            </a:r>
          </a:p>
        </p:txBody>
      </p:sp>
    </p:spTree>
    <p:extLst>
      <p:ext uri="{BB962C8B-B14F-4D97-AF65-F5344CB8AC3E}">
        <p14:creationId xmlns:p14="http://schemas.microsoft.com/office/powerpoint/2010/main" val="15980690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8">
            <a:extLst xmlns:a="http://schemas.openxmlformats.org/drawingml/2006/main">
              <a:ext uri="{FF2B5EF4-FFF2-40B4-BE49-F238E27FC236}">
                <a16:creationId xmlns:a16="http://schemas.microsoft.com/office/drawing/2014/main" id="{FF8F7627-F313-4484-9814-8976B4AE8DD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One value-iteration backup</a:t>
            </a:r>
          </a:p>
        </p:txBody>
      </p:sp>
      <p:sp>
        <p:nvSpPr>
          <p:cNvPr id="2" name="title-accent-8">
            <a:extLst xmlns:a="http://schemas.openxmlformats.org/drawingml/2006/main">
              <a:ext uri="{FF2B5EF4-FFF2-40B4-BE49-F238E27FC236}">
                <a16:creationId xmlns:a16="http://schemas.microsoft.com/office/drawing/2014/main" id="{2B9BEB37-FB44-4A64-9E96-2C762A9D793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8">
            <a:extLst xmlns:a="http://schemas.openxmlformats.org/drawingml/2006/main">
              <a:ext uri="{FF2B5EF4-FFF2-40B4-BE49-F238E27FC236}">
                <a16:creationId xmlns:a16="http://schemas.microsoft.com/office/drawing/2014/main" id="{A674FFA9-5DAA-4A54-B301-4B6E9C3057CE}"/>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8">
            <a:extLst xmlns:a="http://schemas.openxmlformats.org/drawingml/2006/main">
              <a:ext uri="{FF2B5EF4-FFF2-40B4-BE49-F238E27FC236}">
                <a16:creationId xmlns:a16="http://schemas.microsoft.com/office/drawing/2014/main" id="{BA210E72-5609-49B2-9ADD-D04D95126BC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8</a:t>
            </a:r>
          </a:p>
        </p:txBody>
      </p:sp>
      <p:sp>
        <p:nvSpPr>
          <p:cNvPr id="6" name="example-label-8">
            <a:extLst xmlns:a="http://schemas.openxmlformats.org/drawingml/2006/main">
              <a:ext uri="{FF2B5EF4-FFF2-40B4-BE49-F238E27FC236}">
                <a16:creationId xmlns:a16="http://schemas.microsoft.com/office/drawing/2014/main" id="{FAF0B0B0-F1F7-4F24-A24B-0BA656A3E9EF}"/>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8">
            <a:extLst xmlns:a="http://schemas.openxmlformats.org/drawingml/2006/main">
              <a:ext uri="{FF2B5EF4-FFF2-40B4-BE49-F238E27FC236}">
                <a16:creationId xmlns:a16="http://schemas.microsoft.com/office/drawing/2014/main" id="{64864E26-C3BE-4712-B910-F73EB3C1F9E0}"/>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State A has actions Exit for reward 2, or Wait for reward 0 then return to A; gamma=0.9 and current V(A)=5.</a:t>
            </a:r>
          </a:p>
        </p:txBody>
      </p:sp>
      <p:cxnSp>
        <p:nvCxnSpPr>
          <p:cNvPr id="26" name="example-divider-8"/>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8-marker-1">
            <a:extLst xmlns:a="http://schemas.openxmlformats.org/drawingml/2006/main">
              <a:ext uri="{FF2B5EF4-FFF2-40B4-BE49-F238E27FC236}">
                <a16:creationId xmlns:a16="http://schemas.microsoft.com/office/drawing/2014/main" id="{89FCB7E2-C404-4900-9E41-9D9777E1A2DE}"/>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8-text-1">
            <a:extLst xmlns:a="http://schemas.openxmlformats.org/drawingml/2006/main">
              <a:ext uri="{FF2B5EF4-FFF2-40B4-BE49-F238E27FC236}">
                <a16:creationId xmlns:a16="http://schemas.microsoft.com/office/drawing/2014/main" id="{EC40B4C8-F267-447D-92E3-1C2E2BCB07ED}"/>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Q(A,Exit)=2.</a:t>
            </a:r>
          </a:p>
        </p:txBody>
      </p:sp>
      <p:sp>
        <p:nvSpPr>
          <p:cNvPr id="11" name="example-step-8-marker-2">
            <a:extLst xmlns:a="http://schemas.openxmlformats.org/drawingml/2006/main">
              <a:ext uri="{FF2B5EF4-FFF2-40B4-BE49-F238E27FC236}">
                <a16:creationId xmlns:a16="http://schemas.microsoft.com/office/drawing/2014/main" id="{1D1AEB64-B19F-4955-9B3C-E8A0359293C4}"/>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8-text-2">
            <a:extLst xmlns:a="http://schemas.openxmlformats.org/drawingml/2006/main">
              <a:ext uri="{FF2B5EF4-FFF2-40B4-BE49-F238E27FC236}">
                <a16:creationId xmlns:a16="http://schemas.microsoft.com/office/drawing/2014/main" id="{63AAA4FB-09A3-4761-ADD4-B60CA83CA8D2}"/>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Q(A,Wait)=0+0.9*5=4.5.</a:t>
            </a:r>
          </a:p>
        </p:txBody>
      </p:sp>
      <p:sp>
        <p:nvSpPr>
          <p:cNvPr id="13" name="example-step-8-marker-3">
            <a:extLst xmlns:a="http://schemas.openxmlformats.org/drawingml/2006/main">
              <a:ext uri="{FF2B5EF4-FFF2-40B4-BE49-F238E27FC236}">
                <a16:creationId xmlns:a16="http://schemas.microsoft.com/office/drawing/2014/main" id="{3780F9EA-36D7-4F7D-B541-4E9A402FFAA1}"/>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8-text-3">
            <a:extLst xmlns:a="http://schemas.openxmlformats.org/drawingml/2006/main">
              <a:ext uri="{FF2B5EF4-FFF2-40B4-BE49-F238E27FC236}">
                <a16:creationId xmlns:a16="http://schemas.microsoft.com/office/drawing/2014/main" id="{5FB03D9A-0E7B-486B-915D-64CAA8BC6D33}"/>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Take the maximum.</a:t>
            </a:r>
          </a:p>
        </p:txBody>
      </p:sp>
      <p:sp>
        <p:nvSpPr>
          <p:cNvPr id="15" name="example-step-8-marker-4">
            <a:extLst xmlns:a="http://schemas.openxmlformats.org/drawingml/2006/main">
              <a:ext uri="{FF2B5EF4-FFF2-40B4-BE49-F238E27FC236}">
                <a16:creationId xmlns:a16="http://schemas.microsoft.com/office/drawing/2014/main" id="{56318FD9-8860-494D-940C-D1261147EB55}"/>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8-text-4">
            <a:extLst xmlns:a="http://schemas.openxmlformats.org/drawingml/2006/main">
              <a:ext uri="{FF2B5EF4-FFF2-40B4-BE49-F238E27FC236}">
                <a16:creationId xmlns:a16="http://schemas.microsoft.com/office/drawing/2014/main" id="{D1A37B16-61DE-419F-985B-1C94C7B2C1B7}"/>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Set new V(A)=4.5.</a:t>
            </a:r>
          </a:p>
        </p:txBody>
      </p:sp>
      <p:sp>
        <p:nvSpPr>
          <p:cNvPr id="17" name="example-result-panel-8">
            <a:extLst xmlns:a="http://schemas.openxmlformats.org/drawingml/2006/main">
              <a:ext uri="{FF2B5EF4-FFF2-40B4-BE49-F238E27FC236}">
                <a16:creationId xmlns:a16="http://schemas.microsoft.com/office/drawing/2014/main" id="{B8F75126-C362-41EC-9375-E19178B7FF49}"/>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8">
            <a:extLst xmlns:a="http://schemas.openxmlformats.org/drawingml/2006/main">
              <a:ext uri="{FF2B5EF4-FFF2-40B4-BE49-F238E27FC236}">
                <a16:creationId xmlns:a16="http://schemas.microsoft.com/office/drawing/2014/main" id="{1A06461E-E538-41FC-A85D-261F66B576E3}"/>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The greedy action under the current values is Wait, even though later sweeps may change it.</a:t>
            </a:r>
          </a:p>
        </p:txBody>
      </p:sp>
    </p:spTree>
    <p:extLst>
      <p:ext uri="{BB962C8B-B14F-4D97-AF65-F5344CB8AC3E}">
        <p14:creationId xmlns:p14="http://schemas.microsoft.com/office/powerpoint/2010/main" val="17203088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9">
            <a:extLst xmlns:a="http://schemas.openxmlformats.org/drawingml/2006/main">
              <a:ext uri="{FF2B5EF4-FFF2-40B4-BE49-F238E27FC236}">
                <a16:creationId xmlns:a16="http://schemas.microsoft.com/office/drawing/2014/main" id="{E3BB8231-B696-4DB5-BE78-44C69F85370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Contraction turns approximation into a convergence guarantee</a:t>
            </a:r>
          </a:p>
        </p:txBody>
      </p:sp>
      <p:sp>
        <p:nvSpPr>
          <p:cNvPr id="2" name="title-accent-9">
            <a:extLst xmlns:a="http://schemas.openxmlformats.org/drawingml/2006/main">
              <a:ext uri="{FF2B5EF4-FFF2-40B4-BE49-F238E27FC236}">
                <a16:creationId xmlns:a16="http://schemas.microsoft.com/office/drawing/2014/main" id="{7706AE66-62EF-4B1A-A726-2ECDB448F2B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9">
            <a:extLst xmlns:a="http://schemas.openxmlformats.org/drawingml/2006/main">
              <a:ext uri="{FF2B5EF4-FFF2-40B4-BE49-F238E27FC236}">
                <a16:creationId xmlns:a16="http://schemas.microsoft.com/office/drawing/2014/main" id="{7CD0D976-F985-4B22-9C8D-17BB6950086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9">
            <a:extLst xmlns:a="http://schemas.openxmlformats.org/drawingml/2006/main">
              <a:ext uri="{FF2B5EF4-FFF2-40B4-BE49-F238E27FC236}">
                <a16:creationId xmlns:a16="http://schemas.microsoft.com/office/drawing/2014/main" id="{12715736-76BC-4BDF-854E-4197BF44C058}"/>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9</a:t>
            </a:r>
          </a:p>
        </p:txBody>
      </p:sp>
      <p:sp>
        <p:nvSpPr>
          <p:cNvPr id="6" name="comparison-title-9-1">
            <a:extLst xmlns:a="http://schemas.openxmlformats.org/drawingml/2006/main">
              <a:ext uri="{FF2B5EF4-FFF2-40B4-BE49-F238E27FC236}">
                <a16:creationId xmlns:a16="http://schemas.microsoft.com/office/drawing/2014/main" id="{EA578BF5-875B-4F17-A7D2-02DD1F1AEF6E}"/>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Operator</a:t>
            </a:r>
          </a:p>
        </p:txBody>
      </p:sp>
      <p:sp>
        <p:nvSpPr>
          <p:cNvPr id="7" name="comparison-tagline-9-1">
            <a:extLst xmlns:a="http://schemas.openxmlformats.org/drawingml/2006/main">
              <a:ext uri="{FF2B5EF4-FFF2-40B4-BE49-F238E27FC236}">
                <a16:creationId xmlns:a16="http://schemas.microsoft.com/office/drawing/2014/main" id="{6DF72191-3913-45A1-8C46-77D527E6F93C}"/>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Bellman optimality</a:t>
            </a:r>
          </a:p>
        </p:txBody>
      </p:sp>
      <p:sp>
        <p:nvSpPr>
          <p:cNvPr id="8" name="comparison-bullet-9-1-marker-1">
            <a:extLst xmlns:a="http://schemas.openxmlformats.org/drawingml/2006/main">
              <a:ext uri="{FF2B5EF4-FFF2-40B4-BE49-F238E27FC236}">
                <a16:creationId xmlns:a16="http://schemas.microsoft.com/office/drawing/2014/main" id="{EE778CA2-E8A7-410A-8F11-56C1A71161C5}"/>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9-1-text-1">
            <a:extLst xmlns:a="http://schemas.openxmlformats.org/drawingml/2006/main">
              <a:ext uri="{FF2B5EF4-FFF2-40B4-BE49-F238E27FC236}">
                <a16:creationId xmlns:a16="http://schemas.microsoft.com/office/drawing/2014/main" id="{AECF7749-40B4-4215-81B0-9ED9A0CB9169}"/>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Maps one value vector to another.</a:t>
            </a:r>
          </a:p>
        </p:txBody>
      </p:sp>
      <p:sp>
        <p:nvSpPr>
          <p:cNvPr id="10" name="comparison-bullet-9-1-marker-2">
            <a:extLst xmlns:a="http://schemas.openxmlformats.org/drawingml/2006/main">
              <a:ext uri="{FF2B5EF4-FFF2-40B4-BE49-F238E27FC236}">
                <a16:creationId xmlns:a16="http://schemas.microsoft.com/office/drawing/2014/main" id="{034D65DF-6D2E-4062-875D-182AE42909DE}"/>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9-1-text-2">
            <a:extLst xmlns:a="http://schemas.openxmlformats.org/drawingml/2006/main">
              <a:ext uri="{FF2B5EF4-FFF2-40B4-BE49-F238E27FC236}">
                <a16:creationId xmlns:a16="http://schemas.microsoft.com/office/drawing/2014/main" id="{3C090837-F5A6-4225-978F-DBEF969EF5D4}"/>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Uses max over actions.</a:t>
            </a:r>
          </a:p>
        </p:txBody>
      </p:sp>
      <p:sp>
        <p:nvSpPr>
          <p:cNvPr id="12" name="comparison-bullet-9-1-marker-3">
            <a:extLst xmlns:a="http://schemas.openxmlformats.org/drawingml/2006/main">
              <a:ext uri="{FF2B5EF4-FFF2-40B4-BE49-F238E27FC236}">
                <a16:creationId xmlns:a16="http://schemas.microsoft.com/office/drawing/2014/main" id="{9ED69FC7-C372-4518-B39A-9F491A9991A3}"/>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9-1-text-3">
            <a:extLst xmlns:a="http://schemas.openxmlformats.org/drawingml/2006/main">
              <a:ext uri="{FF2B5EF4-FFF2-40B4-BE49-F238E27FC236}">
                <a16:creationId xmlns:a16="http://schemas.microsoft.com/office/drawing/2014/main" id="{BA0CE427-9F6A-4265-9C0D-BAE497D54FB0}"/>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Preserves bounded values.</a:t>
            </a:r>
          </a:p>
        </p:txBody>
      </p:sp>
      <p:sp>
        <p:nvSpPr>
          <p:cNvPr id="14" name="comparison-bullet-9-1-marker-4">
            <a:extLst xmlns:a="http://schemas.openxmlformats.org/drawingml/2006/main">
              <a:ext uri="{FF2B5EF4-FFF2-40B4-BE49-F238E27FC236}">
                <a16:creationId xmlns:a16="http://schemas.microsoft.com/office/drawing/2014/main" id="{878CDEBC-3A2B-4CFA-81B3-7BD8A4AA8148}"/>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9-1-text-4">
            <a:extLst xmlns:a="http://schemas.openxmlformats.org/drawingml/2006/main">
              <a:ext uri="{FF2B5EF4-FFF2-40B4-BE49-F238E27FC236}">
                <a16:creationId xmlns:a16="http://schemas.microsoft.com/office/drawing/2014/main" id="{B79EB393-D465-4D67-9292-717093271BB3}"/>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Has fixed point V*.</a:t>
            </a:r>
          </a:p>
        </p:txBody>
      </p:sp>
      <p:cxnSp>
        <p:nvCxnSpPr>
          <p:cNvPr id="53" name="comparison-divider-9-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9-2">
            <a:extLst xmlns:a="http://schemas.openxmlformats.org/drawingml/2006/main">
              <a:ext uri="{FF2B5EF4-FFF2-40B4-BE49-F238E27FC236}">
                <a16:creationId xmlns:a16="http://schemas.microsoft.com/office/drawing/2014/main" id="{8B1CC9C1-9F46-438D-A5E9-FC7EA1329EF1}"/>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Contraction</a:t>
            </a:r>
          </a:p>
        </p:txBody>
      </p:sp>
      <p:sp>
        <p:nvSpPr>
          <p:cNvPr id="18" name="comparison-tagline-9-2">
            <a:extLst xmlns:a="http://schemas.openxmlformats.org/drawingml/2006/main">
              <a:ext uri="{FF2B5EF4-FFF2-40B4-BE49-F238E27FC236}">
                <a16:creationId xmlns:a16="http://schemas.microsoft.com/office/drawing/2014/main" id="{B2FA305B-5AAA-4018-B36A-3C6CD81509B0}"/>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Max norm</a:t>
            </a:r>
          </a:p>
        </p:txBody>
      </p:sp>
      <p:sp>
        <p:nvSpPr>
          <p:cNvPr id="19" name="comparison-bullet-9-2-marker-1">
            <a:extLst xmlns:a="http://schemas.openxmlformats.org/drawingml/2006/main">
              <a:ext uri="{FF2B5EF4-FFF2-40B4-BE49-F238E27FC236}">
                <a16:creationId xmlns:a16="http://schemas.microsoft.com/office/drawing/2014/main" id="{8C5C34CA-25E4-4D66-9E74-6AF54B20EBE2}"/>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0" name="comparison-bullet-9-2-text-1">
            <a:extLst xmlns:a="http://schemas.openxmlformats.org/drawingml/2006/main">
              <a:ext uri="{FF2B5EF4-FFF2-40B4-BE49-F238E27FC236}">
                <a16:creationId xmlns:a16="http://schemas.microsoft.com/office/drawing/2014/main" id="{51ABE355-DFEA-4E02-8917-AA9F55AE9D66}"/>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Distance shrinks by at most gamma.</a:t>
            </a:r>
          </a:p>
        </p:txBody>
      </p:sp>
      <p:sp>
        <p:nvSpPr>
          <p:cNvPr id="21" name="comparison-bullet-9-2-marker-2">
            <a:extLst xmlns:a="http://schemas.openxmlformats.org/drawingml/2006/main">
              <a:ext uri="{FF2B5EF4-FFF2-40B4-BE49-F238E27FC236}">
                <a16:creationId xmlns:a16="http://schemas.microsoft.com/office/drawing/2014/main" id="{F533C430-B255-4F82-9A16-17DB132CEADE}"/>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2" name="comparison-bullet-9-2-text-2">
            <a:extLst xmlns:a="http://schemas.openxmlformats.org/drawingml/2006/main">
              <a:ext uri="{FF2B5EF4-FFF2-40B4-BE49-F238E27FC236}">
                <a16:creationId xmlns:a16="http://schemas.microsoft.com/office/drawing/2014/main" id="{C9B1FE91-827D-4E20-8CE9-8915D82349F7}"/>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Requires gamma&lt;1.</a:t>
            </a:r>
          </a:p>
        </p:txBody>
      </p:sp>
      <p:sp>
        <p:nvSpPr>
          <p:cNvPr id="23" name="comparison-bullet-9-2-marker-3">
            <a:extLst xmlns:a="http://schemas.openxmlformats.org/drawingml/2006/main">
              <a:ext uri="{FF2B5EF4-FFF2-40B4-BE49-F238E27FC236}">
                <a16:creationId xmlns:a16="http://schemas.microsoft.com/office/drawing/2014/main" id="{E070B785-1D4C-417A-92AB-FB49AD9FC259}"/>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4" name="comparison-bullet-9-2-text-3">
            <a:extLst xmlns:a="http://schemas.openxmlformats.org/drawingml/2006/main">
              <a:ext uri="{FF2B5EF4-FFF2-40B4-BE49-F238E27FC236}">
                <a16:creationId xmlns:a16="http://schemas.microsoft.com/office/drawing/2014/main" id="{FDA8B5DE-E826-4644-8C01-0AD33AEE57FF}"/>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Repeated backups converge.</a:t>
            </a:r>
          </a:p>
        </p:txBody>
      </p:sp>
      <p:sp>
        <p:nvSpPr>
          <p:cNvPr id="25" name="comparison-bullet-9-2-marker-4">
            <a:extLst xmlns:a="http://schemas.openxmlformats.org/drawingml/2006/main">
              <a:ext uri="{FF2B5EF4-FFF2-40B4-BE49-F238E27FC236}">
                <a16:creationId xmlns:a16="http://schemas.microsoft.com/office/drawing/2014/main" id="{9BDEDCE2-AA28-4F12-A34D-634F3E4654E9}"/>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6" name="comparison-bullet-9-2-text-4">
            <a:extLst xmlns:a="http://schemas.openxmlformats.org/drawingml/2006/main">
              <a:ext uri="{FF2B5EF4-FFF2-40B4-BE49-F238E27FC236}">
                <a16:creationId xmlns:a16="http://schemas.microsoft.com/office/drawing/2014/main" id="{FE3EA8EB-88CB-42DE-A867-2299A291637A}"/>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Residual bounds error.</a:t>
            </a:r>
          </a:p>
        </p:txBody>
      </p:sp>
      <p:cxnSp>
        <p:nvCxnSpPr>
          <p:cNvPr id="64" name="comparison-divider-9-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9-3">
            <a:extLst xmlns:a="http://schemas.openxmlformats.org/drawingml/2006/main">
              <a:ext uri="{FF2B5EF4-FFF2-40B4-BE49-F238E27FC236}">
                <a16:creationId xmlns:a16="http://schemas.microsoft.com/office/drawing/2014/main" id="{9CA751BA-D60D-4525-A643-4278544176E9}"/>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Tolerance</a:t>
            </a:r>
          </a:p>
        </p:txBody>
      </p:sp>
      <p:sp>
        <p:nvSpPr>
          <p:cNvPr id="29" name="comparison-tagline-9-3">
            <a:extLst xmlns:a="http://schemas.openxmlformats.org/drawingml/2006/main">
              <a:ext uri="{FF2B5EF4-FFF2-40B4-BE49-F238E27FC236}">
                <a16:creationId xmlns:a16="http://schemas.microsoft.com/office/drawing/2014/main" id="{CE96AD4C-2927-442C-9CF2-F3833D983469}"/>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Finite stopping</a:t>
            </a:r>
          </a:p>
        </p:txBody>
      </p:sp>
      <p:sp>
        <p:nvSpPr>
          <p:cNvPr id="30" name="comparison-bullet-9-3-marker-1">
            <a:extLst xmlns:a="http://schemas.openxmlformats.org/drawingml/2006/main">
              <a:ext uri="{FF2B5EF4-FFF2-40B4-BE49-F238E27FC236}">
                <a16:creationId xmlns:a16="http://schemas.microsoft.com/office/drawing/2014/main" id="{8AC5FBDC-03A5-4DCE-95E6-532BAD7491FB}"/>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comparison-bullet-9-3-text-1">
            <a:extLst xmlns:a="http://schemas.openxmlformats.org/drawingml/2006/main">
              <a:ext uri="{FF2B5EF4-FFF2-40B4-BE49-F238E27FC236}">
                <a16:creationId xmlns:a16="http://schemas.microsoft.com/office/drawing/2014/main" id="{343927A1-F068-4A12-8B88-0785102DF891}"/>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Tracks max change.</a:t>
            </a:r>
          </a:p>
        </p:txBody>
      </p:sp>
      <p:sp>
        <p:nvSpPr>
          <p:cNvPr id="32" name="comparison-bullet-9-3-marker-2">
            <a:extLst xmlns:a="http://schemas.openxmlformats.org/drawingml/2006/main">
              <a:ext uri="{FF2B5EF4-FFF2-40B4-BE49-F238E27FC236}">
                <a16:creationId xmlns:a16="http://schemas.microsoft.com/office/drawing/2014/main" id="{AC5186C2-89CD-48F1-9F92-9F1381AA6CE6}"/>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3" name="comparison-bullet-9-3-text-2">
            <a:extLst xmlns:a="http://schemas.openxmlformats.org/drawingml/2006/main">
              <a:ext uri="{FF2B5EF4-FFF2-40B4-BE49-F238E27FC236}">
                <a16:creationId xmlns:a16="http://schemas.microsoft.com/office/drawing/2014/main" id="{B9D4E5BF-9DA4-4C8C-AAD1-2C3040BB052D}"/>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Balances time and precision.</a:t>
            </a:r>
          </a:p>
        </p:txBody>
      </p:sp>
      <p:sp>
        <p:nvSpPr>
          <p:cNvPr id="34" name="comparison-bullet-9-3-marker-3">
            <a:extLst xmlns:a="http://schemas.openxmlformats.org/drawingml/2006/main">
              <a:ext uri="{FF2B5EF4-FFF2-40B4-BE49-F238E27FC236}">
                <a16:creationId xmlns:a16="http://schemas.microsoft.com/office/drawing/2014/main" id="{0A451674-7AFB-4729-A922-CBB3445BBA3D}"/>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5" name="comparison-bullet-9-3-text-3">
            <a:extLst xmlns:a="http://schemas.openxmlformats.org/drawingml/2006/main">
              <a:ext uri="{FF2B5EF4-FFF2-40B4-BE49-F238E27FC236}">
                <a16:creationId xmlns:a16="http://schemas.microsoft.com/office/drawing/2014/main" id="{1E1EA50B-5402-44F0-A9EA-1AA2FA9299AA}"/>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Depends on gamma.</a:t>
            </a:r>
          </a:p>
        </p:txBody>
      </p:sp>
      <p:sp>
        <p:nvSpPr>
          <p:cNvPr id="36" name="comparison-bullet-9-3-marker-4">
            <a:extLst xmlns:a="http://schemas.openxmlformats.org/drawingml/2006/main">
              <a:ext uri="{FF2B5EF4-FFF2-40B4-BE49-F238E27FC236}">
                <a16:creationId xmlns:a16="http://schemas.microsoft.com/office/drawing/2014/main" id="{62424CCA-3503-4582-A5A3-1C64F46A0B23}"/>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7" name="comparison-bullet-9-3-text-4">
            <a:extLst xmlns:a="http://schemas.openxmlformats.org/drawingml/2006/main">
              <a:ext uri="{FF2B5EF4-FFF2-40B4-BE49-F238E27FC236}">
                <a16:creationId xmlns:a16="http://schemas.microsoft.com/office/drawing/2014/main" id="{FCC29A18-B90E-46C3-AE95-A7BDD4567111}"/>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Report iterations.</a:t>
            </a:r>
          </a:p>
        </p:txBody>
      </p:sp>
    </p:spTree>
    <p:extLst>
      <p:ext uri="{BB962C8B-B14F-4D97-AF65-F5344CB8AC3E}">
        <p14:creationId xmlns:p14="http://schemas.microsoft.com/office/powerpoint/2010/main" val="13856503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0">
            <a:extLst xmlns:a="http://schemas.openxmlformats.org/drawingml/2006/main">
              <a:ext uri="{FF2B5EF4-FFF2-40B4-BE49-F238E27FC236}">
                <a16:creationId xmlns:a16="http://schemas.microsoft.com/office/drawing/2014/main" id="{6A7345C9-9D9D-44AB-9158-0791674E7F3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compute an optimality backup</a:t>
            </a:r>
          </a:p>
        </p:txBody>
      </p:sp>
      <p:sp>
        <p:nvSpPr>
          <p:cNvPr id="2" name="title-accent-10">
            <a:extLst xmlns:a="http://schemas.openxmlformats.org/drawingml/2006/main">
              <a:ext uri="{FF2B5EF4-FFF2-40B4-BE49-F238E27FC236}">
                <a16:creationId xmlns:a16="http://schemas.microsoft.com/office/drawing/2014/main" id="{9400D5AE-053D-4100-B62C-D29800154B6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0">
            <a:extLst xmlns:a="http://schemas.openxmlformats.org/drawingml/2006/main">
              <a:ext uri="{FF2B5EF4-FFF2-40B4-BE49-F238E27FC236}">
                <a16:creationId xmlns:a16="http://schemas.microsoft.com/office/drawing/2014/main" id="{2CFBB206-E44E-4D3D-8EE8-E9646CDE4E92}"/>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10">
            <a:extLst xmlns:a="http://schemas.openxmlformats.org/drawingml/2006/main">
              <a:ext uri="{FF2B5EF4-FFF2-40B4-BE49-F238E27FC236}">
                <a16:creationId xmlns:a16="http://schemas.microsoft.com/office/drawing/2014/main" id="{19547DA7-7E0F-49B0-B491-FA6491F5BD6C}"/>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10</a:t>
            </a:r>
          </a:p>
        </p:txBody>
      </p:sp>
      <p:sp>
        <p:nvSpPr>
          <p:cNvPr id="6" name="checkpoint-label-10">
            <a:extLst xmlns:a="http://schemas.openxmlformats.org/drawingml/2006/main">
              <a:ext uri="{FF2B5EF4-FFF2-40B4-BE49-F238E27FC236}">
                <a16:creationId xmlns:a16="http://schemas.microsoft.com/office/drawing/2014/main" id="{1FFF75A7-B3C7-4EBD-B180-249C26F0588B}"/>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0">
            <a:extLst xmlns:a="http://schemas.openxmlformats.org/drawingml/2006/main">
              <a:ext uri="{FF2B5EF4-FFF2-40B4-BE49-F238E27FC236}">
                <a16:creationId xmlns:a16="http://schemas.microsoft.com/office/drawing/2014/main" id="{BB06C504-4A85-4A84-B1F2-7539A6F5A0BA}"/>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Action a has expected backup 4.2 and action b has expected backup 3.7. What value and greedy action result?</a:t>
            </a:r>
          </a:p>
        </p:txBody>
      </p:sp>
      <p:cxnSp>
        <p:nvCxnSpPr>
          <p:cNvPr id="22" name="checkpoint-rule-10"/>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0-1">
            <a:extLst xmlns:a="http://schemas.openxmlformats.org/drawingml/2006/main">
              <a:ext uri="{FF2B5EF4-FFF2-40B4-BE49-F238E27FC236}">
                <a16:creationId xmlns:a16="http://schemas.microsoft.com/office/drawing/2014/main" id="{3D34905B-F692-4C8A-9387-AE78E8B0A6CA}"/>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0-1">
            <a:extLst xmlns:a="http://schemas.openxmlformats.org/drawingml/2006/main">
              <a:ext uri="{FF2B5EF4-FFF2-40B4-BE49-F238E27FC236}">
                <a16:creationId xmlns:a16="http://schemas.microsoft.com/office/drawing/2014/main" id="{848F86BC-4336-4CBB-A76A-9721A50A1BDA}"/>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Identify the optimality operator.</a:t>
            </a:r>
          </a:p>
        </p:txBody>
      </p:sp>
      <p:sp>
        <p:nvSpPr>
          <p:cNvPr id="11" name="checkpoint-prompt-number-10-2">
            <a:extLst xmlns:a="http://schemas.openxmlformats.org/drawingml/2006/main">
              <a:ext uri="{FF2B5EF4-FFF2-40B4-BE49-F238E27FC236}">
                <a16:creationId xmlns:a16="http://schemas.microsoft.com/office/drawing/2014/main" id="{08DC752D-8BE1-4BB1-A8F2-04853280DD3B}"/>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0-2">
            <a:extLst xmlns:a="http://schemas.openxmlformats.org/drawingml/2006/main">
              <a:ext uri="{FF2B5EF4-FFF2-40B4-BE49-F238E27FC236}">
                <a16:creationId xmlns:a16="http://schemas.microsoft.com/office/drawing/2014/main" id="{10C5FFFF-4B29-42D5-BC92-0ED675C087CE}"/>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Take the maximum.</a:t>
            </a:r>
          </a:p>
        </p:txBody>
      </p:sp>
      <p:sp>
        <p:nvSpPr>
          <p:cNvPr id="13" name="checkpoint-prompt-number-10-3">
            <a:extLst xmlns:a="http://schemas.openxmlformats.org/drawingml/2006/main">
              <a:ext uri="{FF2B5EF4-FFF2-40B4-BE49-F238E27FC236}">
                <a16:creationId xmlns:a16="http://schemas.microsoft.com/office/drawing/2014/main" id="{B72942D8-5AD5-460E-8A72-86AE35BAE2A8}"/>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0-3">
            <a:extLst xmlns:a="http://schemas.openxmlformats.org/drawingml/2006/main">
              <a:ext uri="{FF2B5EF4-FFF2-40B4-BE49-F238E27FC236}">
                <a16:creationId xmlns:a16="http://schemas.microsoft.com/office/drawing/2014/main" id="{CF9CEA96-1114-481F-96C6-77C870276EFA}"/>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State the tie rule if values were equal.</a:t>
            </a:r>
          </a:p>
        </p:txBody>
      </p:sp>
    </p:spTree>
    <p:extLst>
      <p:ext uri="{BB962C8B-B14F-4D97-AF65-F5344CB8AC3E}">
        <p14:creationId xmlns:p14="http://schemas.microsoft.com/office/powerpoint/2010/main" val="16516435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1">
            <a:extLst xmlns:a="http://schemas.openxmlformats.org/drawingml/2006/main">
              <a:ext uri="{FF2B5EF4-FFF2-40B4-BE49-F238E27FC236}">
                <a16:creationId xmlns:a16="http://schemas.microsoft.com/office/drawing/2014/main" id="{D654FB94-173C-4288-B6C5-79F8B0AEE2A2}"/>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Policy iteration separates evaluation and improvement</a:t>
            </a:r>
          </a:p>
        </p:txBody>
      </p:sp>
      <p:sp>
        <p:nvSpPr>
          <p:cNvPr id="2" name="title-accent-11">
            <a:extLst xmlns:a="http://schemas.openxmlformats.org/drawingml/2006/main">
              <a:ext uri="{FF2B5EF4-FFF2-40B4-BE49-F238E27FC236}">
                <a16:creationId xmlns:a16="http://schemas.microsoft.com/office/drawing/2014/main" id="{B2F28BEE-C75D-4E99-9F92-EA80BCF80D1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1">
            <a:extLst xmlns:a="http://schemas.openxmlformats.org/drawingml/2006/main">
              <a:ext uri="{FF2B5EF4-FFF2-40B4-BE49-F238E27FC236}">
                <a16:creationId xmlns:a16="http://schemas.microsoft.com/office/drawing/2014/main" id="{A71A5066-2DD6-43A1-ACEA-ACF12502D04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11">
            <a:extLst xmlns:a="http://schemas.openxmlformats.org/drawingml/2006/main">
              <a:ext uri="{FF2B5EF4-FFF2-40B4-BE49-F238E27FC236}">
                <a16:creationId xmlns:a16="http://schemas.microsoft.com/office/drawing/2014/main" id="{F1A1BE34-C799-44AD-9C01-9FCD055AE06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11</a:t>
            </a:r>
          </a:p>
        </p:txBody>
      </p:sp>
      <p:cxnSp>
        <p:nvCxnSpPr>
          <p:cNvPr id="30" name="column-divider-11"/>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1">
            <a:extLst xmlns:a="http://schemas.openxmlformats.org/drawingml/2006/main">
              <a:ext uri="{FF2B5EF4-FFF2-40B4-BE49-F238E27FC236}">
                <a16:creationId xmlns:a16="http://schemas.microsoft.com/office/drawing/2014/main" id="{AB2678E6-7EE5-4C23-93AA-1F21CE3B4054}"/>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Policy evaluation</a:t>
            </a:r>
          </a:p>
        </p:txBody>
      </p:sp>
      <p:sp>
        <p:nvSpPr>
          <p:cNvPr id="8" name="right-title-11">
            <a:extLst xmlns:a="http://schemas.openxmlformats.org/drawingml/2006/main">
              <a:ext uri="{FF2B5EF4-FFF2-40B4-BE49-F238E27FC236}">
                <a16:creationId xmlns:a16="http://schemas.microsoft.com/office/drawing/2014/main" id="{8929179F-B6EA-4DBC-9ECF-E374CE7E22BC}"/>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Policy improvement</a:t>
            </a:r>
          </a:p>
        </p:txBody>
      </p:sp>
      <p:sp>
        <p:nvSpPr>
          <p:cNvPr id="9" name="left-bullet-11-marker-1">
            <a:extLst xmlns:a="http://schemas.openxmlformats.org/drawingml/2006/main">
              <a:ext uri="{FF2B5EF4-FFF2-40B4-BE49-F238E27FC236}">
                <a16:creationId xmlns:a16="http://schemas.microsoft.com/office/drawing/2014/main" id="{DDAA74D9-C6D9-4F0D-91C3-404FFAD5F80C}"/>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1-text-1">
            <a:extLst xmlns:a="http://schemas.openxmlformats.org/drawingml/2006/main">
              <a:ext uri="{FF2B5EF4-FFF2-40B4-BE49-F238E27FC236}">
                <a16:creationId xmlns:a16="http://schemas.microsoft.com/office/drawing/2014/main" id="{8B840948-47CA-47DB-AF87-BAE15AB576E9}"/>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Hold pi fixed.</a:t>
            </a:r>
          </a:p>
        </p:txBody>
      </p:sp>
      <p:sp>
        <p:nvSpPr>
          <p:cNvPr id="11" name="left-bullet-11-marker-2">
            <a:extLst xmlns:a="http://schemas.openxmlformats.org/drawingml/2006/main">
              <a:ext uri="{FF2B5EF4-FFF2-40B4-BE49-F238E27FC236}">
                <a16:creationId xmlns:a16="http://schemas.microsoft.com/office/drawing/2014/main" id="{0E52D907-A33E-4F13-B25E-202DFE2853F2}"/>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1-text-2">
            <a:extLst xmlns:a="http://schemas.openxmlformats.org/drawingml/2006/main">
              <a:ext uri="{FF2B5EF4-FFF2-40B4-BE49-F238E27FC236}">
                <a16:creationId xmlns:a16="http://schemas.microsoft.com/office/drawing/2014/main" id="{D84A9169-C128-4D93-9B31-66A86FD190EB}"/>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Solve or iterate T^pi V=V.</a:t>
            </a:r>
          </a:p>
        </p:txBody>
      </p:sp>
      <p:sp>
        <p:nvSpPr>
          <p:cNvPr id="13" name="left-bullet-11-marker-3">
            <a:extLst xmlns:a="http://schemas.openxmlformats.org/drawingml/2006/main">
              <a:ext uri="{FF2B5EF4-FFF2-40B4-BE49-F238E27FC236}">
                <a16:creationId xmlns:a16="http://schemas.microsoft.com/office/drawing/2014/main" id="{BA47D8EC-B55A-4EC3-8E6E-739D13CB8837}"/>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1-text-3">
            <a:extLst xmlns:a="http://schemas.openxmlformats.org/drawingml/2006/main">
              <a:ext uri="{FF2B5EF4-FFF2-40B4-BE49-F238E27FC236}">
                <a16:creationId xmlns:a16="http://schemas.microsoft.com/office/drawing/2014/main" id="{CA4AEF06-FDCD-4BB2-A68C-58BCB3DFBE9F}"/>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Estimate V^pi.</a:t>
            </a:r>
          </a:p>
        </p:txBody>
      </p:sp>
      <p:sp>
        <p:nvSpPr>
          <p:cNvPr id="15" name="left-bullet-11-marker-4">
            <a:extLst xmlns:a="http://schemas.openxmlformats.org/drawingml/2006/main">
              <a:ext uri="{FF2B5EF4-FFF2-40B4-BE49-F238E27FC236}">
                <a16:creationId xmlns:a16="http://schemas.microsoft.com/office/drawing/2014/main" id="{3B6DF793-D4F1-4EF8-BD02-63ADCDD3B3D7}"/>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1-text-4">
            <a:extLst xmlns:a="http://schemas.openxmlformats.org/drawingml/2006/main">
              <a:ext uri="{FF2B5EF4-FFF2-40B4-BE49-F238E27FC236}">
                <a16:creationId xmlns:a16="http://schemas.microsoft.com/office/drawing/2014/main" id="{1D272B3A-22D3-45F0-9292-9D66BE5BA331}"/>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Stop at evaluation tolerance.</a:t>
            </a:r>
          </a:p>
        </p:txBody>
      </p:sp>
      <p:sp>
        <p:nvSpPr>
          <p:cNvPr id="17" name="right-bullet-11-marker-1">
            <a:extLst xmlns:a="http://schemas.openxmlformats.org/drawingml/2006/main">
              <a:ext uri="{FF2B5EF4-FFF2-40B4-BE49-F238E27FC236}">
                <a16:creationId xmlns:a16="http://schemas.microsoft.com/office/drawing/2014/main" id="{C44A3818-2DC7-49A8-BC17-2A0E6598D82E}"/>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11-text-1">
            <a:extLst xmlns:a="http://schemas.openxmlformats.org/drawingml/2006/main">
              <a:ext uri="{FF2B5EF4-FFF2-40B4-BE49-F238E27FC236}">
                <a16:creationId xmlns:a16="http://schemas.microsoft.com/office/drawing/2014/main" id="{6CE723D6-FB97-4427-800D-C15A65D60488}"/>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Hold V fixed.</a:t>
            </a:r>
          </a:p>
        </p:txBody>
      </p:sp>
      <p:sp>
        <p:nvSpPr>
          <p:cNvPr id="19" name="right-bullet-11-marker-2">
            <a:extLst xmlns:a="http://schemas.openxmlformats.org/drawingml/2006/main">
              <a:ext uri="{FF2B5EF4-FFF2-40B4-BE49-F238E27FC236}">
                <a16:creationId xmlns:a16="http://schemas.microsoft.com/office/drawing/2014/main" id="{58F2DD60-81E0-4757-A3E1-D3E30EB97F90}"/>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11-text-2">
            <a:extLst xmlns:a="http://schemas.openxmlformats.org/drawingml/2006/main">
              <a:ext uri="{FF2B5EF4-FFF2-40B4-BE49-F238E27FC236}">
                <a16:creationId xmlns:a16="http://schemas.microsoft.com/office/drawing/2014/main" id="{71A6B4A6-449C-4282-894F-280D5C3605C3}"/>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Choose argmax q_V(s,a).</a:t>
            </a:r>
          </a:p>
        </p:txBody>
      </p:sp>
      <p:sp>
        <p:nvSpPr>
          <p:cNvPr id="21" name="right-bullet-11-marker-3">
            <a:extLst xmlns:a="http://schemas.openxmlformats.org/drawingml/2006/main">
              <a:ext uri="{FF2B5EF4-FFF2-40B4-BE49-F238E27FC236}">
                <a16:creationId xmlns:a16="http://schemas.microsoft.com/office/drawing/2014/main" id="{482E6CDF-5A0B-4A72-BFA8-FC37D46D5051}"/>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11-text-3">
            <a:extLst xmlns:a="http://schemas.openxmlformats.org/drawingml/2006/main">
              <a:ext uri="{FF2B5EF4-FFF2-40B4-BE49-F238E27FC236}">
                <a16:creationId xmlns:a16="http://schemas.microsoft.com/office/drawing/2014/main" id="{137D0671-2AC2-442E-B3FC-5F071FC8C238}"/>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Replace inferior actions.</a:t>
            </a:r>
          </a:p>
        </p:txBody>
      </p:sp>
      <p:sp>
        <p:nvSpPr>
          <p:cNvPr id="23" name="right-bullet-11-marker-4">
            <a:extLst xmlns:a="http://schemas.openxmlformats.org/drawingml/2006/main">
              <a:ext uri="{FF2B5EF4-FFF2-40B4-BE49-F238E27FC236}">
                <a16:creationId xmlns:a16="http://schemas.microsoft.com/office/drawing/2014/main" id="{D0D66F0B-D640-4CFC-B367-3F887C708AFC}"/>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11-text-4">
            <a:extLst xmlns:a="http://schemas.openxmlformats.org/drawingml/2006/main">
              <a:ext uri="{FF2B5EF4-FFF2-40B4-BE49-F238E27FC236}">
                <a16:creationId xmlns:a16="http://schemas.microsoft.com/office/drawing/2014/main" id="{E184D48B-438F-4169-BC90-A9221C4041F6}"/>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Stop when policy is stable.</a:t>
            </a:r>
          </a:p>
        </p:txBody>
      </p:sp>
    </p:spTree>
    <p:extLst>
      <p:ext uri="{BB962C8B-B14F-4D97-AF65-F5344CB8AC3E}">
        <p14:creationId xmlns:p14="http://schemas.microsoft.com/office/powerpoint/2010/main" val="192577369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2">
            <a:extLst xmlns:a="http://schemas.openxmlformats.org/drawingml/2006/main">
              <a:ext uri="{FF2B5EF4-FFF2-40B4-BE49-F238E27FC236}">
                <a16:creationId xmlns:a16="http://schemas.microsoft.com/office/drawing/2014/main" id="{0C49507B-7C79-4BFA-ADD3-B25B87FF7D8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Greedy improvement cannot reduce policy value</a:t>
            </a:r>
          </a:p>
        </p:txBody>
      </p:sp>
      <p:sp>
        <p:nvSpPr>
          <p:cNvPr id="2" name="title-accent-12">
            <a:extLst xmlns:a="http://schemas.openxmlformats.org/drawingml/2006/main">
              <a:ext uri="{FF2B5EF4-FFF2-40B4-BE49-F238E27FC236}">
                <a16:creationId xmlns:a16="http://schemas.microsoft.com/office/drawing/2014/main" id="{8A384D70-5AC7-4A64-9549-BDC3769C39D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2">
            <a:extLst xmlns:a="http://schemas.openxmlformats.org/drawingml/2006/main">
              <a:ext uri="{FF2B5EF4-FFF2-40B4-BE49-F238E27FC236}">
                <a16:creationId xmlns:a16="http://schemas.microsoft.com/office/drawing/2014/main" id="{64AE9E51-5483-495B-A80E-77908D90DE5D}"/>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12">
            <a:extLst xmlns:a="http://schemas.openxmlformats.org/drawingml/2006/main">
              <a:ext uri="{FF2B5EF4-FFF2-40B4-BE49-F238E27FC236}">
                <a16:creationId xmlns:a16="http://schemas.microsoft.com/office/drawing/2014/main" id="{51BB61C4-7A04-4E99-BBC8-3FB4C6319CA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12</a:t>
            </a:r>
          </a:p>
        </p:txBody>
      </p:sp>
      <p:sp>
        <p:nvSpPr>
          <p:cNvPr id="6" name="formula-panel-12">
            <a:extLst xmlns:a="http://schemas.openxmlformats.org/drawingml/2006/main">
              <a:ext uri="{FF2B5EF4-FFF2-40B4-BE49-F238E27FC236}">
                <a16:creationId xmlns:a16="http://schemas.microsoft.com/office/drawing/2014/main" id="{775BCE31-1AF5-40E8-9577-4BA62139D0F8}"/>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12">
            <a:extLst xmlns:a="http://schemas.openxmlformats.org/drawingml/2006/main">
              <a:ext uri="{FF2B5EF4-FFF2-40B4-BE49-F238E27FC236}">
                <a16:creationId xmlns:a16="http://schemas.microsoft.com/office/drawing/2014/main" id="{94E95042-8E85-4A07-AAFD-66D88C2DC6AE}"/>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pi'(s) in argmax_a q^(pi)(s,a)  implies  V^(pi')(s) &gt;= V^pi(s)</a:t>
            </a:r>
          </a:p>
        </p:txBody>
      </p:sp>
      <p:sp>
        <p:nvSpPr>
          <p:cNvPr id="8" name="formula-definition-12-marker-1">
            <a:extLst xmlns:a="http://schemas.openxmlformats.org/drawingml/2006/main">
              <a:ext uri="{FF2B5EF4-FFF2-40B4-BE49-F238E27FC236}">
                <a16:creationId xmlns:a16="http://schemas.microsoft.com/office/drawing/2014/main" id="{98EF8B6F-6F50-44DC-9EA9-E75E05D6D3C3}"/>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12-text-1">
            <a:extLst xmlns:a="http://schemas.openxmlformats.org/drawingml/2006/main">
              <a:ext uri="{FF2B5EF4-FFF2-40B4-BE49-F238E27FC236}">
                <a16:creationId xmlns:a16="http://schemas.microsoft.com/office/drawing/2014/main" id="{DF2DC229-D8C8-4120-8277-235BE7D4D59C}"/>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q^pi evaluates one deviation then follows pi.</a:t>
            </a:r>
          </a:p>
        </p:txBody>
      </p:sp>
      <p:sp>
        <p:nvSpPr>
          <p:cNvPr id="10" name="formula-definition-12-marker-2">
            <a:extLst xmlns:a="http://schemas.openxmlformats.org/drawingml/2006/main">
              <a:ext uri="{FF2B5EF4-FFF2-40B4-BE49-F238E27FC236}">
                <a16:creationId xmlns:a16="http://schemas.microsoft.com/office/drawing/2014/main" id="{8CCB107B-FB43-4D9D-87BD-8ADF0A4B9BA4}"/>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12-text-2">
            <a:extLst xmlns:a="http://schemas.openxmlformats.org/drawingml/2006/main">
              <a:ext uri="{FF2B5EF4-FFF2-40B4-BE49-F238E27FC236}">
                <a16:creationId xmlns:a16="http://schemas.microsoft.com/office/drawing/2014/main" id="{D7BD147F-EEC9-4D20-8EF3-54E85D867206}"/>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pi' chooses a maximizing deviation.</a:t>
            </a:r>
          </a:p>
        </p:txBody>
      </p:sp>
      <p:sp>
        <p:nvSpPr>
          <p:cNvPr id="12" name="formula-definition-12-marker-3">
            <a:extLst xmlns:a="http://schemas.openxmlformats.org/drawingml/2006/main">
              <a:ext uri="{FF2B5EF4-FFF2-40B4-BE49-F238E27FC236}">
                <a16:creationId xmlns:a16="http://schemas.microsoft.com/office/drawing/2014/main" id="{A8C95AF0-E168-4263-BEF7-215B1D63F155}"/>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12-text-3">
            <a:extLst xmlns:a="http://schemas.openxmlformats.org/drawingml/2006/main">
              <a:ext uri="{FF2B5EF4-FFF2-40B4-BE49-F238E27FC236}">
                <a16:creationId xmlns:a16="http://schemas.microsoft.com/office/drawing/2014/main" id="{1CFA096C-2E6C-465F-9D78-8BCEA660D13F}"/>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Policy improvement holds statewise.</a:t>
            </a:r>
          </a:p>
        </p:txBody>
      </p:sp>
      <p:sp>
        <p:nvSpPr>
          <p:cNvPr id="14" name="formula-definition-12-marker-4">
            <a:extLst xmlns:a="http://schemas.openxmlformats.org/drawingml/2006/main">
              <a:ext uri="{FF2B5EF4-FFF2-40B4-BE49-F238E27FC236}">
                <a16:creationId xmlns:a16="http://schemas.microsoft.com/office/drawing/2014/main" id="{DDD63588-138B-469C-8914-FC227A138A83}"/>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12-text-4">
            <a:extLst xmlns:a="http://schemas.openxmlformats.org/drawingml/2006/main">
              <a:ext uri="{FF2B5EF4-FFF2-40B4-BE49-F238E27FC236}">
                <a16:creationId xmlns:a16="http://schemas.microsoft.com/office/drawing/2014/main" id="{46BF9A45-53CE-4B7D-B8FD-BDF25EC04ADE}"/>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 stable greedy policy satisfies optimality.</a:t>
            </a:r>
          </a:p>
        </p:txBody>
      </p:sp>
      <p:sp>
        <p:nvSpPr>
          <p:cNvPr id="16" name="formula-implication-panel-12">
            <a:extLst xmlns:a="http://schemas.openxmlformats.org/drawingml/2006/main">
              <a:ext uri="{FF2B5EF4-FFF2-40B4-BE49-F238E27FC236}">
                <a16:creationId xmlns:a16="http://schemas.microsoft.com/office/drawing/2014/main" id="{8DCA42FB-49DB-452F-A3D6-7B50765E1BE9}"/>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12">
            <a:extLst xmlns:a="http://schemas.openxmlformats.org/drawingml/2006/main">
              <a:ext uri="{FF2B5EF4-FFF2-40B4-BE49-F238E27FC236}">
                <a16:creationId xmlns:a16="http://schemas.microsoft.com/office/drawing/2014/main" id="{3E567951-C97E-48FE-A1CD-F67B189DA200}"/>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12">
            <a:extLst xmlns:a="http://schemas.openxmlformats.org/drawingml/2006/main">
              <a:ext uri="{FF2B5EF4-FFF2-40B4-BE49-F238E27FC236}">
                <a16:creationId xmlns:a16="http://schemas.microsoft.com/office/drawing/2014/main" id="{95A362F1-C350-4B49-A776-0AD9174609D6}"/>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Finite deterministic policies prevent endless strict improvement.</a:t>
            </a:r>
          </a:p>
        </p:txBody>
      </p:sp>
    </p:spTree>
    <p:extLst>
      <p:ext uri="{BB962C8B-B14F-4D97-AF65-F5344CB8AC3E}">
        <p14:creationId xmlns:p14="http://schemas.microsoft.com/office/powerpoint/2010/main" val="117148458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3">
            <a:extLst xmlns:a="http://schemas.openxmlformats.org/drawingml/2006/main">
              <a:ext uri="{FF2B5EF4-FFF2-40B4-BE49-F238E27FC236}">
                <a16:creationId xmlns:a16="http://schemas.microsoft.com/office/drawing/2014/main" id="{8CCA34CE-C56C-45FF-B2DD-92FC4DD849E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One policy-improvement step</a:t>
            </a:r>
          </a:p>
        </p:txBody>
      </p:sp>
      <p:sp>
        <p:nvSpPr>
          <p:cNvPr id="2" name="title-accent-13">
            <a:extLst xmlns:a="http://schemas.openxmlformats.org/drawingml/2006/main">
              <a:ext uri="{FF2B5EF4-FFF2-40B4-BE49-F238E27FC236}">
                <a16:creationId xmlns:a16="http://schemas.microsoft.com/office/drawing/2014/main" id="{C30C98B5-5414-46E2-BAB5-F95F103F13E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3">
            <a:extLst xmlns:a="http://schemas.openxmlformats.org/drawingml/2006/main">
              <a:ext uri="{FF2B5EF4-FFF2-40B4-BE49-F238E27FC236}">
                <a16:creationId xmlns:a16="http://schemas.microsoft.com/office/drawing/2014/main" id="{6B20C102-FB7F-4F26-A197-A4260483CA2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13">
            <a:extLst xmlns:a="http://schemas.openxmlformats.org/drawingml/2006/main">
              <a:ext uri="{FF2B5EF4-FFF2-40B4-BE49-F238E27FC236}">
                <a16:creationId xmlns:a16="http://schemas.microsoft.com/office/drawing/2014/main" id="{C1191BD5-04F6-40FA-8880-43D2FAE89EE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13</a:t>
            </a:r>
          </a:p>
        </p:txBody>
      </p:sp>
      <p:sp>
        <p:nvSpPr>
          <p:cNvPr id="6" name="example-label-13">
            <a:extLst xmlns:a="http://schemas.openxmlformats.org/drawingml/2006/main">
              <a:ext uri="{FF2B5EF4-FFF2-40B4-BE49-F238E27FC236}">
                <a16:creationId xmlns:a16="http://schemas.microsoft.com/office/drawing/2014/main" id="{FE875BF2-83B5-4418-949C-28980403B47B}"/>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13">
            <a:extLst xmlns:a="http://schemas.openxmlformats.org/drawingml/2006/main">
              <a:ext uri="{FF2B5EF4-FFF2-40B4-BE49-F238E27FC236}">
                <a16:creationId xmlns:a16="http://schemas.microsoft.com/office/drawing/2014/main" id="{7393EAF3-D714-4602-B12E-61856D643272}"/>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Under current V^pi, state A's action values are Left=1.2, Right=2.8, and Stay=2.1.</a:t>
            </a:r>
          </a:p>
        </p:txBody>
      </p:sp>
      <p:cxnSp>
        <p:nvCxnSpPr>
          <p:cNvPr id="26" name="example-divider-13"/>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13-marker-1">
            <a:extLst xmlns:a="http://schemas.openxmlformats.org/drawingml/2006/main">
              <a:ext uri="{FF2B5EF4-FFF2-40B4-BE49-F238E27FC236}">
                <a16:creationId xmlns:a16="http://schemas.microsoft.com/office/drawing/2014/main" id="{F362CC12-90A1-4458-ABC4-0B17D589F958}"/>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13-text-1">
            <a:extLst xmlns:a="http://schemas.openxmlformats.org/drawingml/2006/main">
              <a:ext uri="{FF2B5EF4-FFF2-40B4-BE49-F238E27FC236}">
                <a16:creationId xmlns:a16="http://schemas.microsoft.com/office/drawing/2014/main" id="{C5F3A2CC-08F6-4D80-8C11-8F43CD5E1E1E}"/>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Evaluate all legal actions with the same V^pi.</a:t>
            </a:r>
          </a:p>
        </p:txBody>
      </p:sp>
      <p:sp>
        <p:nvSpPr>
          <p:cNvPr id="11" name="example-step-13-marker-2">
            <a:extLst xmlns:a="http://schemas.openxmlformats.org/drawingml/2006/main">
              <a:ext uri="{FF2B5EF4-FFF2-40B4-BE49-F238E27FC236}">
                <a16:creationId xmlns:a16="http://schemas.microsoft.com/office/drawing/2014/main" id="{8EA9CBC7-AD00-4632-8F99-E32FAC8D63B2}"/>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13-text-2">
            <a:extLst xmlns:a="http://schemas.openxmlformats.org/drawingml/2006/main">
              <a:ext uri="{FF2B5EF4-FFF2-40B4-BE49-F238E27FC236}">
                <a16:creationId xmlns:a16="http://schemas.microsoft.com/office/drawing/2014/main" id="{8A1920D9-8EE8-469E-BFEA-CD0A762A2699}"/>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Find the maximum value 2.8.</a:t>
            </a:r>
          </a:p>
        </p:txBody>
      </p:sp>
      <p:sp>
        <p:nvSpPr>
          <p:cNvPr id="13" name="example-step-13-marker-3">
            <a:extLst xmlns:a="http://schemas.openxmlformats.org/drawingml/2006/main">
              <a:ext uri="{FF2B5EF4-FFF2-40B4-BE49-F238E27FC236}">
                <a16:creationId xmlns:a16="http://schemas.microsoft.com/office/drawing/2014/main" id="{8C4BF56A-15A7-4CDB-9877-E8EC80C646F6}"/>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13-text-3">
            <a:extLst xmlns:a="http://schemas.openxmlformats.org/drawingml/2006/main">
              <a:ext uri="{FF2B5EF4-FFF2-40B4-BE49-F238E27FC236}">
                <a16:creationId xmlns:a16="http://schemas.microsoft.com/office/drawing/2014/main" id="{D774653A-7A12-415E-8CFC-A90573BD2499}"/>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Set pi'(A)=Right.</a:t>
            </a:r>
          </a:p>
        </p:txBody>
      </p:sp>
      <p:sp>
        <p:nvSpPr>
          <p:cNvPr id="15" name="example-step-13-marker-4">
            <a:extLst xmlns:a="http://schemas.openxmlformats.org/drawingml/2006/main">
              <a:ext uri="{FF2B5EF4-FFF2-40B4-BE49-F238E27FC236}">
                <a16:creationId xmlns:a16="http://schemas.microsoft.com/office/drawing/2014/main" id="{87D3CF9D-9FA6-44D0-999D-E096A85FA04D}"/>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13-text-4">
            <a:extLst xmlns:a="http://schemas.openxmlformats.org/drawingml/2006/main">
              <a:ext uri="{FF2B5EF4-FFF2-40B4-BE49-F238E27FC236}">
                <a16:creationId xmlns:a16="http://schemas.microsoft.com/office/drawing/2014/main" id="{00194143-4230-4C57-B3EF-AB5760B700F7}"/>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Record whether the action changed.</a:t>
            </a:r>
          </a:p>
        </p:txBody>
      </p:sp>
      <p:sp>
        <p:nvSpPr>
          <p:cNvPr id="17" name="example-result-panel-13">
            <a:extLst xmlns:a="http://schemas.openxmlformats.org/drawingml/2006/main">
              <a:ext uri="{FF2B5EF4-FFF2-40B4-BE49-F238E27FC236}">
                <a16:creationId xmlns:a16="http://schemas.microsoft.com/office/drawing/2014/main" id="{61670B5E-33BE-47E0-8EED-1AD4C883B175}"/>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13">
            <a:extLst xmlns:a="http://schemas.openxmlformats.org/drawingml/2006/main">
              <a:ext uri="{FF2B5EF4-FFF2-40B4-BE49-F238E27FC236}">
                <a16:creationId xmlns:a16="http://schemas.microsoft.com/office/drawing/2014/main" id="{CE4D29C8-6310-434F-8BA1-6582C5BD69F9}"/>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Right replaces the old action unless it was already selected; stability is checked across all states.</a:t>
            </a:r>
          </a:p>
        </p:txBody>
      </p:sp>
    </p:spTree>
    <p:extLst>
      <p:ext uri="{BB962C8B-B14F-4D97-AF65-F5344CB8AC3E}">
        <p14:creationId xmlns:p14="http://schemas.microsoft.com/office/powerpoint/2010/main" val="201631631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14">
            <a:extLst xmlns:a="http://schemas.openxmlformats.org/drawingml/2006/main">
              <a:ext uri="{FF2B5EF4-FFF2-40B4-BE49-F238E27FC236}">
                <a16:creationId xmlns:a16="http://schemas.microsoft.com/office/drawing/2014/main" id="{FF2E4279-9EF7-4F8D-BBCA-2D4C66415732}"/>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Value and policy iteration trade sweep cost for count</a:t>
            </a:r>
          </a:p>
        </p:txBody>
      </p:sp>
      <p:sp>
        <p:nvSpPr>
          <p:cNvPr id="2" name="title-accent-14">
            <a:extLst xmlns:a="http://schemas.openxmlformats.org/drawingml/2006/main">
              <a:ext uri="{FF2B5EF4-FFF2-40B4-BE49-F238E27FC236}">
                <a16:creationId xmlns:a16="http://schemas.microsoft.com/office/drawing/2014/main" id="{C99B5428-AF3F-4A11-8DDD-EC110C8AAD2E}"/>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1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4">
            <a:extLst xmlns:a="http://schemas.openxmlformats.org/drawingml/2006/main">
              <a:ext uri="{FF2B5EF4-FFF2-40B4-BE49-F238E27FC236}">
                <a16:creationId xmlns:a16="http://schemas.microsoft.com/office/drawing/2014/main" id="{08572DE8-B79F-4D51-822F-3E7569F65F95}"/>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14">
            <a:extLst xmlns:a="http://schemas.openxmlformats.org/drawingml/2006/main">
              <a:ext uri="{FF2B5EF4-FFF2-40B4-BE49-F238E27FC236}">
                <a16:creationId xmlns:a16="http://schemas.microsoft.com/office/drawing/2014/main" id="{6596A655-6422-4735-AF76-E23AE0BCE214}"/>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14</a:t>
            </a:r>
          </a:p>
        </p:txBody>
      </p:sp>
      <p:sp>
        <p:nvSpPr>
          <p:cNvPr id="6" name="comparison-title-14-1">
            <a:extLst xmlns:a="http://schemas.openxmlformats.org/drawingml/2006/main">
              <a:ext uri="{FF2B5EF4-FFF2-40B4-BE49-F238E27FC236}">
                <a16:creationId xmlns:a16="http://schemas.microsoft.com/office/drawing/2014/main" id="{646D5A86-AE8F-4EA5-BF59-E04E2A200942}"/>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Value iteration</a:t>
            </a:r>
          </a:p>
        </p:txBody>
      </p:sp>
      <p:sp>
        <p:nvSpPr>
          <p:cNvPr id="7" name="comparison-tagline-14-1">
            <a:extLst xmlns:a="http://schemas.openxmlformats.org/drawingml/2006/main">
              <a:ext uri="{FF2B5EF4-FFF2-40B4-BE49-F238E27FC236}">
                <a16:creationId xmlns:a16="http://schemas.microsoft.com/office/drawing/2014/main" id="{05A36414-C9AB-4E8B-B898-C0C2CA3C8577}"/>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Cheap mixed sweeps</a:t>
            </a:r>
          </a:p>
        </p:txBody>
      </p:sp>
      <p:sp>
        <p:nvSpPr>
          <p:cNvPr id="8" name="comparison-bullet-14-1-marker-1">
            <a:extLst xmlns:a="http://schemas.openxmlformats.org/drawingml/2006/main">
              <a:ext uri="{FF2B5EF4-FFF2-40B4-BE49-F238E27FC236}">
                <a16:creationId xmlns:a16="http://schemas.microsoft.com/office/drawing/2014/main" id="{22D2D2A0-149A-4F0A-8216-420E0001A44A}"/>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14-1-text-1">
            <a:extLst xmlns:a="http://schemas.openxmlformats.org/drawingml/2006/main">
              <a:ext uri="{FF2B5EF4-FFF2-40B4-BE49-F238E27FC236}">
                <a16:creationId xmlns:a16="http://schemas.microsoft.com/office/drawing/2014/main" id="{C8A16C56-9C2B-4B87-835F-BC974342D323}"/>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One optimality sweep per iteration.</a:t>
            </a:r>
          </a:p>
        </p:txBody>
      </p:sp>
      <p:sp>
        <p:nvSpPr>
          <p:cNvPr id="10" name="comparison-bullet-14-1-marker-2">
            <a:extLst xmlns:a="http://schemas.openxmlformats.org/drawingml/2006/main">
              <a:ext uri="{FF2B5EF4-FFF2-40B4-BE49-F238E27FC236}">
                <a16:creationId xmlns:a16="http://schemas.microsoft.com/office/drawing/2014/main" id="{CB7D7C6F-C2E3-43DE-876A-49D92B23DA63}"/>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14-1-text-2">
            <a:extLst xmlns:a="http://schemas.openxmlformats.org/drawingml/2006/main">
              <a:ext uri="{FF2B5EF4-FFF2-40B4-BE49-F238E27FC236}">
                <a16:creationId xmlns:a16="http://schemas.microsoft.com/office/drawing/2014/main" id="{1177313F-918D-4EA3-8712-D0787F4A21FE}"/>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Many simple iterations.</a:t>
            </a:r>
          </a:p>
        </p:txBody>
      </p:sp>
      <p:sp>
        <p:nvSpPr>
          <p:cNvPr id="12" name="comparison-bullet-14-1-marker-3">
            <a:extLst xmlns:a="http://schemas.openxmlformats.org/drawingml/2006/main">
              <a:ext uri="{FF2B5EF4-FFF2-40B4-BE49-F238E27FC236}">
                <a16:creationId xmlns:a16="http://schemas.microsoft.com/office/drawing/2014/main" id="{7017D55C-F3B5-43EA-890E-D8B867F2E444}"/>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14-1-text-3">
            <a:extLst xmlns:a="http://schemas.openxmlformats.org/drawingml/2006/main">
              <a:ext uri="{FF2B5EF4-FFF2-40B4-BE49-F238E27FC236}">
                <a16:creationId xmlns:a16="http://schemas.microsoft.com/office/drawing/2014/main" id="{59A5875B-FE61-46F2-9C03-EDD2217FF217}"/>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Easy vectorization.</a:t>
            </a:r>
          </a:p>
        </p:txBody>
      </p:sp>
      <p:sp>
        <p:nvSpPr>
          <p:cNvPr id="14" name="comparison-bullet-14-1-marker-4">
            <a:extLst xmlns:a="http://schemas.openxmlformats.org/drawingml/2006/main">
              <a:ext uri="{FF2B5EF4-FFF2-40B4-BE49-F238E27FC236}">
                <a16:creationId xmlns:a16="http://schemas.microsoft.com/office/drawing/2014/main" id="{FCCED86E-62DF-4011-9614-B8FD1D9C62D6}"/>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14-1-text-4">
            <a:extLst xmlns:a="http://schemas.openxmlformats.org/drawingml/2006/main">
              <a:ext uri="{FF2B5EF4-FFF2-40B4-BE49-F238E27FC236}">
                <a16:creationId xmlns:a16="http://schemas.microsoft.com/office/drawing/2014/main" id="{A25E1CCF-01ED-4B00-8D75-716CAFF9BC65}"/>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Policy extracted at end.</a:t>
            </a:r>
          </a:p>
        </p:txBody>
      </p:sp>
      <p:cxnSp>
        <p:nvCxnSpPr>
          <p:cNvPr id="53" name="comparison-divider-14-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14-2">
            <a:extLst xmlns:a="http://schemas.openxmlformats.org/drawingml/2006/main">
              <a:ext uri="{FF2B5EF4-FFF2-40B4-BE49-F238E27FC236}">
                <a16:creationId xmlns:a16="http://schemas.microsoft.com/office/drawing/2014/main" id="{33D9C189-CB53-4BBB-A953-6064BF14C963}"/>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Policy iteration</a:t>
            </a:r>
          </a:p>
        </p:txBody>
      </p:sp>
      <p:sp>
        <p:nvSpPr>
          <p:cNvPr id="18" name="comparison-tagline-14-2">
            <a:extLst xmlns:a="http://schemas.openxmlformats.org/drawingml/2006/main">
              <a:ext uri="{FF2B5EF4-FFF2-40B4-BE49-F238E27FC236}">
                <a16:creationId xmlns:a16="http://schemas.microsoft.com/office/drawing/2014/main" id="{03BB26F7-6CE6-4257-9371-58BC3F4A6FEA}"/>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Evaluate then improve</a:t>
            </a:r>
          </a:p>
        </p:txBody>
      </p:sp>
      <p:sp>
        <p:nvSpPr>
          <p:cNvPr id="19" name="comparison-bullet-14-2-marker-1">
            <a:extLst xmlns:a="http://schemas.openxmlformats.org/drawingml/2006/main">
              <a:ext uri="{FF2B5EF4-FFF2-40B4-BE49-F238E27FC236}">
                <a16:creationId xmlns:a16="http://schemas.microsoft.com/office/drawing/2014/main" id="{0494A9B1-06BD-4874-BE7E-39EC97612B68}"/>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0" name="comparison-bullet-14-2-text-1">
            <a:extLst xmlns:a="http://schemas.openxmlformats.org/drawingml/2006/main">
              <a:ext uri="{FF2B5EF4-FFF2-40B4-BE49-F238E27FC236}">
                <a16:creationId xmlns:a16="http://schemas.microsoft.com/office/drawing/2014/main" id="{984ECF4E-E1C9-4C98-B9D8-7248B2319D43}"/>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Fewer outer iterations.</a:t>
            </a:r>
          </a:p>
        </p:txBody>
      </p:sp>
      <p:sp>
        <p:nvSpPr>
          <p:cNvPr id="21" name="comparison-bullet-14-2-marker-2">
            <a:extLst xmlns:a="http://schemas.openxmlformats.org/drawingml/2006/main">
              <a:ext uri="{FF2B5EF4-FFF2-40B4-BE49-F238E27FC236}">
                <a16:creationId xmlns:a16="http://schemas.microsoft.com/office/drawing/2014/main" id="{B50345F8-FA93-43AB-82DA-C7A02B7619A3}"/>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2" name="comparison-bullet-14-2-text-2">
            <a:extLst xmlns:a="http://schemas.openxmlformats.org/drawingml/2006/main">
              <a:ext uri="{FF2B5EF4-FFF2-40B4-BE49-F238E27FC236}">
                <a16:creationId xmlns:a16="http://schemas.microsoft.com/office/drawing/2014/main" id="{2F97D1C9-0785-44AB-85B4-9771043499B3}"/>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Evaluation can be expensive.</a:t>
            </a:r>
          </a:p>
        </p:txBody>
      </p:sp>
      <p:sp>
        <p:nvSpPr>
          <p:cNvPr id="23" name="comparison-bullet-14-2-marker-3">
            <a:extLst xmlns:a="http://schemas.openxmlformats.org/drawingml/2006/main">
              <a:ext uri="{FF2B5EF4-FFF2-40B4-BE49-F238E27FC236}">
                <a16:creationId xmlns:a16="http://schemas.microsoft.com/office/drawing/2014/main" id="{50D54272-558C-4BCD-BCC3-EB2368E05945}"/>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4" name="comparison-bullet-14-2-text-3">
            <a:extLst xmlns:a="http://schemas.openxmlformats.org/drawingml/2006/main">
              <a:ext uri="{FF2B5EF4-FFF2-40B4-BE49-F238E27FC236}">
                <a16:creationId xmlns:a16="http://schemas.microsoft.com/office/drawing/2014/main" id="{255DC313-0B9F-44C8-BF8A-84B7C8354AB7}"/>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Policy is explicit throughout.</a:t>
            </a:r>
          </a:p>
        </p:txBody>
      </p:sp>
      <p:sp>
        <p:nvSpPr>
          <p:cNvPr id="25" name="comparison-bullet-14-2-marker-4">
            <a:extLst xmlns:a="http://schemas.openxmlformats.org/drawingml/2006/main">
              <a:ext uri="{FF2B5EF4-FFF2-40B4-BE49-F238E27FC236}">
                <a16:creationId xmlns:a16="http://schemas.microsoft.com/office/drawing/2014/main" id="{6742594B-B62B-40A4-99B3-078E3CC7A5CB}"/>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6" name="comparison-bullet-14-2-text-4">
            <a:extLst xmlns:a="http://schemas.openxmlformats.org/drawingml/2006/main">
              <a:ext uri="{FF2B5EF4-FFF2-40B4-BE49-F238E27FC236}">
                <a16:creationId xmlns:a16="http://schemas.microsoft.com/office/drawing/2014/main" id="{CC2DCD3A-C5C0-4EFC-B599-1DDC9E4479B2}"/>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Exact or approximate evaluation.</a:t>
            </a:r>
          </a:p>
        </p:txBody>
      </p:sp>
      <p:cxnSp>
        <p:nvCxnSpPr>
          <p:cNvPr id="64" name="comparison-divider-14-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14-3">
            <a:extLst xmlns:a="http://schemas.openxmlformats.org/drawingml/2006/main">
              <a:ext uri="{FF2B5EF4-FFF2-40B4-BE49-F238E27FC236}">
                <a16:creationId xmlns:a16="http://schemas.microsoft.com/office/drawing/2014/main" id="{AD53DDA1-4077-403C-927A-5EE1017EB20F}"/>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Modified PI</a:t>
            </a:r>
          </a:p>
        </p:txBody>
      </p:sp>
      <p:sp>
        <p:nvSpPr>
          <p:cNvPr id="29" name="comparison-tagline-14-3">
            <a:extLst xmlns:a="http://schemas.openxmlformats.org/drawingml/2006/main">
              <a:ext uri="{FF2B5EF4-FFF2-40B4-BE49-F238E27FC236}">
                <a16:creationId xmlns:a16="http://schemas.microsoft.com/office/drawing/2014/main" id="{C9BD56E7-B5F9-40B4-A02D-C8DD597BF855}"/>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Intermediate option</a:t>
            </a:r>
          </a:p>
        </p:txBody>
      </p:sp>
      <p:sp>
        <p:nvSpPr>
          <p:cNvPr id="30" name="comparison-bullet-14-3-marker-1">
            <a:extLst xmlns:a="http://schemas.openxmlformats.org/drawingml/2006/main">
              <a:ext uri="{FF2B5EF4-FFF2-40B4-BE49-F238E27FC236}">
                <a16:creationId xmlns:a16="http://schemas.microsoft.com/office/drawing/2014/main" id="{A49D939B-B590-4EDF-A4F6-2E7F74E0174A}"/>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comparison-bullet-14-3-text-1">
            <a:extLst xmlns:a="http://schemas.openxmlformats.org/drawingml/2006/main">
              <a:ext uri="{FF2B5EF4-FFF2-40B4-BE49-F238E27FC236}">
                <a16:creationId xmlns:a16="http://schemas.microsoft.com/office/drawing/2014/main" id="{454D9C54-1D60-49C6-B7D7-AEA4F4664729}"/>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Partial evaluation.</a:t>
            </a:r>
          </a:p>
        </p:txBody>
      </p:sp>
      <p:sp>
        <p:nvSpPr>
          <p:cNvPr id="32" name="comparison-bullet-14-3-marker-2">
            <a:extLst xmlns:a="http://schemas.openxmlformats.org/drawingml/2006/main">
              <a:ext uri="{FF2B5EF4-FFF2-40B4-BE49-F238E27FC236}">
                <a16:creationId xmlns:a16="http://schemas.microsoft.com/office/drawing/2014/main" id="{49E4134A-6D2D-4765-BA20-585EE31593A2}"/>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3" name="comparison-bullet-14-3-text-2">
            <a:extLst xmlns:a="http://schemas.openxmlformats.org/drawingml/2006/main">
              <a:ext uri="{FF2B5EF4-FFF2-40B4-BE49-F238E27FC236}">
                <a16:creationId xmlns:a16="http://schemas.microsoft.com/office/drawing/2014/main" id="{C8701CEC-7DD2-498B-9FBB-491BE5C6096A}"/>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Regular improvement.</a:t>
            </a:r>
          </a:p>
        </p:txBody>
      </p:sp>
      <p:sp>
        <p:nvSpPr>
          <p:cNvPr id="34" name="comparison-bullet-14-3-marker-3">
            <a:extLst xmlns:a="http://schemas.openxmlformats.org/drawingml/2006/main">
              <a:ext uri="{FF2B5EF4-FFF2-40B4-BE49-F238E27FC236}">
                <a16:creationId xmlns:a16="http://schemas.microsoft.com/office/drawing/2014/main" id="{4DE74F9D-2F27-4BA1-82D7-DDD27795DBAE}"/>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5" name="comparison-bullet-14-3-text-3">
            <a:extLst xmlns:a="http://schemas.openxmlformats.org/drawingml/2006/main">
              <a:ext uri="{FF2B5EF4-FFF2-40B4-BE49-F238E27FC236}">
                <a16:creationId xmlns:a16="http://schemas.microsoft.com/office/drawing/2014/main" id="{BB9AAD60-B959-48F0-9FEC-4EDBF7658A44}"/>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Balances costs.</a:t>
            </a:r>
          </a:p>
        </p:txBody>
      </p:sp>
      <p:sp>
        <p:nvSpPr>
          <p:cNvPr id="36" name="comparison-bullet-14-3-marker-4">
            <a:extLst xmlns:a="http://schemas.openxmlformats.org/drawingml/2006/main">
              <a:ext uri="{FF2B5EF4-FFF2-40B4-BE49-F238E27FC236}">
                <a16:creationId xmlns:a16="http://schemas.microsoft.com/office/drawing/2014/main" id="{CB9D677D-D03D-4C4A-987B-305C5FA8D4E4}"/>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7" name="comparison-bullet-14-3-text-4">
            <a:extLst xmlns:a="http://schemas.openxmlformats.org/drawingml/2006/main">
              <a:ext uri="{FF2B5EF4-FFF2-40B4-BE49-F238E27FC236}">
                <a16:creationId xmlns:a16="http://schemas.microsoft.com/office/drawing/2014/main" id="{598ED2BD-88B1-4D84-BBC3-E16D0C8271F2}"/>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Needs clear stopping rules.</a:t>
            </a:r>
          </a:p>
        </p:txBody>
      </p:sp>
    </p:spTree>
    <p:extLst>
      <p:ext uri="{BB962C8B-B14F-4D97-AF65-F5344CB8AC3E}">
        <p14:creationId xmlns:p14="http://schemas.microsoft.com/office/powerpoint/2010/main" val="2709469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5">
            <a:extLst xmlns:a="http://schemas.openxmlformats.org/drawingml/2006/main">
              <a:ext uri="{FF2B5EF4-FFF2-40B4-BE49-F238E27FC236}">
                <a16:creationId xmlns:a16="http://schemas.microsoft.com/office/drawing/2014/main" id="{0AEB0D0C-F86F-40D5-A673-0D3CC215A75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diagnose a terminal-state bug</a:t>
            </a:r>
          </a:p>
        </p:txBody>
      </p:sp>
      <p:sp>
        <p:nvSpPr>
          <p:cNvPr id="2" name="title-accent-15">
            <a:extLst xmlns:a="http://schemas.openxmlformats.org/drawingml/2006/main">
              <a:ext uri="{FF2B5EF4-FFF2-40B4-BE49-F238E27FC236}">
                <a16:creationId xmlns:a16="http://schemas.microsoft.com/office/drawing/2014/main" id="{43B2D408-84F5-43B7-AD35-2FAB840CB52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5">
            <a:extLst xmlns:a="http://schemas.openxmlformats.org/drawingml/2006/main">
              <a:ext uri="{FF2B5EF4-FFF2-40B4-BE49-F238E27FC236}">
                <a16:creationId xmlns:a16="http://schemas.microsoft.com/office/drawing/2014/main" id="{C1C5BBF5-E1C1-4A07-BEF9-1A8F0C734C0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15">
            <a:extLst xmlns:a="http://schemas.openxmlformats.org/drawingml/2006/main">
              <a:ext uri="{FF2B5EF4-FFF2-40B4-BE49-F238E27FC236}">
                <a16:creationId xmlns:a16="http://schemas.microsoft.com/office/drawing/2014/main" id="{3D2665A6-A0B7-4625-B25F-2DA8517EBBD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15</a:t>
            </a:r>
          </a:p>
        </p:txBody>
      </p:sp>
      <p:sp>
        <p:nvSpPr>
          <p:cNvPr id="6" name="checkpoint-label-15">
            <a:extLst xmlns:a="http://schemas.openxmlformats.org/drawingml/2006/main">
              <a:ext uri="{FF2B5EF4-FFF2-40B4-BE49-F238E27FC236}">
                <a16:creationId xmlns:a16="http://schemas.microsoft.com/office/drawing/2014/main" id="{9EE5B431-1A3B-49DF-AA15-79EE02210E2C}"/>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5">
            <a:extLst xmlns:a="http://schemas.openxmlformats.org/drawingml/2006/main">
              <a:ext uri="{FF2B5EF4-FFF2-40B4-BE49-F238E27FC236}">
                <a16:creationId xmlns:a16="http://schemas.microsoft.com/office/drawing/2014/main" id="{0621026F-879F-4F8F-80F0-67013DE49863}"/>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solver applies gamma V(terminal) after entering a terminal state and repeatedly collects its reward. What is wrong?</a:t>
            </a:r>
          </a:p>
        </p:txBody>
      </p:sp>
      <p:cxnSp>
        <p:nvCxnSpPr>
          <p:cNvPr id="22" name="checkpoint-rule-15"/>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5-1">
            <a:extLst xmlns:a="http://schemas.openxmlformats.org/drawingml/2006/main">
              <a:ext uri="{FF2B5EF4-FFF2-40B4-BE49-F238E27FC236}">
                <a16:creationId xmlns:a16="http://schemas.microsoft.com/office/drawing/2014/main" id="{A2123E50-3550-46CD-BDA8-BE7ED5E69C8E}"/>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5-1">
            <a:extLst xmlns:a="http://schemas.openxmlformats.org/drawingml/2006/main">
              <a:ext uri="{FF2B5EF4-FFF2-40B4-BE49-F238E27FC236}">
                <a16:creationId xmlns:a16="http://schemas.microsoft.com/office/drawing/2014/main" id="{FE57151C-8E4E-4AFC-9044-39CFBD76ED9E}"/>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State the intended terminal semantics.</a:t>
            </a:r>
          </a:p>
        </p:txBody>
      </p:sp>
      <p:sp>
        <p:nvSpPr>
          <p:cNvPr id="11" name="checkpoint-prompt-number-15-2">
            <a:extLst xmlns:a="http://schemas.openxmlformats.org/drawingml/2006/main">
              <a:ext uri="{FF2B5EF4-FFF2-40B4-BE49-F238E27FC236}">
                <a16:creationId xmlns:a16="http://schemas.microsoft.com/office/drawing/2014/main" id="{1D8F9C86-B126-448E-A6F6-7A3C0108E055}"/>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5-2">
            <a:extLst xmlns:a="http://schemas.openxmlformats.org/drawingml/2006/main">
              <a:ext uri="{FF2B5EF4-FFF2-40B4-BE49-F238E27FC236}">
                <a16:creationId xmlns:a16="http://schemas.microsoft.com/office/drawing/2014/main" id="{AC03F9BB-A00F-4F66-92EA-468D94390E38}"/>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Identify double counting.</a:t>
            </a:r>
          </a:p>
        </p:txBody>
      </p:sp>
      <p:sp>
        <p:nvSpPr>
          <p:cNvPr id="13" name="checkpoint-prompt-number-15-3">
            <a:extLst xmlns:a="http://schemas.openxmlformats.org/drawingml/2006/main">
              <a:ext uri="{FF2B5EF4-FFF2-40B4-BE49-F238E27FC236}">
                <a16:creationId xmlns:a16="http://schemas.microsoft.com/office/drawing/2014/main" id="{5BC021EE-617F-4560-97E6-6E86B1C938B8}"/>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5-3">
            <a:extLst xmlns:a="http://schemas.openxmlformats.org/drawingml/2006/main">
              <a:ext uri="{FF2B5EF4-FFF2-40B4-BE49-F238E27FC236}">
                <a16:creationId xmlns:a16="http://schemas.microsoft.com/office/drawing/2014/main" id="{63470A90-B8C6-4AA1-B9D5-B8DC6AC9E8C4}"/>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Describe the code-level fix.</a:t>
            </a:r>
          </a:p>
        </p:txBody>
      </p:sp>
    </p:spTree>
    <p:extLst>
      <p:ext uri="{BB962C8B-B14F-4D97-AF65-F5344CB8AC3E}">
        <p14:creationId xmlns:p14="http://schemas.microsoft.com/office/powerpoint/2010/main" val="125747821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6">
            <a:extLst xmlns:a="http://schemas.openxmlformats.org/drawingml/2006/main">
              <a:ext uri="{FF2B5EF4-FFF2-40B4-BE49-F238E27FC236}">
                <a16:creationId xmlns:a16="http://schemas.microsoft.com/office/drawing/2014/main" id="{6856672D-1679-4AD9-AA35-0DA780A940F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Numerical convergence needs observable evidence</a:t>
            </a:r>
          </a:p>
        </p:txBody>
      </p:sp>
      <p:sp>
        <p:nvSpPr>
          <p:cNvPr id="2" name="title-accent-16">
            <a:extLst xmlns:a="http://schemas.openxmlformats.org/drawingml/2006/main">
              <a:ext uri="{FF2B5EF4-FFF2-40B4-BE49-F238E27FC236}">
                <a16:creationId xmlns:a16="http://schemas.microsoft.com/office/drawing/2014/main" id="{9001DDC2-63AE-4E02-BA27-08FC2DDD904E}"/>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6">
            <a:extLst xmlns:a="http://schemas.openxmlformats.org/drawingml/2006/main">
              <a:ext uri="{FF2B5EF4-FFF2-40B4-BE49-F238E27FC236}">
                <a16:creationId xmlns:a16="http://schemas.microsoft.com/office/drawing/2014/main" id="{4A7A1B89-DDF7-4EAC-9E01-3D9FDCAF37CD}"/>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16">
            <a:extLst xmlns:a="http://schemas.openxmlformats.org/drawingml/2006/main">
              <a:ext uri="{FF2B5EF4-FFF2-40B4-BE49-F238E27FC236}">
                <a16:creationId xmlns:a16="http://schemas.microsoft.com/office/drawing/2014/main" id="{BE8A6235-E486-4091-AD70-1431345EFBDB}"/>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16</a:t>
            </a:r>
          </a:p>
        </p:txBody>
      </p:sp>
      <p:sp>
        <p:nvSpPr>
          <p:cNvPr id="6" name="claim-16">
            <a:extLst xmlns:a="http://schemas.openxmlformats.org/drawingml/2006/main">
              <a:ext uri="{FF2B5EF4-FFF2-40B4-BE49-F238E27FC236}">
                <a16:creationId xmlns:a16="http://schemas.microsoft.com/office/drawing/2014/main" id="{73C8B46B-6237-498A-991C-BF2E0C172416}"/>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Report residual, iteration count, policy stability, and validation against hand-solvable MDPs.</a:t>
            </a:r>
          </a:p>
        </p:txBody>
      </p:sp>
      <p:sp>
        <p:nvSpPr>
          <p:cNvPr id="7" name="claim-panel-16">
            <a:extLst xmlns:a="http://schemas.openxmlformats.org/drawingml/2006/main">
              <a:ext uri="{FF2B5EF4-FFF2-40B4-BE49-F238E27FC236}">
                <a16:creationId xmlns:a16="http://schemas.microsoft.com/office/drawing/2014/main" id="{0FFE01F9-2223-4589-8AC6-29E0A0125A74}"/>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16">
            <a:extLst xmlns:a="http://schemas.openxmlformats.org/drawingml/2006/main">
              <a:ext uri="{FF2B5EF4-FFF2-40B4-BE49-F238E27FC236}">
                <a16:creationId xmlns:a16="http://schemas.microsoft.com/office/drawing/2014/main" id="{FC2DA5AE-255A-4F6A-B324-1328AC490FAE}"/>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Convergence</a:t>
            </a:r>
          </a:p>
        </p:txBody>
      </p:sp>
      <p:sp>
        <p:nvSpPr>
          <p:cNvPr id="9" name="claim-keyword-detail-16">
            <a:extLst xmlns:a="http://schemas.openxmlformats.org/drawingml/2006/main">
              <a:ext uri="{FF2B5EF4-FFF2-40B4-BE49-F238E27FC236}">
                <a16:creationId xmlns:a16="http://schemas.microsoft.com/office/drawing/2014/main" id="{67419FB5-314C-4FE2-B133-EA99C3FCB31F}"/>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A loop ending is not evidence that the intended fixed point was reached.</a:t>
            </a:r>
          </a:p>
        </p:txBody>
      </p:sp>
      <p:sp>
        <p:nvSpPr>
          <p:cNvPr id="10" name="claim-detail-16-marker-1">
            <a:extLst xmlns:a="http://schemas.openxmlformats.org/drawingml/2006/main">
              <a:ext uri="{FF2B5EF4-FFF2-40B4-BE49-F238E27FC236}">
                <a16:creationId xmlns:a16="http://schemas.microsoft.com/office/drawing/2014/main" id="{A1EFF5CA-F0DB-4637-A426-C080CAB1CF80}"/>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16-text-1">
            <a:extLst xmlns:a="http://schemas.openxmlformats.org/drawingml/2006/main">
              <a:ext uri="{FF2B5EF4-FFF2-40B4-BE49-F238E27FC236}">
                <a16:creationId xmlns:a16="http://schemas.microsoft.com/office/drawing/2014/main" id="{01A0AE0F-AD53-45E9-9E1C-F1CC30CDF1C8}"/>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Use max-norm residual and a maximum-iteration guard.</a:t>
            </a:r>
          </a:p>
        </p:txBody>
      </p:sp>
      <p:sp>
        <p:nvSpPr>
          <p:cNvPr id="12" name="claim-detail-16-marker-2">
            <a:extLst xmlns:a="http://schemas.openxmlformats.org/drawingml/2006/main">
              <a:ext uri="{FF2B5EF4-FFF2-40B4-BE49-F238E27FC236}">
                <a16:creationId xmlns:a16="http://schemas.microsoft.com/office/drawing/2014/main" id="{74B081D9-1C09-4F6C-86B1-D310B1FE2715}"/>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16-text-2">
            <a:extLst xmlns:a="http://schemas.openxmlformats.org/drawingml/2006/main">
              <a:ext uri="{FF2B5EF4-FFF2-40B4-BE49-F238E27FC236}">
                <a16:creationId xmlns:a16="http://schemas.microsoft.com/office/drawing/2014/main" id="{7489A944-26C7-4031-825E-B3DF476BB673}"/>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Compare VI and PI policies on the same model.</a:t>
            </a:r>
          </a:p>
        </p:txBody>
      </p:sp>
      <p:sp>
        <p:nvSpPr>
          <p:cNvPr id="14" name="claim-detail-16-marker-3">
            <a:extLst xmlns:a="http://schemas.openxmlformats.org/drawingml/2006/main">
              <a:ext uri="{FF2B5EF4-FFF2-40B4-BE49-F238E27FC236}">
                <a16:creationId xmlns:a16="http://schemas.microsoft.com/office/drawing/2014/main" id="{2138609B-7F93-498E-B26B-E13027E75570}"/>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16-text-3">
            <a:extLst xmlns:a="http://schemas.openxmlformats.org/drawingml/2006/main">
              <a:ext uri="{FF2B5EF4-FFF2-40B4-BE49-F238E27FC236}">
                <a16:creationId xmlns:a16="http://schemas.microsoft.com/office/drawing/2014/main" id="{9CA1D7F9-4C11-4028-BB08-A785B9A0610B}"/>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Test gamma=0, gamma near 1, terminal-only, and unreachable states.</a:t>
            </a:r>
          </a:p>
        </p:txBody>
      </p:sp>
    </p:spTree>
    <p:extLst>
      <p:ext uri="{BB962C8B-B14F-4D97-AF65-F5344CB8AC3E}">
        <p14:creationId xmlns:p14="http://schemas.microsoft.com/office/powerpoint/2010/main" val="11510717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7">
            <a:extLst xmlns:a="http://schemas.openxmlformats.org/drawingml/2006/main">
              <a:ext uri="{FF2B5EF4-FFF2-40B4-BE49-F238E27FC236}">
                <a16:creationId xmlns:a16="http://schemas.microsoft.com/office/drawing/2014/main" id="{48F46291-AAB9-4D85-90B7-3BCCFB5FA7C8}"/>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takeaways</a:t>
            </a:r>
          </a:p>
        </p:txBody>
      </p:sp>
      <p:sp>
        <p:nvSpPr>
          <p:cNvPr id="2" name="title-accent-17">
            <a:extLst xmlns:a="http://schemas.openxmlformats.org/drawingml/2006/main">
              <a:ext uri="{FF2B5EF4-FFF2-40B4-BE49-F238E27FC236}">
                <a16:creationId xmlns:a16="http://schemas.microsoft.com/office/drawing/2014/main" id="{7CD8CAA0-ECE1-4F1A-A456-CD5C16DC1C6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7">
            <a:extLst xmlns:a="http://schemas.openxmlformats.org/drawingml/2006/main">
              <a:ext uri="{FF2B5EF4-FFF2-40B4-BE49-F238E27FC236}">
                <a16:creationId xmlns:a16="http://schemas.microsoft.com/office/drawing/2014/main" id="{8DBA4962-3187-4719-AC62-D9697359FE6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17">
            <a:extLst xmlns:a="http://schemas.openxmlformats.org/drawingml/2006/main">
              <a:ext uri="{FF2B5EF4-FFF2-40B4-BE49-F238E27FC236}">
                <a16:creationId xmlns:a16="http://schemas.microsoft.com/office/drawing/2014/main" id="{9401A1C1-AA0A-42F9-8748-841396D2558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17</a:t>
            </a:r>
          </a:p>
        </p:txBody>
      </p:sp>
      <p:sp>
        <p:nvSpPr>
          <p:cNvPr id="6" name="summary-number-17-1">
            <a:extLst xmlns:a="http://schemas.openxmlformats.org/drawingml/2006/main">
              <a:ext uri="{FF2B5EF4-FFF2-40B4-BE49-F238E27FC236}">
                <a16:creationId xmlns:a16="http://schemas.microsoft.com/office/drawing/2014/main" id="{68D8044A-83D6-4E48-BF3A-48F88D97C55F}"/>
              </a:ext>
            </a:extLst>
          </p:cNvPr>
          <p:cNvSpPr>
            <a:spLocks xmlns:a="http://schemas.openxmlformats.org/drawingml/2006/main" noGrp="1"/>
          </p:cNvSpPr>
          <p:nvPr/>
        </p:nvSpPr>
        <p:spPr>
          <a:xfrm xmlns:a="http://schemas.openxmlformats.org/drawingml/2006/main">
            <a:off x="400050" y="16192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cxnSp>
        <p:nvCxnSpPr>
          <p:cNvPr id="25" name="summary-rule-17-1"/>
          <p:cNvCxnSpPr/>
          <p:nvPr/>
        </p:nvCxnSpPr>
        <p:spPr>
          <a:xfrm xmlns:a="http://schemas.openxmlformats.org/drawingml/2006/main">
            <a:off x="1123950" y="19240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summary-text-17-1">
            <a:extLst xmlns:a="http://schemas.openxmlformats.org/drawingml/2006/main">
              <a:ext uri="{FF2B5EF4-FFF2-40B4-BE49-F238E27FC236}">
                <a16:creationId xmlns:a16="http://schemas.microsoft.com/office/drawing/2014/main" id="{7D1BA70F-2E23-47A9-BBF5-14A165BE4A0D}"/>
              </a:ext>
            </a:extLst>
          </p:cNvPr>
          <p:cNvSpPr>
            <a:spLocks xmlns:a="http://schemas.openxmlformats.org/drawingml/2006/main" noGrp="1"/>
          </p:cNvSpPr>
          <p:nvPr/>
        </p:nvSpPr>
        <p:spPr>
          <a:xfrm xmlns:a="http://schemas.openxmlformats.org/drawingml/2006/main">
            <a:off x="2324100" y="16192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Bellman optimality maximizes rather than averages policy actions.</a:t>
            </a:r>
          </a:p>
        </p:txBody>
      </p:sp>
      <p:sp>
        <p:nvSpPr>
          <p:cNvPr id="9" name="summary-number-17-2">
            <a:extLst xmlns:a="http://schemas.openxmlformats.org/drawingml/2006/main">
              <a:ext uri="{FF2B5EF4-FFF2-40B4-BE49-F238E27FC236}">
                <a16:creationId xmlns:a16="http://schemas.microsoft.com/office/drawing/2014/main" id="{D6563AAA-0A11-41A6-960E-8A1C81367299}"/>
              </a:ext>
            </a:extLst>
          </p:cNvPr>
          <p:cNvSpPr>
            <a:spLocks xmlns:a="http://schemas.openxmlformats.org/drawingml/2006/main" noGrp="1"/>
          </p:cNvSpPr>
          <p:nvPr/>
        </p:nvSpPr>
        <p:spPr>
          <a:xfrm xmlns:a="http://schemas.openxmlformats.org/drawingml/2006/main">
            <a:off x="400050" y="26098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cxnSp>
        <p:nvCxnSpPr>
          <p:cNvPr id="28" name="summary-rule-17-2"/>
          <p:cNvCxnSpPr/>
          <p:nvPr/>
        </p:nvCxnSpPr>
        <p:spPr>
          <a:xfrm xmlns:a="http://schemas.openxmlformats.org/drawingml/2006/main">
            <a:off x="1123950" y="29146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summary-text-17-2">
            <a:extLst xmlns:a="http://schemas.openxmlformats.org/drawingml/2006/main">
              <a:ext uri="{FF2B5EF4-FFF2-40B4-BE49-F238E27FC236}">
                <a16:creationId xmlns:a16="http://schemas.microsoft.com/office/drawing/2014/main" id="{2B4BD9BD-8D9D-41B5-B322-DBE663C566C6}"/>
              </a:ext>
            </a:extLst>
          </p:cNvPr>
          <p:cNvSpPr>
            <a:spLocks xmlns:a="http://schemas.openxmlformats.org/drawingml/2006/main" noGrp="1"/>
          </p:cNvSpPr>
          <p:nvPr/>
        </p:nvSpPr>
        <p:spPr>
          <a:xfrm xmlns:a="http://schemas.openxmlformats.org/drawingml/2006/main">
            <a:off x="2324100" y="26098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Value iteration converges because T* is a gamma-contraction.</a:t>
            </a:r>
          </a:p>
        </p:txBody>
      </p:sp>
      <p:sp>
        <p:nvSpPr>
          <p:cNvPr id="12" name="summary-number-17-3">
            <a:extLst xmlns:a="http://schemas.openxmlformats.org/drawingml/2006/main">
              <a:ext uri="{FF2B5EF4-FFF2-40B4-BE49-F238E27FC236}">
                <a16:creationId xmlns:a16="http://schemas.microsoft.com/office/drawing/2014/main" id="{379968B9-7D6F-40E1-BC06-92743918632D}"/>
              </a:ext>
            </a:extLst>
          </p:cNvPr>
          <p:cNvSpPr>
            <a:spLocks xmlns:a="http://schemas.openxmlformats.org/drawingml/2006/main" noGrp="1"/>
          </p:cNvSpPr>
          <p:nvPr/>
        </p:nvSpPr>
        <p:spPr>
          <a:xfrm xmlns:a="http://schemas.openxmlformats.org/drawingml/2006/main">
            <a:off x="400050" y="36004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cxnSp>
        <p:nvCxnSpPr>
          <p:cNvPr id="31" name="summary-rule-17-3"/>
          <p:cNvCxnSpPr/>
          <p:nvPr/>
        </p:nvCxnSpPr>
        <p:spPr>
          <a:xfrm xmlns:a="http://schemas.openxmlformats.org/drawingml/2006/main">
            <a:off x="1123950" y="39052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summary-text-17-3">
            <a:extLst xmlns:a="http://schemas.openxmlformats.org/drawingml/2006/main">
              <a:ext uri="{FF2B5EF4-FFF2-40B4-BE49-F238E27FC236}">
                <a16:creationId xmlns:a16="http://schemas.microsoft.com/office/drawing/2014/main" id="{7351484A-C0C4-42B2-AD76-8DC988DC4A90}"/>
              </a:ext>
            </a:extLst>
          </p:cNvPr>
          <p:cNvSpPr>
            <a:spLocks xmlns:a="http://schemas.openxmlformats.org/drawingml/2006/main" noGrp="1"/>
          </p:cNvSpPr>
          <p:nvPr/>
        </p:nvSpPr>
        <p:spPr>
          <a:xfrm xmlns:a="http://schemas.openxmlformats.org/drawingml/2006/main">
            <a:off x="2324100" y="36004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Policy iteration alternates evaluation and greedy improvement.</a:t>
            </a:r>
          </a:p>
        </p:txBody>
      </p:sp>
      <p:sp>
        <p:nvSpPr>
          <p:cNvPr id="15" name="summary-number-17-4">
            <a:extLst xmlns:a="http://schemas.openxmlformats.org/drawingml/2006/main">
              <a:ext uri="{FF2B5EF4-FFF2-40B4-BE49-F238E27FC236}">
                <a16:creationId xmlns:a16="http://schemas.microsoft.com/office/drawing/2014/main" id="{4C9DEA0F-197A-4AF8-A60C-0B518F495514}"/>
              </a:ext>
            </a:extLst>
          </p:cNvPr>
          <p:cNvSpPr>
            <a:spLocks xmlns:a="http://schemas.openxmlformats.org/drawingml/2006/main" noGrp="1"/>
          </p:cNvSpPr>
          <p:nvPr/>
        </p:nvSpPr>
        <p:spPr>
          <a:xfrm xmlns:a="http://schemas.openxmlformats.org/drawingml/2006/main">
            <a:off x="400050" y="45910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cxnSp>
        <p:nvCxnSpPr>
          <p:cNvPr id="34" name="summary-rule-17-4"/>
          <p:cNvCxnSpPr/>
          <p:nvPr/>
        </p:nvCxnSpPr>
        <p:spPr>
          <a:xfrm xmlns:a="http://schemas.openxmlformats.org/drawingml/2006/main">
            <a:off x="1123950" y="48958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summary-text-17-4">
            <a:extLst xmlns:a="http://schemas.openxmlformats.org/drawingml/2006/main">
              <a:ext uri="{FF2B5EF4-FFF2-40B4-BE49-F238E27FC236}">
                <a16:creationId xmlns:a16="http://schemas.microsoft.com/office/drawing/2014/main" id="{1C022D06-DC39-4F8E-9C41-231191B06008}"/>
              </a:ext>
            </a:extLst>
          </p:cNvPr>
          <p:cNvSpPr>
            <a:spLocks xmlns:a="http://schemas.openxmlformats.org/drawingml/2006/main" noGrp="1"/>
          </p:cNvSpPr>
          <p:nvPr/>
        </p:nvSpPr>
        <p:spPr>
          <a:xfrm xmlns:a="http://schemas.openxmlformats.org/drawingml/2006/main">
            <a:off x="2324100" y="4591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Terminal semantics and tolerance determine reliable implementations.</a:t>
            </a:r>
          </a:p>
        </p:txBody>
      </p:sp>
      <p:sp>
        <p:nvSpPr>
          <p:cNvPr id="18" name="summary-next-17">
            <a:extLst xmlns:a="http://schemas.openxmlformats.org/drawingml/2006/main">
              <a:ext uri="{FF2B5EF4-FFF2-40B4-BE49-F238E27FC236}">
                <a16:creationId xmlns:a16="http://schemas.microsoft.com/office/drawing/2014/main" id="{EB89B9A6-1679-47A8-A445-D21A5C38B2CB}"/>
              </a:ext>
            </a:extLst>
          </p:cNvPr>
          <p:cNvSpPr>
            <a:spLocks xmlns:a="http://schemas.openxmlformats.org/drawingml/2006/main" noGrp="1"/>
          </p:cNvSpPr>
          <p:nvPr/>
        </p:nvSpPr>
        <p:spPr>
          <a:xfrm xmlns:a="http://schemas.openxmlformats.org/drawingml/2006/main">
            <a:off x="400050" y="56673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Next: Week 5 removes the known transition model and learns values from sampled interaction.</a:t>
            </a:r>
          </a:p>
        </p:txBody>
      </p:sp>
    </p:spTree>
    <p:extLst>
      <p:ext uri="{BB962C8B-B14F-4D97-AF65-F5344CB8AC3E}">
        <p14:creationId xmlns:p14="http://schemas.microsoft.com/office/powerpoint/2010/main" val="14502222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8">
            <a:extLst xmlns:a="http://schemas.openxmlformats.org/drawingml/2006/main">
              <a:ext uri="{FF2B5EF4-FFF2-40B4-BE49-F238E27FC236}">
                <a16:creationId xmlns:a16="http://schemas.microsoft.com/office/drawing/2014/main" id="{670D8DD6-EA94-441B-BD56-BAFF7F967ED4}"/>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 your understanding</a:t>
            </a:r>
          </a:p>
        </p:txBody>
      </p:sp>
      <p:sp>
        <p:nvSpPr>
          <p:cNvPr id="2" name="title-accent-18">
            <a:extLst xmlns:a="http://schemas.openxmlformats.org/drawingml/2006/main">
              <a:ext uri="{FF2B5EF4-FFF2-40B4-BE49-F238E27FC236}">
                <a16:creationId xmlns:a16="http://schemas.microsoft.com/office/drawing/2014/main" id="{6997B643-2939-4102-AE32-294F253174CF}"/>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8">
            <a:extLst xmlns:a="http://schemas.openxmlformats.org/drawingml/2006/main">
              <a:ext uri="{FF2B5EF4-FFF2-40B4-BE49-F238E27FC236}">
                <a16:creationId xmlns:a16="http://schemas.microsoft.com/office/drawing/2014/main" id="{92A30D91-C2DA-442D-9128-AF937C284A8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4  |  Lesson 2</a:t>
            </a:r>
          </a:p>
        </p:txBody>
      </p:sp>
      <p:sp>
        <p:nvSpPr>
          <p:cNvPr id="5" name="footer-number-18">
            <a:extLst xmlns:a="http://schemas.openxmlformats.org/drawingml/2006/main">
              <a:ext uri="{FF2B5EF4-FFF2-40B4-BE49-F238E27FC236}">
                <a16:creationId xmlns:a16="http://schemas.microsoft.com/office/drawing/2014/main" id="{E454A9B3-EFF4-4823-8B4A-11361DFC59F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18</a:t>
            </a:r>
          </a:p>
        </p:txBody>
      </p:sp>
      <p:sp>
        <p:nvSpPr>
          <p:cNvPr id="6" name="question-number-18-1">
            <a:extLst xmlns:a="http://schemas.openxmlformats.org/drawingml/2006/main">
              <a:ext uri="{FF2B5EF4-FFF2-40B4-BE49-F238E27FC236}">
                <a16:creationId xmlns:a16="http://schemas.microsoft.com/office/drawing/2014/main" id="{FC09BE1D-3AC5-4442-B053-65E4FB3598B8}"/>
              </a:ext>
            </a:extLst>
          </p:cNvPr>
          <p:cNvSpPr>
            <a:spLocks xmlns:a="http://schemas.openxmlformats.org/drawingml/2006/main" noGrp="1"/>
          </p:cNvSpPr>
          <p:nvPr/>
        </p:nvSpPr>
        <p:spPr>
          <a:xfrm xmlns:a="http://schemas.openxmlformats.org/drawingml/2006/main">
            <a:off x="400050" y="15716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Q1</a:t>
            </a:r>
          </a:p>
        </p:txBody>
      </p:sp>
      <p:sp>
        <p:nvSpPr>
          <p:cNvPr id="7" name="question-text-18-1">
            <a:extLst xmlns:a="http://schemas.openxmlformats.org/drawingml/2006/main">
              <a:ext uri="{FF2B5EF4-FFF2-40B4-BE49-F238E27FC236}">
                <a16:creationId xmlns:a16="http://schemas.microsoft.com/office/drawing/2014/main" id="{0C59DD57-5970-4ECE-B809-42F5AB3A44F6}"/>
              </a:ext>
            </a:extLst>
          </p:cNvPr>
          <p:cNvSpPr>
            <a:spLocks xmlns:a="http://schemas.openxmlformats.org/drawingml/2006/main" noGrp="1"/>
          </p:cNvSpPr>
          <p:nvPr/>
        </p:nvSpPr>
        <p:spPr>
          <a:xfrm xmlns:a="http://schemas.openxmlformats.org/drawingml/2006/main">
            <a:off x="1257300" y="15716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Compute one value-iteration sweep.</a:t>
            </a:r>
          </a:p>
        </p:txBody>
      </p:sp>
      <p:sp>
        <p:nvSpPr>
          <p:cNvPr id="8" name="question-number-18-2">
            <a:extLst xmlns:a="http://schemas.openxmlformats.org/drawingml/2006/main">
              <a:ext uri="{FF2B5EF4-FFF2-40B4-BE49-F238E27FC236}">
                <a16:creationId xmlns:a16="http://schemas.microsoft.com/office/drawing/2014/main" id="{92C7DE71-FC12-4827-91B7-299600064748}"/>
              </a:ext>
            </a:extLst>
          </p:cNvPr>
          <p:cNvSpPr>
            <a:spLocks xmlns:a="http://schemas.openxmlformats.org/drawingml/2006/main" noGrp="1"/>
          </p:cNvSpPr>
          <p:nvPr/>
        </p:nvSpPr>
        <p:spPr>
          <a:xfrm xmlns:a="http://schemas.openxmlformats.org/drawingml/2006/main">
            <a:off x="400050" y="243840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Q2</a:t>
            </a:r>
          </a:p>
        </p:txBody>
      </p:sp>
      <p:sp>
        <p:nvSpPr>
          <p:cNvPr id="9" name="question-text-18-2">
            <a:extLst xmlns:a="http://schemas.openxmlformats.org/drawingml/2006/main">
              <a:ext uri="{FF2B5EF4-FFF2-40B4-BE49-F238E27FC236}">
                <a16:creationId xmlns:a16="http://schemas.microsoft.com/office/drawing/2014/main" id="{05A7DD4C-D2C6-4371-BB6A-6090CC016B4C}"/>
              </a:ext>
            </a:extLst>
          </p:cNvPr>
          <p:cNvSpPr>
            <a:spLocks xmlns:a="http://schemas.openxmlformats.org/drawingml/2006/main" noGrp="1"/>
          </p:cNvSpPr>
          <p:nvPr/>
        </p:nvSpPr>
        <p:spPr>
          <a:xfrm xmlns:a="http://schemas.openxmlformats.org/drawingml/2006/main">
            <a:off x="1257300" y="243840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Explain the contraction intuition.</a:t>
            </a:r>
          </a:p>
        </p:txBody>
      </p:sp>
      <p:sp>
        <p:nvSpPr>
          <p:cNvPr id="10" name="question-number-18-3">
            <a:extLst xmlns:a="http://schemas.openxmlformats.org/drawingml/2006/main">
              <a:ext uri="{FF2B5EF4-FFF2-40B4-BE49-F238E27FC236}">
                <a16:creationId xmlns:a16="http://schemas.microsoft.com/office/drawing/2014/main" id="{5803C069-D7A2-4574-9181-AF07B8F25155}"/>
              </a:ext>
            </a:extLst>
          </p:cNvPr>
          <p:cNvSpPr>
            <a:spLocks xmlns:a="http://schemas.openxmlformats.org/drawingml/2006/main" noGrp="1"/>
          </p:cNvSpPr>
          <p:nvPr/>
        </p:nvSpPr>
        <p:spPr>
          <a:xfrm xmlns:a="http://schemas.openxmlformats.org/drawingml/2006/main">
            <a:off x="400050" y="330517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Q3</a:t>
            </a:r>
          </a:p>
        </p:txBody>
      </p:sp>
      <p:sp>
        <p:nvSpPr>
          <p:cNvPr id="11" name="question-text-18-3">
            <a:extLst xmlns:a="http://schemas.openxmlformats.org/drawingml/2006/main">
              <a:ext uri="{FF2B5EF4-FFF2-40B4-BE49-F238E27FC236}">
                <a16:creationId xmlns:a16="http://schemas.microsoft.com/office/drawing/2014/main" id="{2F7E6B68-B30D-46F3-A165-BF00A87A6D56}"/>
              </a:ext>
            </a:extLst>
          </p:cNvPr>
          <p:cNvSpPr>
            <a:spLocks xmlns:a="http://schemas.openxmlformats.org/drawingml/2006/main" noGrp="1"/>
          </p:cNvSpPr>
          <p:nvPr/>
        </p:nvSpPr>
        <p:spPr>
          <a:xfrm xmlns:a="http://schemas.openxmlformats.org/drawingml/2006/main">
            <a:off x="1257300" y="33051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Extract a greedy policy.</a:t>
            </a:r>
          </a:p>
        </p:txBody>
      </p:sp>
      <p:sp>
        <p:nvSpPr>
          <p:cNvPr id="12" name="question-number-18-4">
            <a:extLst xmlns:a="http://schemas.openxmlformats.org/drawingml/2006/main">
              <a:ext uri="{FF2B5EF4-FFF2-40B4-BE49-F238E27FC236}">
                <a16:creationId xmlns:a16="http://schemas.microsoft.com/office/drawing/2014/main" id="{E50CC525-219B-4AF2-93C5-349F6FAEBC65}"/>
              </a:ext>
            </a:extLst>
          </p:cNvPr>
          <p:cNvSpPr>
            <a:spLocks xmlns:a="http://schemas.openxmlformats.org/drawingml/2006/main" noGrp="1"/>
          </p:cNvSpPr>
          <p:nvPr/>
        </p:nvSpPr>
        <p:spPr>
          <a:xfrm xmlns:a="http://schemas.openxmlformats.org/drawingml/2006/main">
            <a:off x="400050" y="417195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Q4</a:t>
            </a:r>
          </a:p>
        </p:txBody>
      </p:sp>
      <p:sp>
        <p:nvSpPr>
          <p:cNvPr id="13" name="question-text-18-4">
            <a:extLst xmlns:a="http://schemas.openxmlformats.org/drawingml/2006/main">
              <a:ext uri="{FF2B5EF4-FFF2-40B4-BE49-F238E27FC236}">
                <a16:creationId xmlns:a16="http://schemas.microsoft.com/office/drawing/2014/main" id="{B8C06AEE-CC2B-4463-B6BD-8E802BC4B21A}"/>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Trace one policy-improvement step.</a:t>
            </a:r>
          </a:p>
        </p:txBody>
      </p:sp>
      <p:sp>
        <p:nvSpPr>
          <p:cNvPr id="14" name="question-number-18-5">
            <a:extLst xmlns:a="http://schemas.openxmlformats.org/drawingml/2006/main">
              <a:ext uri="{FF2B5EF4-FFF2-40B4-BE49-F238E27FC236}">
                <a16:creationId xmlns:a16="http://schemas.microsoft.com/office/drawing/2014/main" id="{7F5C0551-4E93-4679-A597-74752DF11A1E}"/>
              </a:ext>
            </a:extLst>
          </p:cNvPr>
          <p:cNvSpPr>
            <a:spLocks xmlns:a="http://schemas.openxmlformats.org/drawingml/2006/main" noGrp="1"/>
          </p:cNvSpPr>
          <p:nvPr/>
        </p:nvSpPr>
        <p:spPr>
          <a:xfrm xmlns:a="http://schemas.openxmlformats.org/drawingml/2006/main">
            <a:off x="400050" y="50387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Q5</a:t>
            </a:r>
          </a:p>
        </p:txBody>
      </p:sp>
      <p:sp>
        <p:nvSpPr>
          <p:cNvPr id="15" name="question-text-18-5">
            <a:extLst xmlns:a="http://schemas.openxmlformats.org/drawingml/2006/main">
              <a:ext uri="{FF2B5EF4-FFF2-40B4-BE49-F238E27FC236}">
                <a16:creationId xmlns:a16="http://schemas.microsoft.com/office/drawing/2014/main" id="{3611ED7F-7EC0-48AB-940B-D82F1E1DE7A9}"/>
              </a:ext>
            </a:extLst>
          </p:cNvPr>
          <p:cNvSpPr>
            <a:spLocks xmlns:a="http://schemas.openxmlformats.org/drawingml/2006/main" noGrp="1"/>
          </p:cNvSpPr>
          <p:nvPr/>
        </p:nvSpPr>
        <p:spPr>
          <a:xfrm xmlns:a="http://schemas.openxmlformats.org/drawingml/2006/main">
            <a:off x="1257300" y="50387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Compare VI and PI on per-iteration cost.</a:t>
            </a:r>
          </a:p>
        </p:txBody>
      </p:sp>
    </p:spTree>
    <p:extLst>
      <p:ext uri="{BB962C8B-B14F-4D97-AF65-F5344CB8AC3E}">
        <p14:creationId xmlns:p14="http://schemas.microsoft.com/office/powerpoint/2010/main" val="19164976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2026-07-27T10:16:31.2940000Z</dcterms:created>
  <dcterms:modified xsi:type="dcterms:W3CDTF">2026-07-27T10:16:31.2940000Z</dcterms:modified>
</coreProperties>
</file>