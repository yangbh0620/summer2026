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77247e57254759" /><Relationship Type="http://schemas.openxmlformats.org/officeDocument/2006/relationships/extended-properties" Target="/docProps/app.xml" Id="R49644a515cd647a0" /><Relationship Type="http://schemas.openxmlformats.org/officeDocument/2006/relationships/officeDocument" Target="/ppt/presentation.xml" Id="R96f088bcdcec46ac" /></Relationships>
</file>

<file path=ppt/presentation.xml><?xml version="1.0" encoding="utf-8"?>
<p:presentation xmlns:p="http://schemas.openxmlformats.org/presentationml/2006/main">
  <p:sldMasterIdLst>
    <p:sldMasterId xmlns:r="http://schemas.openxmlformats.org/officeDocument/2006/relationships" id="2147483648" r:id="R908227d593104b11"/>
  </p:sldMasterIdLst>
  <p:notesMasterIdLst>
    <p:notesMasterId xmlns:r="http://schemas.openxmlformats.org/officeDocument/2006/relationships" r:id="Rbca7c26739264def"/>
  </p:notesMasterIdLst>
  <p:sldIdLst>
    <p:sldId xmlns:r="http://schemas.openxmlformats.org/officeDocument/2006/relationships" id="256" r:id="Rd2e14d595893442c"/>
    <p:sldId xmlns:r="http://schemas.openxmlformats.org/officeDocument/2006/relationships" id="257" r:id="R21fd3cdb02334e52"/>
    <p:sldId xmlns:r="http://schemas.openxmlformats.org/officeDocument/2006/relationships" id="258" r:id="R4e6bc6eebc354e7b"/>
    <p:sldId xmlns:r="http://schemas.openxmlformats.org/officeDocument/2006/relationships" id="259" r:id="Rfc8662f4cf9a4610"/>
    <p:sldId xmlns:r="http://schemas.openxmlformats.org/officeDocument/2006/relationships" id="260" r:id="Rf64164e7238f45d3"/>
    <p:sldId xmlns:r="http://schemas.openxmlformats.org/officeDocument/2006/relationships" id="261" r:id="R9f3e5c7d570b4f49"/>
    <p:sldId xmlns:r="http://schemas.openxmlformats.org/officeDocument/2006/relationships" id="262" r:id="R62a8b40b115342ca"/>
    <p:sldId xmlns:r="http://schemas.openxmlformats.org/officeDocument/2006/relationships" id="263" r:id="R3b7ee913ac2e49f3"/>
    <p:sldId xmlns:r="http://schemas.openxmlformats.org/officeDocument/2006/relationships" id="264" r:id="R3d9da7abf4304dae"/>
    <p:sldId xmlns:r="http://schemas.openxmlformats.org/officeDocument/2006/relationships" id="265" r:id="R7ae5aeb128ca4319"/>
    <p:sldId xmlns:r="http://schemas.openxmlformats.org/officeDocument/2006/relationships" id="266" r:id="Rf02f011f0a3d40a9"/>
    <p:sldId xmlns:r="http://schemas.openxmlformats.org/officeDocument/2006/relationships" id="267" r:id="R8bb7d551ddb342b5"/>
    <p:sldId xmlns:r="http://schemas.openxmlformats.org/officeDocument/2006/relationships" id="268" r:id="R1be57d05254d43ce"/>
    <p:sldId xmlns:r="http://schemas.openxmlformats.org/officeDocument/2006/relationships" id="269" r:id="R55b6af47b16244bb"/>
    <p:sldId xmlns:r="http://schemas.openxmlformats.org/officeDocument/2006/relationships" id="270" r:id="Rb7c3b06c254c478c"/>
    <p:sldId xmlns:r="http://schemas.openxmlformats.org/officeDocument/2006/relationships" id="271" r:id="Rf35b7cc1462a42b5"/>
    <p:sldId xmlns:r="http://schemas.openxmlformats.org/officeDocument/2006/relationships" id="272" r:id="R690df41715724bc0"/>
    <p:sldId xmlns:r="http://schemas.openxmlformats.org/officeDocument/2006/relationships" id="273" r:id="Rc62996c722d44f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03f49014b54d03" /><Relationship Type="http://schemas.openxmlformats.org/officeDocument/2006/relationships/slideMaster" Target="/ppt/slideMasters/slideMaster1.xml" Id="R908227d593104b11" /><Relationship Type="http://schemas.openxmlformats.org/officeDocument/2006/relationships/notesMaster" Target="/ppt/notesMasters/notesMaster1.xml" Id="Rbca7c26739264def" /><Relationship Type="http://schemas.openxmlformats.org/officeDocument/2006/relationships/presProps" Target="/ppt/presProps.xml" Id="R8e7650e093134635" /><Relationship Type="http://schemas.openxmlformats.org/officeDocument/2006/relationships/tableStyles" Target="/ppt/tableStyles.xml" Id="R6360ea526d7a467a" /><Relationship Type="http://schemas.openxmlformats.org/officeDocument/2006/relationships/slide" Target="/ppt/slides/slide1.xml" Id="Rd2e14d595893442c" /><Relationship Type="http://schemas.openxmlformats.org/officeDocument/2006/relationships/slide" Target="/ppt/slides/slide2.xml" Id="R21fd3cdb02334e52" /><Relationship Type="http://schemas.openxmlformats.org/officeDocument/2006/relationships/slide" Target="/ppt/slides/slide3.xml" Id="R4e6bc6eebc354e7b" /><Relationship Type="http://schemas.openxmlformats.org/officeDocument/2006/relationships/slide" Target="/ppt/slides/slide4.xml" Id="Rfc8662f4cf9a4610" /><Relationship Type="http://schemas.openxmlformats.org/officeDocument/2006/relationships/slide" Target="/ppt/slides/slide5.xml" Id="Rf64164e7238f45d3" /><Relationship Type="http://schemas.openxmlformats.org/officeDocument/2006/relationships/slide" Target="/ppt/slides/slide6.xml" Id="R9f3e5c7d570b4f49" /><Relationship Type="http://schemas.openxmlformats.org/officeDocument/2006/relationships/slide" Target="/ppt/slides/slide7.xml" Id="R62a8b40b115342ca" /><Relationship Type="http://schemas.openxmlformats.org/officeDocument/2006/relationships/slide" Target="/ppt/slides/slide8.xml" Id="R3b7ee913ac2e49f3" /><Relationship Type="http://schemas.openxmlformats.org/officeDocument/2006/relationships/slide" Target="/ppt/slides/slide9.xml" Id="R3d9da7abf4304dae" /><Relationship Type="http://schemas.openxmlformats.org/officeDocument/2006/relationships/slide" Target="/ppt/slides/slide10.xml" Id="R7ae5aeb128ca4319" /><Relationship Type="http://schemas.openxmlformats.org/officeDocument/2006/relationships/slide" Target="/ppt/slides/slide11.xml" Id="Rf02f011f0a3d40a9" /><Relationship Type="http://schemas.openxmlformats.org/officeDocument/2006/relationships/slide" Target="/ppt/slides/slide12.xml" Id="R8bb7d551ddb342b5" /><Relationship Type="http://schemas.openxmlformats.org/officeDocument/2006/relationships/slide" Target="/ppt/slides/slide13.xml" Id="R1be57d05254d43ce" /><Relationship Type="http://schemas.openxmlformats.org/officeDocument/2006/relationships/slide" Target="/ppt/slides/slide14.xml" Id="R55b6af47b16244bb" /><Relationship Type="http://schemas.openxmlformats.org/officeDocument/2006/relationships/slide" Target="/ppt/slides/slide15.xml" Id="Rb7c3b06c254c478c" /><Relationship Type="http://schemas.openxmlformats.org/officeDocument/2006/relationships/slide" Target="/ppt/slides/slide16.xml" Id="Rf35b7cc1462a42b5" /><Relationship Type="http://schemas.openxmlformats.org/officeDocument/2006/relationships/slide" Target="/ppt/slides/slide17.xml" Id="R690df41715724bc0" /><Relationship Type="http://schemas.openxmlformats.org/officeDocument/2006/relationships/slide" Target="/ppt/slides/slide18.xml" Id="Rc62996c722d44f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27c56dfd7544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1578fea7d4468e" /><Relationship Type="http://schemas.openxmlformats.org/officeDocument/2006/relationships/notesMaster" Target="/ppt/notesMasters/notesMaster1.xml" Id="R784836b7faaa48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101789b0694b58" /><Relationship Type="http://schemas.openxmlformats.org/officeDocument/2006/relationships/notesMaster" Target="/ppt/notesMasters/notesMaster1.xml" Id="Ra815ce4e780843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aac83cbe0248d0" /><Relationship Type="http://schemas.openxmlformats.org/officeDocument/2006/relationships/notesMaster" Target="/ppt/notesMasters/notesMaster1.xml" Id="R361cb88aa86747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5e3c42bc264b3d" /><Relationship Type="http://schemas.openxmlformats.org/officeDocument/2006/relationships/notesMaster" Target="/ppt/notesMasters/notesMaster1.xml" Id="R881e1357367047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fb40ca56cc4c99" /><Relationship Type="http://schemas.openxmlformats.org/officeDocument/2006/relationships/notesMaster" Target="/ppt/notesMasters/notesMaster1.xml" Id="Rc3ec6206b92b44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00ce6f6a3a45d3" /><Relationship Type="http://schemas.openxmlformats.org/officeDocument/2006/relationships/notesMaster" Target="/ppt/notesMasters/notesMaster1.xml" Id="Re328438da4dc4c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70c0da553a4842" /><Relationship Type="http://schemas.openxmlformats.org/officeDocument/2006/relationships/notesMaster" Target="/ppt/notesMasters/notesMaster1.xml" Id="R1215727401ad41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5f017047d04864" /><Relationship Type="http://schemas.openxmlformats.org/officeDocument/2006/relationships/notesMaster" Target="/ppt/notesMasters/notesMaster1.xml" Id="R655ce2e8598e4e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625b0bb1b14586" /><Relationship Type="http://schemas.openxmlformats.org/officeDocument/2006/relationships/notesMaster" Target="/ppt/notesMasters/notesMaster1.xml" Id="R02b7774fc3db41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9dd134cead49a5" /><Relationship Type="http://schemas.openxmlformats.org/officeDocument/2006/relationships/notesMaster" Target="/ppt/notesMasters/notesMaster1.xml" Id="Rfcd1309a70a34e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d93f5f9272408d" /><Relationship Type="http://schemas.openxmlformats.org/officeDocument/2006/relationships/notesMaster" Target="/ppt/notesMasters/notesMaster1.xml" Id="R11e4b9b646444a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caf1f603cb4451" /><Relationship Type="http://schemas.openxmlformats.org/officeDocument/2006/relationships/notesMaster" Target="/ppt/notesMasters/notesMaster1.xml" Id="R871777b754c74f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cf3feca4104dbc" /><Relationship Type="http://schemas.openxmlformats.org/officeDocument/2006/relationships/notesMaster" Target="/ppt/notesMasters/notesMaster1.xml" Id="Rcb0e6f62191648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86121205294d33" /><Relationship Type="http://schemas.openxmlformats.org/officeDocument/2006/relationships/notesMaster" Target="/ppt/notesMasters/notesMaster1.xml" Id="R3429cfd72b444a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c6576415404aa4" /><Relationship Type="http://schemas.openxmlformats.org/officeDocument/2006/relationships/notesMaster" Target="/ppt/notesMasters/notesMaster1.xml" Id="R1786f10459974a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efe20077134bc5" /><Relationship Type="http://schemas.openxmlformats.org/officeDocument/2006/relationships/notesMaster" Target="/ppt/notesMasters/notesMaster1.xml" Id="R58d523705ded44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4d741abf114ed2" /><Relationship Type="http://schemas.openxmlformats.org/officeDocument/2006/relationships/notesMaster" Target="/ppt/notesMasters/notesMaster1.xml" Id="Rb90aecd7489a44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ca0d7a14a34d75" /><Relationship Type="http://schemas.openxmlformats.org/officeDocument/2006/relationships/notesMaster" Target="/ppt/notesMasters/notesMaster1.xml" Id="R531d9a9a692840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Markov decision process models repeated decisions in a stochastic environment where present actions influence a long trajectory of rewards.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Define the MDP tuple &lt;S,A,P,R,gamma&gt;. 2) Test whether a state representation satisfies the Markov property. 3) Distinguish trajectory, reward, return, and discount. 4) Define policy pi, V^pi, and Q^pi. 5) Derive the Bellman expectation equation. 6) Compute a fixed-policy value in a small MDP.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commits to a policy that maps states to action distributions across an extended trajectory. The supporting details make the claim operational. 1) Transitions are probabilistic, not adversarial. 2) Rewards arrive along a trajectory. 3) Value aggregates present and discounted future reward. The highlighted idea, Policy, is the part to retain when the surrounding notation changes. A policy specifies behavior at every reachable decision state.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MDP = &lt;S, A, P(s'|s,a), R(s,a,s'), gamma&gt;. The symbols mean the following. 1) S is the state set. 2) A is the action set. 3) P gives successor probabilities. 4) R gives transition reward; 0 &lt;= gamma &lt; 1 discounts delay. The engineering implication is Every transition distribution must be nonnegative and sum to 1.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Markov state: Predicts next outcome from current state and action. No extra history is required. Supports recursive value equations. Can include memory summaries. On the right, Incomplete state: Hidden history changes transitions. Same stored state has different futures. Bellman backup mixes incompatible cases. Add the missing variable or belief.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Observe: Receive state S_t. 2) Act: Sample A_t from policy. 3) Transition: Sample S_(t+1) from P. 4) Reward: Receive R_(t+1). 5) Accumulate: Discount and sum future rewards. The emphasized stage deserves extra attention because defects introduced there propagate to every later result. Return evaluates a sequence, while reward labels one transition.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State is Markov. Policy sees state only. Step samples P. Terminal stops future reward.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A trajectory yields rewards 2, -1, and 5 with gamma=0.9. Work through it in the displayed order. 1) Weight the first reward by 1. 2) Weight the second by 0.9. 3) Weight the third by 0.9^2. 4) Add 2-0.9+4.05. The resulting conclusion is The discounted return is 5.15.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V^pi(s): Expected return from s. Follow pi immediately. Averages over policy actions. One value per state. In contrast, Q^pi(s,a): Expected return after action a. Then follow pi. Supports action comparison. One value per state-action. In contrast, Policy pi(a|s): Action distribution. Can be deterministic. Defines on-policy values. Must normalize by state.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machine's failure probability depends on how many consecutive hours it has run, but state stores only current temperature. Is the state Markov? Use the prompts to structure the response. 1) Identify hidden history that affects P. 2) Name a sufficient additional variable. 3) Explain the Bellman consequence. The expected reasoning is No. Consecutive runtime affects the next failure distribution. Add runtime, wear level, or a sufficient health statistic to state; otherwise one Bellman value mixes states with different dynamics.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One game-tree decision: Choose a root move. Chance may appear at nodes. Finite lookahead is common. No stationary behavior required. On the right, MDP policy problem: Choose behavior for all states. Environment persists. Long or infinite horizon. Recursive values seek consistency.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V^pi(s) = sum_a pi(a|s) sum_s' P(s'|s,a)[R(s,a,s') + gamma V^pi(s')]. The symbols mean the following. 1) Outer sum averages policy actions. 2) Inner sum averages successor states. 3) R is immediate reward. 4) gamma V is discounted continuation value. The engineering implication is A value function is a fixed point consistent with its policy and model.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In state A, a fixed action gives reward 1 and stays in A with probability 0.5 or terminates with probability 0.5; gamma=0.8. Work through it in the displayed order. 1) Write V(A)=1+0.8[0.5 V(A)+0.5*0]. 2) Collect 0.4 V(A) on the left. 3) Obtain 0.6 V(A)=1. 4) Divide by 0.6. The resulting conclusion is V(A)=5/3, approximately 1.667.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gamma=0: Future is ignored. Myopic behavior. Simple backup. Useful boundary test. In contrast, 0&lt;gamma&lt;1: Delayed reward matters. Bounded infinite return. Contraction later applies. Scale is interpretable. In contrast, gamma near 1: Future decays slowly. Values can be large. Convergence can slow. Numerical tolerance matters.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deterministic policy receives reward 3, moves to state B, and V^pi(B)=4 with gamma=0.5. What is V^pi(A)? Use the prompts to structure the response. 1) Use the one available action. 2) Use successor probability 1. 3) Add reward and discounted continuation. The expected reasoning is V^pi(A)=3+0.5*4=5.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normalization, terminal semantics, reward timing, and state sufficiency are executable preconditions. The supporting details make the claim operational. 1) Assert each transition row sums to 1 within tolerance. 2) Define terminal actions and continuation value explicitly. 3) Use small hand-computed policies as numerical oracles. The highlighted idea, Model, is the part to retain when the surrounding notation changes. A solver cannot recover a guarantee from an inconsistent environment definition.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An MDP combines Markov state, actions, transition probabilities, rewards, and discount. 2) A policy defines behavior over all states. 3) V and Q are expected discounted returns. 4) Bellman expectation is a recursive fixed-point condition for a policy. These are connected: the formal model supplies the algorithm, the algorithm's invariant supports its guarantee, and the implementation contract makes that guarantee testable. The next topic is Value iteration and policy iteration replace evaluation of a fixed policy with optimal control.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Classify a state as Markov or incomplete. 2) Compute a three-reward discounted return. 3) Distinguish V^pi from Q^pi. 4) Derive a two-state Bellman equation. 5) List MDP validation checks.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week_04/Week_4_Lesson_1_MDP_Formulation.md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7743461cda48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73e767326048f3" /><Relationship Type="http://schemas.openxmlformats.org/officeDocument/2006/relationships/slideLayout" Target="/ppt/slideLayouts/slideLayout1.xml" Id="R2a3bd9785dd54d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3bd9785dd54d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6702bd8fba4d95" /><Relationship Type="http://schemas.openxmlformats.org/officeDocument/2006/relationships/notesSlide" Target="/ppt/notesSlides/notesSlide1.xml" Id="Rf5f6f6ff0cb442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0b79ffa41b4734" /><Relationship Type="http://schemas.openxmlformats.org/officeDocument/2006/relationships/notesSlide" Target="/ppt/notesSlides/notesSlide2.xml" Id="R1b5f6fd99edc4d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d9579d05f4406b" /><Relationship Type="http://schemas.openxmlformats.org/officeDocument/2006/relationships/notesSlide" Target="/ppt/notesSlides/notesSlide3.xml" Id="R29ff10f24fe349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d94988a8a24569" /><Relationship Type="http://schemas.openxmlformats.org/officeDocument/2006/relationships/notesSlide" Target="/ppt/notesSlides/notesSlide4.xml" Id="R758f89ea25bc43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7cc662a3c74253" /><Relationship Type="http://schemas.openxmlformats.org/officeDocument/2006/relationships/notesSlide" Target="/ppt/notesSlides/notesSlide5.xml" Id="R74dd3a2b840f44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aacfb6ef7a4fd5" /><Relationship Type="http://schemas.openxmlformats.org/officeDocument/2006/relationships/notesSlide" Target="/ppt/notesSlides/notesSlide6.xml" Id="R09f58b2e3f0d40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586cf5b80f4056" /><Relationship Type="http://schemas.openxmlformats.org/officeDocument/2006/relationships/notesSlide" Target="/ppt/notesSlides/notesSlide7.xml" Id="R7c5786966e6440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70cf8942434f9f" /><Relationship Type="http://schemas.openxmlformats.org/officeDocument/2006/relationships/notesSlide" Target="/ppt/notesSlides/notesSlide8.xml" Id="Re8a74eb3aed14e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f47901e62e4b69" /><Relationship Type="http://schemas.openxmlformats.org/officeDocument/2006/relationships/notesSlide" Target="/ppt/notesSlides/notesSlide9.xml" Id="R490e3b376b464a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b8dc04abae4b1d" /><Relationship Type="http://schemas.openxmlformats.org/officeDocument/2006/relationships/notesSlide" Target="/ppt/notesSlides/notesSlide10.xml" Id="Rbd6f6cd745f44b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4207c310924b22" /><Relationship Type="http://schemas.openxmlformats.org/officeDocument/2006/relationships/notesSlide" Target="/ppt/notesSlides/notesSlide11.xml" Id="Ra64813be0c3449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a08419f2a44a78" /><Relationship Type="http://schemas.openxmlformats.org/officeDocument/2006/relationships/notesSlide" Target="/ppt/notesSlides/notesSlide12.xml" Id="R26e612cff9194e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ff949c496c4800" /><Relationship Type="http://schemas.openxmlformats.org/officeDocument/2006/relationships/notesSlide" Target="/ppt/notesSlides/notesSlide13.xml" Id="R73e4727a736449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033ea80fc3484c" /><Relationship Type="http://schemas.openxmlformats.org/officeDocument/2006/relationships/notesSlide" Target="/ppt/notesSlides/notesSlide14.xml" Id="R711261ec391442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0a188db95e42cb" /><Relationship Type="http://schemas.openxmlformats.org/officeDocument/2006/relationships/notesSlide" Target="/ppt/notesSlides/notesSlide15.xml" Id="R87d8f6f9a7bf42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51b9634096c4d21" /><Relationship Type="http://schemas.openxmlformats.org/officeDocument/2006/relationships/notesSlide" Target="/ppt/notesSlides/notesSlide16.xml" Id="R27c36409c43042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300b30829eb450d" /><Relationship Type="http://schemas.openxmlformats.org/officeDocument/2006/relationships/notesSlide" Target="/ppt/notesSlides/notesSlide17.xml" Id="R1be4aa1c8a7443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e7cc8fdc5e048a6" /><Relationship Type="http://schemas.openxmlformats.org/officeDocument/2006/relationships/notesSlide" Target="/ppt/notesSlides/notesSlide18.xml" Id="Rcfe27465390248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3FB3463C-F973-46B8-989A-B7A867878091}"/>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04  |  LESSON 1</a:t>
            </a:r>
          </a:p>
        </p:txBody>
      </p:sp>
      <p:sp>
        <p:nvSpPr>
          <p:cNvPr id="2" name="title-accent-field">
            <a:extLst xmlns:a="http://schemas.openxmlformats.org/drawingml/2006/main">
              <a:ext uri="{FF2B5EF4-FFF2-40B4-BE49-F238E27FC236}">
                <a16:creationId xmlns:a16="http://schemas.microsoft.com/office/drawing/2014/main" id="{6225F10A-A755-4042-A88F-37C46A61DEE9}"/>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348DFA71-4D7E-4553-97F7-6A3CDDFD3BDA}"/>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Formulating Markov Decision Processes</a:t>
            </a:r>
          </a:p>
        </p:txBody>
      </p:sp>
      <p:sp>
        <p:nvSpPr>
          <p:cNvPr id="4" name="deck-subtitle">
            <a:extLst xmlns:a="http://schemas.openxmlformats.org/drawingml/2006/main">
              <a:ext uri="{FF2B5EF4-FFF2-40B4-BE49-F238E27FC236}">
                <a16:creationId xmlns:a16="http://schemas.microsoft.com/office/drawing/2014/main" id="{99A0A030-A63D-4EB9-8B82-97A83A2368C2}"/>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States, stochastic transitions, rewards, policies, and recursive value</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94130F19-7E86-4604-A03B-C96DC973F3E2}"/>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714607F8-89BA-4F6E-B3E2-5542B0146D60}"/>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993212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C846A0BD-E64F-4164-AFE9-D4F66E8C7D9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43F9846E-5CC4-4330-BB5B-490C6B6AAEC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4FF192F1-3D00-4CBB-91D4-81EC70F564B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2">
            <a:extLst xmlns:a="http://schemas.openxmlformats.org/drawingml/2006/main">
              <a:ext uri="{FF2B5EF4-FFF2-40B4-BE49-F238E27FC236}">
                <a16:creationId xmlns:a16="http://schemas.microsoft.com/office/drawing/2014/main" id="{AD02F5F7-6CD8-4B0C-9BF9-03EB28513CD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69D3D267-875D-4F7C-9094-A08141694F48}"/>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3C5D1E4F-8B28-424F-B709-8EF37361A225}"/>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621EB489-0755-4FBE-BA89-631D2D85F771}"/>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the MDP tuple &lt;S,A,P,R,gamma&gt;.</a:t>
            </a:r>
          </a:p>
        </p:txBody>
      </p:sp>
      <p:sp>
        <p:nvSpPr>
          <p:cNvPr id="10" name="objective-number-2">
            <a:extLst xmlns:a="http://schemas.openxmlformats.org/drawingml/2006/main">
              <a:ext uri="{FF2B5EF4-FFF2-40B4-BE49-F238E27FC236}">
                <a16:creationId xmlns:a16="http://schemas.microsoft.com/office/drawing/2014/main" id="{1DC537C0-3CCA-4081-8F69-58D0BA46C9FD}"/>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F162E7E6-F1FC-4A8D-8326-D7A841F66C47}"/>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Test whether a state representation satisfies the Markov property.</a:t>
            </a:r>
          </a:p>
        </p:txBody>
      </p:sp>
      <p:sp>
        <p:nvSpPr>
          <p:cNvPr id="13" name="objective-number-3">
            <a:extLst xmlns:a="http://schemas.openxmlformats.org/drawingml/2006/main">
              <a:ext uri="{FF2B5EF4-FFF2-40B4-BE49-F238E27FC236}">
                <a16:creationId xmlns:a16="http://schemas.microsoft.com/office/drawing/2014/main" id="{8CC2D38D-00D3-4080-81F0-8AA615F6DDA0}"/>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E1631BDC-37DE-47AE-A83C-188462181568}"/>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trajectory, reward, return, and discount.</a:t>
            </a:r>
          </a:p>
        </p:txBody>
      </p:sp>
      <p:sp>
        <p:nvSpPr>
          <p:cNvPr id="16" name="objective-number-4">
            <a:extLst xmlns:a="http://schemas.openxmlformats.org/drawingml/2006/main">
              <a:ext uri="{FF2B5EF4-FFF2-40B4-BE49-F238E27FC236}">
                <a16:creationId xmlns:a16="http://schemas.microsoft.com/office/drawing/2014/main" id="{AC91B271-4196-45BC-9BCE-72D177732136}"/>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AD3CEFFD-0754-4931-B130-08B182F034A1}"/>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policy pi, V^pi, and Q^pi.</a:t>
            </a:r>
          </a:p>
        </p:txBody>
      </p:sp>
      <p:sp>
        <p:nvSpPr>
          <p:cNvPr id="19" name="objective-number-5">
            <a:extLst xmlns:a="http://schemas.openxmlformats.org/drawingml/2006/main">
              <a:ext uri="{FF2B5EF4-FFF2-40B4-BE49-F238E27FC236}">
                <a16:creationId xmlns:a16="http://schemas.microsoft.com/office/drawing/2014/main" id="{3DF8CA78-5258-44D9-824C-368B0CA6EB1F}"/>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B59066F1-A460-49F0-B5E0-D58492464512}"/>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Derive the Bellman expectation equation.</a:t>
            </a:r>
          </a:p>
        </p:txBody>
      </p:sp>
      <p:sp>
        <p:nvSpPr>
          <p:cNvPr id="22" name="objective-number-6">
            <a:extLst xmlns:a="http://schemas.openxmlformats.org/drawingml/2006/main">
              <a:ext uri="{FF2B5EF4-FFF2-40B4-BE49-F238E27FC236}">
                <a16:creationId xmlns:a16="http://schemas.microsoft.com/office/drawing/2014/main" id="{3A8F1C2B-3481-4970-B53C-398D536E8B57}"/>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EC287972-2940-4CCE-997F-A131D2056C5F}"/>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a fixed-policy value in a small MDP.</a:t>
            </a:r>
          </a:p>
        </p:txBody>
      </p:sp>
    </p:spTree>
    <p:extLst>
      <p:ext uri="{BB962C8B-B14F-4D97-AF65-F5344CB8AC3E}">
        <p14:creationId xmlns:p14="http://schemas.microsoft.com/office/powerpoint/2010/main" val="8626139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BD92AF72-6926-4CAE-BAC8-9EF28DC53FB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An MDP is a persistent stochastic decision model</a:t>
            </a:r>
          </a:p>
        </p:txBody>
      </p:sp>
      <p:sp>
        <p:nvSpPr>
          <p:cNvPr id="2" name="title-accent-3">
            <a:extLst xmlns:a="http://schemas.openxmlformats.org/drawingml/2006/main">
              <a:ext uri="{FF2B5EF4-FFF2-40B4-BE49-F238E27FC236}">
                <a16:creationId xmlns:a16="http://schemas.microsoft.com/office/drawing/2014/main" id="{7FCE16CB-EE54-4911-B4D7-3306095B51F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8B107D9B-E8E7-4981-8138-3EAEC4C9AD7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3">
            <a:extLst xmlns:a="http://schemas.openxmlformats.org/drawingml/2006/main">
              <a:ext uri="{FF2B5EF4-FFF2-40B4-BE49-F238E27FC236}">
                <a16:creationId xmlns:a16="http://schemas.microsoft.com/office/drawing/2014/main" id="{068A2D91-CE2F-4ECE-9E03-9BA3A350A29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7EEAA7AD-2BE7-48A6-8D22-4918BD2CF04D}"/>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The agent commits to a policy that maps states to action distributions across an extended trajectory.</a:t>
            </a:r>
          </a:p>
        </p:txBody>
      </p:sp>
      <p:sp>
        <p:nvSpPr>
          <p:cNvPr id="7" name="claim-panel-3">
            <a:extLst xmlns:a="http://schemas.openxmlformats.org/drawingml/2006/main">
              <a:ext uri="{FF2B5EF4-FFF2-40B4-BE49-F238E27FC236}">
                <a16:creationId xmlns:a16="http://schemas.microsoft.com/office/drawing/2014/main" id="{470FEA5C-BDDC-4241-90CD-375ADC8CF99B}"/>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C278BE79-D4D4-4346-9157-096A90E839D9}"/>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Policy</a:t>
            </a:r>
          </a:p>
        </p:txBody>
      </p:sp>
      <p:sp>
        <p:nvSpPr>
          <p:cNvPr id="9" name="claim-keyword-detail-3">
            <a:extLst xmlns:a="http://schemas.openxmlformats.org/drawingml/2006/main">
              <a:ext uri="{FF2B5EF4-FFF2-40B4-BE49-F238E27FC236}">
                <a16:creationId xmlns:a16="http://schemas.microsoft.com/office/drawing/2014/main" id="{E0F1523A-613E-4C06-BB9B-220DB72EA1A5}"/>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policy specifies behavior at every reachable decision state.</a:t>
            </a:r>
          </a:p>
        </p:txBody>
      </p:sp>
      <p:sp>
        <p:nvSpPr>
          <p:cNvPr id="10" name="claim-detail-3-marker-1">
            <a:extLst xmlns:a="http://schemas.openxmlformats.org/drawingml/2006/main">
              <a:ext uri="{FF2B5EF4-FFF2-40B4-BE49-F238E27FC236}">
                <a16:creationId xmlns:a16="http://schemas.microsoft.com/office/drawing/2014/main" id="{1B4DFE9C-2A7E-45BD-B632-EE24870E5535}"/>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E6693761-B8EF-429C-82EB-205783091656}"/>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Transitions are probabilistic, not adversarial.</a:t>
            </a:r>
          </a:p>
        </p:txBody>
      </p:sp>
      <p:sp>
        <p:nvSpPr>
          <p:cNvPr id="12" name="claim-detail-3-marker-2">
            <a:extLst xmlns:a="http://schemas.openxmlformats.org/drawingml/2006/main">
              <a:ext uri="{FF2B5EF4-FFF2-40B4-BE49-F238E27FC236}">
                <a16:creationId xmlns:a16="http://schemas.microsoft.com/office/drawing/2014/main" id="{620958D6-711D-4518-B0D0-ACC4E4B4DA63}"/>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A0EE1DCF-1874-4F7F-9B3F-D81A25DC4A75}"/>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Rewards arrive along a trajectory.</a:t>
            </a:r>
          </a:p>
        </p:txBody>
      </p:sp>
      <p:sp>
        <p:nvSpPr>
          <p:cNvPr id="14" name="claim-detail-3-marker-3">
            <a:extLst xmlns:a="http://schemas.openxmlformats.org/drawingml/2006/main">
              <a:ext uri="{FF2B5EF4-FFF2-40B4-BE49-F238E27FC236}">
                <a16:creationId xmlns:a16="http://schemas.microsoft.com/office/drawing/2014/main" id="{0283B9C0-478F-429E-A014-FF55358DF218}"/>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B52E20F6-58ED-4CC5-8B6A-8F266027039A}"/>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Value aggregates present and discounted future reward.</a:t>
            </a:r>
          </a:p>
        </p:txBody>
      </p:sp>
    </p:spTree>
    <p:extLst>
      <p:ext uri="{BB962C8B-B14F-4D97-AF65-F5344CB8AC3E}">
        <p14:creationId xmlns:p14="http://schemas.microsoft.com/office/powerpoint/2010/main" val="362902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56D9F536-F48E-4837-9576-F0F10E53A1F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MDP tuple defines dynamics and preference</a:t>
            </a:r>
          </a:p>
        </p:txBody>
      </p:sp>
      <p:sp>
        <p:nvSpPr>
          <p:cNvPr id="2" name="title-accent-4">
            <a:extLst xmlns:a="http://schemas.openxmlformats.org/drawingml/2006/main">
              <a:ext uri="{FF2B5EF4-FFF2-40B4-BE49-F238E27FC236}">
                <a16:creationId xmlns:a16="http://schemas.microsoft.com/office/drawing/2014/main" id="{5D841F54-EC98-4D3E-881B-6D368A59497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EFF836CD-5186-4210-A953-800B2251B4D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4">
            <a:extLst xmlns:a="http://schemas.openxmlformats.org/drawingml/2006/main">
              <a:ext uri="{FF2B5EF4-FFF2-40B4-BE49-F238E27FC236}">
                <a16:creationId xmlns:a16="http://schemas.microsoft.com/office/drawing/2014/main" id="{2287E277-B50C-44B7-B05F-A4EC32AC2AD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60F00D8F-0948-4BC5-9B65-6776546991C8}"/>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BD171211-F6C3-4F18-997D-9131470DA7DD}"/>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MDP = &lt;S, A, P(s'|s,a), R(s,a,s'), gamma&gt;</a:t>
            </a:r>
          </a:p>
        </p:txBody>
      </p:sp>
      <p:sp>
        <p:nvSpPr>
          <p:cNvPr id="8" name="formula-definition-4-marker-1">
            <a:extLst xmlns:a="http://schemas.openxmlformats.org/drawingml/2006/main">
              <a:ext uri="{FF2B5EF4-FFF2-40B4-BE49-F238E27FC236}">
                <a16:creationId xmlns:a16="http://schemas.microsoft.com/office/drawing/2014/main" id="{B14B1C59-8CA5-4202-85F2-E29FD25FE5A8}"/>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014588D4-5757-420B-95CA-5A1C0A181FBB}"/>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 is the state set.</a:t>
            </a:r>
          </a:p>
        </p:txBody>
      </p:sp>
      <p:sp>
        <p:nvSpPr>
          <p:cNvPr id="10" name="formula-definition-4-marker-2">
            <a:extLst xmlns:a="http://schemas.openxmlformats.org/drawingml/2006/main">
              <a:ext uri="{FF2B5EF4-FFF2-40B4-BE49-F238E27FC236}">
                <a16:creationId xmlns:a16="http://schemas.microsoft.com/office/drawing/2014/main" id="{1DAB3CA3-617F-46B1-AEBC-9D426F633FBD}"/>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4175ECE1-EECF-4A37-ADE4-2A3B7FB0E003}"/>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is the action set.</a:t>
            </a:r>
          </a:p>
        </p:txBody>
      </p:sp>
      <p:sp>
        <p:nvSpPr>
          <p:cNvPr id="12" name="formula-definition-4-marker-3">
            <a:extLst xmlns:a="http://schemas.openxmlformats.org/drawingml/2006/main">
              <a:ext uri="{FF2B5EF4-FFF2-40B4-BE49-F238E27FC236}">
                <a16:creationId xmlns:a16="http://schemas.microsoft.com/office/drawing/2014/main" id="{F03B79C3-DB12-43CF-9BA8-8B69598F7FB5}"/>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5A237CF5-85A7-4F59-8EBC-44644B687A53}"/>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 gives successor probabilities.</a:t>
            </a:r>
          </a:p>
        </p:txBody>
      </p:sp>
      <p:sp>
        <p:nvSpPr>
          <p:cNvPr id="14" name="formula-definition-4-marker-4">
            <a:extLst xmlns:a="http://schemas.openxmlformats.org/drawingml/2006/main">
              <a:ext uri="{FF2B5EF4-FFF2-40B4-BE49-F238E27FC236}">
                <a16:creationId xmlns:a16="http://schemas.microsoft.com/office/drawing/2014/main" id="{9A0E2970-8BE5-4181-8967-FBA925BCB406}"/>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46615552-A1BB-4FA3-99A3-1543CD8EFA62}"/>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 gives transition reward; 0 &lt;= gamma &lt; 1 discounts delay.</a:t>
            </a:r>
          </a:p>
        </p:txBody>
      </p:sp>
      <p:sp>
        <p:nvSpPr>
          <p:cNvPr id="16" name="formula-implication-panel-4">
            <a:extLst xmlns:a="http://schemas.openxmlformats.org/drawingml/2006/main">
              <a:ext uri="{FF2B5EF4-FFF2-40B4-BE49-F238E27FC236}">
                <a16:creationId xmlns:a16="http://schemas.microsoft.com/office/drawing/2014/main" id="{2C3BF708-60FF-4793-B65B-10E4FB436616}"/>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A23276C2-AB8A-4A31-8477-BB65173C4492}"/>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957D6710-E42C-45A1-81E2-662815715DF9}"/>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Every transition distribution must be nonnegative and sum to 1.</a:t>
            </a:r>
          </a:p>
        </p:txBody>
      </p:sp>
    </p:spTree>
    <p:extLst>
      <p:ext uri="{BB962C8B-B14F-4D97-AF65-F5344CB8AC3E}">
        <p14:creationId xmlns:p14="http://schemas.microsoft.com/office/powerpoint/2010/main" val="2288405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06660291-3656-4368-A034-CB1FEBC7187D}"/>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Markov property is a sufficiency claim</a:t>
            </a:r>
          </a:p>
        </p:txBody>
      </p:sp>
      <p:sp>
        <p:nvSpPr>
          <p:cNvPr id="2" name="title-accent-5">
            <a:extLst xmlns:a="http://schemas.openxmlformats.org/drawingml/2006/main">
              <a:ext uri="{FF2B5EF4-FFF2-40B4-BE49-F238E27FC236}">
                <a16:creationId xmlns:a16="http://schemas.microsoft.com/office/drawing/2014/main" id="{EEE10CB5-43B4-4FDA-A16D-CE6BE1173ED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160BC122-49A9-4BCD-BB89-77CEBAD545E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5">
            <a:extLst xmlns:a="http://schemas.openxmlformats.org/drawingml/2006/main">
              <a:ext uri="{FF2B5EF4-FFF2-40B4-BE49-F238E27FC236}">
                <a16:creationId xmlns:a16="http://schemas.microsoft.com/office/drawing/2014/main" id="{52305CA6-A4E2-499B-8C3B-2179A40C730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41C65CD0-0E2E-4224-8670-B7CD497EF6E3}"/>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Markov state</a:t>
            </a:r>
          </a:p>
        </p:txBody>
      </p:sp>
      <p:sp>
        <p:nvSpPr>
          <p:cNvPr id="8" name="right-title-5">
            <a:extLst xmlns:a="http://schemas.openxmlformats.org/drawingml/2006/main">
              <a:ext uri="{FF2B5EF4-FFF2-40B4-BE49-F238E27FC236}">
                <a16:creationId xmlns:a16="http://schemas.microsoft.com/office/drawing/2014/main" id="{7E487B02-D9B8-42B0-8912-2403A85017DE}"/>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Incomplete state</a:t>
            </a:r>
          </a:p>
        </p:txBody>
      </p:sp>
      <p:sp>
        <p:nvSpPr>
          <p:cNvPr id="9" name="left-bullet-5-marker-1">
            <a:extLst xmlns:a="http://schemas.openxmlformats.org/drawingml/2006/main">
              <a:ext uri="{FF2B5EF4-FFF2-40B4-BE49-F238E27FC236}">
                <a16:creationId xmlns:a16="http://schemas.microsoft.com/office/drawing/2014/main" id="{057AB5B1-8E8C-47A4-BFEF-16F5DB03742B}"/>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85CEBF15-AA78-4F71-9DFB-0A2200E68C89}"/>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Predicts next outcome from current state and action.</a:t>
            </a:r>
          </a:p>
        </p:txBody>
      </p:sp>
      <p:sp>
        <p:nvSpPr>
          <p:cNvPr id="11" name="left-bullet-5-marker-2">
            <a:extLst xmlns:a="http://schemas.openxmlformats.org/drawingml/2006/main">
              <a:ext uri="{FF2B5EF4-FFF2-40B4-BE49-F238E27FC236}">
                <a16:creationId xmlns:a16="http://schemas.microsoft.com/office/drawing/2014/main" id="{D5223FC4-39BB-4C7F-9422-2248453B961B}"/>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C314111E-FF66-4F7A-BAED-EDE421487B69}"/>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 extra history is required.</a:t>
            </a:r>
          </a:p>
        </p:txBody>
      </p:sp>
      <p:sp>
        <p:nvSpPr>
          <p:cNvPr id="13" name="left-bullet-5-marker-3">
            <a:extLst xmlns:a="http://schemas.openxmlformats.org/drawingml/2006/main">
              <a:ext uri="{FF2B5EF4-FFF2-40B4-BE49-F238E27FC236}">
                <a16:creationId xmlns:a16="http://schemas.microsoft.com/office/drawing/2014/main" id="{E0720E1B-B0DD-40D2-9F0E-70B6CD7606CB}"/>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475AEE80-C780-45F6-8E1B-7AE2C0E5C984}"/>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Supports recursive value equations.</a:t>
            </a:r>
          </a:p>
        </p:txBody>
      </p:sp>
      <p:sp>
        <p:nvSpPr>
          <p:cNvPr id="15" name="left-bullet-5-marker-4">
            <a:extLst xmlns:a="http://schemas.openxmlformats.org/drawingml/2006/main">
              <a:ext uri="{FF2B5EF4-FFF2-40B4-BE49-F238E27FC236}">
                <a16:creationId xmlns:a16="http://schemas.microsoft.com/office/drawing/2014/main" id="{71AFD120-6DC1-4B8D-B7BF-37E6E3D065E1}"/>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B719A254-F270-46ED-AC68-A8AC7197BDCC}"/>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include memory summaries.</a:t>
            </a:r>
          </a:p>
        </p:txBody>
      </p:sp>
      <p:sp>
        <p:nvSpPr>
          <p:cNvPr id="17" name="right-bullet-5-marker-1">
            <a:extLst xmlns:a="http://schemas.openxmlformats.org/drawingml/2006/main">
              <a:ext uri="{FF2B5EF4-FFF2-40B4-BE49-F238E27FC236}">
                <a16:creationId xmlns:a16="http://schemas.microsoft.com/office/drawing/2014/main" id="{8ABC5A34-B4CD-448E-AD3A-A3BC11D729EB}"/>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A5D9A6DA-FA06-475C-BF35-4DC81A16E4F9}"/>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Hidden history changes transitions.</a:t>
            </a:r>
          </a:p>
        </p:txBody>
      </p:sp>
      <p:sp>
        <p:nvSpPr>
          <p:cNvPr id="19" name="right-bullet-5-marker-2">
            <a:extLst xmlns:a="http://schemas.openxmlformats.org/drawingml/2006/main">
              <a:ext uri="{FF2B5EF4-FFF2-40B4-BE49-F238E27FC236}">
                <a16:creationId xmlns:a16="http://schemas.microsoft.com/office/drawing/2014/main" id="{6BEDBB4F-A73F-4B47-88B5-0D300F3A70CB}"/>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C57FF205-F0D5-4F4A-84D6-F2A702C588F3}"/>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Same stored state has different futures.</a:t>
            </a:r>
          </a:p>
        </p:txBody>
      </p:sp>
      <p:sp>
        <p:nvSpPr>
          <p:cNvPr id="21" name="right-bullet-5-marker-3">
            <a:extLst xmlns:a="http://schemas.openxmlformats.org/drawingml/2006/main">
              <a:ext uri="{FF2B5EF4-FFF2-40B4-BE49-F238E27FC236}">
                <a16:creationId xmlns:a16="http://schemas.microsoft.com/office/drawing/2014/main" id="{A334A015-9DC1-44D1-A12D-77C74083EC95}"/>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85BADBFB-A514-40E0-B2AE-85247A49CC72}"/>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Bellman backup mixes incompatible cases.</a:t>
            </a:r>
          </a:p>
        </p:txBody>
      </p:sp>
      <p:sp>
        <p:nvSpPr>
          <p:cNvPr id="23" name="right-bullet-5-marker-4">
            <a:extLst xmlns:a="http://schemas.openxmlformats.org/drawingml/2006/main">
              <a:ext uri="{FF2B5EF4-FFF2-40B4-BE49-F238E27FC236}">
                <a16:creationId xmlns:a16="http://schemas.microsoft.com/office/drawing/2014/main" id="{5A69EFBE-25CA-44D1-8CAE-506341F58460}"/>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33A998C8-77CA-4464-90DC-A1B40DA6199D}"/>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Add the missing variable or belief.</a:t>
            </a:r>
          </a:p>
        </p:txBody>
      </p:sp>
    </p:spTree>
    <p:extLst>
      <p:ext uri="{BB962C8B-B14F-4D97-AF65-F5344CB8AC3E}">
        <p14:creationId xmlns:p14="http://schemas.microsoft.com/office/powerpoint/2010/main" val="7289222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F4363B32-F56D-4BB5-8BD4-E32DED99AB1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trajectory generates discounted return</a:t>
            </a:r>
          </a:p>
        </p:txBody>
      </p:sp>
      <p:sp>
        <p:nvSpPr>
          <p:cNvPr id="2" name="title-accent-6">
            <a:extLst xmlns:a="http://schemas.openxmlformats.org/drawingml/2006/main">
              <a:ext uri="{FF2B5EF4-FFF2-40B4-BE49-F238E27FC236}">
                <a16:creationId xmlns:a16="http://schemas.microsoft.com/office/drawing/2014/main" id="{F9C1CFB2-845F-422B-9D3A-50FFE15DEB7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0EC7AC49-B3AF-4AF7-99BA-5554EC29450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6">
            <a:extLst xmlns:a="http://schemas.openxmlformats.org/drawingml/2006/main">
              <a:ext uri="{FF2B5EF4-FFF2-40B4-BE49-F238E27FC236}">
                <a16:creationId xmlns:a16="http://schemas.microsoft.com/office/drawing/2014/main" id="{B871A997-7581-40D4-8F0A-C48421CE5A5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E88B221E-DE9A-40E5-98D9-1330AE8C904E}"/>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215F442D-E23A-4AEF-871C-F80B588AB330}"/>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52598F0C-871B-4CCB-A6EB-DC3F4E388962}"/>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Observe</a:t>
            </a:r>
          </a:p>
        </p:txBody>
      </p:sp>
      <p:sp>
        <p:nvSpPr>
          <p:cNvPr id="13" name="process-detail-6-1">
            <a:extLst xmlns:a="http://schemas.openxmlformats.org/drawingml/2006/main">
              <a:ext uri="{FF2B5EF4-FFF2-40B4-BE49-F238E27FC236}">
                <a16:creationId xmlns:a16="http://schemas.microsoft.com/office/drawing/2014/main" id="{CD999D36-1C04-4749-8B2B-2729DF334193}"/>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Receive state S_t.</a:t>
            </a:r>
          </a:p>
        </p:txBody>
      </p:sp>
      <p:sp>
        <p:nvSpPr>
          <p:cNvPr id="14" name="process-node-6-2">
            <a:extLst xmlns:a="http://schemas.openxmlformats.org/drawingml/2006/main">
              <a:ext uri="{FF2B5EF4-FFF2-40B4-BE49-F238E27FC236}">
                <a16:creationId xmlns:a16="http://schemas.microsoft.com/office/drawing/2014/main" id="{61B4499C-F3DF-40AE-9E8B-41A272B25F1F}"/>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011BA577-7F79-42BA-AEC5-8B39DE52FB5D}"/>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28BB45B0-BDAB-4B00-B4A0-E14F52F94BA5}"/>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Act</a:t>
            </a:r>
          </a:p>
        </p:txBody>
      </p:sp>
      <p:sp>
        <p:nvSpPr>
          <p:cNvPr id="17" name="process-detail-6-2">
            <a:extLst xmlns:a="http://schemas.openxmlformats.org/drawingml/2006/main">
              <a:ext uri="{FF2B5EF4-FFF2-40B4-BE49-F238E27FC236}">
                <a16:creationId xmlns:a16="http://schemas.microsoft.com/office/drawing/2014/main" id="{822EA5FB-4356-4E21-91C7-7D0458EFCB0D}"/>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Sample A_t from policy.</a:t>
            </a:r>
          </a:p>
        </p:txBody>
      </p:sp>
      <p:sp>
        <p:nvSpPr>
          <p:cNvPr id="18" name="process-node-6-3">
            <a:extLst xmlns:a="http://schemas.openxmlformats.org/drawingml/2006/main">
              <a:ext uri="{FF2B5EF4-FFF2-40B4-BE49-F238E27FC236}">
                <a16:creationId xmlns:a16="http://schemas.microsoft.com/office/drawing/2014/main" id="{7C7C658F-D082-47DF-9B33-D749BEF77938}"/>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7E8DCF5C-C57D-486E-AB1D-927A8043E3EE}"/>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BA809D33-E6A1-4879-AE27-AF5E3D26C6B0}"/>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Transition</a:t>
            </a:r>
          </a:p>
        </p:txBody>
      </p:sp>
      <p:sp>
        <p:nvSpPr>
          <p:cNvPr id="21" name="process-detail-6-3">
            <a:extLst xmlns:a="http://schemas.openxmlformats.org/drawingml/2006/main">
              <a:ext uri="{FF2B5EF4-FFF2-40B4-BE49-F238E27FC236}">
                <a16:creationId xmlns:a16="http://schemas.microsoft.com/office/drawing/2014/main" id="{A509C917-6F39-4A0F-8B75-63CAB205C349}"/>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Sample S_(t+1) from P.</a:t>
            </a:r>
          </a:p>
        </p:txBody>
      </p:sp>
      <p:sp>
        <p:nvSpPr>
          <p:cNvPr id="22" name="process-node-6-4">
            <a:extLst xmlns:a="http://schemas.openxmlformats.org/drawingml/2006/main">
              <a:ext uri="{FF2B5EF4-FFF2-40B4-BE49-F238E27FC236}">
                <a16:creationId xmlns:a16="http://schemas.microsoft.com/office/drawing/2014/main" id="{BF37474C-FC61-43B1-87B7-8B0AC4ABE75D}"/>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459480FD-9778-4779-A5F8-B79E79B19F03}"/>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84B79B15-CD46-4D40-B1C6-E5D32D1991F8}"/>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Reward</a:t>
            </a:r>
          </a:p>
        </p:txBody>
      </p:sp>
      <p:sp>
        <p:nvSpPr>
          <p:cNvPr id="25" name="process-detail-6-4">
            <a:extLst xmlns:a="http://schemas.openxmlformats.org/drawingml/2006/main">
              <a:ext uri="{FF2B5EF4-FFF2-40B4-BE49-F238E27FC236}">
                <a16:creationId xmlns:a16="http://schemas.microsoft.com/office/drawing/2014/main" id="{A1991BF5-0B57-4D35-A393-FCE0FB2EC49E}"/>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Receive R_(t+1).</a:t>
            </a:r>
          </a:p>
        </p:txBody>
      </p:sp>
      <p:sp>
        <p:nvSpPr>
          <p:cNvPr id="26" name="process-node-6-5">
            <a:extLst xmlns:a="http://schemas.openxmlformats.org/drawingml/2006/main">
              <a:ext uri="{FF2B5EF4-FFF2-40B4-BE49-F238E27FC236}">
                <a16:creationId xmlns:a16="http://schemas.microsoft.com/office/drawing/2014/main" id="{D3BEBBB3-CAE7-490F-8BFA-AFE0026A5B9A}"/>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9D74E1E0-3CE4-446E-9623-3A24AD642966}"/>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611F5B99-6A33-419E-9751-E2D88E4FF272}"/>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Accumulate</a:t>
            </a:r>
          </a:p>
        </p:txBody>
      </p:sp>
      <p:sp>
        <p:nvSpPr>
          <p:cNvPr id="29" name="process-detail-6-5">
            <a:extLst xmlns:a="http://schemas.openxmlformats.org/drawingml/2006/main">
              <a:ext uri="{FF2B5EF4-FFF2-40B4-BE49-F238E27FC236}">
                <a16:creationId xmlns:a16="http://schemas.microsoft.com/office/drawing/2014/main" id="{CE4F0FEF-17E6-4B10-B9C9-B6D4D238FC36}"/>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Discount and sum future rewards.</a:t>
            </a:r>
          </a:p>
        </p:txBody>
      </p:sp>
      <p:sp>
        <p:nvSpPr>
          <p:cNvPr id="30" name="process-takeaway-6">
            <a:extLst xmlns:a="http://schemas.openxmlformats.org/drawingml/2006/main">
              <a:ext uri="{FF2B5EF4-FFF2-40B4-BE49-F238E27FC236}">
                <a16:creationId xmlns:a16="http://schemas.microsoft.com/office/drawing/2014/main" id="{8F24C054-D36B-4C52-B2E3-668206600D0B}"/>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Return evaluates a sequence, while reward labels one transition.</a:t>
            </a:r>
          </a:p>
        </p:txBody>
      </p:sp>
    </p:spTree>
    <p:extLst>
      <p:ext uri="{BB962C8B-B14F-4D97-AF65-F5344CB8AC3E}">
        <p14:creationId xmlns:p14="http://schemas.microsoft.com/office/powerpoint/2010/main" val="9697162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CC7C20B3-A7F6-4672-B89F-C5FB442BE42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simulator exposes the MDP interface</a:t>
            </a:r>
          </a:p>
        </p:txBody>
      </p:sp>
      <p:sp>
        <p:nvSpPr>
          <p:cNvPr id="2" name="title-accent-7">
            <a:extLst xmlns:a="http://schemas.openxmlformats.org/drawingml/2006/main">
              <a:ext uri="{FF2B5EF4-FFF2-40B4-BE49-F238E27FC236}">
                <a16:creationId xmlns:a16="http://schemas.microsoft.com/office/drawing/2014/main" id="{57C667C7-5EB4-4E10-9C86-426F5E61A2D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6C61F409-1E0B-47D2-8C9A-D24E7227CBE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7">
            <a:extLst xmlns:a="http://schemas.openxmlformats.org/drawingml/2006/main">
              <a:ext uri="{FF2B5EF4-FFF2-40B4-BE49-F238E27FC236}">
                <a16:creationId xmlns:a16="http://schemas.microsoft.com/office/drawing/2014/main" id="{231CB38F-62BC-4820-AE9A-81DEAD7406B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C4F28CCC-7658-440A-95B2-C5F45CB538FC}"/>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E43DC219-F03C-4DA8-AA88-4B4E0C115C1F}"/>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state = env.reset()</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done = false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return_value = 0</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discount = 1</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while not done: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action = policy.sample(state)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next_state, reward, done = env.step(action)</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return_value += discount * reward</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discount *= gamma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state = next_state</a:t>
            </a:r>
          </a:p>
        </p:txBody>
      </p:sp>
      <p:sp>
        <p:nvSpPr>
          <p:cNvPr id="8" name="code-rail-title-7">
            <a:extLst xmlns:a="http://schemas.openxmlformats.org/drawingml/2006/main">
              <a:ext uri="{FF2B5EF4-FFF2-40B4-BE49-F238E27FC236}">
                <a16:creationId xmlns:a16="http://schemas.microsoft.com/office/drawing/2014/main" id="{8B0D4CE8-1E1E-4CBA-B922-818ECFDE0FDE}"/>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Model contracts</a:t>
            </a:r>
          </a:p>
        </p:txBody>
      </p:sp>
      <p:sp>
        <p:nvSpPr>
          <p:cNvPr id="9" name="code-rail-7-marker-1">
            <a:extLst xmlns:a="http://schemas.openxmlformats.org/drawingml/2006/main">
              <a:ext uri="{FF2B5EF4-FFF2-40B4-BE49-F238E27FC236}">
                <a16:creationId xmlns:a16="http://schemas.microsoft.com/office/drawing/2014/main" id="{EFE9D76C-2D0E-4642-9526-7882D7D4C11C}"/>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132EEA66-C76E-4630-BB56-AEC1F52AE85B}"/>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is Markov.</a:t>
            </a:r>
          </a:p>
        </p:txBody>
      </p:sp>
      <p:sp>
        <p:nvSpPr>
          <p:cNvPr id="11" name="code-rail-7-marker-2">
            <a:extLst xmlns:a="http://schemas.openxmlformats.org/drawingml/2006/main">
              <a:ext uri="{FF2B5EF4-FFF2-40B4-BE49-F238E27FC236}">
                <a16:creationId xmlns:a16="http://schemas.microsoft.com/office/drawing/2014/main" id="{8BBC4C03-F1B4-4675-BE44-8AEC79F5A5A7}"/>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7A902755-6697-471F-88A2-976CCA79F5EC}"/>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Policy sees state only.</a:t>
            </a:r>
          </a:p>
        </p:txBody>
      </p:sp>
      <p:sp>
        <p:nvSpPr>
          <p:cNvPr id="13" name="code-rail-7-marker-3">
            <a:extLst xmlns:a="http://schemas.openxmlformats.org/drawingml/2006/main">
              <a:ext uri="{FF2B5EF4-FFF2-40B4-BE49-F238E27FC236}">
                <a16:creationId xmlns:a16="http://schemas.microsoft.com/office/drawing/2014/main" id="{E4C806B8-DE11-492E-BB52-07AA75536044}"/>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B425A472-736C-4082-8D4F-6ED4EA67F8BF}"/>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Step samples P.</a:t>
            </a:r>
          </a:p>
        </p:txBody>
      </p:sp>
      <p:sp>
        <p:nvSpPr>
          <p:cNvPr id="15" name="code-rail-7-marker-4">
            <a:extLst xmlns:a="http://schemas.openxmlformats.org/drawingml/2006/main">
              <a:ext uri="{FF2B5EF4-FFF2-40B4-BE49-F238E27FC236}">
                <a16:creationId xmlns:a16="http://schemas.microsoft.com/office/drawing/2014/main" id="{4096AD0A-0D1D-4964-9A44-E3428BC364B8}"/>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E62876C2-3767-44CF-BA45-52FA7463F581}"/>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Terminal stops future reward.</a:t>
            </a:r>
          </a:p>
        </p:txBody>
      </p:sp>
    </p:spTree>
    <p:extLst>
      <p:ext uri="{BB962C8B-B14F-4D97-AF65-F5344CB8AC3E}">
        <p14:creationId xmlns:p14="http://schemas.microsoft.com/office/powerpoint/2010/main" val="10465728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2EE20F8A-04A0-4CD6-B353-609499883A3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return calculation</a:t>
            </a:r>
          </a:p>
        </p:txBody>
      </p:sp>
      <p:sp>
        <p:nvSpPr>
          <p:cNvPr id="2" name="title-accent-8">
            <a:extLst xmlns:a="http://schemas.openxmlformats.org/drawingml/2006/main">
              <a:ext uri="{FF2B5EF4-FFF2-40B4-BE49-F238E27FC236}">
                <a16:creationId xmlns:a16="http://schemas.microsoft.com/office/drawing/2014/main" id="{6CF33D1F-0AF4-4BDF-BEE5-DC66711A154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684653CC-D4FF-4085-BA77-86AA88606A8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8">
            <a:extLst xmlns:a="http://schemas.openxmlformats.org/drawingml/2006/main">
              <a:ext uri="{FF2B5EF4-FFF2-40B4-BE49-F238E27FC236}">
                <a16:creationId xmlns:a16="http://schemas.microsoft.com/office/drawing/2014/main" id="{8131382D-FEC0-4F5B-9D87-E0DE478943C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CD98FBA2-EBBF-4584-8D26-C44BA2B79EC3}"/>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22F8A155-DDAE-400D-8586-344EC1832504}"/>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trajectory yields rewards 2, -1, and 5 with gamma=0.9.</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340CCC74-AD8F-42BB-952C-28D77C974AE2}"/>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A2AFBD9B-9D5B-4A95-AAA7-51D7F010338E}"/>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Weight the first reward by 1.</a:t>
            </a:r>
          </a:p>
        </p:txBody>
      </p:sp>
      <p:sp>
        <p:nvSpPr>
          <p:cNvPr id="11" name="example-step-8-marker-2">
            <a:extLst xmlns:a="http://schemas.openxmlformats.org/drawingml/2006/main">
              <a:ext uri="{FF2B5EF4-FFF2-40B4-BE49-F238E27FC236}">
                <a16:creationId xmlns:a16="http://schemas.microsoft.com/office/drawing/2014/main" id="{44608ABF-8130-4610-95B7-7881F9EDC115}"/>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8FABC85F-E8A3-4BC7-85DE-835AE93197C1}"/>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Weight the second by 0.9.</a:t>
            </a:r>
          </a:p>
        </p:txBody>
      </p:sp>
      <p:sp>
        <p:nvSpPr>
          <p:cNvPr id="13" name="example-step-8-marker-3">
            <a:extLst xmlns:a="http://schemas.openxmlformats.org/drawingml/2006/main">
              <a:ext uri="{FF2B5EF4-FFF2-40B4-BE49-F238E27FC236}">
                <a16:creationId xmlns:a16="http://schemas.microsoft.com/office/drawing/2014/main" id="{53A34F6B-BC01-4C48-91C5-22BE036A5985}"/>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341FCBBC-33F2-4DAC-A51D-92BAE6DD4864}"/>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Weight the third by 0.9^2.</a:t>
            </a:r>
          </a:p>
        </p:txBody>
      </p:sp>
      <p:sp>
        <p:nvSpPr>
          <p:cNvPr id="15" name="example-step-8-marker-4">
            <a:extLst xmlns:a="http://schemas.openxmlformats.org/drawingml/2006/main">
              <a:ext uri="{FF2B5EF4-FFF2-40B4-BE49-F238E27FC236}">
                <a16:creationId xmlns:a16="http://schemas.microsoft.com/office/drawing/2014/main" id="{469197BC-7B5E-44B6-BECC-3444787030EF}"/>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5B6BBE0F-8E3C-4632-8F51-FF4A19C05F20}"/>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Add 2-0.9+4.05.</a:t>
            </a:r>
          </a:p>
        </p:txBody>
      </p:sp>
      <p:sp>
        <p:nvSpPr>
          <p:cNvPr id="17" name="example-result-panel-8">
            <a:extLst xmlns:a="http://schemas.openxmlformats.org/drawingml/2006/main">
              <a:ext uri="{FF2B5EF4-FFF2-40B4-BE49-F238E27FC236}">
                <a16:creationId xmlns:a16="http://schemas.microsoft.com/office/drawing/2014/main" id="{4FDCFC36-E369-4DEE-A818-121D1092443B}"/>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0BDA48DE-5FCA-4B8C-99F1-1B07337A72BC}"/>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discounted return is 5.15.</a:t>
            </a:r>
          </a:p>
        </p:txBody>
      </p:sp>
    </p:spTree>
    <p:extLst>
      <p:ext uri="{BB962C8B-B14F-4D97-AF65-F5344CB8AC3E}">
        <p14:creationId xmlns:p14="http://schemas.microsoft.com/office/powerpoint/2010/main" val="18324187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5D01322F-AD30-4020-BC82-76BFBD7FC16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Value functions answer related conditional questions</a:t>
            </a:r>
          </a:p>
        </p:txBody>
      </p:sp>
      <p:sp>
        <p:nvSpPr>
          <p:cNvPr id="2" name="title-accent-9">
            <a:extLst xmlns:a="http://schemas.openxmlformats.org/drawingml/2006/main">
              <a:ext uri="{FF2B5EF4-FFF2-40B4-BE49-F238E27FC236}">
                <a16:creationId xmlns:a16="http://schemas.microsoft.com/office/drawing/2014/main" id="{00186C21-E064-400E-AE93-B7561DF42FD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9FAF9651-FC56-44DC-B44D-2CE412B5FCE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9">
            <a:extLst xmlns:a="http://schemas.openxmlformats.org/drawingml/2006/main">
              <a:ext uri="{FF2B5EF4-FFF2-40B4-BE49-F238E27FC236}">
                <a16:creationId xmlns:a16="http://schemas.microsoft.com/office/drawing/2014/main" id="{27E6B0CE-2EB5-4EA9-AC9A-1CD5DB83C6F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D4807BA6-F0C6-4F48-AFF1-8D158A182E07}"/>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V^pi(s)</a:t>
            </a:r>
          </a:p>
        </p:txBody>
      </p:sp>
      <p:sp>
        <p:nvSpPr>
          <p:cNvPr id="7" name="comparison-tagline-9-1">
            <a:extLst xmlns:a="http://schemas.openxmlformats.org/drawingml/2006/main">
              <a:ext uri="{FF2B5EF4-FFF2-40B4-BE49-F238E27FC236}">
                <a16:creationId xmlns:a16="http://schemas.microsoft.com/office/drawing/2014/main" id="{8C03AAD4-5ECD-4EC2-9308-B7D882605692}"/>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State value</a:t>
            </a:r>
          </a:p>
        </p:txBody>
      </p:sp>
      <p:sp>
        <p:nvSpPr>
          <p:cNvPr id="8" name="comparison-bullet-9-1-marker-1">
            <a:extLst xmlns:a="http://schemas.openxmlformats.org/drawingml/2006/main">
              <a:ext uri="{FF2B5EF4-FFF2-40B4-BE49-F238E27FC236}">
                <a16:creationId xmlns:a16="http://schemas.microsoft.com/office/drawing/2014/main" id="{6796B0F2-754F-4C4D-A59A-6168DEA0A0C2}"/>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107E9A47-4D17-4F89-9112-90C7188B2FF0}"/>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Expected return from s.</a:t>
            </a:r>
          </a:p>
        </p:txBody>
      </p:sp>
      <p:sp>
        <p:nvSpPr>
          <p:cNvPr id="10" name="comparison-bullet-9-1-marker-2">
            <a:extLst xmlns:a="http://schemas.openxmlformats.org/drawingml/2006/main">
              <a:ext uri="{FF2B5EF4-FFF2-40B4-BE49-F238E27FC236}">
                <a16:creationId xmlns:a16="http://schemas.microsoft.com/office/drawing/2014/main" id="{EE3A79F1-33CD-4EE2-A545-A44C090ECC27}"/>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4CE1F497-5103-4A42-BA63-C02AC9645DAD}"/>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Follow pi immediately.</a:t>
            </a:r>
          </a:p>
        </p:txBody>
      </p:sp>
      <p:sp>
        <p:nvSpPr>
          <p:cNvPr id="12" name="comparison-bullet-9-1-marker-3">
            <a:extLst xmlns:a="http://schemas.openxmlformats.org/drawingml/2006/main">
              <a:ext uri="{FF2B5EF4-FFF2-40B4-BE49-F238E27FC236}">
                <a16:creationId xmlns:a16="http://schemas.microsoft.com/office/drawing/2014/main" id="{8EC50DCB-ABEC-4941-8158-1AFE211F4891}"/>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9B44AFF1-4FB5-4195-AD2A-CDD06F71E6E6}"/>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Averages over policy actions.</a:t>
            </a:r>
          </a:p>
        </p:txBody>
      </p:sp>
      <p:sp>
        <p:nvSpPr>
          <p:cNvPr id="14" name="comparison-bullet-9-1-marker-4">
            <a:extLst xmlns:a="http://schemas.openxmlformats.org/drawingml/2006/main">
              <a:ext uri="{FF2B5EF4-FFF2-40B4-BE49-F238E27FC236}">
                <a16:creationId xmlns:a16="http://schemas.microsoft.com/office/drawing/2014/main" id="{CC27210A-37FB-43E8-8C3D-FE717147027F}"/>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795902E7-3401-4B06-BFF8-744B77B4961C}"/>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One value per state.</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BC5515AC-C318-4DCB-948B-49929EFAEFD7}"/>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Q^pi(s,a)</a:t>
            </a:r>
          </a:p>
        </p:txBody>
      </p:sp>
      <p:sp>
        <p:nvSpPr>
          <p:cNvPr id="18" name="comparison-tagline-9-2">
            <a:extLst xmlns:a="http://schemas.openxmlformats.org/drawingml/2006/main">
              <a:ext uri="{FF2B5EF4-FFF2-40B4-BE49-F238E27FC236}">
                <a16:creationId xmlns:a16="http://schemas.microsoft.com/office/drawing/2014/main" id="{1836FC80-1370-4AD0-9267-EE7200DBE8B9}"/>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Action value</a:t>
            </a:r>
          </a:p>
        </p:txBody>
      </p:sp>
      <p:sp>
        <p:nvSpPr>
          <p:cNvPr id="19" name="comparison-bullet-9-2-marker-1">
            <a:extLst xmlns:a="http://schemas.openxmlformats.org/drawingml/2006/main">
              <a:ext uri="{FF2B5EF4-FFF2-40B4-BE49-F238E27FC236}">
                <a16:creationId xmlns:a16="http://schemas.microsoft.com/office/drawing/2014/main" id="{6B11A44D-96A6-468C-92D4-856C2ABA79DF}"/>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712FB52E-B40C-4D23-953B-EE244AC8D6CD}"/>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Expected return after action a.</a:t>
            </a:r>
          </a:p>
        </p:txBody>
      </p:sp>
      <p:sp>
        <p:nvSpPr>
          <p:cNvPr id="21" name="comparison-bullet-9-2-marker-2">
            <a:extLst xmlns:a="http://schemas.openxmlformats.org/drawingml/2006/main">
              <a:ext uri="{FF2B5EF4-FFF2-40B4-BE49-F238E27FC236}">
                <a16:creationId xmlns:a16="http://schemas.microsoft.com/office/drawing/2014/main" id="{290B9C37-0F77-4263-8E10-5F5E4DD044A3}"/>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02A3A2C7-406F-448D-9350-698201ED7075}"/>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Then follow pi.</a:t>
            </a:r>
          </a:p>
        </p:txBody>
      </p:sp>
      <p:sp>
        <p:nvSpPr>
          <p:cNvPr id="23" name="comparison-bullet-9-2-marker-3">
            <a:extLst xmlns:a="http://schemas.openxmlformats.org/drawingml/2006/main">
              <a:ext uri="{FF2B5EF4-FFF2-40B4-BE49-F238E27FC236}">
                <a16:creationId xmlns:a16="http://schemas.microsoft.com/office/drawing/2014/main" id="{42E173CB-ED4A-4626-B814-B421BEA99D0D}"/>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D93DD6F5-E113-43C7-9105-2257A0D217AC}"/>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Supports action comparison.</a:t>
            </a:r>
          </a:p>
        </p:txBody>
      </p:sp>
      <p:sp>
        <p:nvSpPr>
          <p:cNvPr id="25" name="comparison-bullet-9-2-marker-4">
            <a:extLst xmlns:a="http://schemas.openxmlformats.org/drawingml/2006/main">
              <a:ext uri="{FF2B5EF4-FFF2-40B4-BE49-F238E27FC236}">
                <a16:creationId xmlns:a16="http://schemas.microsoft.com/office/drawing/2014/main" id="{DA25BB65-88EF-43F2-8797-65669E645784}"/>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74A4710C-4774-415F-A18C-0155CCD8298C}"/>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One value per state-action.</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391CF4B9-A5E6-403D-B850-272CA2090E8C}"/>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Policy pi(a|s)</a:t>
            </a:r>
          </a:p>
        </p:txBody>
      </p:sp>
      <p:sp>
        <p:nvSpPr>
          <p:cNvPr id="29" name="comparison-tagline-9-3">
            <a:extLst xmlns:a="http://schemas.openxmlformats.org/drawingml/2006/main">
              <a:ext uri="{FF2B5EF4-FFF2-40B4-BE49-F238E27FC236}">
                <a16:creationId xmlns:a16="http://schemas.microsoft.com/office/drawing/2014/main" id="{E39F1A96-10F6-432F-8529-6F2D436C5235}"/>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Behavior</a:t>
            </a:r>
          </a:p>
        </p:txBody>
      </p:sp>
      <p:sp>
        <p:nvSpPr>
          <p:cNvPr id="30" name="comparison-bullet-9-3-marker-1">
            <a:extLst xmlns:a="http://schemas.openxmlformats.org/drawingml/2006/main">
              <a:ext uri="{FF2B5EF4-FFF2-40B4-BE49-F238E27FC236}">
                <a16:creationId xmlns:a16="http://schemas.microsoft.com/office/drawing/2014/main" id="{723374A6-262C-42C8-A061-F07E2F7B00ED}"/>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6183CC13-EC74-48D2-A7A3-CA59CA191D9F}"/>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Action distribution.</a:t>
            </a:r>
          </a:p>
        </p:txBody>
      </p:sp>
      <p:sp>
        <p:nvSpPr>
          <p:cNvPr id="32" name="comparison-bullet-9-3-marker-2">
            <a:extLst xmlns:a="http://schemas.openxmlformats.org/drawingml/2006/main">
              <a:ext uri="{FF2B5EF4-FFF2-40B4-BE49-F238E27FC236}">
                <a16:creationId xmlns:a16="http://schemas.microsoft.com/office/drawing/2014/main" id="{CAA1C2F6-4CE4-46DE-9DC2-B95041D29C28}"/>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E96374FB-D4FC-49C9-982D-0D6D6F560741}"/>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Can be deterministic.</a:t>
            </a:r>
          </a:p>
        </p:txBody>
      </p:sp>
      <p:sp>
        <p:nvSpPr>
          <p:cNvPr id="34" name="comparison-bullet-9-3-marker-3">
            <a:extLst xmlns:a="http://schemas.openxmlformats.org/drawingml/2006/main">
              <a:ext uri="{FF2B5EF4-FFF2-40B4-BE49-F238E27FC236}">
                <a16:creationId xmlns:a16="http://schemas.microsoft.com/office/drawing/2014/main" id="{09EB0DD5-69E5-48D5-B87A-1EBEF277F875}"/>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46CE5D71-D850-4B5C-8C47-54679E8D007C}"/>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Defines on-policy values.</a:t>
            </a:r>
          </a:p>
        </p:txBody>
      </p:sp>
      <p:sp>
        <p:nvSpPr>
          <p:cNvPr id="36" name="comparison-bullet-9-3-marker-4">
            <a:extLst xmlns:a="http://schemas.openxmlformats.org/drawingml/2006/main">
              <a:ext uri="{FF2B5EF4-FFF2-40B4-BE49-F238E27FC236}">
                <a16:creationId xmlns:a16="http://schemas.microsoft.com/office/drawing/2014/main" id="{A480CF05-F05E-4E98-9117-22953F714EF4}"/>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B36A9631-4744-4459-BDC8-A0E30CC55AFB}"/>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Must normalize by state.</a:t>
            </a:r>
          </a:p>
        </p:txBody>
      </p:sp>
    </p:spTree>
    <p:extLst>
      <p:ext uri="{BB962C8B-B14F-4D97-AF65-F5344CB8AC3E}">
        <p14:creationId xmlns:p14="http://schemas.microsoft.com/office/powerpoint/2010/main" val="17204811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D8E288C6-0B60-42F6-A7BD-C19C2684071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repair a non-Markov state</a:t>
            </a:r>
          </a:p>
        </p:txBody>
      </p:sp>
      <p:sp>
        <p:nvSpPr>
          <p:cNvPr id="2" name="title-accent-10">
            <a:extLst xmlns:a="http://schemas.openxmlformats.org/drawingml/2006/main">
              <a:ext uri="{FF2B5EF4-FFF2-40B4-BE49-F238E27FC236}">
                <a16:creationId xmlns:a16="http://schemas.microsoft.com/office/drawing/2014/main" id="{66417E81-89EB-4867-B80E-C97DD6F6719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E7043D08-0AC3-4205-8FB0-F3943421823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0">
            <a:extLst xmlns:a="http://schemas.openxmlformats.org/drawingml/2006/main">
              <a:ext uri="{FF2B5EF4-FFF2-40B4-BE49-F238E27FC236}">
                <a16:creationId xmlns:a16="http://schemas.microsoft.com/office/drawing/2014/main" id="{D822F159-5F0D-4282-AED3-AD6ECDEEB48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ACF36BEA-0E38-46E3-A476-0500F0FCBC83}"/>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D4FE4FA8-B098-4CE4-B101-A530A5BE6790}"/>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machine's failure probability depends on how many consecutive hours it has run, but state stores only current temperature. Is the state Markov?</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9FF880E2-6AEF-476B-85D5-BDD6767E0BBE}"/>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9581890C-DBAC-48F9-B7A4-1722AE10B8C9}"/>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hidden history that affects P.</a:t>
            </a:r>
          </a:p>
        </p:txBody>
      </p:sp>
      <p:sp>
        <p:nvSpPr>
          <p:cNvPr id="11" name="checkpoint-prompt-number-10-2">
            <a:extLst xmlns:a="http://schemas.openxmlformats.org/drawingml/2006/main">
              <a:ext uri="{FF2B5EF4-FFF2-40B4-BE49-F238E27FC236}">
                <a16:creationId xmlns:a16="http://schemas.microsoft.com/office/drawing/2014/main" id="{E9C71E9E-3FE7-4BE5-86B7-C5EDFE7A60C1}"/>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EA739953-8229-4D7E-8BD9-6F56DA0D8E78}"/>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a sufficient additional variable.</a:t>
            </a:r>
          </a:p>
        </p:txBody>
      </p:sp>
      <p:sp>
        <p:nvSpPr>
          <p:cNvPr id="13" name="checkpoint-prompt-number-10-3">
            <a:extLst xmlns:a="http://schemas.openxmlformats.org/drawingml/2006/main">
              <a:ext uri="{FF2B5EF4-FFF2-40B4-BE49-F238E27FC236}">
                <a16:creationId xmlns:a16="http://schemas.microsoft.com/office/drawing/2014/main" id="{E72EF84B-8EF9-4576-848A-863AF5AE8629}"/>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99DA54DB-4733-4255-B493-07D5C511A4F4}"/>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Explain the Bellman consequence.</a:t>
            </a:r>
          </a:p>
        </p:txBody>
      </p:sp>
    </p:spTree>
    <p:extLst>
      <p:ext uri="{BB962C8B-B14F-4D97-AF65-F5344CB8AC3E}">
        <p14:creationId xmlns:p14="http://schemas.microsoft.com/office/powerpoint/2010/main" val="15189733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E25B64B3-58E0-4BC6-95A8-25D70441718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Expectimax and MDPs share expectation but differ in scope</a:t>
            </a:r>
          </a:p>
        </p:txBody>
      </p:sp>
      <p:sp>
        <p:nvSpPr>
          <p:cNvPr id="2" name="title-accent-11">
            <a:extLst xmlns:a="http://schemas.openxmlformats.org/drawingml/2006/main">
              <a:ext uri="{FF2B5EF4-FFF2-40B4-BE49-F238E27FC236}">
                <a16:creationId xmlns:a16="http://schemas.microsoft.com/office/drawing/2014/main" id="{F83382F6-E0E9-4507-AA25-F348B16DD48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D2A7286E-1C58-4D07-820C-7429DD8FBB6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1">
            <a:extLst xmlns:a="http://schemas.openxmlformats.org/drawingml/2006/main">
              <a:ext uri="{FF2B5EF4-FFF2-40B4-BE49-F238E27FC236}">
                <a16:creationId xmlns:a16="http://schemas.microsoft.com/office/drawing/2014/main" id="{262FFF3F-8106-4CD2-B9A5-4FA3B9936D8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056E5453-7B92-4D9D-A6B0-7AB98A095FBF}"/>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One game-tree decision</a:t>
            </a:r>
          </a:p>
        </p:txBody>
      </p:sp>
      <p:sp>
        <p:nvSpPr>
          <p:cNvPr id="8" name="right-title-11">
            <a:extLst xmlns:a="http://schemas.openxmlformats.org/drawingml/2006/main">
              <a:ext uri="{FF2B5EF4-FFF2-40B4-BE49-F238E27FC236}">
                <a16:creationId xmlns:a16="http://schemas.microsoft.com/office/drawing/2014/main" id="{3A042B42-5623-4367-8371-CA2761A9B1D5}"/>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MDP policy problem</a:t>
            </a:r>
          </a:p>
        </p:txBody>
      </p:sp>
      <p:sp>
        <p:nvSpPr>
          <p:cNvPr id="9" name="left-bullet-11-marker-1">
            <a:extLst xmlns:a="http://schemas.openxmlformats.org/drawingml/2006/main">
              <a:ext uri="{FF2B5EF4-FFF2-40B4-BE49-F238E27FC236}">
                <a16:creationId xmlns:a16="http://schemas.microsoft.com/office/drawing/2014/main" id="{36214DE1-4544-4D1A-B036-A057912FCBFE}"/>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98ED370E-827F-41A7-8CED-2A2E03E80CAE}"/>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a root move.</a:t>
            </a:r>
          </a:p>
        </p:txBody>
      </p:sp>
      <p:sp>
        <p:nvSpPr>
          <p:cNvPr id="11" name="left-bullet-11-marker-2">
            <a:extLst xmlns:a="http://schemas.openxmlformats.org/drawingml/2006/main">
              <a:ext uri="{FF2B5EF4-FFF2-40B4-BE49-F238E27FC236}">
                <a16:creationId xmlns:a16="http://schemas.microsoft.com/office/drawing/2014/main" id="{56CF66F0-7B86-47A0-82B6-1E096700F1C1}"/>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58FA9157-BEF1-4B24-8EEA-9FA34C037037}"/>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Chance may appear at nodes.</a:t>
            </a:r>
          </a:p>
        </p:txBody>
      </p:sp>
      <p:sp>
        <p:nvSpPr>
          <p:cNvPr id="13" name="left-bullet-11-marker-3">
            <a:extLst xmlns:a="http://schemas.openxmlformats.org/drawingml/2006/main">
              <a:ext uri="{FF2B5EF4-FFF2-40B4-BE49-F238E27FC236}">
                <a16:creationId xmlns:a16="http://schemas.microsoft.com/office/drawing/2014/main" id="{F83424CE-CFB5-4CCF-8153-11ECD9CB7569}"/>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BBA995FF-06A9-402E-82ED-653158F27AD0}"/>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Finite lookahead is common.</a:t>
            </a:r>
          </a:p>
        </p:txBody>
      </p:sp>
      <p:sp>
        <p:nvSpPr>
          <p:cNvPr id="15" name="left-bullet-11-marker-4">
            <a:extLst xmlns:a="http://schemas.openxmlformats.org/drawingml/2006/main">
              <a:ext uri="{FF2B5EF4-FFF2-40B4-BE49-F238E27FC236}">
                <a16:creationId xmlns:a16="http://schemas.microsoft.com/office/drawing/2014/main" id="{5FDDE15C-D662-4438-9FA9-87C7DAB5E529}"/>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FA6864DD-9AC3-4109-B8BF-50D9CF836E72}"/>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 stationary behavior required.</a:t>
            </a:r>
          </a:p>
        </p:txBody>
      </p:sp>
      <p:sp>
        <p:nvSpPr>
          <p:cNvPr id="17" name="right-bullet-11-marker-1">
            <a:extLst xmlns:a="http://schemas.openxmlformats.org/drawingml/2006/main">
              <a:ext uri="{FF2B5EF4-FFF2-40B4-BE49-F238E27FC236}">
                <a16:creationId xmlns:a16="http://schemas.microsoft.com/office/drawing/2014/main" id="{B5C70BB0-148A-405A-B0A5-85AA00D0A834}"/>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92043555-E163-4A04-8A96-1BF6DDF9EB17}"/>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behavior for all states.</a:t>
            </a:r>
          </a:p>
        </p:txBody>
      </p:sp>
      <p:sp>
        <p:nvSpPr>
          <p:cNvPr id="19" name="right-bullet-11-marker-2">
            <a:extLst xmlns:a="http://schemas.openxmlformats.org/drawingml/2006/main">
              <a:ext uri="{FF2B5EF4-FFF2-40B4-BE49-F238E27FC236}">
                <a16:creationId xmlns:a16="http://schemas.microsoft.com/office/drawing/2014/main" id="{938A8282-B08C-4E65-BE9B-3178EF51366E}"/>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3222DDD9-7922-419B-A26B-DD2EACC91493}"/>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Environment persists.</a:t>
            </a:r>
          </a:p>
        </p:txBody>
      </p:sp>
      <p:sp>
        <p:nvSpPr>
          <p:cNvPr id="21" name="right-bullet-11-marker-3">
            <a:extLst xmlns:a="http://schemas.openxmlformats.org/drawingml/2006/main">
              <a:ext uri="{FF2B5EF4-FFF2-40B4-BE49-F238E27FC236}">
                <a16:creationId xmlns:a16="http://schemas.microsoft.com/office/drawing/2014/main" id="{B5CB9458-6F6A-466A-BA75-187A0CCFD440}"/>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75DA8C25-DFEA-49A1-B704-7FC85EDFC38C}"/>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Long or infinite horizon.</a:t>
            </a:r>
          </a:p>
        </p:txBody>
      </p:sp>
      <p:sp>
        <p:nvSpPr>
          <p:cNvPr id="23" name="right-bullet-11-marker-4">
            <a:extLst xmlns:a="http://schemas.openxmlformats.org/drawingml/2006/main">
              <a:ext uri="{FF2B5EF4-FFF2-40B4-BE49-F238E27FC236}">
                <a16:creationId xmlns:a16="http://schemas.microsoft.com/office/drawing/2014/main" id="{180F0543-EC9D-4CE7-BA28-7C193BD7891A}"/>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3522FBB5-C2FA-46DC-95F4-0A2EF4A82C60}"/>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Recursive values seek consistency.</a:t>
            </a:r>
          </a:p>
        </p:txBody>
      </p:sp>
    </p:spTree>
    <p:extLst>
      <p:ext uri="{BB962C8B-B14F-4D97-AF65-F5344CB8AC3E}">
        <p14:creationId xmlns:p14="http://schemas.microsoft.com/office/powerpoint/2010/main" val="10218969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D5F4FE6D-1A5D-4402-A3CA-E2B2527D4CC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Bellman expectation decomposes one step</a:t>
            </a:r>
          </a:p>
        </p:txBody>
      </p:sp>
      <p:sp>
        <p:nvSpPr>
          <p:cNvPr id="2" name="title-accent-12">
            <a:extLst xmlns:a="http://schemas.openxmlformats.org/drawingml/2006/main">
              <a:ext uri="{FF2B5EF4-FFF2-40B4-BE49-F238E27FC236}">
                <a16:creationId xmlns:a16="http://schemas.microsoft.com/office/drawing/2014/main" id="{0ED8B9B3-B19C-415E-8BC8-5711E96C3EC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951FFC07-5B5C-4723-B675-DA8CCB4599E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2">
            <a:extLst xmlns:a="http://schemas.openxmlformats.org/drawingml/2006/main">
              <a:ext uri="{FF2B5EF4-FFF2-40B4-BE49-F238E27FC236}">
                <a16:creationId xmlns:a16="http://schemas.microsoft.com/office/drawing/2014/main" id="{25E4C5B3-E052-468C-8705-BFFDB7FC5EF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970D5000-AABE-4923-BA79-D93749D7F2E7}"/>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1196376F-DDA3-4F53-A245-E2DE7AC5F6D2}"/>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V^pi(s) = sum_a pi(a|s) sum_s' P(s'|s,a)[R(s,a,s') + gamma V^pi(s')]</a:t>
            </a:r>
          </a:p>
        </p:txBody>
      </p:sp>
      <p:sp>
        <p:nvSpPr>
          <p:cNvPr id="8" name="formula-definition-12-marker-1">
            <a:extLst xmlns:a="http://schemas.openxmlformats.org/drawingml/2006/main">
              <a:ext uri="{FF2B5EF4-FFF2-40B4-BE49-F238E27FC236}">
                <a16:creationId xmlns:a16="http://schemas.microsoft.com/office/drawing/2014/main" id="{6531FE8B-1DBA-4CC8-B83A-E3E48BB304F8}"/>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2447E9E3-C22E-4114-91D1-2414147C4551}"/>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Outer sum averages policy actions.</a:t>
            </a:r>
          </a:p>
        </p:txBody>
      </p:sp>
      <p:sp>
        <p:nvSpPr>
          <p:cNvPr id="10" name="formula-definition-12-marker-2">
            <a:extLst xmlns:a="http://schemas.openxmlformats.org/drawingml/2006/main">
              <a:ext uri="{FF2B5EF4-FFF2-40B4-BE49-F238E27FC236}">
                <a16:creationId xmlns:a16="http://schemas.microsoft.com/office/drawing/2014/main" id="{AFB1742B-69A6-4F06-B038-1F488E576C44}"/>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534F6152-0131-4D54-A2AE-3317E9121105}"/>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Inner sum averages successor states.</a:t>
            </a:r>
          </a:p>
        </p:txBody>
      </p:sp>
      <p:sp>
        <p:nvSpPr>
          <p:cNvPr id="12" name="formula-definition-12-marker-3">
            <a:extLst xmlns:a="http://schemas.openxmlformats.org/drawingml/2006/main">
              <a:ext uri="{FF2B5EF4-FFF2-40B4-BE49-F238E27FC236}">
                <a16:creationId xmlns:a16="http://schemas.microsoft.com/office/drawing/2014/main" id="{BE323C76-B9C0-4B3A-8E42-CD8F377663A7}"/>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91988A1A-5EF8-4FD9-BBA9-1947465ACAF3}"/>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 is immediate reward.</a:t>
            </a:r>
          </a:p>
        </p:txBody>
      </p:sp>
      <p:sp>
        <p:nvSpPr>
          <p:cNvPr id="14" name="formula-definition-12-marker-4">
            <a:extLst xmlns:a="http://schemas.openxmlformats.org/drawingml/2006/main">
              <a:ext uri="{FF2B5EF4-FFF2-40B4-BE49-F238E27FC236}">
                <a16:creationId xmlns:a16="http://schemas.microsoft.com/office/drawing/2014/main" id="{5FDEAF02-5366-46DB-9EC5-5BB75AB4DEC4}"/>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D1E97623-A106-4016-A31E-7571C9584BCB}"/>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gamma V is discounted continuation value.</a:t>
            </a:r>
          </a:p>
        </p:txBody>
      </p:sp>
      <p:sp>
        <p:nvSpPr>
          <p:cNvPr id="16" name="formula-implication-panel-12">
            <a:extLst xmlns:a="http://schemas.openxmlformats.org/drawingml/2006/main">
              <a:ext uri="{FF2B5EF4-FFF2-40B4-BE49-F238E27FC236}">
                <a16:creationId xmlns:a16="http://schemas.microsoft.com/office/drawing/2014/main" id="{D2F801D4-75E1-4B42-8AFC-A6B395838A81}"/>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5D8BCAD2-152D-4ABD-B637-7E8DDE10F214}"/>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60BE67EA-70D6-49E0-9EEB-419103DAA698}"/>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A value function is a fixed point consistent with its policy and model.</a:t>
            </a:r>
          </a:p>
        </p:txBody>
      </p:sp>
    </p:spTree>
    <p:extLst>
      <p:ext uri="{BB962C8B-B14F-4D97-AF65-F5344CB8AC3E}">
        <p14:creationId xmlns:p14="http://schemas.microsoft.com/office/powerpoint/2010/main" val="101051563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01867B7F-0638-4224-AB66-F927A344DD6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Fixed-policy value in a two-state MDP</a:t>
            </a:r>
          </a:p>
        </p:txBody>
      </p:sp>
      <p:sp>
        <p:nvSpPr>
          <p:cNvPr id="2" name="title-accent-13">
            <a:extLst xmlns:a="http://schemas.openxmlformats.org/drawingml/2006/main">
              <a:ext uri="{FF2B5EF4-FFF2-40B4-BE49-F238E27FC236}">
                <a16:creationId xmlns:a16="http://schemas.microsoft.com/office/drawing/2014/main" id="{EF9D2BD1-03CC-4E6E-84BE-38387AE5EA5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B653C8FC-EC55-4458-A743-484B2A4F56C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3">
            <a:extLst xmlns:a="http://schemas.openxmlformats.org/drawingml/2006/main">
              <a:ext uri="{FF2B5EF4-FFF2-40B4-BE49-F238E27FC236}">
                <a16:creationId xmlns:a16="http://schemas.microsoft.com/office/drawing/2014/main" id="{4FD4A414-17E9-4D8D-B856-08FB02BF7F0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5F557FF2-0682-40D6-A0C4-2E12DF76822E}"/>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CC6C8EEF-61E2-47DB-867C-1311FFE48942}"/>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In state A, a fixed action gives reward 1 and stays in A with probability 0.5 or terminates with probability 0.5; gamma=0.8.</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D3EA20CF-9106-4A07-99E9-C0BC7DAA8220}"/>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A73C3D29-8ADB-4AFF-BB59-ECD6C5796D2D}"/>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Write V(A)=1+0.8[0.5 V(A)+0.5*0].</a:t>
            </a:r>
          </a:p>
        </p:txBody>
      </p:sp>
      <p:sp>
        <p:nvSpPr>
          <p:cNvPr id="11" name="example-step-13-marker-2">
            <a:extLst xmlns:a="http://schemas.openxmlformats.org/drawingml/2006/main">
              <a:ext uri="{FF2B5EF4-FFF2-40B4-BE49-F238E27FC236}">
                <a16:creationId xmlns:a16="http://schemas.microsoft.com/office/drawing/2014/main" id="{B9BEDFE9-A6FE-4157-960F-38394D1D8A7C}"/>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ED8FD10B-D0FF-4638-A1C9-6F196892A87A}"/>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Collect 0.4 V(A) on the left.</a:t>
            </a:r>
          </a:p>
        </p:txBody>
      </p:sp>
      <p:sp>
        <p:nvSpPr>
          <p:cNvPr id="13" name="example-step-13-marker-3">
            <a:extLst xmlns:a="http://schemas.openxmlformats.org/drawingml/2006/main">
              <a:ext uri="{FF2B5EF4-FFF2-40B4-BE49-F238E27FC236}">
                <a16:creationId xmlns:a16="http://schemas.microsoft.com/office/drawing/2014/main" id="{BD9907A2-B49D-4FA9-A390-8D0E3A2F1857}"/>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B0EB6C2B-1E0B-4009-8B95-DFD9999DE24F}"/>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Obtain 0.6 V(A)=1.</a:t>
            </a:r>
          </a:p>
        </p:txBody>
      </p:sp>
      <p:sp>
        <p:nvSpPr>
          <p:cNvPr id="15" name="example-step-13-marker-4">
            <a:extLst xmlns:a="http://schemas.openxmlformats.org/drawingml/2006/main">
              <a:ext uri="{FF2B5EF4-FFF2-40B4-BE49-F238E27FC236}">
                <a16:creationId xmlns:a16="http://schemas.microsoft.com/office/drawing/2014/main" id="{16D1A801-8550-4E16-AF54-7398134D4DE2}"/>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FC47C970-1762-49FA-BF13-90625AC05119}"/>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Divide by 0.6.</a:t>
            </a:r>
          </a:p>
        </p:txBody>
      </p:sp>
      <p:sp>
        <p:nvSpPr>
          <p:cNvPr id="17" name="example-result-panel-13">
            <a:extLst xmlns:a="http://schemas.openxmlformats.org/drawingml/2006/main">
              <a:ext uri="{FF2B5EF4-FFF2-40B4-BE49-F238E27FC236}">
                <a16:creationId xmlns:a16="http://schemas.microsoft.com/office/drawing/2014/main" id="{09806E6E-F1C3-4850-814D-E71E1AF31DC6}"/>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8B83DE1B-50D9-4520-B429-5099C01EDD96}"/>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V(A)=5/3, approximately 1.667.</a:t>
            </a:r>
          </a:p>
        </p:txBody>
      </p:sp>
    </p:spTree>
    <p:extLst>
      <p:ext uri="{BB962C8B-B14F-4D97-AF65-F5344CB8AC3E}">
        <p14:creationId xmlns:p14="http://schemas.microsoft.com/office/powerpoint/2010/main" val="1561973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B2F95527-D390-4DA0-8A91-DD61DF1B241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Discounting has mathematical and modeling roles</a:t>
            </a:r>
          </a:p>
        </p:txBody>
      </p:sp>
      <p:sp>
        <p:nvSpPr>
          <p:cNvPr id="2" name="title-accent-14">
            <a:extLst xmlns:a="http://schemas.openxmlformats.org/drawingml/2006/main">
              <a:ext uri="{FF2B5EF4-FFF2-40B4-BE49-F238E27FC236}">
                <a16:creationId xmlns:a16="http://schemas.microsoft.com/office/drawing/2014/main" id="{856EB6E8-0260-4B0C-BBF5-7B513D173C6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CA5A3F75-6358-452E-A03F-6C7DA7413C7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4">
            <a:extLst xmlns:a="http://schemas.openxmlformats.org/drawingml/2006/main">
              <a:ext uri="{FF2B5EF4-FFF2-40B4-BE49-F238E27FC236}">
                <a16:creationId xmlns:a16="http://schemas.microsoft.com/office/drawing/2014/main" id="{DBD6624E-F490-492F-AAC1-35B06D40CFF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00DFD026-2B62-4340-8252-55B64D0D2DCF}"/>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gamma=0</a:t>
            </a:r>
          </a:p>
        </p:txBody>
      </p:sp>
      <p:sp>
        <p:nvSpPr>
          <p:cNvPr id="7" name="comparison-tagline-14-1">
            <a:extLst xmlns:a="http://schemas.openxmlformats.org/drawingml/2006/main">
              <a:ext uri="{FF2B5EF4-FFF2-40B4-BE49-F238E27FC236}">
                <a16:creationId xmlns:a16="http://schemas.microsoft.com/office/drawing/2014/main" id="{201852B4-18FE-4B34-9526-19C1F75621AB}"/>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Immediate reward only</a:t>
            </a:r>
          </a:p>
        </p:txBody>
      </p:sp>
      <p:sp>
        <p:nvSpPr>
          <p:cNvPr id="8" name="comparison-bullet-14-1-marker-1">
            <a:extLst xmlns:a="http://schemas.openxmlformats.org/drawingml/2006/main">
              <a:ext uri="{FF2B5EF4-FFF2-40B4-BE49-F238E27FC236}">
                <a16:creationId xmlns:a16="http://schemas.microsoft.com/office/drawing/2014/main" id="{1F7F1FDC-1C3B-43D1-8115-A8CE1A535B35}"/>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35E8D647-4988-420D-B71D-0798800DDC7B}"/>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Future is ignored.</a:t>
            </a:r>
          </a:p>
        </p:txBody>
      </p:sp>
      <p:sp>
        <p:nvSpPr>
          <p:cNvPr id="10" name="comparison-bullet-14-1-marker-2">
            <a:extLst xmlns:a="http://schemas.openxmlformats.org/drawingml/2006/main">
              <a:ext uri="{FF2B5EF4-FFF2-40B4-BE49-F238E27FC236}">
                <a16:creationId xmlns:a16="http://schemas.microsoft.com/office/drawing/2014/main" id="{E47A3625-35FD-476A-8DAA-77360F86D910}"/>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6F287799-C18E-463B-936E-E71F8576AA75}"/>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Myopic behavior.</a:t>
            </a:r>
          </a:p>
        </p:txBody>
      </p:sp>
      <p:sp>
        <p:nvSpPr>
          <p:cNvPr id="12" name="comparison-bullet-14-1-marker-3">
            <a:extLst xmlns:a="http://schemas.openxmlformats.org/drawingml/2006/main">
              <a:ext uri="{FF2B5EF4-FFF2-40B4-BE49-F238E27FC236}">
                <a16:creationId xmlns:a16="http://schemas.microsoft.com/office/drawing/2014/main" id="{41ADCA3D-6226-4CC1-8361-CA04720B13DF}"/>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9655650D-5E83-407B-B338-EF21E7E8F933}"/>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Simple backup.</a:t>
            </a:r>
          </a:p>
        </p:txBody>
      </p:sp>
      <p:sp>
        <p:nvSpPr>
          <p:cNvPr id="14" name="comparison-bullet-14-1-marker-4">
            <a:extLst xmlns:a="http://schemas.openxmlformats.org/drawingml/2006/main">
              <a:ext uri="{FF2B5EF4-FFF2-40B4-BE49-F238E27FC236}">
                <a16:creationId xmlns:a16="http://schemas.microsoft.com/office/drawing/2014/main" id="{D25E7733-2285-4A40-B9AB-137FE297CB50}"/>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0CBA8CA3-A976-45FB-AC14-E93E9C6F6CEA}"/>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Useful boundary test.</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9927BFE0-31E6-4835-A13A-506FA82E02E1}"/>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0&lt;gamma&lt;1</a:t>
            </a:r>
          </a:p>
        </p:txBody>
      </p:sp>
      <p:sp>
        <p:nvSpPr>
          <p:cNvPr id="18" name="comparison-tagline-14-2">
            <a:extLst xmlns:a="http://schemas.openxmlformats.org/drawingml/2006/main">
              <a:ext uri="{FF2B5EF4-FFF2-40B4-BE49-F238E27FC236}">
                <a16:creationId xmlns:a16="http://schemas.microsoft.com/office/drawing/2014/main" id="{1330CA9E-0B32-4FA3-99E3-BB0A9A46F2CD}"/>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Geometric weighting</a:t>
            </a:r>
          </a:p>
        </p:txBody>
      </p:sp>
      <p:sp>
        <p:nvSpPr>
          <p:cNvPr id="19" name="comparison-bullet-14-2-marker-1">
            <a:extLst xmlns:a="http://schemas.openxmlformats.org/drawingml/2006/main">
              <a:ext uri="{FF2B5EF4-FFF2-40B4-BE49-F238E27FC236}">
                <a16:creationId xmlns:a16="http://schemas.microsoft.com/office/drawing/2014/main" id="{078758D9-98CD-4D99-B221-A1965DCBACF8}"/>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A1EF32FA-B964-46DF-8DEB-9F98C5FA2AB1}"/>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Delayed reward matters.</a:t>
            </a:r>
          </a:p>
        </p:txBody>
      </p:sp>
      <p:sp>
        <p:nvSpPr>
          <p:cNvPr id="21" name="comparison-bullet-14-2-marker-2">
            <a:extLst xmlns:a="http://schemas.openxmlformats.org/drawingml/2006/main">
              <a:ext uri="{FF2B5EF4-FFF2-40B4-BE49-F238E27FC236}">
                <a16:creationId xmlns:a16="http://schemas.microsoft.com/office/drawing/2014/main" id="{2FF17CE4-9342-4B42-B4C7-CFEB61177CD2}"/>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1A87E139-8465-4D6B-95B0-58415FF40675}"/>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Bounded infinite return.</a:t>
            </a:r>
          </a:p>
        </p:txBody>
      </p:sp>
      <p:sp>
        <p:nvSpPr>
          <p:cNvPr id="23" name="comparison-bullet-14-2-marker-3">
            <a:extLst xmlns:a="http://schemas.openxmlformats.org/drawingml/2006/main">
              <a:ext uri="{FF2B5EF4-FFF2-40B4-BE49-F238E27FC236}">
                <a16:creationId xmlns:a16="http://schemas.microsoft.com/office/drawing/2014/main" id="{34BA4D58-C627-4E54-B252-87D9D351BD83}"/>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ECE43EAF-DF3C-4FE6-AF21-7517BA8B8DF8}"/>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Contraction later applies.</a:t>
            </a:r>
          </a:p>
        </p:txBody>
      </p:sp>
      <p:sp>
        <p:nvSpPr>
          <p:cNvPr id="25" name="comparison-bullet-14-2-marker-4">
            <a:extLst xmlns:a="http://schemas.openxmlformats.org/drawingml/2006/main">
              <a:ext uri="{FF2B5EF4-FFF2-40B4-BE49-F238E27FC236}">
                <a16:creationId xmlns:a16="http://schemas.microsoft.com/office/drawing/2014/main" id="{FCB813C5-90BA-4206-878C-C5674ECC1AB4}"/>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757AB6E7-702E-47AC-892B-D1DDE4A6EBF5}"/>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Scale is interpretable.</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AB7DC5FE-4491-4A5A-990E-FDCCDDF7C154}"/>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gamma near 1</a:t>
            </a:r>
          </a:p>
        </p:txBody>
      </p:sp>
      <p:sp>
        <p:nvSpPr>
          <p:cNvPr id="29" name="comparison-tagline-14-3">
            <a:extLst xmlns:a="http://schemas.openxmlformats.org/drawingml/2006/main">
              <a:ext uri="{FF2B5EF4-FFF2-40B4-BE49-F238E27FC236}">
                <a16:creationId xmlns:a16="http://schemas.microsoft.com/office/drawing/2014/main" id="{3C59CB2F-CAAF-408D-A29B-20D97D4E4129}"/>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Long horizon</a:t>
            </a:r>
          </a:p>
        </p:txBody>
      </p:sp>
      <p:sp>
        <p:nvSpPr>
          <p:cNvPr id="30" name="comparison-bullet-14-3-marker-1">
            <a:extLst xmlns:a="http://schemas.openxmlformats.org/drawingml/2006/main">
              <a:ext uri="{FF2B5EF4-FFF2-40B4-BE49-F238E27FC236}">
                <a16:creationId xmlns:a16="http://schemas.microsoft.com/office/drawing/2014/main" id="{EEEF4E66-5F60-4DB9-9278-059D2DBF171E}"/>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0D3AEE89-1670-476F-84E0-1EB670ADDDDD}"/>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Future decays slowly.</a:t>
            </a:r>
          </a:p>
        </p:txBody>
      </p:sp>
      <p:sp>
        <p:nvSpPr>
          <p:cNvPr id="32" name="comparison-bullet-14-3-marker-2">
            <a:extLst xmlns:a="http://schemas.openxmlformats.org/drawingml/2006/main">
              <a:ext uri="{FF2B5EF4-FFF2-40B4-BE49-F238E27FC236}">
                <a16:creationId xmlns:a16="http://schemas.microsoft.com/office/drawing/2014/main" id="{EE4657D7-8B67-4146-AB8A-0DD76B97D782}"/>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E8AC2C0F-2215-419A-8167-D01F06861900}"/>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Values can be large.</a:t>
            </a:r>
          </a:p>
        </p:txBody>
      </p:sp>
      <p:sp>
        <p:nvSpPr>
          <p:cNvPr id="34" name="comparison-bullet-14-3-marker-3">
            <a:extLst xmlns:a="http://schemas.openxmlformats.org/drawingml/2006/main">
              <a:ext uri="{FF2B5EF4-FFF2-40B4-BE49-F238E27FC236}">
                <a16:creationId xmlns:a16="http://schemas.microsoft.com/office/drawing/2014/main" id="{E8637AF8-AF88-4520-9BFD-D5499E7E8B24}"/>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44F14AF1-7832-46A7-B1F3-6CA248C3A5B8}"/>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Convergence can slow.</a:t>
            </a:r>
          </a:p>
        </p:txBody>
      </p:sp>
      <p:sp>
        <p:nvSpPr>
          <p:cNvPr id="36" name="comparison-bullet-14-3-marker-4">
            <a:extLst xmlns:a="http://schemas.openxmlformats.org/drawingml/2006/main">
              <a:ext uri="{FF2B5EF4-FFF2-40B4-BE49-F238E27FC236}">
                <a16:creationId xmlns:a16="http://schemas.microsoft.com/office/drawing/2014/main" id="{0F3EE7B3-FEBD-4497-9ADE-10530544C36D}"/>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59A275AA-F72F-42B5-BE18-1C19ADE0F861}"/>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Numerical tolerance matters.</a:t>
            </a:r>
          </a:p>
        </p:txBody>
      </p:sp>
    </p:spTree>
    <p:extLst>
      <p:ext uri="{BB962C8B-B14F-4D97-AF65-F5344CB8AC3E}">
        <p14:creationId xmlns:p14="http://schemas.microsoft.com/office/powerpoint/2010/main" val="2694792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F845E7AF-CF3C-418E-ACCF-EB85AD63AA0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apply the Bellman equation</a:t>
            </a:r>
          </a:p>
        </p:txBody>
      </p:sp>
      <p:sp>
        <p:nvSpPr>
          <p:cNvPr id="2" name="title-accent-15">
            <a:extLst xmlns:a="http://schemas.openxmlformats.org/drawingml/2006/main">
              <a:ext uri="{FF2B5EF4-FFF2-40B4-BE49-F238E27FC236}">
                <a16:creationId xmlns:a16="http://schemas.microsoft.com/office/drawing/2014/main" id="{0703EED0-D849-438D-B4B3-D03D33D1F82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9745A8EA-293E-4246-868D-CDB07ADC1A7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5">
            <a:extLst xmlns:a="http://schemas.openxmlformats.org/drawingml/2006/main">
              <a:ext uri="{FF2B5EF4-FFF2-40B4-BE49-F238E27FC236}">
                <a16:creationId xmlns:a16="http://schemas.microsoft.com/office/drawing/2014/main" id="{1B075BF6-B4EB-4A37-84C1-C82145EAFB4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29015401-7393-4E5F-A52D-B6597CFD6880}"/>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DB9C07D9-79AC-41E3-B64A-D0410856D704}"/>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deterministic policy receives reward 3, moves to state B, and V^pi(B)=4 with gamma=0.5. What is V^pi(A)?</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FCBA86DA-BAD4-4578-A5EA-0F0CDD751AF8}"/>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633F8C11-957E-42C2-9D8B-61CC636E77AA}"/>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 the one available action.</a:t>
            </a:r>
          </a:p>
        </p:txBody>
      </p:sp>
      <p:sp>
        <p:nvSpPr>
          <p:cNvPr id="11" name="checkpoint-prompt-number-15-2">
            <a:extLst xmlns:a="http://schemas.openxmlformats.org/drawingml/2006/main">
              <a:ext uri="{FF2B5EF4-FFF2-40B4-BE49-F238E27FC236}">
                <a16:creationId xmlns:a16="http://schemas.microsoft.com/office/drawing/2014/main" id="{6D14DC64-57AF-44BD-BBC6-F6D3327155C8}"/>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6CACB1D5-1EE7-4C76-B2CF-4083EEF588FA}"/>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 successor probability 1.</a:t>
            </a:r>
          </a:p>
        </p:txBody>
      </p:sp>
      <p:sp>
        <p:nvSpPr>
          <p:cNvPr id="13" name="checkpoint-prompt-number-15-3">
            <a:extLst xmlns:a="http://schemas.openxmlformats.org/drawingml/2006/main">
              <a:ext uri="{FF2B5EF4-FFF2-40B4-BE49-F238E27FC236}">
                <a16:creationId xmlns:a16="http://schemas.microsoft.com/office/drawing/2014/main" id="{4C922718-5624-4899-904F-E783E9A663A6}"/>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B5211369-1F8B-44CB-BE9D-BEE417E5C9C6}"/>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Add reward and discounted continuation.</a:t>
            </a:r>
          </a:p>
        </p:txBody>
      </p:sp>
    </p:spTree>
    <p:extLst>
      <p:ext uri="{BB962C8B-B14F-4D97-AF65-F5344CB8AC3E}">
        <p14:creationId xmlns:p14="http://schemas.microsoft.com/office/powerpoint/2010/main" val="12154715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C391A9DD-E1B9-4FAD-9CFB-92C75E545AA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Validate an MDP before solving it</a:t>
            </a:r>
          </a:p>
        </p:txBody>
      </p:sp>
      <p:sp>
        <p:nvSpPr>
          <p:cNvPr id="2" name="title-accent-16">
            <a:extLst xmlns:a="http://schemas.openxmlformats.org/drawingml/2006/main">
              <a:ext uri="{FF2B5EF4-FFF2-40B4-BE49-F238E27FC236}">
                <a16:creationId xmlns:a16="http://schemas.microsoft.com/office/drawing/2014/main" id="{A4776856-0C70-4ED5-9EF5-ECCD9839DC7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1074C1DC-EBF8-4382-8A20-DC469851425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6">
            <a:extLst xmlns:a="http://schemas.openxmlformats.org/drawingml/2006/main">
              <a:ext uri="{FF2B5EF4-FFF2-40B4-BE49-F238E27FC236}">
                <a16:creationId xmlns:a16="http://schemas.microsoft.com/office/drawing/2014/main" id="{2164A24F-5EE2-4B3A-820A-DDE8A75ACD2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81ABFD62-DE02-47B5-B9F0-B3653CD7AA20}"/>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Transition normalization, terminal semantics, reward timing, and state sufficiency are executable preconditions.</a:t>
            </a:r>
          </a:p>
        </p:txBody>
      </p:sp>
      <p:sp>
        <p:nvSpPr>
          <p:cNvPr id="7" name="claim-panel-16">
            <a:extLst xmlns:a="http://schemas.openxmlformats.org/drawingml/2006/main">
              <a:ext uri="{FF2B5EF4-FFF2-40B4-BE49-F238E27FC236}">
                <a16:creationId xmlns:a16="http://schemas.microsoft.com/office/drawing/2014/main" id="{7E534DB7-F57F-4075-8485-894A841A55BC}"/>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2102AF8F-01CE-4399-A4B8-D48430DE63B4}"/>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Model</a:t>
            </a:r>
          </a:p>
        </p:txBody>
      </p:sp>
      <p:sp>
        <p:nvSpPr>
          <p:cNvPr id="9" name="claim-keyword-detail-16">
            <a:extLst xmlns:a="http://schemas.openxmlformats.org/drawingml/2006/main">
              <a:ext uri="{FF2B5EF4-FFF2-40B4-BE49-F238E27FC236}">
                <a16:creationId xmlns:a16="http://schemas.microsoft.com/office/drawing/2014/main" id="{C532D829-E00A-4D49-A89B-394892B68368}"/>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solver cannot recover a guarantee from an inconsistent environment definition.</a:t>
            </a:r>
          </a:p>
        </p:txBody>
      </p:sp>
      <p:sp>
        <p:nvSpPr>
          <p:cNvPr id="10" name="claim-detail-16-marker-1">
            <a:extLst xmlns:a="http://schemas.openxmlformats.org/drawingml/2006/main">
              <a:ext uri="{FF2B5EF4-FFF2-40B4-BE49-F238E27FC236}">
                <a16:creationId xmlns:a16="http://schemas.microsoft.com/office/drawing/2014/main" id="{EE72904A-8481-41F6-8427-9DC51E145021}"/>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A002254E-D4CD-4501-AB2D-B6BF16046D70}"/>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Assert each transition row sums to 1 within tolerance.</a:t>
            </a:r>
          </a:p>
        </p:txBody>
      </p:sp>
      <p:sp>
        <p:nvSpPr>
          <p:cNvPr id="12" name="claim-detail-16-marker-2">
            <a:extLst xmlns:a="http://schemas.openxmlformats.org/drawingml/2006/main">
              <a:ext uri="{FF2B5EF4-FFF2-40B4-BE49-F238E27FC236}">
                <a16:creationId xmlns:a16="http://schemas.microsoft.com/office/drawing/2014/main" id="{6578C643-4FCF-41A8-B9BF-9A9E9267BB0F}"/>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EC3B09E8-5F88-41CF-B387-ED0A32A54685}"/>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terminal actions and continuation value explicitly.</a:t>
            </a:r>
          </a:p>
        </p:txBody>
      </p:sp>
      <p:sp>
        <p:nvSpPr>
          <p:cNvPr id="14" name="claim-detail-16-marker-3">
            <a:extLst xmlns:a="http://schemas.openxmlformats.org/drawingml/2006/main">
              <a:ext uri="{FF2B5EF4-FFF2-40B4-BE49-F238E27FC236}">
                <a16:creationId xmlns:a16="http://schemas.microsoft.com/office/drawing/2014/main" id="{7C15E1FC-BF26-4C63-BCAC-CAE8365109CA}"/>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FE2FBB19-98C6-410B-A66F-F8FF6BBDC083}"/>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Use small hand-computed policies as numerical oracles.</a:t>
            </a:r>
          </a:p>
        </p:txBody>
      </p:sp>
    </p:spTree>
    <p:extLst>
      <p:ext uri="{BB962C8B-B14F-4D97-AF65-F5344CB8AC3E}">
        <p14:creationId xmlns:p14="http://schemas.microsoft.com/office/powerpoint/2010/main" val="1950853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CCC845A9-E609-4AD4-8E47-DE1A40FF9F1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8D3B1EB2-69AB-433C-97D9-4B97C30AD8B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4FF46343-DC61-48B0-BE5A-E252A6817BB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7">
            <a:extLst xmlns:a="http://schemas.openxmlformats.org/drawingml/2006/main">
              <a:ext uri="{FF2B5EF4-FFF2-40B4-BE49-F238E27FC236}">
                <a16:creationId xmlns:a16="http://schemas.microsoft.com/office/drawing/2014/main" id="{8C7E9F83-78D3-440A-AA92-1AB809E4365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A90F5BED-B135-46FE-840E-271D1F3E16F2}"/>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979BE343-F31E-47CE-B198-E9A79BB0AFCB}"/>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An MDP combines Markov state, actions, transition probabilities, rewards, and discount.</a:t>
            </a:r>
          </a:p>
        </p:txBody>
      </p:sp>
      <p:sp>
        <p:nvSpPr>
          <p:cNvPr id="9" name="summary-number-17-2">
            <a:extLst xmlns:a="http://schemas.openxmlformats.org/drawingml/2006/main">
              <a:ext uri="{FF2B5EF4-FFF2-40B4-BE49-F238E27FC236}">
                <a16:creationId xmlns:a16="http://schemas.microsoft.com/office/drawing/2014/main" id="{AD501804-2EBD-477D-84CF-23FBA053B4EF}"/>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58633AFD-3F1C-4F89-B72C-2DCB6AEC6CA7}"/>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 policy defines behavior over all states.</a:t>
            </a:r>
          </a:p>
        </p:txBody>
      </p:sp>
      <p:sp>
        <p:nvSpPr>
          <p:cNvPr id="12" name="summary-number-17-3">
            <a:extLst xmlns:a="http://schemas.openxmlformats.org/drawingml/2006/main">
              <a:ext uri="{FF2B5EF4-FFF2-40B4-BE49-F238E27FC236}">
                <a16:creationId xmlns:a16="http://schemas.microsoft.com/office/drawing/2014/main" id="{71690F00-CD14-4D9B-B129-B30337AAB710}"/>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6867282D-363C-46A3-9BDD-4D4F4AEE5FAC}"/>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V and Q are expected discounted returns.</a:t>
            </a:r>
          </a:p>
        </p:txBody>
      </p:sp>
      <p:sp>
        <p:nvSpPr>
          <p:cNvPr id="15" name="summary-number-17-4">
            <a:extLst xmlns:a="http://schemas.openxmlformats.org/drawingml/2006/main">
              <a:ext uri="{FF2B5EF4-FFF2-40B4-BE49-F238E27FC236}">
                <a16:creationId xmlns:a16="http://schemas.microsoft.com/office/drawing/2014/main" id="{71BA3AC8-7299-434C-B235-96714236E829}"/>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552A8B05-7704-4228-897D-5E97F0B9F137}"/>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Bellman expectation is a recursive fixed-point condition for a policy.</a:t>
            </a:r>
          </a:p>
        </p:txBody>
      </p:sp>
      <p:sp>
        <p:nvSpPr>
          <p:cNvPr id="18" name="summary-next-17">
            <a:extLst xmlns:a="http://schemas.openxmlformats.org/drawingml/2006/main">
              <a:ext uri="{FF2B5EF4-FFF2-40B4-BE49-F238E27FC236}">
                <a16:creationId xmlns:a16="http://schemas.microsoft.com/office/drawing/2014/main" id="{A1769CC4-4D10-48E6-B244-B8C2C8E81947}"/>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Value iteration and policy iteration replace evaluation of a fixed policy with optimal control.</a:t>
            </a:r>
          </a:p>
        </p:txBody>
      </p:sp>
    </p:spTree>
    <p:extLst>
      <p:ext uri="{BB962C8B-B14F-4D97-AF65-F5344CB8AC3E}">
        <p14:creationId xmlns:p14="http://schemas.microsoft.com/office/powerpoint/2010/main" val="10213433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40FA6392-908D-4C0F-A6C3-9CFA1421108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CBD67C2C-9CA4-4340-84AD-AFEE9C81BA2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45B2F9F1-F222-44E6-82EA-38623E5775D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1</a:t>
            </a:r>
          </a:p>
        </p:txBody>
      </p:sp>
      <p:sp>
        <p:nvSpPr>
          <p:cNvPr id="5" name="footer-number-18">
            <a:extLst xmlns:a="http://schemas.openxmlformats.org/drawingml/2006/main">
              <a:ext uri="{FF2B5EF4-FFF2-40B4-BE49-F238E27FC236}">
                <a16:creationId xmlns:a16="http://schemas.microsoft.com/office/drawing/2014/main" id="{DDC11D31-6939-4FB7-AB9F-3862C90318B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DD96ED72-3B61-443C-99BD-1336AFF0B8AD}"/>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A0896416-F2B0-4197-AA0D-66A196819814}"/>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Classify a state as Markov or incomplete.</a:t>
            </a:r>
          </a:p>
        </p:txBody>
      </p:sp>
      <p:sp>
        <p:nvSpPr>
          <p:cNvPr id="8" name="question-number-18-2">
            <a:extLst xmlns:a="http://schemas.openxmlformats.org/drawingml/2006/main">
              <a:ext uri="{FF2B5EF4-FFF2-40B4-BE49-F238E27FC236}">
                <a16:creationId xmlns:a16="http://schemas.microsoft.com/office/drawing/2014/main" id="{1F8A5342-FC58-4420-9A48-8150BD845538}"/>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15D4932A-DE11-4156-BB94-3283C789C61C}"/>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a three-reward discounted return.</a:t>
            </a:r>
          </a:p>
        </p:txBody>
      </p:sp>
      <p:sp>
        <p:nvSpPr>
          <p:cNvPr id="10" name="question-number-18-3">
            <a:extLst xmlns:a="http://schemas.openxmlformats.org/drawingml/2006/main">
              <a:ext uri="{FF2B5EF4-FFF2-40B4-BE49-F238E27FC236}">
                <a16:creationId xmlns:a16="http://schemas.microsoft.com/office/drawing/2014/main" id="{BDC71C61-E230-434E-9DCE-09ED43E0278D}"/>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6DEB3A8D-0540-406B-B1A1-24603267F56A}"/>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Distinguish V^pi from Q^pi.</a:t>
            </a:r>
          </a:p>
        </p:txBody>
      </p:sp>
      <p:sp>
        <p:nvSpPr>
          <p:cNvPr id="12" name="question-number-18-4">
            <a:extLst xmlns:a="http://schemas.openxmlformats.org/drawingml/2006/main">
              <a:ext uri="{FF2B5EF4-FFF2-40B4-BE49-F238E27FC236}">
                <a16:creationId xmlns:a16="http://schemas.microsoft.com/office/drawing/2014/main" id="{D66307F9-C0CE-4C69-AD2C-9A8F59B02DF7}"/>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24470284-0705-4D53-BBE8-F1F9CF33DA18}"/>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Derive a two-state Bellman equation.</a:t>
            </a:r>
          </a:p>
        </p:txBody>
      </p:sp>
      <p:sp>
        <p:nvSpPr>
          <p:cNvPr id="14" name="question-number-18-5">
            <a:extLst xmlns:a="http://schemas.openxmlformats.org/drawingml/2006/main">
              <a:ext uri="{FF2B5EF4-FFF2-40B4-BE49-F238E27FC236}">
                <a16:creationId xmlns:a16="http://schemas.microsoft.com/office/drawing/2014/main" id="{136CEF46-3A5F-4F50-8E72-4A838C993C03}"/>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6FC6E035-F0B4-4E85-A318-6DE532876686}"/>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List MDP validation checks.</a:t>
            </a:r>
          </a:p>
        </p:txBody>
      </p:sp>
    </p:spTree>
    <p:extLst>
      <p:ext uri="{BB962C8B-B14F-4D97-AF65-F5344CB8AC3E}">
        <p14:creationId xmlns:p14="http://schemas.microsoft.com/office/powerpoint/2010/main" val="11972925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2026-07-27T10:16:19.1030000Z</dcterms:created>
  <dcterms:modified xsi:type="dcterms:W3CDTF">2026-07-27T10:16:19.1030000Z</dcterms:modified>
</coreProperties>
</file>