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2482120ef44f56" /><Relationship Type="http://schemas.openxmlformats.org/officeDocument/2006/relationships/extended-properties" Target="/docProps/app.xml" Id="R75a6d4ca3cab4e9e" /><Relationship Type="http://schemas.openxmlformats.org/officeDocument/2006/relationships/officeDocument" Target="/ppt/presentation.xml" Id="R840ce114ea534820" /></Relationships>
</file>

<file path=ppt/presentation.xml><?xml version="1.0" encoding="utf-8"?>
<p:presentation xmlns:p="http://schemas.openxmlformats.org/presentationml/2006/main">
  <p:sldMasterIdLst>
    <p:sldMasterId xmlns:r="http://schemas.openxmlformats.org/officeDocument/2006/relationships" id="2147483648" r:id="R9820bbed64d14cc4"/>
  </p:sldMasterIdLst>
  <p:notesMasterIdLst>
    <p:notesMasterId xmlns:r="http://schemas.openxmlformats.org/officeDocument/2006/relationships" r:id="Raf696619e1324471"/>
  </p:notesMasterIdLst>
  <p:sldIdLst>
    <p:sldId xmlns:r="http://schemas.openxmlformats.org/officeDocument/2006/relationships" id="256" r:id="Re5053dbe34a9406b"/>
    <p:sldId xmlns:r="http://schemas.openxmlformats.org/officeDocument/2006/relationships" id="257" r:id="R2c11dac49c64428c"/>
    <p:sldId xmlns:r="http://schemas.openxmlformats.org/officeDocument/2006/relationships" id="258" r:id="R037c75dad62c4672"/>
    <p:sldId xmlns:r="http://schemas.openxmlformats.org/officeDocument/2006/relationships" id="259" r:id="R4ca0a8edaf944237"/>
    <p:sldId xmlns:r="http://schemas.openxmlformats.org/officeDocument/2006/relationships" id="260" r:id="R906c992820b84ece"/>
    <p:sldId xmlns:r="http://schemas.openxmlformats.org/officeDocument/2006/relationships" id="261" r:id="R62772fbaa6494b66"/>
    <p:sldId xmlns:r="http://schemas.openxmlformats.org/officeDocument/2006/relationships" id="262" r:id="R670f4dca88174525"/>
    <p:sldId xmlns:r="http://schemas.openxmlformats.org/officeDocument/2006/relationships" id="263" r:id="R8445076b11e04d79"/>
    <p:sldId xmlns:r="http://schemas.openxmlformats.org/officeDocument/2006/relationships" id="264" r:id="R2194587d6bd04750"/>
    <p:sldId xmlns:r="http://schemas.openxmlformats.org/officeDocument/2006/relationships" id="265" r:id="R7724d8201af14188"/>
    <p:sldId xmlns:r="http://schemas.openxmlformats.org/officeDocument/2006/relationships" id="266" r:id="Rfd581daba9914bb0"/>
    <p:sldId xmlns:r="http://schemas.openxmlformats.org/officeDocument/2006/relationships" id="267" r:id="R490947e2529a44e2"/>
    <p:sldId xmlns:r="http://schemas.openxmlformats.org/officeDocument/2006/relationships" id="268" r:id="Rd0ac2ede164f4b85"/>
    <p:sldId xmlns:r="http://schemas.openxmlformats.org/officeDocument/2006/relationships" id="269" r:id="R02bd50825d124801"/>
    <p:sldId xmlns:r="http://schemas.openxmlformats.org/officeDocument/2006/relationships" id="270" r:id="R7c279e685d6e49d1"/>
    <p:sldId xmlns:r="http://schemas.openxmlformats.org/officeDocument/2006/relationships" id="271" r:id="R372957ac52cb4a9b"/>
    <p:sldId xmlns:r="http://schemas.openxmlformats.org/officeDocument/2006/relationships" id="272" r:id="Rddcaaf2b86604b75"/>
    <p:sldId xmlns:r="http://schemas.openxmlformats.org/officeDocument/2006/relationships" id="273" r:id="R8a8bff9c4b8c4c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5f6a05d39b44fa" /><Relationship Type="http://schemas.openxmlformats.org/officeDocument/2006/relationships/slideMaster" Target="/ppt/slideMasters/slideMaster1.xml" Id="R9820bbed64d14cc4" /><Relationship Type="http://schemas.openxmlformats.org/officeDocument/2006/relationships/notesMaster" Target="/ppt/notesMasters/notesMaster1.xml" Id="Raf696619e1324471" /><Relationship Type="http://schemas.openxmlformats.org/officeDocument/2006/relationships/presProps" Target="/ppt/presProps.xml" Id="R235c920cf04a4a04" /><Relationship Type="http://schemas.openxmlformats.org/officeDocument/2006/relationships/tableStyles" Target="/ppt/tableStyles.xml" Id="Rf84c44cc26a6480e" /><Relationship Type="http://schemas.openxmlformats.org/officeDocument/2006/relationships/slide" Target="/ppt/slides/slide1.xml" Id="Re5053dbe34a9406b" /><Relationship Type="http://schemas.openxmlformats.org/officeDocument/2006/relationships/slide" Target="/ppt/slides/slide2.xml" Id="R2c11dac49c64428c" /><Relationship Type="http://schemas.openxmlformats.org/officeDocument/2006/relationships/slide" Target="/ppt/slides/slide3.xml" Id="R037c75dad62c4672" /><Relationship Type="http://schemas.openxmlformats.org/officeDocument/2006/relationships/slide" Target="/ppt/slides/slide4.xml" Id="R4ca0a8edaf944237" /><Relationship Type="http://schemas.openxmlformats.org/officeDocument/2006/relationships/slide" Target="/ppt/slides/slide5.xml" Id="R906c992820b84ece" /><Relationship Type="http://schemas.openxmlformats.org/officeDocument/2006/relationships/slide" Target="/ppt/slides/slide6.xml" Id="R62772fbaa6494b66" /><Relationship Type="http://schemas.openxmlformats.org/officeDocument/2006/relationships/slide" Target="/ppt/slides/slide7.xml" Id="R670f4dca88174525" /><Relationship Type="http://schemas.openxmlformats.org/officeDocument/2006/relationships/slide" Target="/ppt/slides/slide8.xml" Id="R8445076b11e04d79" /><Relationship Type="http://schemas.openxmlformats.org/officeDocument/2006/relationships/slide" Target="/ppt/slides/slide9.xml" Id="R2194587d6bd04750" /><Relationship Type="http://schemas.openxmlformats.org/officeDocument/2006/relationships/slide" Target="/ppt/slides/slide10.xml" Id="R7724d8201af14188" /><Relationship Type="http://schemas.openxmlformats.org/officeDocument/2006/relationships/slide" Target="/ppt/slides/slide11.xml" Id="Rfd581daba9914bb0" /><Relationship Type="http://schemas.openxmlformats.org/officeDocument/2006/relationships/slide" Target="/ppt/slides/slide12.xml" Id="R490947e2529a44e2" /><Relationship Type="http://schemas.openxmlformats.org/officeDocument/2006/relationships/slide" Target="/ppt/slides/slide13.xml" Id="Rd0ac2ede164f4b85" /><Relationship Type="http://schemas.openxmlformats.org/officeDocument/2006/relationships/slide" Target="/ppt/slides/slide14.xml" Id="R02bd50825d124801" /><Relationship Type="http://schemas.openxmlformats.org/officeDocument/2006/relationships/slide" Target="/ppt/slides/slide15.xml" Id="R7c279e685d6e49d1" /><Relationship Type="http://schemas.openxmlformats.org/officeDocument/2006/relationships/slide" Target="/ppt/slides/slide16.xml" Id="R372957ac52cb4a9b" /><Relationship Type="http://schemas.openxmlformats.org/officeDocument/2006/relationships/slide" Target="/ppt/slides/slide17.xml" Id="Rddcaaf2b86604b75" /><Relationship Type="http://schemas.openxmlformats.org/officeDocument/2006/relationships/slide" Target="/ppt/slides/slide18.xml" Id="R8a8bff9c4b8c4c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1cc96e3fa448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f26211c5ee40b9" /><Relationship Type="http://schemas.openxmlformats.org/officeDocument/2006/relationships/notesMaster" Target="/ppt/notesMasters/notesMaster1.xml" Id="R9bb9f81790974b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b6b89c15c5448e" /><Relationship Type="http://schemas.openxmlformats.org/officeDocument/2006/relationships/notesMaster" Target="/ppt/notesMasters/notesMaster1.xml" Id="Rb845939603d746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bf352f367b4d94" /><Relationship Type="http://schemas.openxmlformats.org/officeDocument/2006/relationships/notesMaster" Target="/ppt/notesMasters/notesMaster1.xml" Id="R1b5bb36b40424b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dfff7830254caa" /><Relationship Type="http://schemas.openxmlformats.org/officeDocument/2006/relationships/notesMaster" Target="/ppt/notesMasters/notesMaster1.xml" Id="Reab136b0dce749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5a4bd422364160" /><Relationship Type="http://schemas.openxmlformats.org/officeDocument/2006/relationships/notesMaster" Target="/ppt/notesMasters/notesMaster1.xml" Id="Rd3a322c3366a4d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76882a977844f8" /><Relationship Type="http://schemas.openxmlformats.org/officeDocument/2006/relationships/notesMaster" Target="/ppt/notesMasters/notesMaster1.xml" Id="R6472226231dd40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8e9d2724eb4765" /><Relationship Type="http://schemas.openxmlformats.org/officeDocument/2006/relationships/notesMaster" Target="/ppt/notesMasters/notesMaster1.xml" Id="R297f948d143e47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dd1f4f8ace444c" /><Relationship Type="http://schemas.openxmlformats.org/officeDocument/2006/relationships/notesMaster" Target="/ppt/notesMasters/notesMaster1.xml" Id="Ra1f64c1b699a45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4b149753b84789" /><Relationship Type="http://schemas.openxmlformats.org/officeDocument/2006/relationships/notesMaster" Target="/ppt/notesMasters/notesMaster1.xml" Id="R93ad536aa9004e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d0d7d94b9a477e" /><Relationship Type="http://schemas.openxmlformats.org/officeDocument/2006/relationships/notesMaster" Target="/ppt/notesMasters/notesMaster1.xml" Id="R62405bfba9cf47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aadd933f554c0e" /><Relationship Type="http://schemas.openxmlformats.org/officeDocument/2006/relationships/notesMaster" Target="/ppt/notesMasters/notesMaster1.xml" Id="Rcd6d0133894a49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46a2436e3f40cb" /><Relationship Type="http://schemas.openxmlformats.org/officeDocument/2006/relationships/notesMaster" Target="/ppt/notesMasters/notesMaster1.xml" Id="R57c168e8742749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c2faebdb1f417b" /><Relationship Type="http://schemas.openxmlformats.org/officeDocument/2006/relationships/notesMaster" Target="/ppt/notesMasters/notesMaster1.xml" Id="R9c92dd46c9e941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061e895ea44e8d" /><Relationship Type="http://schemas.openxmlformats.org/officeDocument/2006/relationships/notesMaster" Target="/ppt/notesMasters/notesMaster1.xml" Id="Rab60ccf018374f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b467d99b784400" /><Relationship Type="http://schemas.openxmlformats.org/officeDocument/2006/relationships/notesMaster" Target="/ppt/notesMasters/notesMaster1.xml" Id="Rd0ba7f7e830745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50fcfaa9bf4305" /><Relationship Type="http://schemas.openxmlformats.org/officeDocument/2006/relationships/notesMaster" Target="/ppt/notesMasters/notesMaster1.xml" Id="R98a02844908449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f25f00631640b8" /><Relationship Type="http://schemas.openxmlformats.org/officeDocument/2006/relationships/notesMaster" Target="/ppt/notesMasters/notesMaster1.xml" Id="Rf0aa8533d3a641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2704789565d4e12" /><Relationship Type="http://schemas.openxmlformats.org/officeDocument/2006/relationships/notesMaster" Target="/ppt/notesMasters/notesMaster1.xml" Id="Re45ec05f167e4f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Q-table treats every state-action pair as unrelated. Function approximation replaces that table with shared parameters so evidence from one experience can influence similar situations.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Quantify why tabular Q-learning fails in large or continuous spaces. 2) Represent action values as a linear function of state-action features. 3) Design normalized features that encode useful similarity. 4) Derive the semi-gradient Q-learning weight update. 5) Compute a complete numerical TD update by hand. 6) Explain the deadly triad and identify stability evidence.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parameterized Q function shares statistical strength across state-action pairs but couples their errors. The supporting details make the claim operational. 1) Memory depends on parameter count, not the number of states. 2) Features define which situations share value information. 3) Approximation introduces bias and possible instability. The highlighted idea, Generalization, is the part to retain when the surrounding notation changes. Updating one experience changes every prediction that uses overlapping features.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Q_hat(s,a;w) = w^T f(s,a) = sum_i w_i f_i(s,a). The symbols mean the following. 1) f(s,a) is a d-dimensional feature vector. 2) w contains d learned weights. 3) One-hot features recover a tabular Q function. 4) Dense shared features create generalization. The engineering implication is Feature scale and semantics become part of the agent contract.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Tabular Q: One value per state-action pair. No transfer to unseen pairs. Exact representation in finite tables. Memory grows as |S||A|. On the right, Linear approximation: One dot product per action. Transfer through shared features. Possible approximation bias. Memory grows with d.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Define: Name the behavioral signal each feature represents. 2) Normalize: Put magnitudes on comparable scales. 3) Probe: Evaluate features on boundary states. 4) Train: Log TD errors and weight norms. 5) Ablate: Remove one feature family at a time. The emphasized stage deserves extra attention because defects introduced there propagate to every later result. A feature is justified by predictive evidence, not by an intuitive name.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Treat target as fixed. Mask terminal bootstrap. Cache the feature vector. Monitor finite weights.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w=[0.4,-0.2,0.1], f(s,a)=[1,0.5,2], reward=1, gamma=0.9, max next Q=1.5, alpha=0.1. Work through it in the displayed order. 1) Current Q is 0.4-0.1+0.2=0.5. 2) Target is 1+0.9(1.5)=2.35. 3) TD error is 2.35-0.5=1.85. 4) Add 0.185 times the feature vector to w. The resulting conclusion is The new weights are [0.585,-0.1075,0.47], and every overlapping prediction changes.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Geometry: Normalized row and column. Distance to goal. Distance to hazards. Wall adjacency indicators. In contrast, Action relation: Alignment with goal direction. Collision indicator. Progress delta. Action one-hot encoding. In contrast, Quality checks: Finite and bounded values. Stable scale across maps. Cheap computation. Ablation evidence.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Two state-action pairs have feature vectors [1,1,0] and [1,0,1]. Which prediction changes after updating the first pair? Use the prompts to structure the response. 1) Write the weight increment. 2) Take its dot product with the second vector. 3) State which shared coordinate causes transfer. The expected reasoning is The increment affects coordinates one and two. The second prediction changes through the shared bias coordinate, even though the other active feature differs.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Prediction side: Differentiate Q_hat(s,a;w). Gradient is f(s,a) for a linear model. Update parameters each step. Directly controls current prediction. On the right, Target side: Contains a next-state prediction. Treated as a constant for this step. Not differentiated through. Moves again after parameters change.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L=0.5(y-Q_hat)^2; delta=y-Q_hat; w &lt;- w + alpha delta grad_w Q_hat. The symbols mean the following. 1) y=r+gamma max Q_hat(s_next,a) for nonterminal steps. 2) The negative loss gradient is delta grad Q_hat. 3) For a linear model, grad Q_hat=f(s,a). 4) Terminal y equals reward only. The engineering implication is The semi-gradient update resembles supervised regression onto a moving TD target.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A feature vector has one active coordinate for exactly one pair (s,a). Work through it in the displayed order. 1) The dot product selects one weight. 2) Its gradient is one at that coordinate and zero elsewhere. 3) The update changes only that selected weight. 4) The result matches Q(s,a) &lt;- Q(s,a)+alpha delta. The resulting conclusion is Tabular Q-learning is a linear approximator with a very large one-hot feature basis.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Approximation: Couples predictions. Creates representation error. May amplify updates. Enables scale. In contrast, Bootstrapping: Uses a moving target. Propagates value quickly. Can propagate error. Reduces full-return delay. In contrast, Off-policy: Behavior and target differ. Supports exploration reuse. Changes sampling distribution. Completes the triad.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Training return rises while weight norm and absolute TD error explode. Is high return alone enough to accept the agent? Use the prompts to structure the response. 1) Name two stability metrics. 2) Check multiple seeds. 3) Separate evaluation from exploratory return. The expected reasoning is No. Exploding weights and TD errors are direct instability evidence. Freeze learning, evaluate greedily across seeds, and reduce step size or redesign features before accepting the result.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scalable agent needs observability for representation error and numerical stability. The supporting details make the claim operational. 1) Log returns, TD-error quantiles, feature ranges, and weight norms. 2) Test terminal masking and feature dimensions directly. 3) Compare against a tabular oracle on a small discretized environment. The highlighted idea, Evidence, is the part to retain when the surrounding notation changes. Learning curves alone cannot distinguish lucky behavior from a stable value function.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Linear Q functions generalize through shared features. 2) The semi-gradient update freezes the TD target. 3) One-hot features reveal the table as a special case. 4) The deadly triad motivates explicit stability monitoring. These are connected: the formal model supplies the algorithm, the algorithm's invariant supports its guarantee, and the implementation contract makes that guarantee testable. The next topic is Deep Q-networks replace hand-designed linear features with learned representations.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Compute a linear Q value from w and f. 2) Derive the semi-gradient sign. 3) Explain why feature normalization matters. 4) Show the one-hot tabular correspondence. 5) Design a divergence-detection test. 6) Name the three parts of the deadly triad.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week_06/Week_6_Lesson_1_Function_Approximation.md</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ad7f70cabb40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dfc6ea779d4b07" /><Relationship Type="http://schemas.openxmlformats.org/officeDocument/2006/relationships/slideLayout" Target="/ppt/slideLayouts/slideLayout1.xml" Id="Rfefe639e022c4c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fe639e022c4c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4cbf12656e4e8b" /><Relationship Type="http://schemas.openxmlformats.org/officeDocument/2006/relationships/notesSlide" Target="/ppt/notesSlides/notesSlide1.xml" Id="Rcc7516895f3641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d0a86dd66b4836" /><Relationship Type="http://schemas.openxmlformats.org/officeDocument/2006/relationships/notesSlide" Target="/ppt/notesSlides/notesSlide2.xml" Id="Rf6833c2caac647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84ec773f3a428d" /><Relationship Type="http://schemas.openxmlformats.org/officeDocument/2006/relationships/notesSlide" Target="/ppt/notesSlides/notesSlide3.xml" Id="Rce2d315cb94f4e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015f0c78984543" /><Relationship Type="http://schemas.openxmlformats.org/officeDocument/2006/relationships/notesSlide" Target="/ppt/notesSlides/notesSlide4.xml" Id="Reee9bd38763148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fb2aa76e6c4fa4" /><Relationship Type="http://schemas.openxmlformats.org/officeDocument/2006/relationships/notesSlide" Target="/ppt/notesSlides/notesSlide5.xml" Id="Rebfdecd52bce48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9e6e956ce14e71" /><Relationship Type="http://schemas.openxmlformats.org/officeDocument/2006/relationships/notesSlide" Target="/ppt/notesSlides/notesSlide6.xml" Id="R321754170be24a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afcf4869824bdd" /><Relationship Type="http://schemas.openxmlformats.org/officeDocument/2006/relationships/notesSlide" Target="/ppt/notesSlides/notesSlide7.xml" Id="R9dcb1ba9002a4b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70c64c46c2e46ed" /><Relationship Type="http://schemas.openxmlformats.org/officeDocument/2006/relationships/notesSlide" Target="/ppt/notesSlides/notesSlide8.xml" Id="R7b4791bbb8d44a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6d67052b7f74d39" /><Relationship Type="http://schemas.openxmlformats.org/officeDocument/2006/relationships/notesSlide" Target="/ppt/notesSlides/notesSlide9.xml" Id="Rafca5409dd5b4c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97ccf59da54373" /><Relationship Type="http://schemas.openxmlformats.org/officeDocument/2006/relationships/notesSlide" Target="/ppt/notesSlides/notesSlide10.xml" Id="R9682132ffc6b49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6e79f05d6a74a63" /><Relationship Type="http://schemas.openxmlformats.org/officeDocument/2006/relationships/notesSlide" Target="/ppt/notesSlides/notesSlide11.xml" Id="Ra9b5327fd40d4ad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1051a8415c4ca5" /><Relationship Type="http://schemas.openxmlformats.org/officeDocument/2006/relationships/notesSlide" Target="/ppt/notesSlides/notesSlide12.xml" Id="R6ec1719e442f43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a85644dbb646b1" /><Relationship Type="http://schemas.openxmlformats.org/officeDocument/2006/relationships/notesSlide" Target="/ppt/notesSlides/notesSlide13.xml" Id="R219ddca5672b40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cbe6415c034381" /><Relationship Type="http://schemas.openxmlformats.org/officeDocument/2006/relationships/notesSlide" Target="/ppt/notesSlides/notesSlide14.xml" Id="Rcf1555ccea0b42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f0b3de1646449ae" /><Relationship Type="http://schemas.openxmlformats.org/officeDocument/2006/relationships/notesSlide" Target="/ppt/notesSlides/notesSlide15.xml" Id="R87f5760bb6854e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cce8dfe84b4649" /><Relationship Type="http://schemas.openxmlformats.org/officeDocument/2006/relationships/notesSlide" Target="/ppt/notesSlides/notesSlide16.xml" Id="R72a88481e01c414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05e7d7069d74063" /><Relationship Type="http://schemas.openxmlformats.org/officeDocument/2006/relationships/notesSlide" Target="/ppt/notesSlides/notesSlide17.xml" Id="R9134dfe6142945f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b6160abefdb4e7f" /><Relationship Type="http://schemas.openxmlformats.org/officeDocument/2006/relationships/notesSlide" Target="/ppt/notesSlides/notesSlide18.xml" Id="Rc9f72e25e492439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9B207A7A-4E58-42D6-88EF-9FDB1F613EAF}"/>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06  |  LESSON 1</a:t>
            </a:r>
          </a:p>
        </p:txBody>
      </p:sp>
      <p:sp>
        <p:nvSpPr>
          <p:cNvPr id="2" name="title-accent-field">
            <a:extLst xmlns:a="http://schemas.openxmlformats.org/drawingml/2006/main">
              <a:ext uri="{FF2B5EF4-FFF2-40B4-BE49-F238E27FC236}">
                <a16:creationId xmlns:a16="http://schemas.microsoft.com/office/drawing/2014/main" id="{320FAA8B-344D-46B1-9B96-EAC9E08EF1A4}"/>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5AE3EEB8-DB26-49E5-BD82-8CCC2F830983}"/>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Scaling Up: Function Approximation in Reinforcement Learning</a:t>
            </a:r>
          </a:p>
        </p:txBody>
      </p:sp>
      <p:sp>
        <p:nvSpPr>
          <p:cNvPr id="4" name="deck-subtitle">
            <a:extLst xmlns:a="http://schemas.openxmlformats.org/drawingml/2006/main">
              <a:ext uri="{FF2B5EF4-FFF2-40B4-BE49-F238E27FC236}">
                <a16:creationId xmlns:a16="http://schemas.microsoft.com/office/drawing/2014/main" id="{E8A22962-881E-438D-A913-284A23CF7986}"/>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Generalization, semi-gradients, and the stability boundary</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EDEE52DF-DA0A-4AE3-8D12-36D07BC8E194}"/>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CE64E081-8AAD-4886-9A22-1893BCC41702}"/>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4567200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56D7BB1D-380C-475F-B1BD-095FE48CA57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9130864A-DFA9-411F-A65C-0945ED527B7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83C424DB-0C1E-4444-8322-4CC5EED011F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2">
            <a:extLst xmlns:a="http://schemas.openxmlformats.org/drawingml/2006/main">
              <a:ext uri="{FF2B5EF4-FFF2-40B4-BE49-F238E27FC236}">
                <a16:creationId xmlns:a16="http://schemas.microsoft.com/office/drawing/2014/main" id="{1CEE732E-513D-4BC0-B42A-8BF477DBDB8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BBD84A0D-905A-4C34-BFF3-69F62A321F9B}"/>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D2E9C52A-5A57-4A9F-8983-31C86D7DD741}"/>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5BB5DBE1-FDBE-46A8-AF10-5F807EBBDF2A}"/>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Quantify why tabular Q-learning fails in large or continuous spaces.</a:t>
            </a:r>
          </a:p>
        </p:txBody>
      </p:sp>
      <p:sp>
        <p:nvSpPr>
          <p:cNvPr id="10" name="objective-number-2">
            <a:extLst xmlns:a="http://schemas.openxmlformats.org/drawingml/2006/main">
              <a:ext uri="{FF2B5EF4-FFF2-40B4-BE49-F238E27FC236}">
                <a16:creationId xmlns:a16="http://schemas.microsoft.com/office/drawing/2014/main" id="{4DE4E0BC-47E4-4269-AEFE-5A77607B2E4C}"/>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65262145-302B-4350-8B77-1C101E8C3C7E}"/>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Represent action values as a linear function of state-action features.</a:t>
            </a:r>
          </a:p>
        </p:txBody>
      </p:sp>
      <p:sp>
        <p:nvSpPr>
          <p:cNvPr id="13" name="objective-number-3">
            <a:extLst xmlns:a="http://schemas.openxmlformats.org/drawingml/2006/main">
              <a:ext uri="{FF2B5EF4-FFF2-40B4-BE49-F238E27FC236}">
                <a16:creationId xmlns:a16="http://schemas.microsoft.com/office/drawing/2014/main" id="{B0A44B3D-76C5-4A06-93B0-92AFF2CF556B}"/>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EC578AD6-77AB-4EEB-9214-04E90601150A}"/>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Design normalized features that encode useful similarity.</a:t>
            </a:r>
          </a:p>
        </p:txBody>
      </p:sp>
      <p:sp>
        <p:nvSpPr>
          <p:cNvPr id="16" name="objective-number-4">
            <a:extLst xmlns:a="http://schemas.openxmlformats.org/drawingml/2006/main">
              <a:ext uri="{FF2B5EF4-FFF2-40B4-BE49-F238E27FC236}">
                <a16:creationId xmlns:a16="http://schemas.microsoft.com/office/drawing/2014/main" id="{CB455B9E-7152-4246-AD10-69A590EC50BD}"/>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8CDC4B51-22FF-4B43-AD35-A495966D4659}"/>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Derive the semi-gradient Q-learning weight update.</a:t>
            </a:r>
          </a:p>
        </p:txBody>
      </p:sp>
      <p:sp>
        <p:nvSpPr>
          <p:cNvPr id="19" name="objective-number-5">
            <a:extLst xmlns:a="http://schemas.openxmlformats.org/drawingml/2006/main">
              <a:ext uri="{FF2B5EF4-FFF2-40B4-BE49-F238E27FC236}">
                <a16:creationId xmlns:a16="http://schemas.microsoft.com/office/drawing/2014/main" id="{D8B06820-FAA2-4C9C-B031-4A6D2EAA9DB2}"/>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26F9EFE8-6CAE-4A85-B416-785D82E8CFC5}"/>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Compute a complete numerical TD update by hand.</a:t>
            </a:r>
          </a:p>
        </p:txBody>
      </p:sp>
      <p:sp>
        <p:nvSpPr>
          <p:cNvPr id="22" name="objective-number-6">
            <a:extLst xmlns:a="http://schemas.openxmlformats.org/drawingml/2006/main">
              <a:ext uri="{FF2B5EF4-FFF2-40B4-BE49-F238E27FC236}">
                <a16:creationId xmlns:a16="http://schemas.microsoft.com/office/drawing/2014/main" id="{8402B3C9-17EE-492C-BF86-61B52BA006FC}"/>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172688CD-BFCC-4815-A6E3-CCBA48663907}"/>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Explain the deadly triad and identify stability evidence.</a:t>
            </a:r>
          </a:p>
        </p:txBody>
      </p:sp>
    </p:spTree>
    <p:extLst>
      <p:ext uri="{BB962C8B-B14F-4D97-AF65-F5344CB8AC3E}">
        <p14:creationId xmlns:p14="http://schemas.microsoft.com/office/powerpoint/2010/main" val="4615710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F6C33B68-DC99-49F9-BCA8-5667C51E43D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Approximation trades exact storage for generalization</a:t>
            </a:r>
          </a:p>
        </p:txBody>
      </p:sp>
      <p:sp>
        <p:nvSpPr>
          <p:cNvPr id="2" name="title-accent-3">
            <a:extLst xmlns:a="http://schemas.openxmlformats.org/drawingml/2006/main">
              <a:ext uri="{FF2B5EF4-FFF2-40B4-BE49-F238E27FC236}">
                <a16:creationId xmlns:a16="http://schemas.microsoft.com/office/drawing/2014/main" id="{233F586A-061A-4AE6-8EFD-E6850A68B4D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D5532473-13A2-4B14-AF0C-E22C2DC0FEB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3">
            <a:extLst xmlns:a="http://schemas.openxmlformats.org/drawingml/2006/main">
              <a:ext uri="{FF2B5EF4-FFF2-40B4-BE49-F238E27FC236}">
                <a16:creationId xmlns:a16="http://schemas.microsoft.com/office/drawing/2014/main" id="{0F1F83FA-6541-498B-A4BB-502357E1158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D87DC5E1-F3E6-4C0B-8AD2-ACD2050FABCE}"/>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parameterized Q function shares statistical strength across state-action pairs but couples their errors.</a:t>
            </a:r>
          </a:p>
        </p:txBody>
      </p:sp>
      <p:sp>
        <p:nvSpPr>
          <p:cNvPr id="7" name="claim-panel-3">
            <a:extLst xmlns:a="http://schemas.openxmlformats.org/drawingml/2006/main">
              <a:ext uri="{FF2B5EF4-FFF2-40B4-BE49-F238E27FC236}">
                <a16:creationId xmlns:a16="http://schemas.microsoft.com/office/drawing/2014/main" id="{4E8EC427-B9EC-4935-9596-3C820EBB5D8B}"/>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CF155196-C83A-4764-97E7-C373D5BAB486}"/>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Generalization</a:t>
            </a:r>
          </a:p>
        </p:txBody>
      </p:sp>
      <p:sp>
        <p:nvSpPr>
          <p:cNvPr id="9" name="claim-keyword-detail-3">
            <a:extLst xmlns:a="http://schemas.openxmlformats.org/drawingml/2006/main">
              <a:ext uri="{FF2B5EF4-FFF2-40B4-BE49-F238E27FC236}">
                <a16:creationId xmlns:a16="http://schemas.microsoft.com/office/drawing/2014/main" id="{D240E2F7-110D-41A4-9242-046895331584}"/>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Updating one experience changes every prediction that uses overlapping features.</a:t>
            </a:r>
          </a:p>
        </p:txBody>
      </p:sp>
      <p:sp>
        <p:nvSpPr>
          <p:cNvPr id="10" name="claim-detail-3-marker-1">
            <a:extLst xmlns:a="http://schemas.openxmlformats.org/drawingml/2006/main">
              <a:ext uri="{FF2B5EF4-FFF2-40B4-BE49-F238E27FC236}">
                <a16:creationId xmlns:a16="http://schemas.microsoft.com/office/drawing/2014/main" id="{EEC728BF-D00B-4AE1-8F2B-8FBE1BAA75BD}"/>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D995A0A0-AF50-4B0F-AF63-57565920798B}"/>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Memory depends on parameter count, not the number of states.</a:t>
            </a:r>
          </a:p>
        </p:txBody>
      </p:sp>
      <p:sp>
        <p:nvSpPr>
          <p:cNvPr id="12" name="claim-detail-3-marker-2">
            <a:extLst xmlns:a="http://schemas.openxmlformats.org/drawingml/2006/main">
              <a:ext uri="{FF2B5EF4-FFF2-40B4-BE49-F238E27FC236}">
                <a16:creationId xmlns:a16="http://schemas.microsoft.com/office/drawing/2014/main" id="{64C75A2F-8059-43FA-A7ED-0173E96B6473}"/>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C4879743-E42C-4C94-96BC-8605A398657D}"/>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Features define which situations share value information.</a:t>
            </a:r>
          </a:p>
        </p:txBody>
      </p:sp>
      <p:sp>
        <p:nvSpPr>
          <p:cNvPr id="14" name="claim-detail-3-marker-3">
            <a:extLst xmlns:a="http://schemas.openxmlformats.org/drawingml/2006/main">
              <a:ext uri="{FF2B5EF4-FFF2-40B4-BE49-F238E27FC236}">
                <a16:creationId xmlns:a16="http://schemas.microsoft.com/office/drawing/2014/main" id="{F39515C6-694E-4080-A8A8-0DB8E0C22ADC}"/>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BC5C24C1-024D-4D7B-AB48-4A1E6F1F3D63}"/>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Approximation introduces bias and possible instability.</a:t>
            </a:r>
          </a:p>
        </p:txBody>
      </p:sp>
    </p:spTree>
    <p:extLst>
      <p:ext uri="{BB962C8B-B14F-4D97-AF65-F5344CB8AC3E}">
        <p14:creationId xmlns:p14="http://schemas.microsoft.com/office/powerpoint/2010/main" val="7836035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C7895E96-0D9E-4522-B3CC-1848D9F5972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Linear action-value approximation</a:t>
            </a:r>
          </a:p>
        </p:txBody>
      </p:sp>
      <p:sp>
        <p:nvSpPr>
          <p:cNvPr id="2" name="title-accent-4">
            <a:extLst xmlns:a="http://schemas.openxmlformats.org/drawingml/2006/main">
              <a:ext uri="{FF2B5EF4-FFF2-40B4-BE49-F238E27FC236}">
                <a16:creationId xmlns:a16="http://schemas.microsoft.com/office/drawing/2014/main" id="{B371946C-1E9E-4B7A-87F7-1C67CE8C93D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956936AE-0C5F-49E9-A9F6-70E2F27D5CA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4">
            <a:extLst xmlns:a="http://schemas.openxmlformats.org/drawingml/2006/main">
              <a:ext uri="{FF2B5EF4-FFF2-40B4-BE49-F238E27FC236}">
                <a16:creationId xmlns:a16="http://schemas.microsoft.com/office/drawing/2014/main" id="{E14AC9A0-A8A7-4AC9-86FD-57E3537653E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382F9E2F-E4F4-4744-9735-AC03706888F1}"/>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6DA319DE-66EB-4ADD-90B6-86528A5A3619}"/>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Q_hat(s,a;w) = w^T f(s,a) = sum_i w_i f_i(s,a)</a:t>
            </a:r>
          </a:p>
        </p:txBody>
      </p:sp>
      <p:sp>
        <p:nvSpPr>
          <p:cNvPr id="8" name="formula-definition-4-marker-1">
            <a:extLst xmlns:a="http://schemas.openxmlformats.org/drawingml/2006/main">
              <a:ext uri="{FF2B5EF4-FFF2-40B4-BE49-F238E27FC236}">
                <a16:creationId xmlns:a16="http://schemas.microsoft.com/office/drawing/2014/main" id="{B950D562-8707-4C1D-914C-49ACDD6CFC06}"/>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59EA9EE4-7915-4DFF-B0FF-C94C030C6978}"/>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f(s,a) is a d-dimensional feature vector.</a:t>
            </a:r>
          </a:p>
        </p:txBody>
      </p:sp>
      <p:sp>
        <p:nvSpPr>
          <p:cNvPr id="10" name="formula-definition-4-marker-2">
            <a:extLst xmlns:a="http://schemas.openxmlformats.org/drawingml/2006/main">
              <a:ext uri="{FF2B5EF4-FFF2-40B4-BE49-F238E27FC236}">
                <a16:creationId xmlns:a16="http://schemas.microsoft.com/office/drawing/2014/main" id="{86B82BBC-80C8-4909-9A83-28B5355BC7B0}"/>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B6C10660-9F1A-4856-BA5F-FCA86A635790}"/>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 contains d learned weights.</a:t>
            </a:r>
          </a:p>
        </p:txBody>
      </p:sp>
      <p:sp>
        <p:nvSpPr>
          <p:cNvPr id="12" name="formula-definition-4-marker-3">
            <a:extLst xmlns:a="http://schemas.openxmlformats.org/drawingml/2006/main">
              <a:ext uri="{FF2B5EF4-FFF2-40B4-BE49-F238E27FC236}">
                <a16:creationId xmlns:a16="http://schemas.microsoft.com/office/drawing/2014/main" id="{EA189560-590F-4AF1-BCAA-EE3D8D18F822}"/>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04C510EE-0215-41E0-8726-BEC40BD73C91}"/>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One-hot features recover a tabular Q function.</a:t>
            </a:r>
          </a:p>
        </p:txBody>
      </p:sp>
      <p:sp>
        <p:nvSpPr>
          <p:cNvPr id="14" name="formula-definition-4-marker-4">
            <a:extLst xmlns:a="http://schemas.openxmlformats.org/drawingml/2006/main">
              <a:ext uri="{FF2B5EF4-FFF2-40B4-BE49-F238E27FC236}">
                <a16:creationId xmlns:a16="http://schemas.microsoft.com/office/drawing/2014/main" id="{7F443F6B-2FF3-4D13-9B8F-0D0F025E0C1A}"/>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8241FA6D-0D8A-4091-85CE-F7C2E4C4360E}"/>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Dense shared features create generalization.</a:t>
            </a:r>
          </a:p>
        </p:txBody>
      </p:sp>
      <p:sp>
        <p:nvSpPr>
          <p:cNvPr id="16" name="formula-implication-panel-4">
            <a:extLst xmlns:a="http://schemas.openxmlformats.org/drawingml/2006/main">
              <a:ext uri="{FF2B5EF4-FFF2-40B4-BE49-F238E27FC236}">
                <a16:creationId xmlns:a16="http://schemas.microsoft.com/office/drawing/2014/main" id="{B3804727-CDC9-494D-A57A-04A0EEBA9966}"/>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DF3ED9D0-AB66-4984-8582-D6D91BDE5019}"/>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947A3CA1-ACD7-4781-A1FB-94F7C1E4176E}"/>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Feature scale and semantics become part of the agent contract.</a:t>
            </a:r>
          </a:p>
        </p:txBody>
      </p:sp>
    </p:spTree>
    <p:extLst>
      <p:ext uri="{BB962C8B-B14F-4D97-AF65-F5344CB8AC3E}">
        <p14:creationId xmlns:p14="http://schemas.microsoft.com/office/powerpoint/2010/main" val="3657726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E929422F-702D-4F4E-AE59-A30052EE1ED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 table memorizes; a feature model shares</a:t>
            </a:r>
          </a:p>
        </p:txBody>
      </p:sp>
      <p:sp>
        <p:nvSpPr>
          <p:cNvPr id="2" name="title-accent-5">
            <a:extLst xmlns:a="http://schemas.openxmlformats.org/drawingml/2006/main">
              <a:ext uri="{FF2B5EF4-FFF2-40B4-BE49-F238E27FC236}">
                <a16:creationId xmlns:a16="http://schemas.microsoft.com/office/drawing/2014/main" id="{4278FC9D-FE8E-45F9-BE10-463A7906895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10D5CA87-D5F6-4243-9A7A-58CBB26ED5A2}"/>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5">
            <a:extLst xmlns:a="http://schemas.openxmlformats.org/drawingml/2006/main">
              <a:ext uri="{FF2B5EF4-FFF2-40B4-BE49-F238E27FC236}">
                <a16:creationId xmlns:a16="http://schemas.microsoft.com/office/drawing/2014/main" id="{1F6B2668-7253-46AE-9A6E-2E44244A1DDE}"/>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C626462D-F834-469B-A3A3-6A44CFBB6F21}"/>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Tabular Q</a:t>
            </a:r>
          </a:p>
        </p:txBody>
      </p:sp>
      <p:sp>
        <p:nvSpPr>
          <p:cNvPr id="8" name="right-title-5">
            <a:extLst xmlns:a="http://schemas.openxmlformats.org/drawingml/2006/main">
              <a:ext uri="{FF2B5EF4-FFF2-40B4-BE49-F238E27FC236}">
                <a16:creationId xmlns:a16="http://schemas.microsoft.com/office/drawing/2014/main" id="{02ABCFBB-79E4-4A0A-AE3C-8FE05FA9976E}"/>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Linear approximation</a:t>
            </a:r>
          </a:p>
        </p:txBody>
      </p:sp>
      <p:sp>
        <p:nvSpPr>
          <p:cNvPr id="9" name="left-bullet-5-marker-1">
            <a:extLst xmlns:a="http://schemas.openxmlformats.org/drawingml/2006/main">
              <a:ext uri="{FF2B5EF4-FFF2-40B4-BE49-F238E27FC236}">
                <a16:creationId xmlns:a16="http://schemas.microsoft.com/office/drawing/2014/main" id="{F5312F21-6F0A-4A0B-9B2E-5DB615E47696}"/>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392F4BF2-B2C5-45DE-BFC4-BB153D769C8B}"/>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One value per state-action pair.</a:t>
            </a:r>
          </a:p>
        </p:txBody>
      </p:sp>
      <p:sp>
        <p:nvSpPr>
          <p:cNvPr id="11" name="left-bullet-5-marker-2">
            <a:extLst xmlns:a="http://schemas.openxmlformats.org/drawingml/2006/main">
              <a:ext uri="{FF2B5EF4-FFF2-40B4-BE49-F238E27FC236}">
                <a16:creationId xmlns:a16="http://schemas.microsoft.com/office/drawing/2014/main" id="{9A19C291-6611-4DA1-95AF-A8A22FA01534}"/>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F4C3DC32-101B-4C0A-812E-7B1936861F04}"/>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 transfer to unseen pairs.</a:t>
            </a:r>
          </a:p>
        </p:txBody>
      </p:sp>
      <p:sp>
        <p:nvSpPr>
          <p:cNvPr id="13" name="left-bullet-5-marker-3">
            <a:extLst xmlns:a="http://schemas.openxmlformats.org/drawingml/2006/main">
              <a:ext uri="{FF2B5EF4-FFF2-40B4-BE49-F238E27FC236}">
                <a16:creationId xmlns:a16="http://schemas.microsoft.com/office/drawing/2014/main" id="{B561BF6B-C5BC-467C-BFC5-3C9B23935A33}"/>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7CA92CD9-DEC6-477D-AA1E-8369CC23A168}"/>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Exact representation in finite tables.</a:t>
            </a:r>
          </a:p>
        </p:txBody>
      </p:sp>
      <p:sp>
        <p:nvSpPr>
          <p:cNvPr id="15" name="left-bullet-5-marker-4">
            <a:extLst xmlns:a="http://schemas.openxmlformats.org/drawingml/2006/main">
              <a:ext uri="{FF2B5EF4-FFF2-40B4-BE49-F238E27FC236}">
                <a16:creationId xmlns:a16="http://schemas.microsoft.com/office/drawing/2014/main" id="{171A06DE-47DB-4633-BDE1-B273A8283FE7}"/>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98DE69B4-8076-4799-A70C-A56DAF615DE0}"/>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Memory grows as |S||A|.</a:t>
            </a:r>
          </a:p>
        </p:txBody>
      </p:sp>
      <p:sp>
        <p:nvSpPr>
          <p:cNvPr id="17" name="right-bullet-5-marker-1">
            <a:extLst xmlns:a="http://schemas.openxmlformats.org/drawingml/2006/main">
              <a:ext uri="{FF2B5EF4-FFF2-40B4-BE49-F238E27FC236}">
                <a16:creationId xmlns:a16="http://schemas.microsoft.com/office/drawing/2014/main" id="{5CD793C1-1221-4B44-8DAA-7265BAD4B107}"/>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82A2072E-5FCB-49C6-98AF-D899E69FFC00}"/>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One dot product per action.</a:t>
            </a:r>
          </a:p>
        </p:txBody>
      </p:sp>
      <p:sp>
        <p:nvSpPr>
          <p:cNvPr id="19" name="right-bullet-5-marker-2">
            <a:extLst xmlns:a="http://schemas.openxmlformats.org/drawingml/2006/main">
              <a:ext uri="{FF2B5EF4-FFF2-40B4-BE49-F238E27FC236}">
                <a16:creationId xmlns:a16="http://schemas.microsoft.com/office/drawing/2014/main" id="{EFCCE0CB-ABDA-4DD7-9E86-32ADA20A5596}"/>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9760B09E-5ABC-43CF-9374-9C60111B10B7}"/>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Transfer through shared features.</a:t>
            </a:r>
          </a:p>
        </p:txBody>
      </p:sp>
      <p:sp>
        <p:nvSpPr>
          <p:cNvPr id="21" name="right-bullet-5-marker-3">
            <a:extLst xmlns:a="http://schemas.openxmlformats.org/drawingml/2006/main">
              <a:ext uri="{FF2B5EF4-FFF2-40B4-BE49-F238E27FC236}">
                <a16:creationId xmlns:a16="http://schemas.microsoft.com/office/drawing/2014/main" id="{61D0684B-9827-4E94-8FAE-9FB8182E15DD}"/>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219E0412-0220-428E-B0A5-08019B9D1FF7}"/>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Possible approximation bias.</a:t>
            </a:r>
          </a:p>
        </p:txBody>
      </p:sp>
      <p:sp>
        <p:nvSpPr>
          <p:cNvPr id="23" name="right-bullet-5-marker-4">
            <a:extLst xmlns:a="http://schemas.openxmlformats.org/drawingml/2006/main">
              <a:ext uri="{FF2B5EF4-FFF2-40B4-BE49-F238E27FC236}">
                <a16:creationId xmlns:a16="http://schemas.microsoft.com/office/drawing/2014/main" id="{810F856B-147C-4C9C-8E4E-B2429E533B7D}"/>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B25678C7-E6A0-4489-80BF-C37F46D978F3}"/>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Memory grows with d.</a:t>
            </a:r>
          </a:p>
        </p:txBody>
      </p:sp>
    </p:spTree>
    <p:extLst>
      <p:ext uri="{BB962C8B-B14F-4D97-AF65-F5344CB8AC3E}">
        <p14:creationId xmlns:p14="http://schemas.microsoft.com/office/powerpoint/2010/main" val="909149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2D349A08-6493-47D8-8AB2-6E9D78B0F06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Feature design is a modeling workflow</a:t>
            </a:r>
          </a:p>
        </p:txBody>
      </p:sp>
      <p:sp>
        <p:nvSpPr>
          <p:cNvPr id="2" name="title-accent-6">
            <a:extLst xmlns:a="http://schemas.openxmlformats.org/drawingml/2006/main">
              <a:ext uri="{FF2B5EF4-FFF2-40B4-BE49-F238E27FC236}">
                <a16:creationId xmlns:a16="http://schemas.microsoft.com/office/drawing/2014/main" id="{D4386E7F-CA38-421F-9B3B-58FFC9DAAF8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8F172258-E3A2-4C26-854D-8C7196DBC6B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6">
            <a:extLst xmlns:a="http://schemas.openxmlformats.org/drawingml/2006/main">
              <a:ext uri="{FF2B5EF4-FFF2-40B4-BE49-F238E27FC236}">
                <a16:creationId xmlns:a16="http://schemas.microsoft.com/office/drawing/2014/main" id="{5EE18C70-6544-491D-A1E2-ACEFD014E32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A2CAB6C1-07F3-443E-A650-74207B7CC85E}"/>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4CA5ACBD-7FEC-4E57-9E2D-0224538AD251}"/>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F472AC6E-806C-4610-BA01-2B3BEF959D40}"/>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Define</a:t>
            </a:r>
          </a:p>
        </p:txBody>
      </p:sp>
      <p:sp>
        <p:nvSpPr>
          <p:cNvPr id="13" name="process-detail-6-1">
            <a:extLst xmlns:a="http://schemas.openxmlformats.org/drawingml/2006/main">
              <a:ext uri="{FF2B5EF4-FFF2-40B4-BE49-F238E27FC236}">
                <a16:creationId xmlns:a16="http://schemas.microsoft.com/office/drawing/2014/main" id="{2E003CBC-4920-40A1-99DB-2AE427091957}"/>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Name the behavioral signal each feature represents.</a:t>
            </a:r>
          </a:p>
        </p:txBody>
      </p:sp>
      <p:sp>
        <p:nvSpPr>
          <p:cNvPr id="14" name="process-node-6-2">
            <a:extLst xmlns:a="http://schemas.openxmlformats.org/drawingml/2006/main">
              <a:ext uri="{FF2B5EF4-FFF2-40B4-BE49-F238E27FC236}">
                <a16:creationId xmlns:a16="http://schemas.microsoft.com/office/drawing/2014/main" id="{E0D4557D-5F12-409A-988D-9DF9B0871DD1}"/>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267AA862-D9FD-4B8A-93F4-62AF4FB50AAE}"/>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C19D3E03-4E9B-440B-9420-376030B8AB51}"/>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Normalize</a:t>
            </a:r>
          </a:p>
        </p:txBody>
      </p:sp>
      <p:sp>
        <p:nvSpPr>
          <p:cNvPr id="17" name="process-detail-6-2">
            <a:extLst xmlns:a="http://schemas.openxmlformats.org/drawingml/2006/main">
              <a:ext uri="{FF2B5EF4-FFF2-40B4-BE49-F238E27FC236}">
                <a16:creationId xmlns:a16="http://schemas.microsoft.com/office/drawing/2014/main" id="{7320869C-C49A-46C5-80E2-B8EAED554B0A}"/>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Put magnitudes on comparable scales.</a:t>
            </a:r>
          </a:p>
        </p:txBody>
      </p:sp>
      <p:sp>
        <p:nvSpPr>
          <p:cNvPr id="18" name="process-node-6-3">
            <a:extLst xmlns:a="http://schemas.openxmlformats.org/drawingml/2006/main">
              <a:ext uri="{FF2B5EF4-FFF2-40B4-BE49-F238E27FC236}">
                <a16:creationId xmlns:a16="http://schemas.microsoft.com/office/drawing/2014/main" id="{A7B65E84-4290-4A9A-84BA-76BC3986D04F}"/>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FD298F46-115F-4B5D-A979-895236D85F79}"/>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B32F8566-F0E0-4D8F-868E-62D1ED11C7B0}"/>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Probe</a:t>
            </a:r>
          </a:p>
        </p:txBody>
      </p:sp>
      <p:sp>
        <p:nvSpPr>
          <p:cNvPr id="21" name="process-detail-6-3">
            <a:extLst xmlns:a="http://schemas.openxmlformats.org/drawingml/2006/main">
              <a:ext uri="{FF2B5EF4-FFF2-40B4-BE49-F238E27FC236}">
                <a16:creationId xmlns:a16="http://schemas.microsoft.com/office/drawing/2014/main" id="{5645C2ED-1355-46AA-AA7E-0A947F38C8D0}"/>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Evaluate features on boundary states.</a:t>
            </a:r>
          </a:p>
        </p:txBody>
      </p:sp>
      <p:sp>
        <p:nvSpPr>
          <p:cNvPr id="22" name="process-node-6-4">
            <a:extLst xmlns:a="http://schemas.openxmlformats.org/drawingml/2006/main">
              <a:ext uri="{FF2B5EF4-FFF2-40B4-BE49-F238E27FC236}">
                <a16:creationId xmlns:a16="http://schemas.microsoft.com/office/drawing/2014/main" id="{94690DCD-DD90-42D8-89CD-D4206837C416}"/>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37DF57BB-B041-4EF4-BD9F-65C1A68D3FFC}"/>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904CEDE1-3879-402D-B7C7-FEB62C68FE52}"/>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Train</a:t>
            </a:r>
          </a:p>
        </p:txBody>
      </p:sp>
      <p:sp>
        <p:nvSpPr>
          <p:cNvPr id="25" name="process-detail-6-4">
            <a:extLst xmlns:a="http://schemas.openxmlformats.org/drawingml/2006/main">
              <a:ext uri="{FF2B5EF4-FFF2-40B4-BE49-F238E27FC236}">
                <a16:creationId xmlns:a16="http://schemas.microsoft.com/office/drawing/2014/main" id="{7CA188E7-E7F0-49D7-87C8-12D202AA9033}"/>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Log TD errors and weight norms.</a:t>
            </a:r>
          </a:p>
        </p:txBody>
      </p:sp>
      <p:sp>
        <p:nvSpPr>
          <p:cNvPr id="26" name="process-node-6-5">
            <a:extLst xmlns:a="http://schemas.openxmlformats.org/drawingml/2006/main">
              <a:ext uri="{FF2B5EF4-FFF2-40B4-BE49-F238E27FC236}">
                <a16:creationId xmlns:a16="http://schemas.microsoft.com/office/drawing/2014/main" id="{71CB1F37-A893-4683-9D40-2224DD58C99B}"/>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E6179241-F2EB-4F19-B966-E10AD197AE2C}"/>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B2B912F1-A2F0-4329-B843-52F9F174AF39}"/>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Ablate</a:t>
            </a:r>
          </a:p>
        </p:txBody>
      </p:sp>
      <p:sp>
        <p:nvSpPr>
          <p:cNvPr id="29" name="process-detail-6-5">
            <a:extLst xmlns:a="http://schemas.openxmlformats.org/drawingml/2006/main">
              <a:ext uri="{FF2B5EF4-FFF2-40B4-BE49-F238E27FC236}">
                <a16:creationId xmlns:a16="http://schemas.microsoft.com/office/drawing/2014/main" id="{6D43F9DF-A7E9-451E-A30F-7EE17B6C42C1}"/>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Remove one feature family at a time.</a:t>
            </a:r>
          </a:p>
        </p:txBody>
      </p:sp>
      <p:sp>
        <p:nvSpPr>
          <p:cNvPr id="30" name="process-takeaway-6">
            <a:extLst xmlns:a="http://schemas.openxmlformats.org/drawingml/2006/main">
              <a:ext uri="{FF2B5EF4-FFF2-40B4-BE49-F238E27FC236}">
                <a16:creationId xmlns:a16="http://schemas.microsoft.com/office/drawing/2014/main" id="{118F9905-1488-44C5-9E1C-4D0995F0F113}"/>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A feature is justified by predictive evidence, not by an intuitive name.</a:t>
            </a:r>
          </a:p>
        </p:txBody>
      </p:sp>
    </p:spTree>
    <p:extLst>
      <p:ext uri="{BB962C8B-B14F-4D97-AF65-F5344CB8AC3E}">
        <p14:creationId xmlns:p14="http://schemas.microsoft.com/office/powerpoint/2010/main" val="2298593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1A60F3CF-A52F-4749-8A14-1E11DB3CCB3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Semi-gradient Q-learning with linear features</a:t>
            </a:r>
          </a:p>
        </p:txBody>
      </p:sp>
      <p:sp>
        <p:nvSpPr>
          <p:cNvPr id="2" name="title-accent-7">
            <a:extLst xmlns:a="http://schemas.openxmlformats.org/drawingml/2006/main">
              <a:ext uri="{FF2B5EF4-FFF2-40B4-BE49-F238E27FC236}">
                <a16:creationId xmlns:a16="http://schemas.microsoft.com/office/drawing/2014/main" id="{3A7C25B0-D49E-4F73-B145-70B31265453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96267198-B957-475D-A677-5C877F0B08C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7">
            <a:extLst xmlns:a="http://schemas.openxmlformats.org/drawingml/2006/main">
              <a:ext uri="{FF2B5EF4-FFF2-40B4-BE49-F238E27FC236}">
                <a16:creationId xmlns:a16="http://schemas.microsoft.com/office/drawing/2014/main" id="{D02A1B36-A529-4131-AE4F-216EF3AED68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A1ED7738-A9D9-4587-8B26-3E7211FEC087}"/>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5423B889-D8F8-4A0E-BC67-FAE01312647D}"/>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initialize w = zeros(d)</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for each episode: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s = env.reset()</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while not done: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a = epsilon_greedy(Q_hat(s, ., w))</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s_next, r, done = env.step(a)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target = r if done else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 + gamma * max_a Q_hat(s_next, a, w)</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delta = target - Q_hat(s, a, w)</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w = w + alpha * delta * features(s, 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s = s_next</a:t>
            </a:r>
          </a:p>
        </p:txBody>
      </p:sp>
      <p:sp>
        <p:nvSpPr>
          <p:cNvPr id="8" name="code-rail-title-7">
            <a:extLst xmlns:a="http://schemas.openxmlformats.org/drawingml/2006/main">
              <a:ext uri="{FF2B5EF4-FFF2-40B4-BE49-F238E27FC236}">
                <a16:creationId xmlns:a16="http://schemas.microsoft.com/office/drawing/2014/main" id="{CB12C43C-A141-4173-AD06-DAB0E3F000CB}"/>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Implementation contract</a:t>
            </a:r>
          </a:p>
        </p:txBody>
      </p:sp>
      <p:sp>
        <p:nvSpPr>
          <p:cNvPr id="9" name="code-rail-7-marker-1">
            <a:extLst xmlns:a="http://schemas.openxmlformats.org/drawingml/2006/main">
              <a:ext uri="{FF2B5EF4-FFF2-40B4-BE49-F238E27FC236}">
                <a16:creationId xmlns:a16="http://schemas.microsoft.com/office/drawing/2014/main" id="{8DE4C7FC-7D69-4DC3-906A-ED941322A951}"/>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7F0E1B48-3FDC-46B7-AD18-482F0482092D}"/>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Treat target as fixed.</a:t>
            </a:r>
          </a:p>
        </p:txBody>
      </p:sp>
      <p:sp>
        <p:nvSpPr>
          <p:cNvPr id="11" name="code-rail-7-marker-2">
            <a:extLst xmlns:a="http://schemas.openxmlformats.org/drawingml/2006/main">
              <a:ext uri="{FF2B5EF4-FFF2-40B4-BE49-F238E27FC236}">
                <a16:creationId xmlns:a16="http://schemas.microsoft.com/office/drawing/2014/main" id="{8D26B2B4-E391-4E25-B3F0-6795808110C4}"/>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C0D791DA-A06D-43D5-B426-D61E3263CFD2}"/>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Mask terminal bootstrap.</a:t>
            </a:r>
          </a:p>
        </p:txBody>
      </p:sp>
      <p:sp>
        <p:nvSpPr>
          <p:cNvPr id="13" name="code-rail-7-marker-3">
            <a:extLst xmlns:a="http://schemas.openxmlformats.org/drawingml/2006/main">
              <a:ext uri="{FF2B5EF4-FFF2-40B4-BE49-F238E27FC236}">
                <a16:creationId xmlns:a16="http://schemas.microsoft.com/office/drawing/2014/main" id="{3AE34B76-2402-4014-817B-845B49DEE5B6}"/>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5D1582AA-00A4-4D37-8C07-CCBF0ED88F6B}"/>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Cache the feature vector.</a:t>
            </a:r>
          </a:p>
        </p:txBody>
      </p:sp>
      <p:sp>
        <p:nvSpPr>
          <p:cNvPr id="15" name="code-rail-7-marker-4">
            <a:extLst xmlns:a="http://schemas.openxmlformats.org/drawingml/2006/main">
              <a:ext uri="{FF2B5EF4-FFF2-40B4-BE49-F238E27FC236}">
                <a16:creationId xmlns:a16="http://schemas.microsoft.com/office/drawing/2014/main" id="{2444E22E-E6E0-4C42-B46D-6633CA9FFF52}"/>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5187FF92-CADB-4AD7-9584-D9A76739626D}"/>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Monitor finite weights.</a:t>
            </a:r>
          </a:p>
        </p:txBody>
      </p:sp>
    </p:spTree>
    <p:extLst>
      <p:ext uri="{BB962C8B-B14F-4D97-AF65-F5344CB8AC3E}">
        <p14:creationId xmlns:p14="http://schemas.microsoft.com/office/powerpoint/2010/main" val="19983976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4A22DFBF-C386-402F-B598-183968AABE5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update: one transition changes three weights</a:t>
            </a:r>
          </a:p>
        </p:txBody>
      </p:sp>
      <p:sp>
        <p:nvSpPr>
          <p:cNvPr id="2" name="title-accent-8">
            <a:extLst xmlns:a="http://schemas.openxmlformats.org/drawingml/2006/main">
              <a:ext uri="{FF2B5EF4-FFF2-40B4-BE49-F238E27FC236}">
                <a16:creationId xmlns:a16="http://schemas.microsoft.com/office/drawing/2014/main" id="{0522FE72-3559-4F66-BE75-29358D8B6DB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0E12BBE7-1E68-4185-B91C-066E9C9E311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8">
            <a:extLst xmlns:a="http://schemas.openxmlformats.org/drawingml/2006/main">
              <a:ext uri="{FF2B5EF4-FFF2-40B4-BE49-F238E27FC236}">
                <a16:creationId xmlns:a16="http://schemas.microsoft.com/office/drawing/2014/main" id="{0FF76C9B-5168-484B-A707-28E1882E1CD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5D9033BE-28F7-47B2-A014-B1F81BBC2DD9}"/>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075C2C91-099F-46F0-91A3-697617AC55C6}"/>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w=[0.4,-0.2,0.1], f(s,a)=[1,0.5,2], reward=1, gamma=0.9, max next Q=1.5, alpha=0.1.</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222371A2-BC2D-4F02-B5C6-96D8255B7930}"/>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FEEC042C-9AB0-40E0-AC85-9933D791EEC5}"/>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Current Q is 0.4-0.1+0.2=0.5.</a:t>
            </a:r>
          </a:p>
        </p:txBody>
      </p:sp>
      <p:sp>
        <p:nvSpPr>
          <p:cNvPr id="11" name="example-step-8-marker-2">
            <a:extLst xmlns:a="http://schemas.openxmlformats.org/drawingml/2006/main">
              <a:ext uri="{FF2B5EF4-FFF2-40B4-BE49-F238E27FC236}">
                <a16:creationId xmlns:a16="http://schemas.microsoft.com/office/drawing/2014/main" id="{F558A672-C1E2-4D17-9D7B-CECE08E21FA8}"/>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C5C10C8A-544D-49DC-A4E2-1BC847577545}"/>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Target is 1+0.9(1.5)=2.35.</a:t>
            </a:r>
          </a:p>
        </p:txBody>
      </p:sp>
      <p:sp>
        <p:nvSpPr>
          <p:cNvPr id="13" name="example-step-8-marker-3">
            <a:extLst xmlns:a="http://schemas.openxmlformats.org/drawingml/2006/main">
              <a:ext uri="{FF2B5EF4-FFF2-40B4-BE49-F238E27FC236}">
                <a16:creationId xmlns:a16="http://schemas.microsoft.com/office/drawing/2014/main" id="{02E8745B-E5E7-4B89-A64A-9DB4D129C6DC}"/>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569F2D60-6C3C-4092-9336-062CCA97C943}"/>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TD error is 2.35-0.5=1.85.</a:t>
            </a:r>
          </a:p>
        </p:txBody>
      </p:sp>
      <p:sp>
        <p:nvSpPr>
          <p:cNvPr id="15" name="example-step-8-marker-4">
            <a:extLst xmlns:a="http://schemas.openxmlformats.org/drawingml/2006/main">
              <a:ext uri="{FF2B5EF4-FFF2-40B4-BE49-F238E27FC236}">
                <a16:creationId xmlns:a16="http://schemas.microsoft.com/office/drawing/2014/main" id="{0F1B3B50-CBF7-4FBC-8598-C0033F4B4223}"/>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B6F5B8FD-3254-4AB6-A571-95E1FF4E2AD9}"/>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Add 0.185 times the feature vector to w.</a:t>
            </a:r>
          </a:p>
        </p:txBody>
      </p:sp>
      <p:sp>
        <p:nvSpPr>
          <p:cNvPr id="17" name="example-result-panel-8">
            <a:extLst xmlns:a="http://schemas.openxmlformats.org/drawingml/2006/main">
              <a:ext uri="{FF2B5EF4-FFF2-40B4-BE49-F238E27FC236}">
                <a16:creationId xmlns:a16="http://schemas.microsoft.com/office/drawing/2014/main" id="{C8B9D6AA-08EA-426E-A248-0A941BD1CFCB}"/>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0A45CAE1-81C3-4B0F-B88D-664D2B9041CC}"/>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The new weights are [0.585,-0.1075,0.47], and every overlapping prediction changes.</a:t>
            </a:r>
          </a:p>
        </p:txBody>
      </p:sp>
    </p:spTree>
    <p:extLst>
      <p:ext uri="{BB962C8B-B14F-4D97-AF65-F5344CB8AC3E}">
        <p14:creationId xmlns:p14="http://schemas.microsoft.com/office/powerpoint/2010/main" val="4109869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9F297914-E84A-4FAB-B367-C7F8B8F58FB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Useful grid features encode distinct signals</a:t>
            </a:r>
          </a:p>
        </p:txBody>
      </p:sp>
      <p:sp>
        <p:nvSpPr>
          <p:cNvPr id="2" name="title-accent-9">
            <a:extLst xmlns:a="http://schemas.openxmlformats.org/drawingml/2006/main">
              <a:ext uri="{FF2B5EF4-FFF2-40B4-BE49-F238E27FC236}">
                <a16:creationId xmlns:a16="http://schemas.microsoft.com/office/drawing/2014/main" id="{E6455D94-450E-4103-B5E3-F9BD5DBFC02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FA9FDE8A-7C32-441C-9D3F-3C5ED5D5F2F2}"/>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9">
            <a:extLst xmlns:a="http://schemas.openxmlformats.org/drawingml/2006/main">
              <a:ext uri="{FF2B5EF4-FFF2-40B4-BE49-F238E27FC236}">
                <a16:creationId xmlns:a16="http://schemas.microsoft.com/office/drawing/2014/main" id="{95B873B8-BF11-4D48-86F7-FA77BB9968C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3DFD9DBD-9BFE-4E9F-8FCB-EBD413307FCE}"/>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Geometry</a:t>
            </a:r>
          </a:p>
        </p:txBody>
      </p:sp>
      <p:sp>
        <p:nvSpPr>
          <p:cNvPr id="7" name="comparison-tagline-9-1">
            <a:extLst xmlns:a="http://schemas.openxmlformats.org/drawingml/2006/main">
              <a:ext uri="{FF2B5EF4-FFF2-40B4-BE49-F238E27FC236}">
                <a16:creationId xmlns:a16="http://schemas.microsoft.com/office/drawing/2014/main" id="{03830571-C20F-4757-9A10-BA5BB13D1393}"/>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Where am I?</a:t>
            </a:r>
          </a:p>
        </p:txBody>
      </p:sp>
      <p:sp>
        <p:nvSpPr>
          <p:cNvPr id="8" name="comparison-bullet-9-1-marker-1">
            <a:extLst xmlns:a="http://schemas.openxmlformats.org/drawingml/2006/main">
              <a:ext uri="{FF2B5EF4-FFF2-40B4-BE49-F238E27FC236}">
                <a16:creationId xmlns:a16="http://schemas.microsoft.com/office/drawing/2014/main" id="{50CEC936-8AAF-4A70-B69D-484532F234CF}"/>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2C78D9C8-4C89-4F7A-82AF-0475E6AD10DD}"/>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Normalized row and column.</a:t>
            </a:r>
          </a:p>
        </p:txBody>
      </p:sp>
      <p:sp>
        <p:nvSpPr>
          <p:cNvPr id="10" name="comparison-bullet-9-1-marker-2">
            <a:extLst xmlns:a="http://schemas.openxmlformats.org/drawingml/2006/main">
              <a:ext uri="{FF2B5EF4-FFF2-40B4-BE49-F238E27FC236}">
                <a16:creationId xmlns:a16="http://schemas.microsoft.com/office/drawing/2014/main" id="{4355A8DE-40ED-4E85-B623-F7D5B1B6EC9A}"/>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FC413C11-3543-4BE3-AE07-D9EA1B65E598}"/>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Distance to goal.</a:t>
            </a:r>
          </a:p>
        </p:txBody>
      </p:sp>
      <p:sp>
        <p:nvSpPr>
          <p:cNvPr id="12" name="comparison-bullet-9-1-marker-3">
            <a:extLst xmlns:a="http://schemas.openxmlformats.org/drawingml/2006/main">
              <a:ext uri="{FF2B5EF4-FFF2-40B4-BE49-F238E27FC236}">
                <a16:creationId xmlns:a16="http://schemas.microsoft.com/office/drawing/2014/main" id="{FEB26E6D-6EF7-401B-9A06-31F54A60105F}"/>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B9B67A9A-C5F5-419E-8DA2-A57FDEB46A29}"/>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Distance to hazards.</a:t>
            </a:r>
          </a:p>
        </p:txBody>
      </p:sp>
      <p:sp>
        <p:nvSpPr>
          <p:cNvPr id="14" name="comparison-bullet-9-1-marker-4">
            <a:extLst xmlns:a="http://schemas.openxmlformats.org/drawingml/2006/main">
              <a:ext uri="{FF2B5EF4-FFF2-40B4-BE49-F238E27FC236}">
                <a16:creationId xmlns:a16="http://schemas.microsoft.com/office/drawing/2014/main" id="{BDA5EC9E-F137-49DF-81EB-14499A744613}"/>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C830724F-C034-44AB-9495-C19F15DAAB6B}"/>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Wall adjacency indicators.</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5A56BF25-68D3-4276-8593-55800DFBC14F}"/>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Action relation</a:t>
            </a:r>
          </a:p>
        </p:txBody>
      </p:sp>
      <p:sp>
        <p:nvSpPr>
          <p:cNvPr id="18" name="comparison-tagline-9-2">
            <a:extLst xmlns:a="http://schemas.openxmlformats.org/drawingml/2006/main">
              <a:ext uri="{FF2B5EF4-FFF2-40B4-BE49-F238E27FC236}">
                <a16:creationId xmlns:a16="http://schemas.microsoft.com/office/drawing/2014/main" id="{A2E857B5-A628-40DA-95B0-3F25F35FE2A4}"/>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What will this move do?</a:t>
            </a:r>
          </a:p>
        </p:txBody>
      </p:sp>
      <p:sp>
        <p:nvSpPr>
          <p:cNvPr id="19" name="comparison-bullet-9-2-marker-1">
            <a:extLst xmlns:a="http://schemas.openxmlformats.org/drawingml/2006/main">
              <a:ext uri="{FF2B5EF4-FFF2-40B4-BE49-F238E27FC236}">
                <a16:creationId xmlns:a16="http://schemas.microsoft.com/office/drawing/2014/main" id="{C880FE8C-18B1-4E06-A295-B5064472EDA4}"/>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F28A7FC7-81FB-4A3D-BFF8-CE17B083BD01}"/>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Alignment with goal direction.</a:t>
            </a:r>
          </a:p>
        </p:txBody>
      </p:sp>
      <p:sp>
        <p:nvSpPr>
          <p:cNvPr id="21" name="comparison-bullet-9-2-marker-2">
            <a:extLst xmlns:a="http://schemas.openxmlformats.org/drawingml/2006/main">
              <a:ext uri="{FF2B5EF4-FFF2-40B4-BE49-F238E27FC236}">
                <a16:creationId xmlns:a16="http://schemas.microsoft.com/office/drawing/2014/main" id="{ABEB3632-3D44-4776-AFD4-D3F71FBF2B08}"/>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C0ECC80A-7426-49A4-92DA-180D4619466E}"/>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Collision indicator.</a:t>
            </a:r>
          </a:p>
        </p:txBody>
      </p:sp>
      <p:sp>
        <p:nvSpPr>
          <p:cNvPr id="23" name="comparison-bullet-9-2-marker-3">
            <a:extLst xmlns:a="http://schemas.openxmlformats.org/drawingml/2006/main">
              <a:ext uri="{FF2B5EF4-FFF2-40B4-BE49-F238E27FC236}">
                <a16:creationId xmlns:a16="http://schemas.microsoft.com/office/drawing/2014/main" id="{8368A146-E3EE-4B38-A627-0B8F07146238}"/>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CD9ACAAF-D42B-4480-999D-819C1DA99AB5}"/>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Progress delta.</a:t>
            </a:r>
          </a:p>
        </p:txBody>
      </p:sp>
      <p:sp>
        <p:nvSpPr>
          <p:cNvPr id="25" name="comparison-bullet-9-2-marker-4">
            <a:extLst xmlns:a="http://schemas.openxmlformats.org/drawingml/2006/main">
              <a:ext uri="{FF2B5EF4-FFF2-40B4-BE49-F238E27FC236}">
                <a16:creationId xmlns:a16="http://schemas.microsoft.com/office/drawing/2014/main" id="{3331C4EC-48AA-4342-853F-99A03236884F}"/>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9CEA1FB8-3F39-45CA-87C7-6035BBA6840E}"/>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Action one-hot encoding.</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7E139ECB-391A-4069-92B2-170B0E141BD5}"/>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Quality checks</a:t>
            </a:r>
          </a:p>
        </p:txBody>
      </p:sp>
      <p:sp>
        <p:nvSpPr>
          <p:cNvPr id="29" name="comparison-tagline-9-3">
            <a:extLst xmlns:a="http://schemas.openxmlformats.org/drawingml/2006/main">
              <a:ext uri="{FF2B5EF4-FFF2-40B4-BE49-F238E27FC236}">
                <a16:creationId xmlns:a16="http://schemas.microsoft.com/office/drawing/2014/main" id="{236D2C8A-D9CF-4081-98D9-BA67B3B6500F}"/>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Can it be trusted?</a:t>
            </a:r>
          </a:p>
        </p:txBody>
      </p:sp>
      <p:sp>
        <p:nvSpPr>
          <p:cNvPr id="30" name="comparison-bullet-9-3-marker-1">
            <a:extLst xmlns:a="http://schemas.openxmlformats.org/drawingml/2006/main">
              <a:ext uri="{FF2B5EF4-FFF2-40B4-BE49-F238E27FC236}">
                <a16:creationId xmlns:a16="http://schemas.microsoft.com/office/drawing/2014/main" id="{4ED71751-9467-49F6-8A29-A23354DAF0BE}"/>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F1BD5F0C-3A9D-48BA-8BDC-310BDEF97FE5}"/>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Finite and bounded values.</a:t>
            </a:r>
          </a:p>
        </p:txBody>
      </p:sp>
      <p:sp>
        <p:nvSpPr>
          <p:cNvPr id="32" name="comparison-bullet-9-3-marker-2">
            <a:extLst xmlns:a="http://schemas.openxmlformats.org/drawingml/2006/main">
              <a:ext uri="{FF2B5EF4-FFF2-40B4-BE49-F238E27FC236}">
                <a16:creationId xmlns:a16="http://schemas.microsoft.com/office/drawing/2014/main" id="{F78007E9-5D5D-45BE-BA2A-B5ECE023280C}"/>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4F9EED21-4736-40F4-BFF3-764B944E8E8E}"/>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Stable scale across maps.</a:t>
            </a:r>
          </a:p>
        </p:txBody>
      </p:sp>
      <p:sp>
        <p:nvSpPr>
          <p:cNvPr id="34" name="comparison-bullet-9-3-marker-3">
            <a:extLst xmlns:a="http://schemas.openxmlformats.org/drawingml/2006/main">
              <a:ext uri="{FF2B5EF4-FFF2-40B4-BE49-F238E27FC236}">
                <a16:creationId xmlns:a16="http://schemas.microsoft.com/office/drawing/2014/main" id="{8BF2D442-FFFD-4ED1-893B-2C8909BFAFED}"/>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F49CE88F-A045-416D-9401-61B24A091821}"/>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Cheap computation.</a:t>
            </a:r>
          </a:p>
        </p:txBody>
      </p:sp>
      <p:sp>
        <p:nvSpPr>
          <p:cNvPr id="36" name="comparison-bullet-9-3-marker-4">
            <a:extLst xmlns:a="http://schemas.openxmlformats.org/drawingml/2006/main">
              <a:ext uri="{FF2B5EF4-FFF2-40B4-BE49-F238E27FC236}">
                <a16:creationId xmlns:a16="http://schemas.microsoft.com/office/drawing/2014/main" id="{79F336A5-5856-4CCD-A190-71F34CF59A19}"/>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DFC30C58-17DE-46DF-A5AD-A3764087681A}"/>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Ablation evidence.</a:t>
            </a:r>
          </a:p>
        </p:txBody>
      </p:sp>
    </p:spTree>
    <p:extLst>
      <p:ext uri="{BB962C8B-B14F-4D97-AF65-F5344CB8AC3E}">
        <p14:creationId xmlns:p14="http://schemas.microsoft.com/office/powerpoint/2010/main" val="15881933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008BF54B-6FA1-41FD-BF89-1F19CFE2DFB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identify shared updates</a:t>
            </a:r>
          </a:p>
        </p:txBody>
      </p:sp>
      <p:sp>
        <p:nvSpPr>
          <p:cNvPr id="2" name="title-accent-10">
            <a:extLst xmlns:a="http://schemas.openxmlformats.org/drawingml/2006/main">
              <a:ext uri="{FF2B5EF4-FFF2-40B4-BE49-F238E27FC236}">
                <a16:creationId xmlns:a16="http://schemas.microsoft.com/office/drawing/2014/main" id="{55EACCEB-98A9-4650-AAFD-B078E2774EF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17045C63-C367-4EA1-829E-5C35AB25453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10">
            <a:extLst xmlns:a="http://schemas.openxmlformats.org/drawingml/2006/main">
              <a:ext uri="{FF2B5EF4-FFF2-40B4-BE49-F238E27FC236}">
                <a16:creationId xmlns:a16="http://schemas.microsoft.com/office/drawing/2014/main" id="{8A10A7D3-DE3D-44D9-9A8A-DE4F4A971AE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E54C6957-07BE-4B43-A262-6073763B1D3E}"/>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5C60F7D9-CFE2-476C-AD8E-1003F6FE06E9}"/>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Two state-action pairs have feature vectors [1,1,0] and [1,0,1]. Which prediction changes after updating the first pair?</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EB4DEC2C-5E94-4D67-8AE5-EA290C187498}"/>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47F43F2B-7443-4D32-85D2-CB8D09D7768E}"/>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Write the weight increment.</a:t>
            </a:r>
          </a:p>
        </p:txBody>
      </p:sp>
      <p:sp>
        <p:nvSpPr>
          <p:cNvPr id="11" name="checkpoint-prompt-number-10-2">
            <a:extLst xmlns:a="http://schemas.openxmlformats.org/drawingml/2006/main">
              <a:ext uri="{FF2B5EF4-FFF2-40B4-BE49-F238E27FC236}">
                <a16:creationId xmlns:a16="http://schemas.microsoft.com/office/drawing/2014/main" id="{FB004E31-FA6F-4C2C-BD72-E59839B24874}"/>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57EA3DDA-347D-49E3-BAB8-13F4F7E76ECC}"/>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Take its dot product with the second vector.</a:t>
            </a:r>
          </a:p>
        </p:txBody>
      </p:sp>
      <p:sp>
        <p:nvSpPr>
          <p:cNvPr id="13" name="checkpoint-prompt-number-10-3">
            <a:extLst xmlns:a="http://schemas.openxmlformats.org/drawingml/2006/main">
              <a:ext uri="{FF2B5EF4-FFF2-40B4-BE49-F238E27FC236}">
                <a16:creationId xmlns:a16="http://schemas.microsoft.com/office/drawing/2014/main" id="{17D07EF5-EA4A-4D99-891B-32E9DCE2B504}"/>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42C5B296-027E-473F-8A43-221BE79A4D77}"/>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State which shared coordinate causes transfer.</a:t>
            </a:r>
          </a:p>
        </p:txBody>
      </p:sp>
    </p:spTree>
    <p:extLst>
      <p:ext uri="{BB962C8B-B14F-4D97-AF65-F5344CB8AC3E}">
        <p14:creationId xmlns:p14="http://schemas.microsoft.com/office/powerpoint/2010/main" val="5783254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25B4FC29-5398-4E7D-B9EB-6E2E8E43FD5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 semi-gradient freezes the bootstrap target</a:t>
            </a:r>
          </a:p>
        </p:txBody>
      </p:sp>
      <p:sp>
        <p:nvSpPr>
          <p:cNvPr id="2" name="title-accent-11">
            <a:extLst xmlns:a="http://schemas.openxmlformats.org/drawingml/2006/main">
              <a:ext uri="{FF2B5EF4-FFF2-40B4-BE49-F238E27FC236}">
                <a16:creationId xmlns:a16="http://schemas.microsoft.com/office/drawing/2014/main" id="{80B0B95E-25FC-4232-B897-79E3C3904F2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99F24E8E-F421-4E86-9242-B8BD51CDDDD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11">
            <a:extLst xmlns:a="http://schemas.openxmlformats.org/drawingml/2006/main">
              <a:ext uri="{FF2B5EF4-FFF2-40B4-BE49-F238E27FC236}">
                <a16:creationId xmlns:a16="http://schemas.microsoft.com/office/drawing/2014/main" id="{93F877F5-82BA-4F78-829B-D56CC70F59C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90547BA1-5249-4FAA-8226-263DDD37B8E9}"/>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Prediction side</a:t>
            </a:r>
          </a:p>
        </p:txBody>
      </p:sp>
      <p:sp>
        <p:nvSpPr>
          <p:cNvPr id="8" name="right-title-11">
            <a:extLst xmlns:a="http://schemas.openxmlformats.org/drawingml/2006/main">
              <a:ext uri="{FF2B5EF4-FFF2-40B4-BE49-F238E27FC236}">
                <a16:creationId xmlns:a16="http://schemas.microsoft.com/office/drawing/2014/main" id="{44CA8F2A-C7C8-4217-BB65-0415393885F8}"/>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Target side</a:t>
            </a:r>
          </a:p>
        </p:txBody>
      </p:sp>
      <p:sp>
        <p:nvSpPr>
          <p:cNvPr id="9" name="left-bullet-11-marker-1">
            <a:extLst xmlns:a="http://schemas.openxmlformats.org/drawingml/2006/main">
              <a:ext uri="{FF2B5EF4-FFF2-40B4-BE49-F238E27FC236}">
                <a16:creationId xmlns:a16="http://schemas.microsoft.com/office/drawing/2014/main" id="{B45383C8-197E-415F-AC62-4B29906B595D}"/>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E9E7D13E-24F2-4E60-960C-5ECA1CDCB9E2}"/>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Differentiate Q_hat(s,a;w).</a:t>
            </a:r>
          </a:p>
        </p:txBody>
      </p:sp>
      <p:sp>
        <p:nvSpPr>
          <p:cNvPr id="11" name="left-bullet-11-marker-2">
            <a:extLst xmlns:a="http://schemas.openxmlformats.org/drawingml/2006/main">
              <a:ext uri="{FF2B5EF4-FFF2-40B4-BE49-F238E27FC236}">
                <a16:creationId xmlns:a16="http://schemas.microsoft.com/office/drawing/2014/main" id="{4038B29F-569A-466E-A51D-B025A447C1BC}"/>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A5760FA4-EA95-4C5B-A65F-2F49BEF7C397}"/>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Gradient is f(s,a) for a linear model.</a:t>
            </a:r>
          </a:p>
        </p:txBody>
      </p:sp>
      <p:sp>
        <p:nvSpPr>
          <p:cNvPr id="13" name="left-bullet-11-marker-3">
            <a:extLst xmlns:a="http://schemas.openxmlformats.org/drawingml/2006/main">
              <a:ext uri="{FF2B5EF4-FFF2-40B4-BE49-F238E27FC236}">
                <a16:creationId xmlns:a16="http://schemas.microsoft.com/office/drawing/2014/main" id="{95930DDD-0FED-437E-BFEA-2AB08817DC31}"/>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6CB474F8-2BE9-4616-8791-EDC765864611}"/>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Update parameters each step.</a:t>
            </a:r>
          </a:p>
        </p:txBody>
      </p:sp>
      <p:sp>
        <p:nvSpPr>
          <p:cNvPr id="15" name="left-bullet-11-marker-4">
            <a:extLst xmlns:a="http://schemas.openxmlformats.org/drawingml/2006/main">
              <a:ext uri="{FF2B5EF4-FFF2-40B4-BE49-F238E27FC236}">
                <a16:creationId xmlns:a16="http://schemas.microsoft.com/office/drawing/2014/main" id="{919793D5-3E17-4AA3-B7D9-2F6CBE0A1A3F}"/>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1E2579AA-2F2E-4E03-8F06-CFB3BF8BC17E}"/>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Directly controls current prediction.</a:t>
            </a:r>
          </a:p>
        </p:txBody>
      </p:sp>
      <p:sp>
        <p:nvSpPr>
          <p:cNvPr id="17" name="right-bullet-11-marker-1">
            <a:extLst xmlns:a="http://schemas.openxmlformats.org/drawingml/2006/main">
              <a:ext uri="{FF2B5EF4-FFF2-40B4-BE49-F238E27FC236}">
                <a16:creationId xmlns:a16="http://schemas.microsoft.com/office/drawing/2014/main" id="{573B86E1-29CC-4E4C-920B-678E58EF3B86}"/>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BC0FB57C-BD8E-4D39-B311-712E2CF5CBFD}"/>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Contains a next-state prediction.</a:t>
            </a:r>
          </a:p>
        </p:txBody>
      </p:sp>
      <p:sp>
        <p:nvSpPr>
          <p:cNvPr id="19" name="right-bullet-11-marker-2">
            <a:extLst xmlns:a="http://schemas.openxmlformats.org/drawingml/2006/main">
              <a:ext uri="{FF2B5EF4-FFF2-40B4-BE49-F238E27FC236}">
                <a16:creationId xmlns:a16="http://schemas.microsoft.com/office/drawing/2014/main" id="{BC07B142-4745-4964-A938-2DA4854602CF}"/>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37A70697-3932-40F0-B702-5437FB63B421}"/>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Treated as a constant for this step.</a:t>
            </a:r>
          </a:p>
        </p:txBody>
      </p:sp>
      <p:sp>
        <p:nvSpPr>
          <p:cNvPr id="21" name="right-bullet-11-marker-3">
            <a:extLst xmlns:a="http://schemas.openxmlformats.org/drawingml/2006/main">
              <a:ext uri="{FF2B5EF4-FFF2-40B4-BE49-F238E27FC236}">
                <a16:creationId xmlns:a16="http://schemas.microsoft.com/office/drawing/2014/main" id="{6A2A167E-D43D-4F28-80BC-CFE4D452B1D6}"/>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AE1D9BEF-6BC5-4BE3-BF3C-CBC52EDE9D4A}"/>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Not differentiated through.</a:t>
            </a:r>
          </a:p>
        </p:txBody>
      </p:sp>
      <p:sp>
        <p:nvSpPr>
          <p:cNvPr id="23" name="right-bullet-11-marker-4">
            <a:extLst xmlns:a="http://schemas.openxmlformats.org/drawingml/2006/main">
              <a:ext uri="{FF2B5EF4-FFF2-40B4-BE49-F238E27FC236}">
                <a16:creationId xmlns:a16="http://schemas.microsoft.com/office/drawing/2014/main" id="{9586F9DA-ED5D-47AC-B768-E40861190F16}"/>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A192DC1C-749F-4871-B725-E5217DA5CAB8}"/>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Moves again after parameters change.</a:t>
            </a:r>
          </a:p>
        </p:txBody>
      </p:sp>
    </p:spTree>
    <p:extLst>
      <p:ext uri="{BB962C8B-B14F-4D97-AF65-F5344CB8AC3E}">
        <p14:creationId xmlns:p14="http://schemas.microsoft.com/office/powerpoint/2010/main" val="802739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AC624C9F-E89B-4FD7-B668-C601C527F09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Deriving the weight update</a:t>
            </a:r>
          </a:p>
        </p:txBody>
      </p:sp>
      <p:sp>
        <p:nvSpPr>
          <p:cNvPr id="2" name="title-accent-12">
            <a:extLst xmlns:a="http://schemas.openxmlformats.org/drawingml/2006/main">
              <a:ext uri="{FF2B5EF4-FFF2-40B4-BE49-F238E27FC236}">
                <a16:creationId xmlns:a16="http://schemas.microsoft.com/office/drawing/2014/main" id="{E843FF69-4421-46C8-A9B8-3783DD3F018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3ED69C0B-2D28-42EF-AC6C-36D6F6AC383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12">
            <a:extLst xmlns:a="http://schemas.openxmlformats.org/drawingml/2006/main">
              <a:ext uri="{FF2B5EF4-FFF2-40B4-BE49-F238E27FC236}">
                <a16:creationId xmlns:a16="http://schemas.microsoft.com/office/drawing/2014/main" id="{9054A9F7-9744-421D-8E60-3EF61551ECC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0841C3E5-1500-46C8-AA1A-1DF8D7F4AC10}"/>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A4D9ADE8-5CB1-486D-82E1-A3BBC6454231}"/>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111111"/>
                </a:solidFill>
                <a:latin typeface="Cambria Math"/>
                <a:ea typeface="Cambria Math"/>
                <a:cs typeface="Cambria Math"/>
              </a:defRPr>
            </a:pPr>
            <a:r>
              <a:rPr sz="2550" b="1">
                <a:solidFill>
                  <a:srgbClr val="111111"/>
                </a:solidFill>
                <a:latin typeface="Cambria Math"/>
                <a:ea typeface="Cambria Math"/>
                <a:cs typeface="Cambria Math"/>
              </a:rPr>
              <a:t>L=0.5(y-Q_hat)^2; delta=y-Q_hat; w &lt;- w + alpha delta grad_w Q_hat</a:t>
            </a:r>
          </a:p>
        </p:txBody>
      </p:sp>
      <p:sp>
        <p:nvSpPr>
          <p:cNvPr id="8" name="formula-definition-12-marker-1">
            <a:extLst xmlns:a="http://schemas.openxmlformats.org/drawingml/2006/main">
              <a:ext uri="{FF2B5EF4-FFF2-40B4-BE49-F238E27FC236}">
                <a16:creationId xmlns:a16="http://schemas.microsoft.com/office/drawing/2014/main" id="{46771445-B7E5-4455-A2E4-AB2EFBD424F4}"/>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23246BFC-B455-4F3E-9B24-A952628E70A9}"/>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y=r+gamma max Q_hat(s_next,a) for nonterminal steps.</a:t>
            </a:r>
          </a:p>
        </p:txBody>
      </p:sp>
      <p:sp>
        <p:nvSpPr>
          <p:cNvPr id="10" name="formula-definition-12-marker-2">
            <a:extLst xmlns:a="http://schemas.openxmlformats.org/drawingml/2006/main">
              <a:ext uri="{FF2B5EF4-FFF2-40B4-BE49-F238E27FC236}">
                <a16:creationId xmlns:a16="http://schemas.microsoft.com/office/drawing/2014/main" id="{662A8322-6C6A-4E9B-B022-34FB9391C341}"/>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02D6BEF4-3838-4674-B69B-6778B0AEEE0F}"/>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negative loss gradient is delta grad Q_hat.</a:t>
            </a:r>
          </a:p>
        </p:txBody>
      </p:sp>
      <p:sp>
        <p:nvSpPr>
          <p:cNvPr id="12" name="formula-definition-12-marker-3">
            <a:extLst xmlns:a="http://schemas.openxmlformats.org/drawingml/2006/main">
              <a:ext uri="{FF2B5EF4-FFF2-40B4-BE49-F238E27FC236}">
                <a16:creationId xmlns:a16="http://schemas.microsoft.com/office/drawing/2014/main" id="{16557C35-DB33-4B6F-9F9C-FF1E85381FF8}"/>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FC67D152-EBDE-4F51-BA02-E874D4D2C886}"/>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For a linear model, grad Q_hat=f(s,a).</a:t>
            </a:r>
          </a:p>
        </p:txBody>
      </p:sp>
      <p:sp>
        <p:nvSpPr>
          <p:cNvPr id="14" name="formula-definition-12-marker-4">
            <a:extLst xmlns:a="http://schemas.openxmlformats.org/drawingml/2006/main">
              <a:ext uri="{FF2B5EF4-FFF2-40B4-BE49-F238E27FC236}">
                <a16:creationId xmlns:a16="http://schemas.microsoft.com/office/drawing/2014/main" id="{355EF3B3-ACEC-47B9-B797-F394C4B1B861}"/>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12CE1A52-63F8-44C3-8ED4-8C25DF6E6AB3}"/>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Terminal y equals reward only.</a:t>
            </a:r>
          </a:p>
        </p:txBody>
      </p:sp>
      <p:sp>
        <p:nvSpPr>
          <p:cNvPr id="16" name="formula-implication-panel-12">
            <a:extLst xmlns:a="http://schemas.openxmlformats.org/drawingml/2006/main">
              <a:ext uri="{FF2B5EF4-FFF2-40B4-BE49-F238E27FC236}">
                <a16:creationId xmlns:a16="http://schemas.microsoft.com/office/drawing/2014/main" id="{B31CC7C9-8CAA-44DE-86C9-D59DD9D321B2}"/>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635C070F-C610-416C-B7BD-CCE385D7CE1A}"/>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B9DA966F-958C-4ABF-846C-8AA1AFF2075F}"/>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The semi-gradient update resembles supervised regression onto a moving TD target.</a:t>
            </a:r>
          </a:p>
        </p:txBody>
      </p:sp>
    </p:spTree>
    <p:extLst>
      <p:ext uri="{BB962C8B-B14F-4D97-AF65-F5344CB8AC3E}">
        <p14:creationId xmlns:p14="http://schemas.microsoft.com/office/powerpoint/2010/main" val="2869515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F5C3276D-4D8C-4358-9113-1F4A46795DB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One-hot features recover the tabular rule</a:t>
            </a:r>
          </a:p>
        </p:txBody>
      </p:sp>
      <p:sp>
        <p:nvSpPr>
          <p:cNvPr id="2" name="title-accent-13">
            <a:extLst xmlns:a="http://schemas.openxmlformats.org/drawingml/2006/main">
              <a:ext uri="{FF2B5EF4-FFF2-40B4-BE49-F238E27FC236}">
                <a16:creationId xmlns:a16="http://schemas.microsoft.com/office/drawing/2014/main" id="{9CE7E0BC-2CD5-400F-8F88-193595AB65B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19CB3800-9EFE-4EE5-AB49-9586631031F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13">
            <a:extLst xmlns:a="http://schemas.openxmlformats.org/drawingml/2006/main">
              <a:ext uri="{FF2B5EF4-FFF2-40B4-BE49-F238E27FC236}">
                <a16:creationId xmlns:a16="http://schemas.microsoft.com/office/drawing/2014/main" id="{DD6C82C2-4340-4109-9EFC-A2CB804E613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E388B7A7-1DE0-4F1C-B8F2-9648819CEADD}"/>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D78B28B4-4A15-49C7-BB19-BAAACA33CF9F}"/>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 feature vector has one active coordinate for exactly one pair (s,a).</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5B66089F-6A17-490E-838D-EF0CC8D61DC9}"/>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119C5354-BA96-48BF-89E7-1EE92DD7A0CE}"/>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dot product selects one weight.</a:t>
            </a:r>
          </a:p>
        </p:txBody>
      </p:sp>
      <p:sp>
        <p:nvSpPr>
          <p:cNvPr id="11" name="example-step-13-marker-2">
            <a:extLst xmlns:a="http://schemas.openxmlformats.org/drawingml/2006/main">
              <a:ext uri="{FF2B5EF4-FFF2-40B4-BE49-F238E27FC236}">
                <a16:creationId xmlns:a16="http://schemas.microsoft.com/office/drawing/2014/main" id="{A4023F01-F2E9-42BF-8811-8FD9B2A29997}"/>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4D1531D6-40D1-4B8B-B982-681DD79CD08F}"/>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Its gradient is one at that coordinate and zero elsewhere.</a:t>
            </a:r>
          </a:p>
        </p:txBody>
      </p:sp>
      <p:sp>
        <p:nvSpPr>
          <p:cNvPr id="13" name="example-step-13-marker-3">
            <a:extLst xmlns:a="http://schemas.openxmlformats.org/drawingml/2006/main">
              <a:ext uri="{FF2B5EF4-FFF2-40B4-BE49-F238E27FC236}">
                <a16:creationId xmlns:a16="http://schemas.microsoft.com/office/drawing/2014/main" id="{7D185138-430C-4A31-B8D4-3D1FFD3F3CB6}"/>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8482D76E-6765-468B-8D5D-017CAAE5CC4E}"/>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update changes only that selected weight.</a:t>
            </a:r>
          </a:p>
        </p:txBody>
      </p:sp>
      <p:sp>
        <p:nvSpPr>
          <p:cNvPr id="15" name="example-step-13-marker-4">
            <a:extLst xmlns:a="http://schemas.openxmlformats.org/drawingml/2006/main">
              <a:ext uri="{FF2B5EF4-FFF2-40B4-BE49-F238E27FC236}">
                <a16:creationId xmlns:a16="http://schemas.microsoft.com/office/drawing/2014/main" id="{CCEF6E7F-24C5-478C-AEC1-28BBF59ACFC4}"/>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C038D181-8378-4602-AB24-4ACD89D3EA75}"/>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result matches Q(s,a) &lt;- Q(s,a)+alpha delta.</a:t>
            </a:r>
          </a:p>
        </p:txBody>
      </p:sp>
      <p:sp>
        <p:nvSpPr>
          <p:cNvPr id="17" name="example-result-panel-13">
            <a:extLst xmlns:a="http://schemas.openxmlformats.org/drawingml/2006/main">
              <a:ext uri="{FF2B5EF4-FFF2-40B4-BE49-F238E27FC236}">
                <a16:creationId xmlns:a16="http://schemas.microsoft.com/office/drawing/2014/main" id="{0AF89161-97E6-4DFC-8446-EC376BA27314}"/>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CAC27CF4-8D21-473A-96A3-9660123B14CD}"/>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Tabular Q-learning is a linear approximator with a very large one-hot feature basis.</a:t>
            </a:r>
          </a:p>
        </p:txBody>
      </p:sp>
    </p:spTree>
    <p:extLst>
      <p:ext uri="{BB962C8B-B14F-4D97-AF65-F5344CB8AC3E}">
        <p14:creationId xmlns:p14="http://schemas.microsoft.com/office/powerpoint/2010/main" val="19273983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FBDF36B6-F1D3-4014-BEBA-03C6C14F0B7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 deadly triad marks a risk boundary</a:t>
            </a:r>
          </a:p>
        </p:txBody>
      </p:sp>
      <p:sp>
        <p:nvSpPr>
          <p:cNvPr id="2" name="title-accent-14">
            <a:extLst xmlns:a="http://schemas.openxmlformats.org/drawingml/2006/main">
              <a:ext uri="{FF2B5EF4-FFF2-40B4-BE49-F238E27FC236}">
                <a16:creationId xmlns:a16="http://schemas.microsoft.com/office/drawing/2014/main" id="{5FF46401-F71E-42F4-A456-68D1519EF10F}"/>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DA181A82-2102-4A22-A02C-AB36EFC0DC4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14">
            <a:extLst xmlns:a="http://schemas.openxmlformats.org/drawingml/2006/main">
              <a:ext uri="{FF2B5EF4-FFF2-40B4-BE49-F238E27FC236}">
                <a16:creationId xmlns:a16="http://schemas.microsoft.com/office/drawing/2014/main" id="{E4549A2F-0CD6-4C86-BCF0-3FE5B5F7FA2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1658F209-AEA7-41BC-ADBD-1D43C8D996E5}"/>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Approximation</a:t>
            </a:r>
          </a:p>
        </p:txBody>
      </p:sp>
      <p:sp>
        <p:nvSpPr>
          <p:cNvPr id="7" name="comparison-tagline-14-1">
            <a:extLst xmlns:a="http://schemas.openxmlformats.org/drawingml/2006/main">
              <a:ext uri="{FF2B5EF4-FFF2-40B4-BE49-F238E27FC236}">
                <a16:creationId xmlns:a16="http://schemas.microsoft.com/office/drawing/2014/main" id="{30CCBF40-3F39-4B40-BA43-04BFF280DAA8}"/>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Shared parameters</a:t>
            </a:r>
          </a:p>
        </p:txBody>
      </p:sp>
      <p:sp>
        <p:nvSpPr>
          <p:cNvPr id="8" name="comparison-bullet-14-1-marker-1">
            <a:extLst xmlns:a="http://schemas.openxmlformats.org/drawingml/2006/main">
              <a:ext uri="{FF2B5EF4-FFF2-40B4-BE49-F238E27FC236}">
                <a16:creationId xmlns:a16="http://schemas.microsoft.com/office/drawing/2014/main" id="{55BE7C5C-9F92-4FD7-BB9F-96BCC71DBD20}"/>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E134F6A5-72CC-4FE2-A70C-C02538F4C32A}"/>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Couples predictions.</a:t>
            </a:r>
          </a:p>
        </p:txBody>
      </p:sp>
      <p:sp>
        <p:nvSpPr>
          <p:cNvPr id="10" name="comparison-bullet-14-1-marker-2">
            <a:extLst xmlns:a="http://schemas.openxmlformats.org/drawingml/2006/main">
              <a:ext uri="{FF2B5EF4-FFF2-40B4-BE49-F238E27FC236}">
                <a16:creationId xmlns:a16="http://schemas.microsoft.com/office/drawing/2014/main" id="{9435BD18-6A9B-45BC-BA80-93A6362CA1D7}"/>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B31C9257-97A2-44A3-97A4-7CA37F8F6D61}"/>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Creates representation error.</a:t>
            </a:r>
          </a:p>
        </p:txBody>
      </p:sp>
      <p:sp>
        <p:nvSpPr>
          <p:cNvPr id="12" name="comparison-bullet-14-1-marker-3">
            <a:extLst xmlns:a="http://schemas.openxmlformats.org/drawingml/2006/main">
              <a:ext uri="{FF2B5EF4-FFF2-40B4-BE49-F238E27FC236}">
                <a16:creationId xmlns:a16="http://schemas.microsoft.com/office/drawing/2014/main" id="{711BB9FE-B51B-46D9-B671-99FFBA8ADC22}"/>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8139394B-0472-4294-9919-3D57CC7F381C}"/>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May amplify updates.</a:t>
            </a:r>
          </a:p>
        </p:txBody>
      </p:sp>
      <p:sp>
        <p:nvSpPr>
          <p:cNvPr id="14" name="comparison-bullet-14-1-marker-4">
            <a:extLst xmlns:a="http://schemas.openxmlformats.org/drawingml/2006/main">
              <a:ext uri="{FF2B5EF4-FFF2-40B4-BE49-F238E27FC236}">
                <a16:creationId xmlns:a16="http://schemas.microsoft.com/office/drawing/2014/main" id="{9A8661F4-2F18-4E67-AED9-644E18B011E3}"/>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E68E8E83-FD86-4AA8-9E9F-CD271FDBAD64}"/>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Enables scale.</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722FB76A-5D6A-4D19-AD72-E0AA85E5A77C}"/>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Bootstrapping</a:t>
            </a:r>
          </a:p>
        </p:txBody>
      </p:sp>
      <p:sp>
        <p:nvSpPr>
          <p:cNvPr id="18" name="comparison-tagline-14-2">
            <a:extLst xmlns:a="http://schemas.openxmlformats.org/drawingml/2006/main">
              <a:ext uri="{FF2B5EF4-FFF2-40B4-BE49-F238E27FC236}">
                <a16:creationId xmlns:a16="http://schemas.microsoft.com/office/drawing/2014/main" id="{3CE6CDF6-31A6-443A-8BB5-E3691CB9ABED}"/>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Learn from estimates</a:t>
            </a:r>
          </a:p>
        </p:txBody>
      </p:sp>
      <p:sp>
        <p:nvSpPr>
          <p:cNvPr id="19" name="comparison-bullet-14-2-marker-1">
            <a:extLst xmlns:a="http://schemas.openxmlformats.org/drawingml/2006/main">
              <a:ext uri="{FF2B5EF4-FFF2-40B4-BE49-F238E27FC236}">
                <a16:creationId xmlns:a16="http://schemas.microsoft.com/office/drawing/2014/main" id="{D7FA344D-D3A5-4E8D-AC33-6FB9871E21DD}"/>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F49859E3-7940-4D9C-AA26-7CCF05DA3372}"/>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Uses a moving target.</a:t>
            </a:r>
          </a:p>
        </p:txBody>
      </p:sp>
      <p:sp>
        <p:nvSpPr>
          <p:cNvPr id="21" name="comparison-bullet-14-2-marker-2">
            <a:extLst xmlns:a="http://schemas.openxmlformats.org/drawingml/2006/main">
              <a:ext uri="{FF2B5EF4-FFF2-40B4-BE49-F238E27FC236}">
                <a16:creationId xmlns:a16="http://schemas.microsoft.com/office/drawing/2014/main" id="{EB68F033-A48F-41DB-ADA0-29A09C94C136}"/>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4F542453-1F10-4994-AD65-ED90FF334644}"/>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Propagates value quickly.</a:t>
            </a:r>
          </a:p>
        </p:txBody>
      </p:sp>
      <p:sp>
        <p:nvSpPr>
          <p:cNvPr id="23" name="comparison-bullet-14-2-marker-3">
            <a:extLst xmlns:a="http://schemas.openxmlformats.org/drawingml/2006/main">
              <a:ext uri="{FF2B5EF4-FFF2-40B4-BE49-F238E27FC236}">
                <a16:creationId xmlns:a16="http://schemas.microsoft.com/office/drawing/2014/main" id="{7AD7246F-6D6C-45E1-B543-A6E1E7C937A6}"/>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48E04096-05C9-4C6B-8AE4-80543430F84F}"/>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Can propagate error.</a:t>
            </a:r>
          </a:p>
        </p:txBody>
      </p:sp>
      <p:sp>
        <p:nvSpPr>
          <p:cNvPr id="25" name="comparison-bullet-14-2-marker-4">
            <a:extLst xmlns:a="http://schemas.openxmlformats.org/drawingml/2006/main">
              <a:ext uri="{FF2B5EF4-FFF2-40B4-BE49-F238E27FC236}">
                <a16:creationId xmlns:a16="http://schemas.microsoft.com/office/drawing/2014/main" id="{69CABE13-A8CE-4082-BF61-116B2722BE94}"/>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C4242F56-60B2-4D4C-8C0E-4D7E52927934}"/>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Reduces full-return delay.</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06823A5B-069A-472D-B8A5-8112EA3C0026}"/>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Off-policy</a:t>
            </a:r>
          </a:p>
        </p:txBody>
      </p:sp>
      <p:sp>
        <p:nvSpPr>
          <p:cNvPr id="29" name="comparison-tagline-14-3">
            <a:extLst xmlns:a="http://schemas.openxmlformats.org/drawingml/2006/main">
              <a:ext uri="{FF2B5EF4-FFF2-40B4-BE49-F238E27FC236}">
                <a16:creationId xmlns:a16="http://schemas.microsoft.com/office/drawing/2014/main" id="{20C91AA9-4ABD-462A-A2A9-0358EF4F3037}"/>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Learn a different policy</a:t>
            </a:r>
          </a:p>
        </p:txBody>
      </p:sp>
      <p:sp>
        <p:nvSpPr>
          <p:cNvPr id="30" name="comparison-bullet-14-3-marker-1">
            <a:extLst xmlns:a="http://schemas.openxmlformats.org/drawingml/2006/main">
              <a:ext uri="{FF2B5EF4-FFF2-40B4-BE49-F238E27FC236}">
                <a16:creationId xmlns:a16="http://schemas.microsoft.com/office/drawing/2014/main" id="{6DB06586-52AD-44E1-86F8-2C9F183F1A5F}"/>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5F500687-AC75-4E82-B35F-E99896F0C7F1}"/>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Behavior and target differ.</a:t>
            </a:r>
          </a:p>
        </p:txBody>
      </p:sp>
      <p:sp>
        <p:nvSpPr>
          <p:cNvPr id="32" name="comparison-bullet-14-3-marker-2">
            <a:extLst xmlns:a="http://schemas.openxmlformats.org/drawingml/2006/main">
              <a:ext uri="{FF2B5EF4-FFF2-40B4-BE49-F238E27FC236}">
                <a16:creationId xmlns:a16="http://schemas.microsoft.com/office/drawing/2014/main" id="{E585CB5F-52D2-412B-BFDC-E2886420D75C}"/>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415BBD3F-60EA-469F-BC1D-0092B9016408}"/>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Supports exploration reuse.</a:t>
            </a:r>
          </a:p>
        </p:txBody>
      </p:sp>
      <p:sp>
        <p:nvSpPr>
          <p:cNvPr id="34" name="comparison-bullet-14-3-marker-3">
            <a:extLst xmlns:a="http://schemas.openxmlformats.org/drawingml/2006/main">
              <a:ext uri="{FF2B5EF4-FFF2-40B4-BE49-F238E27FC236}">
                <a16:creationId xmlns:a16="http://schemas.microsoft.com/office/drawing/2014/main" id="{05775BE3-053E-4013-92C5-A2FA74D54FBB}"/>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8D0FF572-D660-4D79-8905-BE0CA79BA501}"/>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Changes sampling distribution.</a:t>
            </a:r>
          </a:p>
        </p:txBody>
      </p:sp>
      <p:sp>
        <p:nvSpPr>
          <p:cNvPr id="36" name="comparison-bullet-14-3-marker-4">
            <a:extLst xmlns:a="http://schemas.openxmlformats.org/drawingml/2006/main">
              <a:ext uri="{FF2B5EF4-FFF2-40B4-BE49-F238E27FC236}">
                <a16:creationId xmlns:a16="http://schemas.microsoft.com/office/drawing/2014/main" id="{FBCF59D5-12A8-4BFF-AF8B-ABB067BCED17}"/>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6BBD7CC6-01AA-4EDE-AC7C-B179B34B4230}"/>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Completes the triad.</a:t>
            </a:r>
          </a:p>
        </p:txBody>
      </p:sp>
    </p:spTree>
    <p:extLst>
      <p:ext uri="{BB962C8B-B14F-4D97-AF65-F5344CB8AC3E}">
        <p14:creationId xmlns:p14="http://schemas.microsoft.com/office/powerpoint/2010/main" val="5427372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E0AD289D-9E43-4ADF-8FA2-2593EEF31CE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diagnose divergence</a:t>
            </a:r>
          </a:p>
        </p:txBody>
      </p:sp>
      <p:sp>
        <p:nvSpPr>
          <p:cNvPr id="2" name="title-accent-15">
            <a:extLst xmlns:a="http://schemas.openxmlformats.org/drawingml/2006/main">
              <a:ext uri="{FF2B5EF4-FFF2-40B4-BE49-F238E27FC236}">
                <a16:creationId xmlns:a16="http://schemas.microsoft.com/office/drawing/2014/main" id="{7F83FD40-3B40-47A9-A5D0-97E917A66E1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A18E93B1-2CD0-4B7E-B9D8-2035BE905D3B}"/>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15">
            <a:extLst xmlns:a="http://schemas.openxmlformats.org/drawingml/2006/main">
              <a:ext uri="{FF2B5EF4-FFF2-40B4-BE49-F238E27FC236}">
                <a16:creationId xmlns:a16="http://schemas.microsoft.com/office/drawing/2014/main" id="{99B58A0B-EFA4-4403-A829-D25EEC18983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D232E0B8-0437-4AD5-B765-70BE4E007291}"/>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21317BF5-67CC-4B72-9F64-F83DA13B67E0}"/>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Training return rises while weight norm and absolute TD error explode. Is high return alone enough to accept the agent?</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79824E2D-3815-42CF-9460-D021EDF60745}"/>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16AF1994-2E18-4A78-8EF7-D03FAABFFC47}"/>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two stability metrics.</a:t>
            </a:r>
          </a:p>
        </p:txBody>
      </p:sp>
      <p:sp>
        <p:nvSpPr>
          <p:cNvPr id="11" name="checkpoint-prompt-number-15-2">
            <a:extLst xmlns:a="http://schemas.openxmlformats.org/drawingml/2006/main">
              <a:ext uri="{FF2B5EF4-FFF2-40B4-BE49-F238E27FC236}">
                <a16:creationId xmlns:a16="http://schemas.microsoft.com/office/drawing/2014/main" id="{DEC956DA-5A5D-4179-9CB7-3A1C9FFF48FF}"/>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64040AB2-C3ED-4AD2-8F3E-67E62845A9B1}"/>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Check multiple seeds.</a:t>
            </a:r>
          </a:p>
        </p:txBody>
      </p:sp>
      <p:sp>
        <p:nvSpPr>
          <p:cNvPr id="13" name="checkpoint-prompt-number-15-3">
            <a:extLst xmlns:a="http://schemas.openxmlformats.org/drawingml/2006/main">
              <a:ext uri="{FF2B5EF4-FFF2-40B4-BE49-F238E27FC236}">
                <a16:creationId xmlns:a16="http://schemas.microsoft.com/office/drawing/2014/main" id="{CF2BD47E-CF51-4546-8AF8-EDDA0EF81F63}"/>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AF21EA25-6AEB-4239-9A1E-416E13FB1CAD}"/>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Separate evaluation from exploratory return.</a:t>
            </a:r>
          </a:p>
        </p:txBody>
      </p:sp>
    </p:spTree>
    <p:extLst>
      <p:ext uri="{BB962C8B-B14F-4D97-AF65-F5344CB8AC3E}">
        <p14:creationId xmlns:p14="http://schemas.microsoft.com/office/powerpoint/2010/main" val="204301295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4FC30FEA-54E3-46F8-A7B3-7D7E673C74D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Instrument approximation before tuning</a:t>
            </a:r>
          </a:p>
        </p:txBody>
      </p:sp>
      <p:sp>
        <p:nvSpPr>
          <p:cNvPr id="2" name="title-accent-16">
            <a:extLst xmlns:a="http://schemas.openxmlformats.org/drawingml/2006/main">
              <a:ext uri="{FF2B5EF4-FFF2-40B4-BE49-F238E27FC236}">
                <a16:creationId xmlns:a16="http://schemas.microsoft.com/office/drawing/2014/main" id="{AE9D268F-4443-4E01-B02E-3E473A497F8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B5E23AC0-8915-4AD6-8A26-2D6A2FCA88C9}"/>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16">
            <a:extLst xmlns:a="http://schemas.openxmlformats.org/drawingml/2006/main">
              <a:ext uri="{FF2B5EF4-FFF2-40B4-BE49-F238E27FC236}">
                <a16:creationId xmlns:a16="http://schemas.microsoft.com/office/drawing/2014/main" id="{1614A573-4EE5-454D-84A3-550915BA094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838A34B6-6728-4D53-A766-F4F0FABE7440}"/>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scalable agent needs observability for representation error and numerical stability.</a:t>
            </a:r>
          </a:p>
        </p:txBody>
      </p:sp>
      <p:sp>
        <p:nvSpPr>
          <p:cNvPr id="7" name="claim-panel-16">
            <a:extLst xmlns:a="http://schemas.openxmlformats.org/drawingml/2006/main">
              <a:ext uri="{FF2B5EF4-FFF2-40B4-BE49-F238E27FC236}">
                <a16:creationId xmlns:a16="http://schemas.microsoft.com/office/drawing/2014/main" id="{A7BEB574-4580-4127-8BCE-A77F5F62EEF7}"/>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37AB08EE-4009-44DD-9C2C-3D8883F8F269}"/>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Evidence</a:t>
            </a:r>
          </a:p>
        </p:txBody>
      </p:sp>
      <p:sp>
        <p:nvSpPr>
          <p:cNvPr id="9" name="claim-keyword-detail-16">
            <a:extLst xmlns:a="http://schemas.openxmlformats.org/drawingml/2006/main">
              <a:ext uri="{FF2B5EF4-FFF2-40B4-BE49-F238E27FC236}">
                <a16:creationId xmlns:a16="http://schemas.microsoft.com/office/drawing/2014/main" id="{E23E3026-5A42-41AA-969F-A93150BEDD44}"/>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Learning curves alone cannot distinguish lucky behavior from a stable value function.</a:t>
            </a:r>
          </a:p>
        </p:txBody>
      </p:sp>
      <p:sp>
        <p:nvSpPr>
          <p:cNvPr id="10" name="claim-detail-16-marker-1">
            <a:extLst xmlns:a="http://schemas.openxmlformats.org/drawingml/2006/main">
              <a:ext uri="{FF2B5EF4-FFF2-40B4-BE49-F238E27FC236}">
                <a16:creationId xmlns:a16="http://schemas.microsoft.com/office/drawing/2014/main" id="{A64FC99D-39AA-4438-9637-94BF3B026CB9}"/>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B64DAC84-60A7-461E-80AC-F44AD7F859D6}"/>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Log returns, TD-error quantiles, feature ranges, and weight norms.</a:t>
            </a:r>
          </a:p>
        </p:txBody>
      </p:sp>
      <p:sp>
        <p:nvSpPr>
          <p:cNvPr id="12" name="claim-detail-16-marker-2">
            <a:extLst xmlns:a="http://schemas.openxmlformats.org/drawingml/2006/main">
              <a:ext uri="{FF2B5EF4-FFF2-40B4-BE49-F238E27FC236}">
                <a16:creationId xmlns:a16="http://schemas.microsoft.com/office/drawing/2014/main" id="{6E51EEC5-C17C-4F6A-A01A-22A5CDAC43C5}"/>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72761722-E98A-4F4B-BCDF-9C2F1CB54AFA}"/>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Test terminal masking and feature dimensions directly.</a:t>
            </a:r>
          </a:p>
        </p:txBody>
      </p:sp>
      <p:sp>
        <p:nvSpPr>
          <p:cNvPr id="14" name="claim-detail-16-marker-3">
            <a:extLst xmlns:a="http://schemas.openxmlformats.org/drawingml/2006/main">
              <a:ext uri="{FF2B5EF4-FFF2-40B4-BE49-F238E27FC236}">
                <a16:creationId xmlns:a16="http://schemas.microsoft.com/office/drawing/2014/main" id="{879AFE4E-843A-475F-980B-F57E9A86998A}"/>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45FFF411-A92B-4718-B37C-1127D0F7AABB}"/>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Compare against a tabular oracle on a small discretized environment.</a:t>
            </a:r>
          </a:p>
        </p:txBody>
      </p:sp>
    </p:spTree>
    <p:extLst>
      <p:ext uri="{BB962C8B-B14F-4D97-AF65-F5344CB8AC3E}">
        <p14:creationId xmlns:p14="http://schemas.microsoft.com/office/powerpoint/2010/main" val="21260548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2AC75CA3-F007-446E-AF89-B52B5B01224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76334108-8411-40F0-8827-38FAC63B0CE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AA8B0776-956A-4139-8730-0806031C860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17">
            <a:extLst xmlns:a="http://schemas.openxmlformats.org/drawingml/2006/main">
              <a:ext uri="{FF2B5EF4-FFF2-40B4-BE49-F238E27FC236}">
                <a16:creationId xmlns:a16="http://schemas.microsoft.com/office/drawing/2014/main" id="{07A2CD16-5195-4B27-95E9-9888C631CC5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90C367C0-4BE9-44C0-B2C3-82A83933C2EC}"/>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45F1EC51-C9CA-4E70-B403-6E193E9C2DC7}"/>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Linear Q functions generalize through shared features.</a:t>
            </a:r>
          </a:p>
        </p:txBody>
      </p:sp>
      <p:sp>
        <p:nvSpPr>
          <p:cNvPr id="9" name="summary-number-17-2">
            <a:extLst xmlns:a="http://schemas.openxmlformats.org/drawingml/2006/main">
              <a:ext uri="{FF2B5EF4-FFF2-40B4-BE49-F238E27FC236}">
                <a16:creationId xmlns:a16="http://schemas.microsoft.com/office/drawing/2014/main" id="{6935DA89-57FF-4FCA-8BD3-CA1E363DB76B}"/>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4D387733-2DB8-4996-975C-29A0CB9FF90D}"/>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The semi-gradient update freezes the TD target.</a:t>
            </a:r>
          </a:p>
        </p:txBody>
      </p:sp>
      <p:sp>
        <p:nvSpPr>
          <p:cNvPr id="12" name="summary-number-17-3">
            <a:extLst xmlns:a="http://schemas.openxmlformats.org/drawingml/2006/main">
              <a:ext uri="{FF2B5EF4-FFF2-40B4-BE49-F238E27FC236}">
                <a16:creationId xmlns:a16="http://schemas.microsoft.com/office/drawing/2014/main" id="{48C26DD8-EBF5-4594-B4C5-5B349C945DA6}"/>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5AD09730-2677-4A84-A982-E96F3F32D589}"/>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One-hot features reveal the table as a special case.</a:t>
            </a:r>
          </a:p>
        </p:txBody>
      </p:sp>
      <p:sp>
        <p:nvSpPr>
          <p:cNvPr id="15" name="summary-number-17-4">
            <a:extLst xmlns:a="http://schemas.openxmlformats.org/drawingml/2006/main">
              <a:ext uri="{FF2B5EF4-FFF2-40B4-BE49-F238E27FC236}">
                <a16:creationId xmlns:a16="http://schemas.microsoft.com/office/drawing/2014/main" id="{8D9962BB-7C8F-4A87-A26D-09B99BF3DC59}"/>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041066E3-5A4D-4D11-AFCB-85A8E94E13F1}"/>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The deadly triad motivates explicit stability monitoring.</a:t>
            </a:r>
          </a:p>
        </p:txBody>
      </p:sp>
      <p:sp>
        <p:nvSpPr>
          <p:cNvPr id="18" name="summary-next-17">
            <a:extLst xmlns:a="http://schemas.openxmlformats.org/drawingml/2006/main">
              <a:ext uri="{FF2B5EF4-FFF2-40B4-BE49-F238E27FC236}">
                <a16:creationId xmlns:a16="http://schemas.microsoft.com/office/drawing/2014/main" id="{2AB3973D-631E-4D21-BA94-06AA9AED6E49}"/>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Deep Q-networks replace hand-designed linear features with learned representations.</a:t>
            </a:r>
          </a:p>
        </p:txBody>
      </p:sp>
    </p:spTree>
    <p:extLst>
      <p:ext uri="{BB962C8B-B14F-4D97-AF65-F5344CB8AC3E}">
        <p14:creationId xmlns:p14="http://schemas.microsoft.com/office/powerpoint/2010/main" val="15799453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6991F901-05AB-48B7-A147-DB1C409ECD6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F32B6A22-E1C9-4025-875F-C99BDC33286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19D09485-F6A1-4390-A33C-BE3556E2B5F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1</a:t>
            </a:r>
          </a:p>
        </p:txBody>
      </p:sp>
      <p:sp>
        <p:nvSpPr>
          <p:cNvPr id="5" name="footer-number-18">
            <a:extLst xmlns:a="http://schemas.openxmlformats.org/drawingml/2006/main">
              <a:ext uri="{FF2B5EF4-FFF2-40B4-BE49-F238E27FC236}">
                <a16:creationId xmlns:a16="http://schemas.microsoft.com/office/drawing/2014/main" id="{70C8E43A-34FA-4788-A8B5-7F0C09DF891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4FC14680-DB95-43A6-84F1-7398AB230E09}"/>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CBE34D81-A52C-452B-94E7-0490E8CD048E}"/>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Compute a linear Q value from w and f.</a:t>
            </a:r>
          </a:p>
        </p:txBody>
      </p:sp>
      <p:sp>
        <p:nvSpPr>
          <p:cNvPr id="8" name="question-number-18-2">
            <a:extLst xmlns:a="http://schemas.openxmlformats.org/drawingml/2006/main">
              <a:ext uri="{FF2B5EF4-FFF2-40B4-BE49-F238E27FC236}">
                <a16:creationId xmlns:a16="http://schemas.microsoft.com/office/drawing/2014/main" id="{E0A6FD17-E513-4C8F-9F48-FA72EDA4D892}"/>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ED858A50-91F0-4C5F-B9AF-815798ADEE57}"/>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Derive the semi-gradient sign.</a:t>
            </a:r>
          </a:p>
        </p:txBody>
      </p:sp>
      <p:sp>
        <p:nvSpPr>
          <p:cNvPr id="10" name="question-number-18-3">
            <a:extLst xmlns:a="http://schemas.openxmlformats.org/drawingml/2006/main">
              <a:ext uri="{FF2B5EF4-FFF2-40B4-BE49-F238E27FC236}">
                <a16:creationId xmlns:a16="http://schemas.microsoft.com/office/drawing/2014/main" id="{F2E76F1F-28AE-46A0-9CB8-1159274C70D4}"/>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6743F9A2-E782-4A63-BCF4-80807468FB19}"/>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Explain why feature normalization matters.</a:t>
            </a:r>
          </a:p>
        </p:txBody>
      </p:sp>
      <p:sp>
        <p:nvSpPr>
          <p:cNvPr id="12" name="question-number-18-4">
            <a:extLst xmlns:a="http://schemas.openxmlformats.org/drawingml/2006/main">
              <a:ext uri="{FF2B5EF4-FFF2-40B4-BE49-F238E27FC236}">
                <a16:creationId xmlns:a16="http://schemas.microsoft.com/office/drawing/2014/main" id="{6D9AE71C-1DCB-473F-B926-8BA0D95146E6}"/>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F421D18B-341E-43D4-B968-2A96381FD032}"/>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Show the one-hot tabular correspondence.</a:t>
            </a:r>
          </a:p>
        </p:txBody>
      </p:sp>
      <p:sp>
        <p:nvSpPr>
          <p:cNvPr id="14" name="question-number-18-5">
            <a:extLst xmlns:a="http://schemas.openxmlformats.org/drawingml/2006/main">
              <a:ext uri="{FF2B5EF4-FFF2-40B4-BE49-F238E27FC236}">
                <a16:creationId xmlns:a16="http://schemas.microsoft.com/office/drawing/2014/main" id="{861CE344-5B54-4357-B661-DD7A1CE4852B}"/>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8EB6234E-B39F-4E53-84EE-13E4412D684E}"/>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Design a divergence-detection test.</a:t>
            </a:r>
          </a:p>
        </p:txBody>
      </p:sp>
    </p:spTree>
    <p:extLst>
      <p:ext uri="{BB962C8B-B14F-4D97-AF65-F5344CB8AC3E}">
        <p14:creationId xmlns:p14="http://schemas.microsoft.com/office/powerpoint/2010/main" val="3303596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2026-07-27T10:43:42.1120000Z</dcterms:created>
  <dcterms:modified xsi:type="dcterms:W3CDTF">2026-07-27T10:43:42.1120000Z</dcterms:modified>
</coreProperties>
</file>