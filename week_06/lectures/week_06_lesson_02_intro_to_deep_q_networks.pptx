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be193e8ec54dda" /><Relationship Type="http://schemas.openxmlformats.org/officeDocument/2006/relationships/extended-properties" Target="/docProps/app.xml" Id="R7b31d5942e984877" /><Relationship Type="http://schemas.openxmlformats.org/officeDocument/2006/relationships/officeDocument" Target="/ppt/presentation.xml" Id="R8059767e4e2b4232" /></Relationships>
</file>

<file path=ppt/presentation.xml><?xml version="1.0" encoding="utf-8"?>
<p:presentation xmlns:p="http://schemas.openxmlformats.org/presentationml/2006/main">
  <p:sldMasterIdLst>
    <p:sldMasterId xmlns:r="http://schemas.openxmlformats.org/officeDocument/2006/relationships" id="2147483648" r:id="Re90bf60ca8d542b9"/>
  </p:sldMasterIdLst>
  <p:notesMasterIdLst>
    <p:notesMasterId xmlns:r="http://schemas.openxmlformats.org/officeDocument/2006/relationships" r:id="Rccfc2fa194a34a24"/>
  </p:notesMasterIdLst>
  <p:sldIdLst>
    <p:sldId xmlns:r="http://schemas.openxmlformats.org/officeDocument/2006/relationships" id="256" r:id="R8ddf5eb36c334c60"/>
    <p:sldId xmlns:r="http://schemas.openxmlformats.org/officeDocument/2006/relationships" id="257" r:id="R34f2fd575b014a6d"/>
    <p:sldId xmlns:r="http://schemas.openxmlformats.org/officeDocument/2006/relationships" id="258" r:id="Rd3cb975317eb46e1"/>
    <p:sldId xmlns:r="http://schemas.openxmlformats.org/officeDocument/2006/relationships" id="259" r:id="R3a0797fad1e643cf"/>
    <p:sldId xmlns:r="http://schemas.openxmlformats.org/officeDocument/2006/relationships" id="260" r:id="R95b69c5468e94576"/>
    <p:sldId xmlns:r="http://schemas.openxmlformats.org/officeDocument/2006/relationships" id="261" r:id="Rfef2d9ab5f6e4e74"/>
    <p:sldId xmlns:r="http://schemas.openxmlformats.org/officeDocument/2006/relationships" id="262" r:id="Rb39033d133284731"/>
    <p:sldId xmlns:r="http://schemas.openxmlformats.org/officeDocument/2006/relationships" id="263" r:id="R099416f3b346404b"/>
    <p:sldId xmlns:r="http://schemas.openxmlformats.org/officeDocument/2006/relationships" id="264" r:id="R82a7bee2ff4f4b83"/>
    <p:sldId xmlns:r="http://schemas.openxmlformats.org/officeDocument/2006/relationships" id="265" r:id="R3ed0792c02984f5e"/>
    <p:sldId xmlns:r="http://schemas.openxmlformats.org/officeDocument/2006/relationships" id="266" r:id="R3dcb4fb944e94af7"/>
    <p:sldId xmlns:r="http://schemas.openxmlformats.org/officeDocument/2006/relationships" id="267" r:id="Re43820d86d684a88"/>
    <p:sldId xmlns:r="http://schemas.openxmlformats.org/officeDocument/2006/relationships" id="268" r:id="Rdc1dadf77dff4f57"/>
    <p:sldId xmlns:r="http://schemas.openxmlformats.org/officeDocument/2006/relationships" id="269" r:id="R757bd45e542046a5"/>
    <p:sldId xmlns:r="http://schemas.openxmlformats.org/officeDocument/2006/relationships" id="270" r:id="R8c780f2516574748"/>
    <p:sldId xmlns:r="http://schemas.openxmlformats.org/officeDocument/2006/relationships" id="271" r:id="Rcb1055c210a64ea8"/>
    <p:sldId xmlns:r="http://schemas.openxmlformats.org/officeDocument/2006/relationships" id="272" r:id="Rdc14bbb19e1a475d"/>
    <p:sldId xmlns:r="http://schemas.openxmlformats.org/officeDocument/2006/relationships" id="273" r:id="R20e75d65eeff42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8ac966315344e9" /><Relationship Type="http://schemas.openxmlformats.org/officeDocument/2006/relationships/slideMaster" Target="/ppt/slideMasters/slideMaster1.xml" Id="Re90bf60ca8d542b9" /><Relationship Type="http://schemas.openxmlformats.org/officeDocument/2006/relationships/notesMaster" Target="/ppt/notesMasters/notesMaster1.xml" Id="Rccfc2fa194a34a24" /><Relationship Type="http://schemas.openxmlformats.org/officeDocument/2006/relationships/presProps" Target="/ppt/presProps.xml" Id="R5911069539bd4517" /><Relationship Type="http://schemas.openxmlformats.org/officeDocument/2006/relationships/tableStyles" Target="/ppt/tableStyles.xml" Id="Rbf5933ccf52c4210" /><Relationship Type="http://schemas.openxmlformats.org/officeDocument/2006/relationships/slide" Target="/ppt/slides/slide1.xml" Id="R8ddf5eb36c334c60" /><Relationship Type="http://schemas.openxmlformats.org/officeDocument/2006/relationships/slide" Target="/ppt/slides/slide2.xml" Id="R34f2fd575b014a6d" /><Relationship Type="http://schemas.openxmlformats.org/officeDocument/2006/relationships/slide" Target="/ppt/slides/slide3.xml" Id="Rd3cb975317eb46e1" /><Relationship Type="http://schemas.openxmlformats.org/officeDocument/2006/relationships/slide" Target="/ppt/slides/slide4.xml" Id="R3a0797fad1e643cf" /><Relationship Type="http://schemas.openxmlformats.org/officeDocument/2006/relationships/slide" Target="/ppt/slides/slide5.xml" Id="R95b69c5468e94576" /><Relationship Type="http://schemas.openxmlformats.org/officeDocument/2006/relationships/slide" Target="/ppt/slides/slide6.xml" Id="Rfef2d9ab5f6e4e74" /><Relationship Type="http://schemas.openxmlformats.org/officeDocument/2006/relationships/slide" Target="/ppt/slides/slide7.xml" Id="Rb39033d133284731" /><Relationship Type="http://schemas.openxmlformats.org/officeDocument/2006/relationships/slide" Target="/ppt/slides/slide8.xml" Id="R099416f3b346404b" /><Relationship Type="http://schemas.openxmlformats.org/officeDocument/2006/relationships/slide" Target="/ppt/slides/slide9.xml" Id="R82a7bee2ff4f4b83" /><Relationship Type="http://schemas.openxmlformats.org/officeDocument/2006/relationships/slide" Target="/ppt/slides/slide10.xml" Id="R3ed0792c02984f5e" /><Relationship Type="http://schemas.openxmlformats.org/officeDocument/2006/relationships/slide" Target="/ppt/slides/slide11.xml" Id="R3dcb4fb944e94af7" /><Relationship Type="http://schemas.openxmlformats.org/officeDocument/2006/relationships/slide" Target="/ppt/slides/slide12.xml" Id="Re43820d86d684a88" /><Relationship Type="http://schemas.openxmlformats.org/officeDocument/2006/relationships/slide" Target="/ppt/slides/slide13.xml" Id="Rdc1dadf77dff4f57" /><Relationship Type="http://schemas.openxmlformats.org/officeDocument/2006/relationships/slide" Target="/ppt/slides/slide14.xml" Id="R757bd45e542046a5" /><Relationship Type="http://schemas.openxmlformats.org/officeDocument/2006/relationships/slide" Target="/ppt/slides/slide15.xml" Id="R8c780f2516574748" /><Relationship Type="http://schemas.openxmlformats.org/officeDocument/2006/relationships/slide" Target="/ppt/slides/slide16.xml" Id="Rcb1055c210a64ea8" /><Relationship Type="http://schemas.openxmlformats.org/officeDocument/2006/relationships/slide" Target="/ppt/slides/slide17.xml" Id="Rdc14bbb19e1a475d" /><Relationship Type="http://schemas.openxmlformats.org/officeDocument/2006/relationships/slide" Target="/ppt/slides/slide18.xml" Id="R20e75d65eeff42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e398f111da4c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6d732f6ff74b89" /><Relationship Type="http://schemas.openxmlformats.org/officeDocument/2006/relationships/notesMaster" Target="/ppt/notesMasters/notesMaster1.xml" Id="R0b2d4fa4587647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7fc62fa15a495e" /><Relationship Type="http://schemas.openxmlformats.org/officeDocument/2006/relationships/notesMaster" Target="/ppt/notesMasters/notesMaster1.xml" Id="R4b939c3b9c354d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8253c051454f04" /><Relationship Type="http://schemas.openxmlformats.org/officeDocument/2006/relationships/notesMaster" Target="/ppt/notesMasters/notesMaster1.xml" Id="Rd3b2fffec76d44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80681156a64caf" /><Relationship Type="http://schemas.openxmlformats.org/officeDocument/2006/relationships/notesMaster" Target="/ppt/notesMasters/notesMaster1.xml" Id="Ra711134ec81940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59fee35cf848d7" /><Relationship Type="http://schemas.openxmlformats.org/officeDocument/2006/relationships/notesMaster" Target="/ppt/notesMasters/notesMaster1.xml" Id="Rb9c6ad74d80846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bc5d3b47154a0b" /><Relationship Type="http://schemas.openxmlformats.org/officeDocument/2006/relationships/notesMaster" Target="/ppt/notesMasters/notesMaster1.xml" Id="R07f95928a3824a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451ba2dd894c46" /><Relationship Type="http://schemas.openxmlformats.org/officeDocument/2006/relationships/notesMaster" Target="/ppt/notesMasters/notesMaster1.xml" Id="Rb9cebe63c5c245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102315ce124a04" /><Relationship Type="http://schemas.openxmlformats.org/officeDocument/2006/relationships/notesMaster" Target="/ppt/notesMasters/notesMaster1.xml" Id="R6a4fb24d6fee4d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c79f7551224452" /><Relationship Type="http://schemas.openxmlformats.org/officeDocument/2006/relationships/notesMaster" Target="/ppt/notesMasters/notesMaster1.xml" Id="R23bf5a9d79744b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054f557bc445b7" /><Relationship Type="http://schemas.openxmlformats.org/officeDocument/2006/relationships/notesMaster" Target="/ppt/notesMasters/notesMaster1.xml" Id="Rbabee2271f7641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89783a4ace4202" /><Relationship Type="http://schemas.openxmlformats.org/officeDocument/2006/relationships/notesMaster" Target="/ppt/notesMasters/notesMaster1.xml" Id="R80984cbbe22f40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1387451d9f4f40" /><Relationship Type="http://schemas.openxmlformats.org/officeDocument/2006/relationships/notesMaster" Target="/ppt/notesMasters/notesMaster1.xml" Id="R3a668119a96e42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cab1eb2a40452c" /><Relationship Type="http://schemas.openxmlformats.org/officeDocument/2006/relationships/notesMaster" Target="/ppt/notesMasters/notesMaster1.xml" Id="Rceee34da3e3c4a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b973f90e704652" /><Relationship Type="http://schemas.openxmlformats.org/officeDocument/2006/relationships/notesMaster" Target="/ppt/notesMasters/notesMaster1.xml" Id="R91be1b7c396146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3553f5ba56496c" /><Relationship Type="http://schemas.openxmlformats.org/officeDocument/2006/relationships/notesMaster" Target="/ppt/notesMasters/notesMaster1.xml" Id="R2d9f92fa86c6456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4b87536d004698" /><Relationship Type="http://schemas.openxmlformats.org/officeDocument/2006/relationships/notesMaster" Target="/ppt/notesMasters/notesMaster1.xml" Id="R8735bc6e883a4f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776ea19d4cc4872" /><Relationship Type="http://schemas.openxmlformats.org/officeDocument/2006/relationships/notesMaster" Target="/ppt/notesMasters/notesMaster1.xml" Id="R34badf56ae9343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a307f2ba8b4967" /><Relationship Type="http://schemas.openxmlformats.org/officeDocument/2006/relationships/notesMaster" Target="/ppt/notesMasters/notesMaster1.xml" Id="R80ee7564b7d940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deep Q-network learns its own representation, but naive online bootstrapping combines correlated data with a rapidly moving target. Replay and target networks reshape that learning problem.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Map a discrete-action state to one Q value per action. 2) Explain temporal correlation and moving targets. 3) Describe replay-buffer sampling and data reuse. 4) Distinguish online and target network roles. 5) Compute a terminal-aware mini-batch target. 6) Trace the complete DQN training loop.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neural network supplies the action-value function while replay and a target network reduce two major sources of instability. The supporting details make the claim operational. 1) One forward pass outputs all discrete-action values. 2) Replay breaks short-range temporal correlation. 3) A frozen target network supplies short-window consistency. The highlighted idea, Stabilization, is the part to retain when the surrounding notation changes. The mechanisms improve the training distribution and slow movement of the bootstrap target.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y = r + gamma(1-done) max_a Q(s_next,a;theta_minus); L = mean[(y-Q(s,a;theta))^2]. The symbols mean the following. 1) theta are online-network parameters. 2) theta_minus are target-network parameters. 3) done masks every terminal bootstrap. 4) Only theta receives the gradient step. The engineering implication is The two networks have distinct responsibilities even when their architectures match.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Online network: Selects epsilon-greedy actions. Predicts Q(s,a;theta). Updated every training step. Receives gradients from loss. On the right, Target network: Computes next-state target values. Frozen for a short interval. Copied or softly updated. Never optimized directly.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Act: Choose from the online network. 2) Store: Append a complete transition. 3) Sample: Draw a random mini-batch. 4) Target: Evaluate next states with theta_minus. 5) Update: Optimize theta and periodically synchronize. The emphasized stage deserves extra attention because defects introduced there propagate to every later result. Keeping action selection, target construction, and optimization separate prevents accidental gradient paths.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Warm up the buffer. Sample without sequence bias. Detach targets. Sync on a fixed schedule.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A batch item has reward 2, gamma 0.9, target-network next values [1,4,3], and done=0. Work through it in the displayed order. 1) The maximum next value is 4. 2) The bootstrap contribution is 0.9(4)=3.6. 3) The target is 5.6. 4) If done becomes 1, the multiplicative mask removes 3.6. The resulting conclusion is The nonterminal target is 5.6; the terminal target is exactly 2.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Naive online: Strong correlation. No data reuse. Same moving network. Often oscillatory. In contrast, Replay only: Better sample mixture. Reuses experience. Target still moves fast. Needs buffer policy. In contrast, Full DQN: Decorrelated batches. Short-window targets. More state to manage. Still no guarantee.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student computes y with the online network and allows automatic differentiation through y. What is wrong? Use the prompts to structure the response. 1) Identify both target defects. 2) Name the parameter set that should update. 3) Describe the required stop-gradient. The expected reasoning is The target moves with the same network and the optimizer can chase changes on both sides of the loss. Compute y with theta_minus and detach it; optimize theta only.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Sequential stream: Adjacent states are similar. Recent policy dominates. One transition used once. Ordering can bias gradients. On the right, Random mini-batch: Samples mix times and episodes. Older policies remain represented. Transitions are reused. Distribution still reflects buffer contents.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hard: theta_minus &lt;- theta every C steps; soft: theta_minus &lt;- tau theta + (1-tau) theta_minus. The symbols mean the following. 1) C is the hard-copy interval. 2) tau is a small interpolation rate. 3) Hard updates create piecewise-constant targets. 4) Soft updates move every step but more slowly. The engineering implication is The synchronization rule is a hyperparameter and must be logged with results.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The last eight transitions all come from the same corridor, while a 10,000-item buffer spans many states. Work through it in the displayed order. 1) Online-only training sees eight nearly identical inputs. 2) A uniform batch draws across older episodes. 3) Gradient directions reflect several regions. 4) Repeated data use improves sample efficiency. The resulting conclusion is Replay reduces immediate correlation but cannot repair a buffer that never contains rare successful transitions.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Capacity: Small adapts quickly. Large increases diversity. Large can retain stale data. Memory cost is explicit. In contrast, Sampling: Uniform is simple. Prioritized focuses error. Weights may be needed. Seed controls reproducibility. In contrast, Warm-up: Avoid tiny biased batches. Delay early gradients. Costs interaction steps. Log threshold.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What symptom would you expect without replay, and what different symptom would you expect without a target network? Use the prompts to structure the response. 1) Separate data correlation from target motion. 2) Name an observable metric. 3) Avoid claiming a theoretical cure. The expected reasoning is Without replay, successive gradients can be highly aligned and brittle to trajectory order. Without a target network, TD targets can oscillate rapidly with online parameters. Track loss, TD errors, Q magnitudes, and return across seeds.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DQN run includes more than neural-network weights. The supporting details make the claim operational. 1) Serialize online and target networks separately. 2) Record buffer capacity, sampling seed, and sync cadence. 3) Evaluate with frozen parameters and epsilon zero. The highlighted idea, State, is the part to retain when the surrounding notation changes. Replay contents, target parameters, optimizer moments, counters, epsilon, and random states affect continuation.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DQN maps one state to all discrete-action values. 2) Replay reduces temporal correlation and reuses data. 3) Target networks slow bootstrap-target movement. 4) Both mechanisms mitigate, but do not eliminate, deadly-triad risk. These are connected: the formal model supplies the algorithm, the algorithm's invariant supports its guarantee, and the implementation contract makes that guarantee testable. The next topic is Bayesian networks introduce a different way to represent uncertainty: explicit probabilistic structure.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Compute a masked DQN target. 2) Explain why y must be detached. 3) Compare hard and soft synchronization. 4) Describe replay warm-up. 5) Name all checkpoint state. 6) Predict failure without either stabilizer.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week_06/Week_6_Lesson_2_Intro_to_Deep_Q_Networks.md</a:t>
            </a:r>
          </a:p>
          <a:p xmlns:a="http://schemas.openxmlformats.org/drawingml/2006/main">
            <a:r>
              <a:t>- Richard Sutton and Andrew Barto, Reinforcement Learning: An Introduction, 2nd edition.</a:t>
            </a:r>
          </a:p>
          <a:p xmlns:a="http://schemas.openxmlformats.org/drawingml/2006/main">
            <a:r>
              <a:t>- Volodymyr Mnih et al., Human-level control through deep reinforcement learning, Nature 518, 2015.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5f37a0e67d4e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33bceb6e3a44d3" /><Relationship Type="http://schemas.openxmlformats.org/officeDocument/2006/relationships/slideLayout" Target="/ppt/slideLayouts/slideLayout1.xml" Id="R8e48c274bcb944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48c274bcb944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202a1218d14f0d" /><Relationship Type="http://schemas.openxmlformats.org/officeDocument/2006/relationships/notesSlide" Target="/ppt/notesSlides/notesSlide1.xml" Id="Rff445654146045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9f95f5c42e47ec" /><Relationship Type="http://schemas.openxmlformats.org/officeDocument/2006/relationships/notesSlide" Target="/ppt/notesSlides/notesSlide2.xml" Id="R0660a32ae32648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a97a18208d4679" /><Relationship Type="http://schemas.openxmlformats.org/officeDocument/2006/relationships/notesSlide" Target="/ppt/notesSlides/notesSlide3.xml" Id="Rce36748bd2754e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e6979285c64897" /><Relationship Type="http://schemas.openxmlformats.org/officeDocument/2006/relationships/notesSlide" Target="/ppt/notesSlides/notesSlide4.xml" Id="R4c9e261ca5f04d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584444e62240e3" /><Relationship Type="http://schemas.openxmlformats.org/officeDocument/2006/relationships/notesSlide" Target="/ppt/notesSlides/notesSlide5.xml" Id="R89b76c06ebe946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93a3e286524f3c" /><Relationship Type="http://schemas.openxmlformats.org/officeDocument/2006/relationships/notesSlide" Target="/ppt/notesSlides/notesSlide6.xml" Id="Ra31d008d920749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3e432de76d405c" /><Relationship Type="http://schemas.openxmlformats.org/officeDocument/2006/relationships/notesSlide" Target="/ppt/notesSlides/notesSlide7.xml" Id="Rb0cd93acd11744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facddbedbf43ee" /><Relationship Type="http://schemas.openxmlformats.org/officeDocument/2006/relationships/notesSlide" Target="/ppt/notesSlides/notesSlide8.xml" Id="Rd86019a48c224a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3126e8601844b8" /><Relationship Type="http://schemas.openxmlformats.org/officeDocument/2006/relationships/notesSlide" Target="/ppt/notesSlides/notesSlide9.xml" Id="R60dafbafd1f742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b17106c538646ab" /><Relationship Type="http://schemas.openxmlformats.org/officeDocument/2006/relationships/notesSlide" Target="/ppt/notesSlides/notesSlide10.xml" Id="Ra69982a6ba834e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45faed301044ef" /><Relationship Type="http://schemas.openxmlformats.org/officeDocument/2006/relationships/notesSlide" Target="/ppt/notesSlides/notesSlide11.xml" Id="Rfbfb2cd30cc14b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3ded5a8722e4cae" /><Relationship Type="http://schemas.openxmlformats.org/officeDocument/2006/relationships/notesSlide" Target="/ppt/notesSlides/notesSlide12.xml" Id="Ra0ca4ffbb42149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4ea554f2d8148f3" /><Relationship Type="http://schemas.openxmlformats.org/officeDocument/2006/relationships/notesSlide" Target="/ppt/notesSlides/notesSlide13.xml" Id="R05e409099ce34d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983454ca6e143f2" /><Relationship Type="http://schemas.openxmlformats.org/officeDocument/2006/relationships/notesSlide" Target="/ppt/notesSlides/notesSlide14.xml" Id="R2fbc07728e6a49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ff718567de54ad4" /><Relationship Type="http://schemas.openxmlformats.org/officeDocument/2006/relationships/notesSlide" Target="/ppt/notesSlides/notesSlide15.xml" Id="R004e535f5d2040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fcf0aec752f4e32" /><Relationship Type="http://schemas.openxmlformats.org/officeDocument/2006/relationships/notesSlide" Target="/ppt/notesSlides/notesSlide16.xml" Id="R398ebb27405747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13adb1179b4029" /><Relationship Type="http://schemas.openxmlformats.org/officeDocument/2006/relationships/notesSlide" Target="/ppt/notesSlides/notesSlide17.xml" Id="R259fa978bf7d46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443c5b25b524916" /><Relationship Type="http://schemas.openxmlformats.org/officeDocument/2006/relationships/notesSlide" Target="/ppt/notesSlides/notesSlide18.xml" Id="R4411fbd8a0d142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67188B2A-2D0B-4FD7-878C-E4C2038B21C2}"/>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06  |  LESSON 2</a:t>
            </a:r>
          </a:p>
        </p:txBody>
      </p:sp>
      <p:sp>
        <p:nvSpPr>
          <p:cNvPr id="2" name="title-accent-field">
            <a:extLst xmlns:a="http://schemas.openxmlformats.org/drawingml/2006/main">
              <a:ext uri="{FF2B5EF4-FFF2-40B4-BE49-F238E27FC236}">
                <a16:creationId xmlns:a16="http://schemas.microsoft.com/office/drawing/2014/main" id="{BA017EC8-1A94-46AB-848D-CD49D4BC44BD}"/>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F2D437DE-4613-4AA2-8618-5E5CA39E43F7}"/>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From Linear Approximation to Deep Q-Networks</a:t>
            </a:r>
          </a:p>
        </p:txBody>
      </p:sp>
      <p:sp>
        <p:nvSpPr>
          <p:cNvPr id="4" name="deck-subtitle">
            <a:extLst xmlns:a="http://schemas.openxmlformats.org/drawingml/2006/main">
              <a:ext uri="{FF2B5EF4-FFF2-40B4-BE49-F238E27FC236}">
                <a16:creationId xmlns:a16="http://schemas.microsoft.com/office/drawing/2014/main" id="{B09CE275-1A29-4151-BED0-265FE1D7EA54}"/>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Replay, target networks, and a stable training dataflow</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FD532A0D-ADBF-4769-90FA-A406693F3B33}"/>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CC882360-5C9B-4828-AC1D-54EF44223585}"/>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13459901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43EF55A3-5660-4FBA-A112-77FA8452C01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A910FE82-0F2B-4EA8-B0EE-5E913784FD0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FD0F1C90-1880-4920-A278-5A67558522E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2">
            <a:extLst xmlns:a="http://schemas.openxmlformats.org/drawingml/2006/main">
              <a:ext uri="{FF2B5EF4-FFF2-40B4-BE49-F238E27FC236}">
                <a16:creationId xmlns:a16="http://schemas.microsoft.com/office/drawing/2014/main" id="{B40F4751-6116-41BF-B283-CB9A0CE3669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D037C7D8-1912-4859-9B8A-F13A5D5D0C0E}"/>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B0BEE5C4-A3F9-4C7A-8302-5F8E1191A2A9}"/>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4E09727D-69AF-431E-9920-1D5BF64FA722}"/>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Map a discrete-action state to one Q value per action.</a:t>
            </a:r>
          </a:p>
        </p:txBody>
      </p:sp>
      <p:sp>
        <p:nvSpPr>
          <p:cNvPr id="10" name="objective-number-2">
            <a:extLst xmlns:a="http://schemas.openxmlformats.org/drawingml/2006/main">
              <a:ext uri="{FF2B5EF4-FFF2-40B4-BE49-F238E27FC236}">
                <a16:creationId xmlns:a16="http://schemas.microsoft.com/office/drawing/2014/main" id="{F4D48F52-0D58-4BA7-B463-12A43C5631DE}"/>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F86F0907-E39A-4DF5-BBB6-13419C25503B}"/>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temporal correlation and moving targets.</a:t>
            </a:r>
          </a:p>
        </p:txBody>
      </p:sp>
      <p:sp>
        <p:nvSpPr>
          <p:cNvPr id="13" name="objective-number-3">
            <a:extLst xmlns:a="http://schemas.openxmlformats.org/drawingml/2006/main">
              <a:ext uri="{FF2B5EF4-FFF2-40B4-BE49-F238E27FC236}">
                <a16:creationId xmlns:a16="http://schemas.microsoft.com/office/drawing/2014/main" id="{96040C46-870C-4584-B140-1635337A3D24}"/>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900A7394-CF57-4588-B241-D32BC1613511}"/>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Describe replay-buffer sampling and data reuse.</a:t>
            </a:r>
          </a:p>
        </p:txBody>
      </p:sp>
      <p:sp>
        <p:nvSpPr>
          <p:cNvPr id="16" name="objective-number-4">
            <a:extLst xmlns:a="http://schemas.openxmlformats.org/drawingml/2006/main">
              <a:ext uri="{FF2B5EF4-FFF2-40B4-BE49-F238E27FC236}">
                <a16:creationId xmlns:a16="http://schemas.microsoft.com/office/drawing/2014/main" id="{2AF34AFD-B9DB-4BC2-9CAC-11D42BCA2AE5}"/>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35AADC94-180A-40D2-A299-73ABB606EA39}"/>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Distinguish online and target network roles.</a:t>
            </a:r>
          </a:p>
        </p:txBody>
      </p:sp>
      <p:sp>
        <p:nvSpPr>
          <p:cNvPr id="19" name="objective-number-5">
            <a:extLst xmlns:a="http://schemas.openxmlformats.org/drawingml/2006/main">
              <a:ext uri="{FF2B5EF4-FFF2-40B4-BE49-F238E27FC236}">
                <a16:creationId xmlns:a16="http://schemas.microsoft.com/office/drawing/2014/main" id="{F0682C80-B30D-4EF9-95DA-D6D1F2CD1949}"/>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848A4AB3-4494-48BF-ACFD-D262086CBB1A}"/>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a terminal-aware mini-batch target.</a:t>
            </a:r>
          </a:p>
        </p:txBody>
      </p:sp>
      <p:sp>
        <p:nvSpPr>
          <p:cNvPr id="22" name="objective-number-6">
            <a:extLst xmlns:a="http://schemas.openxmlformats.org/drawingml/2006/main">
              <a:ext uri="{FF2B5EF4-FFF2-40B4-BE49-F238E27FC236}">
                <a16:creationId xmlns:a16="http://schemas.microsoft.com/office/drawing/2014/main" id="{662F7A7E-EE9F-478F-8A68-1B1740238DE7}"/>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DDF16835-8EBB-4F7F-B59D-A4D1F92BAABD}"/>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the complete DQN training loop.</a:t>
            </a:r>
          </a:p>
        </p:txBody>
      </p:sp>
    </p:spTree>
    <p:extLst>
      <p:ext uri="{BB962C8B-B14F-4D97-AF65-F5344CB8AC3E}">
        <p14:creationId xmlns:p14="http://schemas.microsoft.com/office/powerpoint/2010/main" val="1633139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0EC1BA36-96F2-45E3-A8B3-2D18075AC86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DQN is Q-learning with engineered stabilization</a:t>
            </a:r>
          </a:p>
        </p:txBody>
      </p:sp>
      <p:sp>
        <p:nvSpPr>
          <p:cNvPr id="2" name="title-accent-3">
            <a:extLst xmlns:a="http://schemas.openxmlformats.org/drawingml/2006/main">
              <a:ext uri="{FF2B5EF4-FFF2-40B4-BE49-F238E27FC236}">
                <a16:creationId xmlns:a16="http://schemas.microsoft.com/office/drawing/2014/main" id="{FE18213F-961D-4C85-9144-566F433E0AD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47E9E225-DCEC-451F-A170-4B3530375DF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3">
            <a:extLst xmlns:a="http://schemas.openxmlformats.org/drawingml/2006/main">
              <a:ext uri="{FF2B5EF4-FFF2-40B4-BE49-F238E27FC236}">
                <a16:creationId xmlns:a16="http://schemas.microsoft.com/office/drawing/2014/main" id="{3BD5C4C1-7097-46E7-8578-437F5D80665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2D5EA4AD-7765-43A2-8AE3-E2099A7B1839}"/>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neural network supplies the action-value function while replay and a target network reduce two major sources of instability.</a:t>
            </a:r>
          </a:p>
        </p:txBody>
      </p:sp>
      <p:sp>
        <p:nvSpPr>
          <p:cNvPr id="7" name="claim-panel-3">
            <a:extLst xmlns:a="http://schemas.openxmlformats.org/drawingml/2006/main">
              <a:ext uri="{FF2B5EF4-FFF2-40B4-BE49-F238E27FC236}">
                <a16:creationId xmlns:a16="http://schemas.microsoft.com/office/drawing/2014/main" id="{0FB85C42-9A6C-4A38-9060-A9EACD5E8D73}"/>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4131A560-E1E3-49BB-AC2B-9AEACE8F906D}"/>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Stabilization</a:t>
            </a:r>
          </a:p>
        </p:txBody>
      </p:sp>
      <p:sp>
        <p:nvSpPr>
          <p:cNvPr id="9" name="claim-keyword-detail-3">
            <a:extLst xmlns:a="http://schemas.openxmlformats.org/drawingml/2006/main">
              <a:ext uri="{FF2B5EF4-FFF2-40B4-BE49-F238E27FC236}">
                <a16:creationId xmlns:a16="http://schemas.microsoft.com/office/drawing/2014/main" id="{517857BD-F52E-4B53-96F3-0BD17A61608B}"/>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The mechanisms improve the training distribution and slow movement of the bootstrap target.</a:t>
            </a:r>
          </a:p>
        </p:txBody>
      </p:sp>
      <p:sp>
        <p:nvSpPr>
          <p:cNvPr id="10" name="claim-detail-3-marker-1">
            <a:extLst xmlns:a="http://schemas.openxmlformats.org/drawingml/2006/main">
              <a:ext uri="{FF2B5EF4-FFF2-40B4-BE49-F238E27FC236}">
                <a16:creationId xmlns:a16="http://schemas.microsoft.com/office/drawing/2014/main" id="{6221EEAE-7E57-433D-8B88-1837864439D0}"/>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E4B365F0-ABB5-41EA-8E9F-A911BB87B250}"/>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One forward pass outputs all discrete-action values.</a:t>
            </a:r>
          </a:p>
        </p:txBody>
      </p:sp>
      <p:sp>
        <p:nvSpPr>
          <p:cNvPr id="12" name="claim-detail-3-marker-2">
            <a:extLst xmlns:a="http://schemas.openxmlformats.org/drawingml/2006/main">
              <a:ext uri="{FF2B5EF4-FFF2-40B4-BE49-F238E27FC236}">
                <a16:creationId xmlns:a16="http://schemas.microsoft.com/office/drawing/2014/main" id="{40F7E444-CDC0-43D4-ADAD-4411A5770085}"/>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CCE9922D-A5DB-4F67-A33E-26CD6399EE75}"/>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Replay breaks short-range temporal correlation.</a:t>
            </a:r>
          </a:p>
        </p:txBody>
      </p:sp>
      <p:sp>
        <p:nvSpPr>
          <p:cNvPr id="14" name="claim-detail-3-marker-3">
            <a:extLst xmlns:a="http://schemas.openxmlformats.org/drawingml/2006/main">
              <a:ext uri="{FF2B5EF4-FFF2-40B4-BE49-F238E27FC236}">
                <a16:creationId xmlns:a16="http://schemas.microsoft.com/office/drawing/2014/main" id="{60D9B3F4-21D1-4CF0-8528-FB4693CF8681}"/>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D31A52C9-BB46-4F71-9C5C-0C8FC00AA948}"/>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A frozen target network supplies short-window consistency.</a:t>
            </a:r>
          </a:p>
        </p:txBody>
      </p:sp>
    </p:spTree>
    <p:extLst>
      <p:ext uri="{BB962C8B-B14F-4D97-AF65-F5344CB8AC3E}">
        <p14:creationId xmlns:p14="http://schemas.microsoft.com/office/powerpoint/2010/main" val="1785482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5EA996B7-2355-403B-A60A-78F082BC8E6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The DQN target and loss</a:t>
            </a:r>
          </a:p>
        </p:txBody>
      </p:sp>
      <p:sp>
        <p:nvSpPr>
          <p:cNvPr id="2" name="title-accent-4">
            <a:extLst xmlns:a="http://schemas.openxmlformats.org/drawingml/2006/main">
              <a:ext uri="{FF2B5EF4-FFF2-40B4-BE49-F238E27FC236}">
                <a16:creationId xmlns:a16="http://schemas.microsoft.com/office/drawing/2014/main" id="{2649326E-4FDC-41A1-AE8D-268268C99F7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BE4C1805-75FC-4A86-AEB9-A28261F44CFB}"/>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4">
            <a:extLst xmlns:a="http://schemas.openxmlformats.org/drawingml/2006/main">
              <a:ext uri="{FF2B5EF4-FFF2-40B4-BE49-F238E27FC236}">
                <a16:creationId xmlns:a16="http://schemas.microsoft.com/office/drawing/2014/main" id="{43891349-4DAA-4A6C-9522-32DA341FA16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B1F9D793-ABED-4E2A-AD8C-AF728211726F}"/>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3CBB2087-C64F-4D7A-AEBD-FE76B93B7FD5}"/>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y = r + gamma(1-done) max_a Q(s_next,a;theta_minus); L = mean[(y-Q(s,a;theta))^2]</a:t>
            </a:r>
          </a:p>
        </p:txBody>
      </p:sp>
      <p:sp>
        <p:nvSpPr>
          <p:cNvPr id="8" name="formula-definition-4-marker-1">
            <a:extLst xmlns:a="http://schemas.openxmlformats.org/drawingml/2006/main">
              <a:ext uri="{FF2B5EF4-FFF2-40B4-BE49-F238E27FC236}">
                <a16:creationId xmlns:a16="http://schemas.microsoft.com/office/drawing/2014/main" id="{F325F737-0EC3-4C61-B5D8-2150DFE17DB5}"/>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330CDDDA-C809-412D-98FC-50CD85E04E96}"/>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theta are online-network parameters.</a:t>
            </a:r>
          </a:p>
        </p:txBody>
      </p:sp>
      <p:sp>
        <p:nvSpPr>
          <p:cNvPr id="10" name="formula-definition-4-marker-2">
            <a:extLst xmlns:a="http://schemas.openxmlformats.org/drawingml/2006/main">
              <a:ext uri="{FF2B5EF4-FFF2-40B4-BE49-F238E27FC236}">
                <a16:creationId xmlns:a16="http://schemas.microsoft.com/office/drawing/2014/main" id="{2907BE9A-6213-4BEE-A177-3C4471FF713B}"/>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90ED78F5-0691-4F26-978D-7BF17DAB7E45}"/>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theta_minus are target-network parameters.</a:t>
            </a:r>
          </a:p>
        </p:txBody>
      </p:sp>
      <p:sp>
        <p:nvSpPr>
          <p:cNvPr id="12" name="formula-definition-4-marker-3">
            <a:extLst xmlns:a="http://schemas.openxmlformats.org/drawingml/2006/main">
              <a:ext uri="{FF2B5EF4-FFF2-40B4-BE49-F238E27FC236}">
                <a16:creationId xmlns:a16="http://schemas.microsoft.com/office/drawing/2014/main" id="{0729A801-8F81-4C9B-9C94-0E117B47D051}"/>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3D9E8DA8-7414-448E-A1C8-790722610C33}"/>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done masks every terminal bootstrap.</a:t>
            </a:r>
          </a:p>
        </p:txBody>
      </p:sp>
      <p:sp>
        <p:nvSpPr>
          <p:cNvPr id="14" name="formula-definition-4-marker-4">
            <a:extLst xmlns:a="http://schemas.openxmlformats.org/drawingml/2006/main">
              <a:ext uri="{FF2B5EF4-FFF2-40B4-BE49-F238E27FC236}">
                <a16:creationId xmlns:a16="http://schemas.microsoft.com/office/drawing/2014/main" id="{66ADA685-CA8D-496B-8EB6-9FFD469027E9}"/>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3CBE4FD5-BCA7-49A1-879E-6282C84F1629}"/>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Only theta receives the gradient step.</a:t>
            </a:r>
          </a:p>
        </p:txBody>
      </p:sp>
      <p:sp>
        <p:nvSpPr>
          <p:cNvPr id="16" name="formula-implication-panel-4">
            <a:extLst xmlns:a="http://schemas.openxmlformats.org/drawingml/2006/main">
              <a:ext uri="{FF2B5EF4-FFF2-40B4-BE49-F238E27FC236}">
                <a16:creationId xmlns:a16="http://schemas.microsoft.com/office/drawing/2014/main" id="{A4FE43C3-58CF-4E28-AFC8-5DD357DD02F6}"/>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F1CD4B63-BD41-41C6-BB20-8C7B336B3A86}"/>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CF3CA0C7-B9C1-4560-B011-EAEF93ECE119}"/>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The two networks have distinct responsibilities even when their architectures match.</a:t>
            </a:r>
          </a:p>
        </p:txBody>
      </p:sp>
    </p:spTree>
    <p:extLst>
      <p:ext uri="{BB962C8B-B14F-4D97-AF65-F5344CB8AC3E}">
        <p14:creationId xmlns:p14="http://schemas.microsoft.com/office/powerpoint/2010/main" val="8183929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69E6C195-38D8-4A4B-9352-5166C1472AB4}"/>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Online and target networks form a controlled handoff</a:t>
            </a:r>
          </a:p>
        </p:txBody>
      </p:sp>
      <p:sp>
        <p:nvSpPr>
          <p:cNvPr id="2" name="title-accent-5">
            <a:extLst xmlns:a="http://schemas.openxmlformats.org/drawingml/2006/main">
              <a:ext uri="{FF2B5EF4-FFF2-40B4-BE49-F238E27FC236}">
                <a16:creationId xmlns:a16="http://schemas.microsoft.com/office/drawing/2014/main" id="{490EE8E5-1765-44CB-82E8-31EB10ABC72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8FA53490-5E82-4E92-A6E0-ACD2D87AABB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5">
            <a:extLst xmlns:a="http://schemas.openxmlformats.org/drawingml/2006/main">
              <a:ext uri="{FF2B5EF4-FFF2-40B4-BE49-F238E27FC236}">
                <a16:creationId xmlns:a16="http://schemas.microsoft.com/office/drawing/2014/main" id="{9CAA26E2-E5C8-4BD5-9D6C-A7DF6F961C1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89072B70-F778-42B3-BB84-BE1E8CBE93CA}"/>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Online network</a:t>
            </a:r>
          </a:p>
        </p:txBody>
      </p:sp>
      <p:sp>
        <p:nvSpPr>
          <p:cNvPr id="8" name="right-title-5">
            <a:extLst xmlns:a="http://schemas.openxmlformats.org/drawingml/2006/main">
              <a:ext uri="{FF2B5EF4-FFF2-40B4-BE49-F238E27FC236}">
                <a16:creationId xmlns:a16="http://schemas.microsoft.com/office/drawing/2014/main" id="{54E5CBB2-04D3-46BC-B607-228D50C53237}"/>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Target network</a:t>
            </a:r>
          </a:p>
        </p:txBody>
      </p:sp>
      <p:sp>
        <p:nvSpPr>
          <p:cNvPr id="9" name="left-bullet-5-marker-1">
            <a:extLst xmlns:a="http://schemas.openxmlformats.org/drawingml/2006/main">
              <a:ext uri="{FF2B5EF4-FFF2-40B4-BE49-F238E27FC236}">
                <a16:creationId xmlns:a16="http://schemas.microsoft.com/office/drawing/2014/main" id="{E66A9A3D-2590-46BD-998C-AB19EEED56CE}"/>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4A07F382-B84F-4A98-9477-E1DDE484B024}"/>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Selects epsilon-greedy actions.</a:t>
            </a:r>
          </a:p>
        </p:txBody>
      </p:sp>
      <p:sp>
        <p:nvSpPr>
          <p:cNvPr id="11" name="left-bullet-5-marker-2">
            <a:extLst xmlns:a="http://schemas.openxmlformats.org/drawingml/2006/main">
              <a:ext uri="{FF2B5EF4-FFF2-40B4-BE49-F238E27FC236}">
                <a16:creationId xmlns:a16="http://schemas.microsoft.com/office/drawing/2014/main" id="{AE7BFEAE-72E7-43FE-A080-33590E75B309}"/>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27C0A781-9A3C-423B-AAF3-DEEDC82ACE14}"/>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Predicts Q(s,a;theta).</a:t>
            </a:r>
          </a:p>
        </p:txBody>
      </p:sp>
      <p:sp>
        <p:nvSpPr>
          <p:cNvPr id="13" name="left-bullet-5-marker-3">
            <a:extLst xmlns:a="http://schemas.openxmlformats.org/drawingml/2006/main">
              <a:ext uri="{FF2B5EF4-FFF2-40B4-BE49-F238E27FC236}">
                <a16:creationId xmlns:a16="http://schemas.microsoft.com/office/drawing/2014/main" id="{E5598FA6-284D-4041-89C4-0AC33F196CA5}"/>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C0FF259F-18D4-449A-8939-0A0748F7D716}"/>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Updated every training step.</a:t>
            </a:r>
          </a:p>
        </p:txBody>
      </p:sp>
      <p:sp>
        <p:nvSpPr>
          <p:cNvPr id="15" name="left-bullet-5-marker-4">
            <a:extLst xmlns:a="http://schemas.openxmlformats.org/drawingml/2006/main">
              <a:ext uri="{FF2B5EF4-FFF2-40B4-BE49-F238E27FC236}">
                <a16:creationId xmlns:a16="http://schemas.microsoft.com/office/drawing/2014/main" id="{1616C4DC-5BD3-4B57-A2E5-6A974E4C82BC}"/>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983622E3-2211-4F3B-8B84-5EC39ACEE076}"/>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Receives gradients from loss.</a:t>
            </a:r>
          </a:p>
        </p:txBody>
      </p:sp>
      <p:sp>
        <p:nvSpPr>
          <p:cNvPr id="17" name="right-bullet-5-marker-1">
            <a:extLst xmlns:a="http://schemas.openxmlformats.org/drawingml/2006/main">
              <a:ext uri="{FF2B5EF4-FFF2-40B4-BE49-F238E27FC236}">
                <a16:creationId xmlns:a16="http://schemas.microsoft.com/office/drawing/2014/main" id="{711A5D77-658B-44C4-8218-D878DA683D05}"/>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76864058-BF4A-4148-A8B5-EB1993DE1221}"/>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Computes next-state target values.</a:t>
            </a:r>
          </a:p>
        </p:txBody>
      </p:sp>
      <p:sp>
        <p:nvSpPr>
          <p:cNvPr id="19" name="right-bullet-5-marker-2">
            <a:extLst xmlns:a="http://schemas.openxmlformats.org/drawingml/2006/main">
              <a:ext uri="{FF2B5EF4-FFF2-40B4-BE49-F238E27FC236}">
                <a16:creationId xmlns:a16="http://schemas.microsoft.com/office/drawing/2014/main" id="{3A795D68-DB93-4287-8FF2-8F8CB05B1D98}"/>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E9C9ABEF-67DE-4689-AE52-D0287E68C28D}"/>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Frozen for a short interval.</a:t>
            </a:r>
          </a:p>
        </p:txBody>
      </p:sp>
      <p:sp>
        <p:nvSpPr>
          <p:cNvPr id="21" name="right-bullet-5-marker-3">
            <a:extLst xmlns:a="http://schemas.openxmlformats.org/drawingml/2006/main">
              <a:ext uri="{FF2B5EF4-FFF2-40B4-BE49-F238E27FC236}">
                <a16:creationId xmlns:a16="http://schemas.microsoft.com/office/drawing/2014/main" id="{8CE5E3DD-4B20-496C-A41C-AE1509CCD1B7}"/>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EFB19192-FBF7-4CEA-B55E-3121BD510BD6}"/>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Copied or softly updated.</a:t>
            </a:r>
          </a:p>
        </p:txBody>
      </p:sp>
      <p:sp>
        <p:nvSpPr>
          <p:cNvPr id="23" name="right-bullet-5-marker-4">
            <a:extLst xmlns:a="http://schemas.openxmlformats.org/drawingml/2006/main">
              <a:ext uri="{FF2B5EF4-FFF2-40B4-BE49-F238E27FC236}">
                <a16:creationId xmlns:a16="http://schemas.microsoft.com/office/drawing/2014/main" id="{97770C10-4C07-451A-9992-618B9324F07B}"/>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2938017A-CBD4-4390-8834-916572DDA6DD}"/>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Never optimized directly.</a:t>
            </a:r>
          </a:p>
        </p:txBody>
      </p:sp>
    </p:spTree>
    <p:extLst>
      <p:ext uri="{BB962C8B-B14F-4D97-AF65-F5344CB8AC3E}">
        <p14:creationId xmlns:p14="http://schemas.microsoft.com/office/powerpoint/2010/main" val="9394759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7F6FEAF8-31B1-425C-B88B-DD15CA4B000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Data flows through six explicit stages</a:t>
            </a:r>
          </a:p>
        </p:txBody>
      </p:sp>
      <p:sp>
        <p:nvSpPr>
          <p:cNvPr id="2" name="title-accent-6">
            <a:extLst xmlns:a="http://schemas.openxmlformats.org/drawingml/2006/main">
              <a:ext uri="{FF2B5EF4-FFF2-40B4-BE49-F238E27FC236}">
                <a16:creationId xmlns:a16="http://schemas.microsoft.com/office/drawing/2014/main" id="{1840D706-9037-4E8A-B50F-E45EF3148A28}"/>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BA9A832B-8637-4B87-A8A6-153A9FD5338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6">
            <a:extLst xmlns:a="http://schemas.openxmlformats.org/drawingml/2006/main">
              <a:ext uri="{FF2B5EF4-FFF2-40B4-BE49-F238E27FC236}">
                <a16:creationId xmlns:a16="http://schemas.microsoft.com/office/drawing/2014/main" id="{EC023C48-776D-4B18-B5B8-639C0470E6B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F5CD5D8E-3C72-4443-A44A-7A1045804C5D}"/>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530EEDFF-E2DA-42E9-9EC5-C4C6BC00640F}"/>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D9FC26FA-84B0-41C9-B372-EDA2ED2C324D}"/>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Act</a:t>
            </a:r>
          </a:p>
        </p:txBody>
      </p:sp>
      <p:sp>
        <p:nvSpPr>
          <p:cNvPr id="13" name="process-detail-6-1">
            <a:extLst xmlns:a="http://schemas.openxmlformats.org/drawingml/2006/main">
              <a:ext uri="{FF2B5EF4-FFF2-40B4-BE49-F238E27FC236}">
                <a16:creationId xmlns:a16="http://schemas.microsoft.com/office/drawing/2014/main" id="{95CBD99A-5903-471E-A14B-62FDCD039F42}"/>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Choose from the online network.</a:t>
            </a:r>
          </a:p>
        </p:txBody>
      </p:sp>
      <p:sp>
        <p:nvSpPr>
          <p:cNvPr id="14" name="process-node-6-2">
            <a:extLst xmlns:a="http://schemas.openxmlformats.org/drawingml/2006/main">
              <a:ext uri="{FF2B5EF4-FFF2-40B4-BE49-F238E27FC236}">
                <a16:creationId xmlns:a16="http://schemas.microsoft.com/office/drawing/2014/main" id="{AEB517E0-D161-4DC9-9E93-45B8690E16FD}"/>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B86BEF3E-8007-488F-8F07-21B30985A542}"/>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3E4DA96C-D45D-4C6C-9997-671CA541C9AB}"/>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Store</a:t>
            </a:r>
          </a:p>
        </p:txBody>
      </p:sp>
      <p:sp>
        <p:nvSpPr>
          <p:cNvPr id="17" name="process-detail-6-2">
            <a:extLst xmlns:a="http://schemas.openxmlformats.org/drawingml/2006/main">
              <a:ext uri="{FF2B5EF4-FFF2-40B4-BE49-F238E27FC236}">
                <a16:creationId xmlns:a16="http://schemas.microsoft.com/office/drawing/2014/main" id="{CC8601BA-1802-4953-882F-9EEF029C5918}"/>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Append a complete transition.</a:t>
            </a:r>
          </a:p>
        </p:txBody>
      </p:sp>
      <p:sp>
        <p:nvSpPr>
          <p:cNvPr id="18" name="process-node-6-3">
            <a:extLst xmlns:a="http://schemas.openxmlformats.org/drawingml/2006/main">
              <a:ext uri="{FF2B5EF4-FFF2-40B4-BE49-F238E27FC236}">
                <a16:creationId xmlns:a16="http://schemas.microsoft.com/office/drawing/2014/main" id="{5C7B4C58-DCAA-4307-925A-FFF266BD00F5}"/>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C0DF1B7A-0BB7-4354-B3B9-FC0209C3CADD}"/>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258C007A-070D-49B0-83F3-3B907A35CA4A}"/>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Sample</a:t>
            </a:r>
          </a:p>
        </p:txBody>
      </p:sp>
      <p:sp>
        <p:nvSpPr>
          <p:cNvPr id="21" name="process-detail-6-3">
            <a:extLst xmlns:a="http://schemas.openxmlformats.org/drawingml/2006/main">
              <a:ext uri="{FF2B5EF4-FFF2-40B4-BE49-F238E27FC236}">
                <a16:creationId xmlns:a16="http://schemas.microsoft.com/office/drawing/2014/main" id="{78CD993C-A37A-4248-BE4D-AD524D0B1AB3}"/>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Draw a random mini-batch.</a:t>
            </a:r>
          </a:p>
        </p:txBody>
      </p:sp>
      <p:sp>
        <p:nvSpPr>
          <p:cNvPr id="22" name="process-node-6-4">
            <a:extLst xmlns:a="http://schemas.openxmlformats.org/drawingml/2006/main">
              <a:ext uri="{FF2B5EF4-FFF2-40B4-BE49-F238E27FC236}">
                <a16:creationId xmlns:a16="http://schemas.microsoft.com/office/drawing/2014/main" id="{E38C9F29-48C2-4612-9A66-72446F718E64}"/>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405D0AF3-147B-4DC3-B371-4A8DBDCFCC30}"/>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11F51D8C-E665-4BCC-9EF6-37CC721862A1}"/>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Target</a:t>
            </a:r>
          </a:p>
        </p:txBody>
      </p:sp>
      <p:sp>
        <p:nvSpPr>
          <p:cNvPr id="25" name="process-detail-6-4">
            <a:extLst xmlns:a="http://schemas.openxmlformats.org/drawingml/2006/main">
              <a:ext uri="{FF2B5EF4-FFF2-40B4-BE49-F238E27FC236}">
                <a16:creationId xmlns:a16="http://schemas.microsoft.com/office/drawing/2014/main" id="{F9E47DC1-93AA-4EB6-AAEA-B07361D2E1B5}"/>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Evaluate next states with theta_minus.</a:t>
            </a:r>
          </a:p>
        </p:txBody>
      </p:sp>
      <p:sp>
        <p:nvSpPr>
          <p:cNvPr id="26" name="process-node-6-5">
            <a:extLst xmlns:a="http://schemas.openxmlformats.org/drawingml/2006/main">
              <a:ext uri="{FF2B5EF4-FFF2-40B4-BE49-F238E27FC236}">
                <a16:creationId xmlns:a16="http://schemas.microsoft.com/office/drawing/2014/main" id="{B161CB3B-4CC8-4707-9722-F78F625E717E}"/>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8A4A643E-7C50-4B38-B587-F8CF61106BD0}"/>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C668C6FD-F574-42F5-9829-C0141C1220A3}"/>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Update</a:t>
            </a:r>
          </a:p>
        </p:txBody>
      </p:sp>
      <p:sp>
        <p:nvSpPr>
          <p:cNvPr id="29" name="process-detail-6-5">
            <a:extLst xmlns:a="http://schemas.openxmlformats.org/drawingml/2006/main">
              <a:ext uri="{FF2B5EF4-FFF2-40B4-BE49-F238E27FC236}">
                <a16:creationId xmlns:a16="http://schemas.microsoft.com/office/drawing/2014/main" id="{7B6F9349-E986-4EC0-98E4-4203164AE96E}"/>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Optimize theta and periodically synchronize.</a:t>
            </a:r>
          </a:p>
        </p:txBody>
      </p:sp>
      <p:sp>
        <p:nvSpPr>
          <p:cNvPr id="30" name="process-takeaway-6">
            <a:extLst xmlns:a="http://schemas.openxmlformats.org/drawingml/2006/main">
              <a:ext uri="{FF2B5EF4-FFF2-40B4-BE49-F238E27FC236}">
                <a16:creationId xmlns:a16="http://schemas.microsoft.com/office/drawing/2014/main" id="{63ADBBD6-B79C-46FD-A8C8-AE3B320BD597}"/>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Keeping action selection, target construction, and optimization separate prevents accidental gradient paths.</a:t>
            </a:r>
          </a:p>
        </p:txBody>
      </p:sp>
    </p:spTree>
    <p:extLst>
      <p:ext uri="{BB962C8B-B14F-4D97-AF65-F5344CB8AC3E}">
        <p14:creationId xmlns:p14="http://schemas.microsoft.com/office/powerpoint/2010/main" val="7301108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E3568FE6-FC62-45CD-8A46-7F0976C82D1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High-level DQN training loop</a:t>
            </a:r>
          </a:p>
        </p:txBody>
      </p:sp>
      <p:sp>
        <p:nvSpPr>
          <p:cNvPr id="2" name="title-accent-7">
            <a:extLst xmlns:a="http://schemas.openxmlformats.org/drawingml/2006/main">
              <a:ext uri="{FF2B5EF4-FFF2-40B4-BE49-F238E27FC236}">
                <a16:creationId xmlns:a16="http://schemas.microsoft.com/office/drawing/2014/main" id="{667F0345-8114-4A87-ADC1-75251D4FD72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6D79F18D-DE4A-4A48-891A-1C1B38FE666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7">
            <a:extLst xmlns:a="http://schemas.openxmlformats.org/drawingml/2006/main">
              <a:ext uri="{FF2B5EF4-FFF2-40B4-BE49-F238E27FC236}">
                <a16:creationId xmlns:a16="http://schemas.microsoft.com/office/drawing/2014/main" id="{5B87758A-CCBD-493E-AC05-E0D837E1DBAA}"/>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F4213B3D-2E8D-464E-B6E9-1522032B04FF}"/>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50B58EEB-C4BD-4FE8-934A-33D35A5207DA}"/>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initialize online Q(theta), target Q(theta_minus)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theta_minus = theta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replay = bounded buffer</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for each environment step:</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 = epsilon_greedy(Q(s, ., theta))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s_next, r, done = env.step(a)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replay.add(s, a, r, s_next, done)</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batch = replay.sample(B)</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y = r + gamma*(1-done)*max_a Q(s_next,a,theta_minus)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minimize mean((y - Q(s,a,theta))**2) over theta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step % C == 0: theta_minus = theta</a:t>
            </a:r>
          </a:p>
        </p:txBody>
      </p:sp>
      <p:sp>
        <p:nvSpPr>
          <p:cNvPr id="8" name="code-rail-title-7">
            <a:extLst xmlns:a="http://schemas.openxmlformats.org/drawingml/2006/main">
              <a:ext uri="{FF2B5EF4-FFF2-40B4-BE49-F238E27FC236}">
                <a16:creationId xmlns:a16="http://schemas.microsoft.com/office/drawing/2014/main" id="{B19071BE-AB5D-4508-9CA1-53530CEB1409}"/>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Implementation contract</a:t>
            </a:r>
          </a:p>
        </p:txBody>
      </p:sp>
      <p:sp>
        <p:nvSpPr>
          <p:cNvPr id="9" name="code-rail-7-marker-1">
            <a:extLst xmlns:a="http://schemas.openxmlformats.org/drawingml/2006/main">
              <a:ext uri="{FF2B5EF4-FFF2-40B4-BE49-F238E27FC236}">
                <a16:creationId xmlns:a16="http://schemas.microsoft.com/office/drawing/2014/main" id="{A2D02ED4-9EEE-4339-BB04-6F3E73E9A673}"/>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02BB436C-411F-4FA3-8AA4-6E579E00893F}"/>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Warm up the buffer.</a:t>
            </a:r>
          </a:p>
        </p:txBody>
      </p:sp>
      <p:sp>
        <p:nvSpPr>
          <p:cNvPr id="11" name="code-rail-7-marker-2">
            <a:extLst xmlns:a="http://schemas.openxmlformats.org/drawingml/2006/main">
              <a:ext uri="{FF2B5EF4-FFF2-40B4-BE49-F238E27FC236}">
                <a16:creationId xmlns:a16="http://schemas.microsoft.com/office/drawing/2014/main" id="{570135B3-18E3-4D8C-A20B-BE01B4F6CE6A}"/>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D02BB2FF-E12A-4218-A07E-7528FCB81A83}"/>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Sample without sequence bias.</a:t>
            </a:r>
          </a:p>
        </p:txBody>
      </p:sp>
      <p:sp>
        <p:nvSpPr>
          <p:cNvPr id="13" name="code-rail-7-marker-3">
            <a:extLst xmlns:a="http://schemas.openxmlformats.org/drawingml/2006/main">
              <a:ext uri="{FF2B5EF4-FFF2-40B4-BE49-F238E27FC236}">
                <a16:creationId xmlns:a16="http://schemas.microsoft.com/office/drawing/2014/main" id="{A9F1B056-D35B-4538-95FB-A669D0905819}"/>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1ED1BA2C-839B-42CD-B057-4173479B7E39}"/>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Detach targets.</a:t>
            </a:r>
          </a:p>
        </p:txBody>
      </p:sp>
      <p:sp>
        <p:nvSpPr>
          <p:cNvPr id="15" name="code-rail-7-marker-4">
            <a:extLst xmlns:a="http://schemas.openxmlformats.org/drawingml/2006/main">
              <a:ext uri="{FF2B5EF4-FFF2-40B4-BE49-F238E27FC236}">
                <a16:creationId xmlns:a16="http://schemas.microsoft.com/office/drawing/2014/main" id="{E2B877A9-95F5-489B-A237-1E5E0DEB7E82}"/>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E9BE332A-93CA-4D4E-ACCD-F919F232B2F3}"/>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Sync on a fixed schedule.</a:t>
            </a:r>
          </a:p>
        </p:txBody>
      </p:sp>
    </p:spTree>
    <p:extLst>
      <p:ext uri="{BB962C8B-B14F-4D97-AF65-F5344CB8AC3E}">
        <p14:creationId xmlns:p14="http://schemas.microsoft.com/office/powerpoint/2010/main" val="3281354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73EFF625-853C-495F-9F33-210F82F4998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target: terminal masks matter</a:t>
            </a:r>
          </a:p>
        </p:txBody>
      </p:sp>
      <p:sp>
        <p:nvSpPr>
          <p:cNvPr id="2" name="title-accent-8">
            <a:extLst xmlns:a="http://schemas.openxmlformats.org/drawingml/2006/main">
              <a:ext uri="{FF2B5EF4-FFF2-40B4-BE49-F238E27FC236}">
                <a16:creationId xmlns:a16="http://schemas.microsoft.com/office/drawing/2014/main" id="{1C4E66FE-282F-4A2F-BFA2-E18BFE726B3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31C1FF70-775A-44E1-9A22-D9F99B4BE0F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8">
            <a:extLst xmlns:a="http://schemas.openxmlformats.org/drawingml/2006/main">
              <a:ext uri="{FF2B5EF4-FFF2-40B4-BE49-F238E27FC236}">
                <a16:creationId xmlns:a16="http://schemas.microsoft.com/office/drawing/2014/main" id="{6931E19E-0460-43B2-AB65-F8DB9519EDB6}"/>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24EDDEB4-B318-4227-AA79-94A8866540D0}"/>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51A22366-F0B2-475F-B345-5653929936FF}"/>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 batch item has reward 2, gamma 0.9, target-network next values [1,4,3], and done=0.</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C7FF2B97-72F5-45D8-921B-BFAEBDC27261}"/>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74140FA3-7BEF-4D6D-B6D9-41AD19686411}"/>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maximum next value is 4.</a:t>
            </a:r>
          </a:p>
        </p:txBody>
      </p:sp>
      <p:sp>
        <p:nvSpPr>
          <p:cNvPr id="11" name="example-step-8-marker-2">
            <a:extLst xmlns:a="http://schemas.openxmlformats.org/drawingml/2006/main">
              <a:ext uri="{FF2B5EF4-FFF2-40B4-BE49-F238E27FC236}">
                <a16:creationId xmlns:a16="http://schemas.microsoft.com/office/drawing/2014/main" id="{218B69EA-5084-45BF-82DE-BDCE4B86624A}"/>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8E4B1EC3-E60D-4576-BB8D-A0A16C7C8AC2}"/>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bootstrap contribution is 0.9(4)=3.6.</a:t>
            </a:r>
          </a:p>
        </p:txBody>
      </p:sp>
      <p:sp>
        <p:nvSpPr>
          <p:cNvPr id="13" name="example-step-8-marker-3">
            <a:extLst xmlns:a="http://schemas.openxmlformats.org/drawingml/2006/main">
              <a:ext uri="{FF2B5EF4-FFF2-40B4-BE49-F238E27FC236}">
                <a16:creationId xmlns:a16="http://schemas.microsoft.com/office/drawing/2014/main" id="{52BF63E6-C7F8-4F0E-A6AA-348B680DF1F3}"/>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936F00A4-E210-4C90-8635-C2070AABF577}"/>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target is 5.6.</a:t>
            </a:r>
          </a:p>
        </p:txBody>
      </p:sp>
      <p:sp>
        <p:nvSpPr>
          <p:cNvPr id="15" name="example-step-8-marker-4">
            <a:extLst xmlns:a="http://schemas.openxmlformats.org/drawingml/2006/main">
              <a:ext uri="{FF2B5EF4-FFF2-40B4-BE49-F238E27FC236}">
                <a16:creationId xmlns:a16="http://schemas.microsoft.com/office/drawing/2014/main" id="{CEB2B169-2ADE-4D70-A5E7-AD9156E20FF4}"/>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278DD5E9-AB0D-48E7-BAF3-83F91AEED18E}"/>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If done becomes 1, the multiplicative mask removes 3.6.</a:t>
            </a:r>
          </a:p>
        </p:txBody>
      </p:sp>
      <p:sp>
        <p:nvSpPr>
          <p:cNvPr id="17" name="example-result-panel-8">
            <a:extLst xmlns:a="http://schemas.openxmlformats.org/drawingml/2006/main">
              <a:ext uri="{FF2B5EF4-FFF2-40B4-BE49-F238E27FC236}">
                <a16:creationId xmlns:a16="http://schemas.microsoft.com/office/drawing/2014/main" id="{7E96E410-A2B0-4717-95C9-9DCF68D57F27}"/>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6B739CCC-E73C-4E43-88AF-ADB9DE3E9515}"/>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The nonterminal target is 5.6; the terminal target is exactly 2.</a:t>
            </a:r>
          </a:p>
        </p:txBody>
      </p:sp>
    </p:spTree>
    <p:extLst>
      <p:ext uri="{BB962C8B-B14F-4D97-AF65-F5344CB8AC3E}">
        <p14:creationId xmlns:p14="http://schemas.microsoft.com/office/powerpoint/2010/main" val="12846886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7C857AF7-509E-472F-93D3-03456D77A43A}"/>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Three training regimes expose the design</a:t>
            </a:r>
          </a:p>
        </p:txBody>
      </p:sp>
      <p:sp>
        <p:nvSpPr>
          <p:cNvPr id="2" name="title-accent-9">
            <a:extLst xmlns:a="http://schemas.openxmlformats.org/drawingml/2006/main">
              <a:ext uri="{FF2B5EF4-FFF2-40B4-BE49-F238E27FC236}">
                <a16:creationId xmlns:a16="http://schemas.microsoft.com/office/drawing/2014/main" id="{167BB541-513E-4F96-8137-5E34C7C87D4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9087EB77-DB24-47E3-825C-EA7F8EF21E2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9">
            <a:extLst xmlns:a="http://schemas.openxmlformats.org/drawingml/2006/main">
              <a:ext uri="{FF2B5EF4-FFF2-40B4-BE49-F238E27FC236}">
                <a16:creationId xmlns:a16="http://schemas.microsoft.com/office/drawing/2014/main" id="{452882FC-D80F-41B3-8DF0-43FA88A14101}"/>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04021868-5C39-4695-9E6B-55D6E6EB8EB9}"/>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Naive online</a:t>
            </a:r>
          </a:p>
        </p:txBody>
      </p:sp>
      <p:sp>
        <p:nvSpPr>
          <p:cNvPr id="7" name="comparison-tagline-9-1">
            <a:extLst xmlns:a="http://schemas.openxmlformats.org/drawingml/2006/main">
              <a:ext uri="{FF2B5EF4-FFF2-40B4-BE49-F238E27FC236}">
                <a16:creationId xmlns:a16="http://schemas.microsoft.com/office/drawing/2014/main" id="{59A792B1-F692-46C9-9A84-33CF9917C868}"/>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Newest sample</a:t>
            </a:r>
          </a:p>
        </p:txBody>
      </p:sp>
      <p:sp>
        <p:nvSpPr>
          <p:cNvPr id="8" name="comparison-bullet-9-1-marker-1">
            <a:extLst xmlns:a="http://schemas.openxmlformats.org/drawingml/2006/main">
              <a:ext uri="{FF2B5EF4-FFF2-40B4-BE49-F238E27FC236}">
                <a16:creationId xmlns:a16="http://schemas.microsoft.com/office/drawing/2014/main" id="{DCB15429-CB36-4C58-A76B-83C802C2B159}"/>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320BF5D9-AF12-40F0-9D73-A0F52FAC2D04}"/>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Strong correlation.</a:t>
            </a:r>
          </a:p>
        </p:txBody>
      </p:sp>
      <p:sp>
        <p:nvSpPr>
          <p:cNvPr id="10" name="comparison-bullet-9-1-marker-2">
            <a:extLst xmlns:a="http://schemas.openxmlformats.org/drawingml/2006/main">
              <a:ext uri="{FF2B5EF4-FFF2-40B4-BE49-F238E27FC236}">
                <a16:creationId xmlns:a16="http://schemas.microsoft.com/office/drawing/2014/main" id="{FF5F2904-E0C2-4323-A4E4-B5E62B60087A}"/>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6DC2983B-1240-4C8F-8987-89503F7B7E16}"/>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 data reuse.</a:t>
            </a:r>
          </a:p>
        </p:txBody>
      </p:sp>
      <p:sp>
        <p:nvSpPr>
          <p:cNvPr id="12" name="comparison-bullet-9-1-marker-3">
            <a:extLst xmlns:a="http://schemas.openxmlformats.org/drawingml/2006/main">
              <a:ext uri="{FF2B5EF4-FFF2-40B4-BE49-F238E27FC236}">
                <a16:creationId xmlns:a16="http://schemas.microsoft.com/office/drawing/2014/main" id="{607C3427-1224-4E57-BC05-C94CE1303664}"/>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5C98D9C8-E2C3-4744-BAA6-D3FC21929EDC}"/>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Same moving network.</a:t>
            </a:r>
          </a:p>
        </p:txBody>
      </p:sp>
      <p:sp>
        <p:nvSpPr>
          <p:cNvPr id="14" name="comparison-bullet-9-1-marker-4">
            <a:extLst xmlns:a="http://schemas.openxmlformats.org/drawingml/2006/main">
              <a:ext uri="{FF2B5EF4-FFF2-40B4-BE49-F238E27FC236}">
                <a16:creationId xmlns:a16="http://schemas.microsoft.com/office/drawing/2014/main" id="{0F97C9D6-A842-49D3-9DF5-25F1A298F6BC}"/>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46EF75C4-D049-4674-89F8-6ED79ED97203}"/>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Often oscillatory.</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E91C5048-4D18-4137-BAD8-36C2C60EECCD}"/>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Replay only</a:t>
            </a:r>
          </a:p>
        </p:txBody>
      </p:sp>
      <p:sp>
        <p:nvSpPr>
          <p:cNvPr id="18" name="comparison-tagline-9-2">
            <a:extLst xmlns:a="http://schemas.openxmlformats.org/drawingml/2006/main">
              <a:ext uri="{FF2B5EF4-FFF2-40B4-BE49-F238E27FC236}">
                <a16:creationId xmlns:a16="http://schemas.microsoft.com/office/drawing/2014/main" id="{EFD300B8-A883-467E-BEF1-01F5EABAFC48}"/>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Random batches</a:t>
            </a:r>
          </a:p>
        </p:txBody>
      </p:sp>
      <p:sp>
        <p:nvSpPr>
          <p:cNvPr id="19" name="comparison-bullet-9-2-marker-1">
            <a:extLst xmlns:a="http://schemas.openxmlformats.org/drawingml/2006/main">
              <a:ext uri="{FF2B5EF4-FFF2-40B4-BE49-F238E27FC236}">
                <a16:creationId xmlns:a16="http://schemas.microsoft.com/office/drawing/2014/main" id="{B81B1552-4A2C-418E-B936-0A05E2E615A8}"/>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E81B2941-482D-402E-B2C5-B0138CD0BD2D}"/>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Better sample mixture.</a:t>
            </a:r>
          </a:p>
        </p:txBody>
      </p:sp>
      <p:sp>
        <p:nvSpPr>
          <p:cNvPr id="21" name="comparison-bullet-9-2-marker-2">
            <a:extLst xmlns:a="http://schemas.openxmlformats.org/drawingml/2006/main">
              <a:ext uri="{FF2B5EF4-FFF2-40B4-BE49-F238E27FC236}">
                <a16:creationId xmlns:a16="http://schemas.microsoft.com/office/drawing/2014/main" id="{E0666F00-94BF-4597-8962-48906FF5FF09}"/>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0467840C-88F8-4A94-B04E-88EA35D6F34D}"/>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Reuses experience.</a:t>
            </a:r>
          </a:p>
        </p:txBody>
      </p:sp>
      <p:sp>
        <p:nvSpPr>
          <p:cNvPr id="23" name="comparison-bullet-9-2-marker-3">
            <a:extLst xmlns:a="http://schemas.openxmlformats.org/drawingml/2006/main">
              <a:ext uri="{FF2B5EF4-FFF2-40B4-BE49-F238E27FC236}">
                <a16:creationId xmlns:a16="http://schemas.microsoft.com/office/drawing/2014/main" id="{750E7D59-61AB-4811-B3B5-E3E440515102}"/>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F5DEF84D-5B46-4D02-A699-387A48004F05}"/>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Target still moves fast.</a:t>
            </a:r>
          </a:p>
        </p:txBody>
      </p:sp>
      <p:sp>
        <p:nvSpPr>
          <p:cNvPr id="25" name="comparison-bullet-9-2-marker-4">
            <a:extLst xmlns:a="http://schemas.openxmlformats.org/drawingml/2006/main">
              <a:ext uri="{FF2B5EF4-FFF2-40B4-BE49-F238E27FC236}">
                <a16:creationId xmlns:a16="http://schemas.microsoft.com/office/drawing/2014/main" id="{930C789C-E98E-48FF-AB4A-FAF137E171CF}"/>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66E7FDAF-27C5-48CC-9242-9861AD316598}"/>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Needs buffer policy.</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23DE11EF-E80A-4C35-9AEC-879CA9FD3F83}"/>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Full DQN</a:t>
            </a:r>
          </a:p>
        </p:txBody>
      </p:sp>
      <p:sp>
        <p:nvSpPr>
          <p:cNvPr id="29" name="comparison-tagline-9-3">
            <a:extLst xmlns:a="http://schemas.openxmlformats.org/drawingml/2006/main">
              <a:ext uri="{FF2B5EF4-FFF2-40B4-BE49-F238E27FC236}">
                <a16:creationId xmlns:a16="http://schemas.microsoft.com/office/drawing/2014/main" id="{6531F6B6-07DE-45D7-A182-26B9624173DC}"/>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Replay plus target</a:t>
            </a:r>
          </a:p>
        </p:txBody>
      </p:sp>
      <p:sp>
        <p:nvSpPr>
          <p:cNvPr id="30" name="comparison-bullet-9-3-marker-1">
            <a:extLst xmlns:a="http://schemas.openxmlformats.org/drawingml/2006/main">
              <a:ext uri="{FF2B5EF4-FFF2-40B4-BE49-F238E27FC236}">
                <a16:creationId xmlns:a16="http://schemas.microsoft.com/office/drawing/2014/main" id="{E7CEB50A-B41B-4BF3-8BA4-C60EF5094E76}"/>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0B2435CF-1FCC-4111-BBB3-2FA6C5F68BE9}"/>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Decorrelated batches.</a:t>
            </a:r>
          </a:p>
        </p:txBody>
      </p:sp>
      <p:sp>
        <p:nvSpPr>
          <p:cNvPr id="32" name="comparison-bullet-9-3-marker-2">
            <a:extLst xmlns:a="http://schemas.openxmlformats.org/drawingml/2006/main">
              <a:ext uri="{FF2B5EF4-FFF2-40B4-BE49-F238E27FC236}">
                <a16:creationId xmlns:a16="http://schemas.microsoft.com/office/drawing/2014/main" id="{2AB212FD-38E6-4544-93F4-66A35022E491}"/>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047267DD-81E6-4480-9D89-2CA31A1ADDF2}"/>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Short-window targets.</a:t>
            </a:r>
          </a:p>
        </p:txBody>
      </p:sp>
      <p:sp>
        <p:nvSpPr>
          <p:cNvPr id="34" name="comparison-bullet-9-3-marker-3">
            <a:extLst xmlns:a="http://schemas.openxmlformats.org/drawingml/2006/main">
              <a:ext uri="{FF2B5EF4-FFF2-40B4-BE49-F238E27FC236}">
                <a16:creationId xmlns:a16="http://schemas.microsoft.com/office/drawing/2014/main" id="{81E79705-07AF-490A-9909-FFC7E80C2C38}"/>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E7940C76-1F95-45C6-B10B-5AC205E4EFA1}"/>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More state to manage.</a:t>
            </a:r>
          </a:p>
        </p:txBody>
      </p:sp>
      <p:sp>
        <p:nvSpPr>
          <p:cNvPr id="36" name="comparison-bullet-9-3-marker-4">
            <a:extLst xmlns:a="http://schemas.openxmlformats.org/drawingml/2006/main">
              <a:ext uri="{FF2B5EF4-FFF2-40B4-BE49-F238E27FC236}">
                <a16:creationId xmlns:a16="http://schemas.microsoft.com/office/drawing/2014/main" id="{A873CB0E-F2C2-4226-9B87-013976DBDA3F}"/>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F21DD2D7-CA79-43D5-AB01-C3C0041935AA}"/>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Still no guarantee.</a:t>
            </a:r>
          </a:p>
        </p:txBody>
      </p:sp>
    </p:spTree>
    <p:extLst>
      <p:ext uri="{BB962C8B-B14F-4D97-AF65-F5344CB8AC3E}">
        <p14:creationId xmlns:p14="http://schemas.microsoft.com/office/powerpoint/2010/main" val="9441563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233EE269-4DF8-43AE-83FC-5B6CAEC6B2F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find the forbidden gradient</a:t>
            </a:r>
          </a:p>
        </p:txBody>
      </p:sp>
      <p:sp>
        <p:nvSpPr>
          <p:cNvPr id="2" name="title-accent-10">
            <a:extLst xmlns:a="http://schemas.openxmlformats.org/drawingml/2006/main">
              <a:ext uri="{FF2B5EF4-FFF2-40B4-BE49-F238E27FC236}">
                <a16:creationId xmlns:a16="http://schemas.microsoft.com/office/drawing/2014/main" id="{AF1068B6-1658-49F7-91E4-A2F9B1F44BD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B7D373AF-B399-4387-B055-103C8873B8A9}"/>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0">
            <a:extLst xmlns:a="http://schemas.openxmlformats.org/drawingml/2006/main">
              <a:ext uri="{FF2B5EF4-FFF2-40B4-BE49-F238E27FC236}">
                <a16:creationId xmlns:a16="http://schemas.microsoft.com/office/drawing/2014/main" id="{28475FFE-D6DE-4800-8106-86251CBF466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52034851-ACEE-4B00-897E-BC9DACC5EFCA}"/>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7640E8A5-4EDF-4FFB-A4CC-695B3025BF28}"/>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student computes y with the online network and allows automatic differentiation through y. What is wrong?</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95B6021A-5849-43CB-8F59-01EAA314C40F}"/>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99783B3A-29C0-4D72-9FBB-344920FB17E0}"/>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Identify both target defects.</a:t>
            </a:r>
          </a:p>
        </p:txBody>
      </p:sp>
      <p:sp>
        <p:nvSpPr>
          <p:cNvPr id="11" name="checkpoint-prompt-number-10-2">
            <a:extLst xmlns:a="http://schemas.openxmlformats.org/drawingml/2006/main">
              <a:ext uri="{FF2B5EF4-FFF2-40B4-BE49-F238E27FC236}">
                <a16:creationId xmlns:a16="http://schemas.microsoft.com/office/drawing/2014/main" id="{7AE3C32F-7560-4CBA-89CF-FFC2E276D910}"/>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C4B2B956-3C15-47A6-A003-98BC58287A4D}"/>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the parameter set that should update.</a:t>
            </a:r>
          </a:p>
        </p:txBody>
      </p:sp>
      <p:sp>
        <p:nvSpPr>
          <p:cNvPr id="13" name="checkpoint-prompt-number-10-3">
            <a:extLst xmlns:a="http://schemas.openxmlformats.org/drawingml/2006/main">
              <a:ext uri="{FF2B5EF4-FFF2-40B4-BE49-F238E27FC236}">
                <a16:creationId xmlns:a16="http://schemas.microsoft.com/office/drawing/2014/main" id="{D1FB8CE8-5064-43D3-A97B-006CB8977B88}"/>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239B81A7-A0E1-405C-BA07-1F0BD92EA2BD}"/>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Describe the required stop-gradient.</a:t>
            </a:r>
          </a:p>
        </p:txBody>
      </p:sp>
    </p:spTree>
    <p:extLst>
      <p:ext uri="{BB962C8B-B14F-4D97-AF65-F5344CB8AC3E}">
        <p14:creationId xmlns:p14="http://schemas.microsoft.com/office/powerpoint/2010/main" val="12613953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CA6E9312-4AFA-4B74-A22E-16F391BAF77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Replay changes the training distribution</a:t>
            </a:r>
          </a:p>
        </p:txBody>
      </p:sp>
      <p:sp>
        <p:nvSpPr>
          <p:cNvPr id="2" name="title-accent-11">
            <a:extLst xmlns:a="http://schemas.openxmlformats.org/drawingml/2006/main">
              <a:ext uri="{FF2B5EF4-FFF2-40B4-BE49-F238E27FC236}">
                <a16:creationId xmlns:a16="http://schemas.microsoft.com/office/drawing/2014/main" id="{2246AA3A-BA7E-495D-B2CD-841069DA203C}"/>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13BBD7FF-F88D-4C44-99B6-F3BC9611D68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1">
            <a:extLst xmlns:a="http://schemas.openxmlformats.org/drawingml/2006/main">
              <a:ext uri="{FF2B5EF4-FFF2-40B4-BE49-F238E27FC236}">
                <a16:creationId xmlns:a16="http://schemas.microsoft.com/office/drawing/2014/main" id="{5E1675B5-6C69-4766-AAD9-A497AC7B6EDB}"/>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57BCFDE2-362B-4D7B-89A5-6B0C738E19A9}"/>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Sequential stream</a:t>
            </a:r>
          </a:p>
        </p:txBody>
      </p:sp>
      <p:sp>
        <p:nvSpPr>
          <p:cNvPr id="8" name="right-title-11">
            <a:extLst xmlns:a="http://schemas.openxmlformats.org/drawingml/2006/main">
              <a:ext uri="{FF2B5EF4-FFF2-40B4-BE49-F238E27FC236}">
                <a16:creationId xmlns:a16="http://schemas.microsoft.com/office/drawing/2014/main" id="{9E1B206F-4731-4673-B199-06FE6D665491}"/>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Random mini-batch</a:t>
            </a:r>
          </a:p>
        </p:txBody>
      </p:sp>
      <p:sp>
        <p:nvSpPr>
          <p:cNvPr id="9" name="left-bullet-11-marker-1">
            <a:extLst xmlns:a="http://schemas.openxmlformats.org/drawingml/2006/main">
              <a:ext uri="{FF2B5EF4-FFF2-40B4-BE49-F238E27FC236}">
                <a16:creationId xmlns:a16="http://schemas.microsoft.com/office/drawing/2014/main" id="{B87B1B8E-52C6-4725-9DC2-C23376E2519E}"/>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07F4ABB6-1CE3-4E81-B45B-6694DC41875B}"/>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Adjacent states are similar.</a:t>
            </a:r>
          </a:p>
        </p:txBody>
      </p:sp>
      <p:sp>
        <p:nvSpPr>
          <p:cNvPr id="11" name="left-bullet-11-marker-2">
            <a:extLst xmlns:a="http://schemas.openxmlformats.org/drawingml/2006/main">
              <a:ext uri="{FF2B5EF4-FFF2-40B4-BE49-F238E27FC236}">
                <a16:creationId xmlns:a16="http://schemas.microsoft.com/office/drawing/2014/main" id="{7AE8F7BE-B115-48D3-9E1B-AC5928FEE0B4}"/>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B89341D7-C460-491A-81D0-648ED9FA3FEE}"/>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Recent policy dominates.</a:t>
            </a:r>
          </a:p>
        </p:txBody>
      </p:sp>
      <p:sp>
        <p:nvSpPr>
          <p:cNvPr id="13" name="left-bullet-11-marker-3">
            <a:extLst xmlns:a="http://schemas.openxmlformats.org/drawingml/2006/main">
              <a:ext uri="{FF2B5EF4-FFF2-40B4-BE49-F238E27FC236}">
                <a16:creationId xmlns:a16="http://schemas.microsoft.com/office/drawing/2014/main" id="{87FE7BF4-6A67-49CA-88C9-88B3C0EF7FE7}"/>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B702254D-53BE-4DF9-969B-055216AEC753}"/>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One transition used once.</a:t>
            </a:r>
          </a:p>
        </p:txBody>
      </p:sp>
      <p:sp>
        <p:nvSpPr>
          <p:cNvPr id="15" name="left-bullet-11-marker-4">
            <a:extLst xmlns:a="http://schemas.openxmlformats.org/drawingml/2006/main">
              <a:ext uri="{FF2B5EF4-FFF2-40B4-BE49-F238E27FC236}">
                <a16:creationId xmlns:a16="http://schemas.microsoft.com/office/drawing/2014/main" id="{F2F232AF-2F1B-4AD0-8064-A6126DCF3CBC}"/>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FD99D97A-36B5-41F5-A54E-D030CF6F90A3}"/>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Ordering can bias gradients.</a:t>
            </a:r>
          </a:p>
        </p:txBody>
      </p:sp>
      <p:sp>
        <p:nvSpPr>
          <p:cNvPr id="17" name="right-bullet-11-marker-1">
            <a:extLst xmlns:a="http://schemas.openxmlformats.org/drawingml/2006/main">
              <a:ext uri="{FF2B5EF4-FFF2-40B4-BE49-F238E27FC236}">
                <a16:creationId xmlns:a16="http://schemas.microsoft.com/office/drawing/2014/main" id="{B1F629E3-E25B-499C-B271-A3B7B601EE6F}"/>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2A7F5635-14C2-4C64-99BD-755FA9E7CF2E}"/>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Samples mix times and episodes.</a:t>
            </a:r>
          </a:p>
        </p:txBody>
      </p:sp>
      <p:sp>
        <p:nvSpPr>
          <p:cNvPr id="19" name="right-bullet-11-marker-2">
            <a:extLst xmlns:a="http://schemas.openxmlformats.org/drawingml/2006/main">
              <a:ext uri="{FF2B5EF4-FFF2-40B4-BE49-F238E27FC236}">
                <a16:creationId xmlns:a16="http://schemas.microsoft.com/office/drawing/2014/main" id="{C67A821C-7772-448D-B054-5860CE22DE07}"/>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8239217C-52BA-4201-BC68-7ED417EEECDC}"/>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Older policies remain represented.</a:t>
            </a:r>
          </a:p>
        </p:txBody>
      </p:sp>
      <p:sp>
        <p:nvSpPr>
          <p:cNvPr id="21" name="right-bullet-11-marker-3">
            <a:extLst xmlns:a="http://schemas.openxmlformats.org/drawingml/2006/main">
              <a:ext uri="{FF2B5EF4-FFF2-40B4-BE49-F238E27FC236}">
                <a16:creationId xmlns:a16="http://schemas.microsoft.com/office/drawing/2014/main" id="{68328370-4097-43FB-8C01-10DDEE67256D}"/>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C4C46972-2566-4DC8-9E11-5C854B6E8717}"/>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Transitions are reused.</a:t>
            </a:r>
          </a:p>
        </p:txBody>
      </p:sp>
      <p:sp>
        <p:nvSpPr>
          <p:cNvPr id="23" name="right-bullet-11-marker-4">
            <a:extLst xmlns:a="http://schemas.openxmlformats.org/drawingml/2006/main">
              <a:ext uri="{FF2B5EF4-FFF2-40B4-BE49-F238E27FC236}">
                <a16:creationId xmlns:a16="http://schemas.microsoft.com/office/drawing/2014/main" id="{876D8F55-BD96-4413-80D8-DB1C889A6353}"/>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D6C72BD4-4380-42E1-929C-9353E2D21501}"/>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Distribution still reflects buffer contents.</a:t>
            </a:r>
          </a:p>
        </p:txBody>
      </p:sp>
    </p:spTree>
    <p:extLst>
      <p:ext uri="{BB962C8B-B14F-4D97-AF65-F5344CB8AC3E}">
        <p14:creationId xmlns:p14="http://schemas.microsoft.com/office/powerpoint/2010/main" val="2361753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52807BAB-1C8C-41D5-8C7F-00B22E79F14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Hard and soft target updates</a:t>
            </a:r>
          </a:p>
        </p:txBody>
      </p:sp>
      <p:sp>
        <p:nvSpPr>
          <p:cNvPr id="2" name="title-accent-12">
            <a:extLst xmlns:a="http://schemas.openxmlformats.org/drawingml/2006/main">
              <a:ext uri="{FF2B5EF4-FFF2-40B4-BE49-F238E27FC236}">
                <a16:creationId xmlns:a16="http://schemas.microsoft.com/office/drawing/2014/main" id="{D89F8970-9CF6-408A-8D89-2E5ACE6520B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43D4B071-2EAC-4CAB-896D-1676F88BEE0C}"/>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2">
            <a:extLst xmlns:a="http://schemas.openxmlformats.org/drawingml/2006/main">
              <a:ext uri="{FF2B5EF4-FFF2-40B4-BE49-F238E27FC236}">
                <a16:creationId xmlns:a16="http://schemas.microsoft.com/office/drawing/2014/main" id="{6E4AD499-D57E-488D-8D26-11BF81F99F4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6CC4B51D-3718-4AC7-8D59-DC6F86AD2398}"/>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173C1606-F059-4658-BC72-425B7E2A2C24}"/>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hard: theta_minus &lt;- theta every C steps; soft: theta_minus &lt;- tau theta + (1-tau) theta_minus</a:t>
            </a:r>
          </a:p>
        </p:txBody>
      </p:sp>
      <p:sp>
        <p:nvSpPr>
          <p:cNvPr id="8" name="formula-definition-12-marker-1">
            <a:extLst xmlns:a="http://schemas.openxmlformats.org/drawingml/2006/main">
              <a:ext uri="{FF2B5EF4-FFF2-40B4-BE49-F238E27FC236}">
                <a16:creationId xmlns:a16="http://schemas.microsoft.com/office/drawing/2014/main" id="{A5F1EB19-9856-45EC-831A-CA817B0BB5E9}"/>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9D002672-343A-477E-99DE-1A7DADEF63E2}"/>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 is the hard-copy interval.</a:t>
            </a:r>
          </a:p>
        </p:txBody>
      </p:sp>
      <p:sp>
        <p:nvSpPr>
          <p:cNvPr id="10" name="formula-definition-12-marker-2">
            <a:extLst xmlns:a="http://schemas.openxmlformats.org/drawingml/2006/main">
              <a:ext uri="{FF2B5EF4-FFF2-40B4-BE49-F238E27FC236}">
                <a16:creationId xmlns:a16="http://schemas.microsoft.com/office/drawing/2014/main" id="{50AD6421-A821-45BD-B783-33BD9033BB53}"/>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81301EBF-EF9C-4E0E-95D5-63B9BFBC4438}"/>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tau is a small interpolation rate.</a:t>
            </a:r>
          </a:p>
        </p:txBody>
      </p:sp>
      <p:sp>
        <p:nvSpPr>
          <p:cNvPr id="12" name="formula-definition-12-marker-3">
            <a:extLst xmlns:a="http://schemas.openxmlformats.org/drawingml/2006/main">
              <a:ext uri="{FF2B5EF4-FFF2-40B4-BE49-F238E27FC236}">
                <a16:creationId xmlns:a16="http://schemas.microsoft.com/office/drawing/2014/main" id="{74601080-8577-4891-A124-7CEE1DA85DBE}"/>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A30C9C27-CED8-4013-94C3-DCBB45E9FD10}"/>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Hard updates create piecewise-constant targets.</a:t>
            </a:r>
          </a:p>
        </p:txBody>
      </p:sp>
      <p:sp>
        <p:nvSpPr>
          <p:cNvPr id="14" name="formula-definition-12-marker-4">
            <a:extLst xmlns:a="http://schemas.openxmlformats.org/drawingml/2006/main">
              <a:ext uri="{FF2B5EF4-FFF2-40B4-BE49-F238E27FC236}">
                <a16:creationId xmlns:a16="http://schemas.microsoft.com/office/drawing/2014/main" id="{984FAE13-0B8B-4293-A72D-0E26A153B5B9}"/>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DDDF327A-323B-448C-AF8A-9C0D97EFCFBE}"/>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Soft updates move every step but more slowly.</a:t>
            </a:r>
          </a:p>
        </p:txBody>
      </p:sp>
      <p:sp>
        <p:nvSpPr>
          <p:cNvPr id="16" name="formula-implication-panel-12">
            <a:extLst xmlns:a="http://schemas.openxmlformats.org/drawingml/2006/main">
              <a:ext uri="{FF2B5EF4-FFF2-40B4-BE49-F238E27FC236}">
                <a16:creationId xmlns:a16="http://schemas.microsoft.com/office/drawing/2014/main" id="{13929FA4-E5BF-4361-88CB-1DBFF5104492}"/>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6FB064FA-ECAC-47E3-844E-721BB2B985AB}"/>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D0BB57C9-0A89-4224-A11A-67150472DF4A}"/>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The synchronization rule is a hyperparameter and must be logged with results.</a:t>
            </a:r>
          </a:p>
        </p:txBody>
      </p:sp>
    </p:spTree>
    <p:extLst>
      <p:ext uri="{BB962C8B-B14F-4D97-AF65-F5344CB8AC3E}">
        <p14:creationId xmlns:p14="http://schemas.microsoft.com/office/powerpoint/2010/main" val="11206428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0B755218-7E81-4FBA-AACA-A7D254DD783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Replay sampling breaks a correlated run</a:t>
            </a:r>
          </a:p>
        </p:txBody>
      </p:sp>
      <p:sp>
        <p:nvSpPr>
          <p:cNvPr id="2" name="title-accent-13">
            <a:extLst xmlns:a="http://schemas.openxmlformats.org/drawingml/2006/main">
              <a:ext uri="{FF2B5EF4-FFF2-40B4-BE49-F238E27FC236}">
                <a16:creationId xmlns:a16="http://schemas.microsoft.com/office/drawing/2014/main" id="{55627FDA-3475-4F46-AA2A-F42AC38A976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A96488D1-D485-44FD-AC81-555AFDB081D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3">
            <a:extLst xmlns:a="http://schemas.openxmlformats.org/drawingml/2006/main">
              <a:ext uri="{FF2B5EF4-FFF2-40B4-BE49-F238E27FC236}">
                <a16:creationId xmlns:a16="http://schemas.microsoft.com/office/drawing/2014/main" id="{B19AAAE2-8067-4B54-AAFB-CA58003E1E1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9222B8DF-F6C5-4D1D-AEA6-4D50D4609354}"/>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8A218166-DDC0-40BC-B40B-E68F681EE077}"/>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The last eight transitions all come from the same corridor, while a 10,000-item buffer spans many states.</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E0BDCF49-7954-4D3E-AA28-546150BA82F8}"/>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FE7A81EE-9189-4B8B-9DED-9A5A95D6284F}"/>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Online-only training sees eight nearly identical inputs.</a:t>
            </a:r>
          </a:p>
        </p:txBody>
      </p:sp>
      <p:sp>
        <p:nvSpPr>
          <p:cNvPr id="11" name="example-step-13-marker-2">
            <a:extLst xmlns:a="http://schemas.openxmlformats.org/drawingml/2006/main">
              <a:ext uri="{FF2B5EF4-FFF2-40B4-BE49-F238E27FC236}">
                <a16:creationId xmlns:a16="http://schemas.microsoft.com/office/drawing/2014/main" id="{7BF6AC88-C408-4F18-A543-A6F688FB2DB0}"/>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65B5893B-3201-4E0B-87A5-E5088D1BDC30}"/>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uniform batch draws across older episodes.</a:t>
            </a:r>
          </a:p>
        </p:txBody>
      </p:sp>
      <p:sp>
        <p:nvSpPr>
          <p:cNvPr id="13" name="example-step-13-marker-3">
            <a:extLst xmlns:a="http://schemas.openxmlformats.org/drawingml/2006/main">
              <a:ext uri="{FF2B5EF4-FFF2-40B4-BE49-F238E27FC236}">
                <a16:creationId xmlns:a16="http://schemas.microsoft.com/office/drawing/2014/main" id="{002D18DB-EFE3-4F34-BB14-F779DC8969E1}"/>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9548D359-702E-44D2-845B-BC95D7260263}"/>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Gradient directions reflect several regions.</a:t>
            </a:r>
          </a:p>
        </p:txBody>
      </p:sp>
      <p:sp>
        <p:nvSpPr>
          <p:cNvPr id="15" name="example-step-13-marker-4">
            <a:extLst xmlns:a="http://schemas.openxmlformats.org/drawingml/2006/main">
              <a:ext uri="{FF2B5EF4-FFF2-40B4-BE49-F238E27FC236}">
                <a16:creationId xmlns:a16="http://schemas.microsoft.com/office/drawing/2014/main" id="{9C90DA3A-AB4A-4D32-87F8-DFF88A22D43D}"/>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1C5E5FD4-824B-4678-B322-FF88EF0C9A40}"/>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Repeated data use improves sample efficiency.</a:t>
            </a:r>
          </a:p>
        </p:txBody>
      </p:sp>
      <p:sp>
        <p:nvSpPr>
          <p:cNvPr id="17" name="example-result-panel-13">
            <a:extLst xmlns:a="http://schemas.openxmlformats.org/drawingml/2006/main">
              <a:ext uri="{FF2B5EF4-FFF2-40B4-BE49-F238E27FC236}">
                <a16:creationId xmlns:a16="http://schemas.microsoft.com/office/drawing/2014/main" id="{5E7864A6-388E-46CB-8051-B206BC2C1BCE}"/>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A9989764-C3FE-46D9-A2E6-97A205FDFCBF}"/>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Replay reduces immediate correlation but cannot repair a buffer that never contains rare successful transitions.</a:t>
            </a:r>
          </a:p>
        </p:txBody>
      </p:sp>
    </p:spTree>
    <p:extLst>
      <p:ext uri="{BB962C8B-B14F-4D97-AF65-F5344CB8AC3E}">
        <p14:creationId xmlns:p14="http://schemas.microsoft.com/office/powerpoint/2010/main" val="8601505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F3019844-837C-4F89-923E-6F1D9CC64AA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Buffer choices create different evidence</a:t>
            </a:r>
          </a:p>
        </p:txBody>
      </p:sp>
      <p:sp>
        <p:nvSpPr>
          <p:cNvPr id="2" name="title-accent-14">
            <a:extLst xmlns:a="http://schemas.openxmlformats.org/drawingml/2006/main">
              <a:ext uri="{FF2B5EF4-FFF2-40B4-BE49-F238E27FC236}">
                <a16:creationId xmlns:a16="http://schemas.microsoft.com/office/drawing/2014/main" id="{AC75DF88-1C23-4A0E-8BFD-299C7004F0B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DA138FA2-537E-4A48-9926-59051F772D8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4">
            <a:extLst xmlns:a="http://schemas.openxmlformats.org/drawingml/2006/main">
              <a:ext uri="{FF2B5EF4-FFF2-40B4-BE49-F238E27FC236}">
                <a16:creationId xmlns:a16="http://schemas.microsoft.com/office/drawing/2014/main" id="{42F4C041-F24E-4322-BDC9-1FE0F4D2172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1D2BE4C3-4DFD-4A8C-AE2C-CAB473ADDD4B}"/>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Capacity</a:t>
            </a:r>
          </a:p>
        </p:txBody>
      </p:sp>
      <p:sp>
        <p:nvSpPr>
          <p:cNvPr id="7" name="comparison-tagline-14-1">
            <a:extLst xmlns:a="http://schemas.openxmlformats.org/drawingml/2006/main">
              <a:ext uri="{FF2B5EF4-FFF2-40B4-BE49-F238E27FC236}">
                <a16:creationId xmlns:a16="http://schemas.microsoft.com/office/drawing/2014/main" id="{E677447C-E448-4515-852C-0AD3AE333C61}"/>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How much history?</a:t>
            </a:r>
          </a:p>
        </p:txBody>
      </p:sp>
      <p:sp>
        <p:nvSpPr>
          <p:cNvPr id="8" name="comparison-bullet-14-1-marker-1">
            <a:extLst xmlns:a="http://schemas.openxmlformats.org/drawingml/2006/main">
              <a:ext uri="{FF2B5EF4-FFF2-40B4-BE49-F238E27FC236}">
                <a16:creationId xmlns:a16="http://schemas.microsoft.com/office/drawing/2014/main" id="{B89711D3-EB34-4F8E-BC20-68EFDA5516C3}"/>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44133332-58B9-4CEB-877C-96E184BD7728}"/>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Small adapts quickly.</a:t>
            </a:r>
          </a:p>
        </p:txBody>
      </p:sp>
      <p:sp>
        <p:nvSpPr>
          <p:cNvPr id="10" name="comparison-bullet-14-1-marker-2">
            <a:extLst xmlns:a="http://schemas.openxmlformats.org/drawingml/2006/main">
              <a:ext uri="{FF2B5EF4-FFF2-40B4-BE49-F238E27FC236}">
                <a16:creationId xmlns:a16="http://schemas.microsoft.com/office/drawing/2014/main" id="{453A2870-BBD6-47E7-9BCD-1289A198527E}"/>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90845B20-CDDD-4439-87F6-166442AA8684}"/>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Large increases diversity.</a:t>
            </a:r>
          </a:p>
        </p:txBody>
      </p:sp>
      <p:sp>
        <p:nvSpPr>
          <p:cNvPr id="12" name="comparison-bullet-14-1-marker-3">
            <a:extLst xmlns:a="http://schemas.openxmlformats.org/drawingml/2006/main">
              <a:ext uri="{FF2B5EF4-FFF2-40B4-BE49-F238E27FC236}">
                <a16:creationId xmlns:a16="http://schemas.microsoft.com/office/drawing/2014/main" id="{0F3CEE6D-4B51-4B08-8B7F-9A9A48E90283}"/>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D42E10BB-B1BF-4928-9207-A772F137801F}"/>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Large can retain stale data.</a:t>
            </a:r>
          </a:p>
        </p:txBody>
      </p:sp>
      <p:sp>
        <p:nvSpPr>
          <p:cNvPr id="14" name="comparison-bullet-14-1-marker-4">
            <a:extLst xmlns:a="http://schemas.openxmlformats.org/drawingml/2006/main">
              <a:ext uri="{FF2B5EF4-FFF2-40B4-BE49-F238E27FC236}">
                <a16:creationId xmlns:a16="http://schemas.microsoft.com/office/drawing/2014/main" id="{CE0163F5-1CED-4086-8F87-7DF72FD9C006}"/>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FD7510C8-9432-42E4-AAF4-C81EED0865AB}"/>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Memory cost is explicit.</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F05A6824-9597-43F1-A67C-1C0221450A85}"/>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Sampling</a:t>
            </a:r>
          </a:p>
        </p:txBody>
      </p:sp>
      <p:sp>
        <p:nvSpPr>
          <p:cNvPr id="18" name="comparison-tagline-14-2">
            <a:extLst xmlns:a="http://schemas.openxmlformats.org/drawingml/2006/main">
              <a:ext uri="{FF2B5EF4-FFF2-40B4-BE49-F238E27FC236}">
                <a16:creationId xmlns:a16="http://schemas.microsoft.com/office/drawing/2014/main" id="{2928B878-A51F-4A91-92ED-516F376DA76D}"/>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Which transitions?</a:t>
            </a:r>
          </a:p>
        </p:txBody>
      </p:sp>
      <p:sp>
        <p:nvSpPr>
          <p:cNvPr id="19" name="comparison-bullet-14-2-marker-1">
            <a:extLst xmlns:a="http://schemas.openxmlformats.org/drawingml/2006/main">
              <a:ext uri="{FF2B5EF4-FFF2-40B4-BE49-F238E27FC236}">
                <a16:creationId xmlns:a16="http://schemas.microsoft.com/office/drawing/2014/main" id="{64528684-1ADF-4F17-A087-FAEFF8F3FD82}"/>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BF6F17C6-C9D5-4792-885F-B26CCAE33D45}"/>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Uniform is simple.</a:t>
            </a:r>
          </a:p>
        </p:txBody>
      </p:sp>
      <p:sp>
        <p:nvSpPr>
          <p:cNvPr id="21" name="comparison-bullet-14-2-marker-2">
            <a:extLst xmlns:a="http://schemas.openxmlformats.org/drawingml/2006/main">
              <a:ext uri="{FF2B5EF4-FFF2-40B4-BE49-F238E27FC236}">
                <a16:creationId xmlns:a16="http://schemas.microsoft.com/office/drawing/2014/main" id="{93AFC693-FFB0-4A9E-A68E-AADF1F94A791}"/>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86381F5E-8DC6-487F-BE99-A68362BFEB5C}"/>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Prioritized focuses error.</a:t>
            </a:r>
          </a:p>
        </p:txBody>
      </p:sp>
      <p:sp>
        <p:nvSpPr>
          <p:cNvPr id="23" name="comparison-bullet-14-2-marker-3">
            <a:extLst xmlns:a="http://schemas.openxmlformats.org/drawingml/2006/main">
              <a:ext uri="{FF2B5EF4-FFF2-40B4-BE49-F238E27FC236}">
                <a16:creationId xmlns:a16="http://schemas.microsoft.com/office/drawing/2014/main" id="{9221859D-66D5-4DFC-8B30-F7760912B915}"/>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3EB67852-1CDC-4938-8BF7-D24BCEBADF13}"/>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Weights may be needed.</a:t>
            </a:r>
          </a:p>
        </p:txBody>
      </p:sp>
      <p:sp>
        <p:nvSpPr>
          <p:cNvPr id="25" name="comparison-bullet-14-2-marker-4">
            <a:extLst xmlns:a="http://schemas.openxmlformats.org/drawingml/2006/main">
              <a:ext uri="{FF2B5EF4-FFF2-40B4-BE49-F238E27FC236}">
                <a16:creationId xmlns:a16="http://schemas.microsoft.com/office/drawing/2014/main" id="{A5C41720-73D6-42AA-A694-16CF00708F70}"/>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A0AAAA3A-43EF-4347-B59B-64F6E26D5E2B}"/>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Seed controls reproducibility.</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A65A4F5D-C0F8-4339-9205-0E5C1C31F6EE}"/>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Warm-up</a:t>
            </a:r>
          </a:p>
        </p:txBody>
      </p:sp>
      <p:sp>
        <p:nvSpPr>
          <p:cNvPr id="29" name="comparison-tagline-14-3">
            <a:extLst xmlns:a="http://schemas.openxmlformats.org/drawingml/2006/main">
              <a:ext uri="{FF2B5EF4-FFF2-40B4-BE49-F238E27FC236}">
                <a16:creationId xmlns:a16="http://schemas.microsoft.com/office/drawing/2014/main" id="{164D9E4E-AF7E-46AC-ACA9-EEEE092371DC}"/>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When train starts</a:t>
            </a:r>
          </a:p>
        </p:txBody>
      </p:sp>
      <p:sp>
        <p:nvSpPr>
          <p:cNvPr id="30" name="comparison-bullet-14-3-marker-1">
            <a:extLst xmlns:a="http://schemas.openxmlformats.org/drawingml/2006/main">
              <a:ext uri="{FF2B5EF4-FFF2-40B4-BE49-F238E27FC236}">
                <a16:creationId xmlns:a16="http://schemas.microsoft.com/office/drawing/2014/main" id="{16CFD628-EA1C-477B-9B41-2FCB4F5542B9}"/>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368D4DEA-D50D-460D-AE1A-4CD646FC0D87}"/>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Avoid tiny biased batches.</a:t>
            </a:r>
          </a:p>
        </p:txBody>
      </p:sp>
      <p:sp>
        <p:nvSpPr>
          <p:cNvPr id="32" name="comparison-bullet-14-3-marker-2">
            <a:extLst xmlns:a="http://schemas.openxmlformats.org/drawingml/2006/main">
              <a:ext uri="{FF2B5EF4-FFF2-40B4-BE49-F238E27FC236}">
                <a16:creationId xmlns:a16="http://schemas.microsoft.com/office/drawing/2014/main" id="{6D5F47B7-2F23-4C6B-9A0B-BC112816F846}"/>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A6AA3591-C482-4B2E-B817-A640FE2623C4}"/>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Delay early gradients.</a:t>
            </a:r>
          </a:p>
        </p:txBody>
      </p:sp>
      <p:sp>
        <p:nvSpPr>
          <p:cNvPr id="34" name="comparison-bullet-14-3-marker-3">
            <a:extLst xmlns:a="http://schemas.openxmlformats.org/drawingml/2006/main">
              <a:ext uri="{FF2B5EF4-FFF2-40B4-BE49-F238E27FC236}">
                <a16:creationId xmlns:a16="http://schemas.microsoft.com/office/drawing/2014/main" id="{2A9EEA49-0056-4581-9040-B0B6FA4E0FE1}"/>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EE1D6764-99F6-4410-AB19-F7764F7322B8}"/>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Costs interaction steps.</a:t>
            </a:r>
          </a:p>
        </p:txBody>
      </p:sp>
      <p:sp>
        <p:nvSpPr>
          <p:cNvPr id="36" name="comparison-bullet-14-3-marker-4">
            <a:extLst xmlns:a="http://schemas.openxmlformats.org/drawingml/2006/main">
              <a:ext uri="{FF2B5EF4-FFF2-40B4-BE49-F238E27FC236}">
                <a16:creationId xmlns:a16="http://schemas.microsoft.com/office/drawing/2014/main" id="{4D715DF3-CAC3-44E1-ACFB-84F0428317C6}"/>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4F202645-36EA-48A3-BA11-A8582E7DA790}"/>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Log threshold.</a:t>
            </a:r>
          </a:p>
        </p:txBody>
      </p:sp>
    </p:spTree>
    <p:extLst>
      <p:ext uri="{BB962C8B-B14F-4D97-AF65-F5344CB8AC3E}">
        <p14:creationId xmlns:p14="http://schemas.microsoft.com/office/powerpoint/2010/main" val="1337231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7FC1DA14-B42E-4FD9-8967-9A459058F1F9}"/>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remove one stabilizer</a:t>
            </a:r>
          </a:p>
        </p:txBody>
      </p:sp>
      <p:sp>
        <p:nvSpPr>
          <p:cNvPr id="2" name="title-accent-15">
            <a:extLst xmlns:a="http://schemas.openxmlformats.org/drawingml/2006/main">
              <a:ext uri="{FF2B5EF4-FFF2-40B4-BE49-F238E27FC236}">
                <a16:creationId xmlns:a16="http://schemas.microsoft.com/office/drawing/2014/main" id="{F6DD2131-3235-4EF4-A053-616959C1ADF0}"/>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2D729E40-4C90-4B8C-8D05-0F1650D62E9A}"/>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5">
            <a:extLst xmlns:a="http://schemas.openxmlformats.org/drawingml/2006/main">
              <a:ext uri="{FF2B5EF4-FFF2-40B4-BE49-F238E27FC236}">
                <a16:creationId xmlns:a16="http://schemas.microsoft.com/office/drawing/2014/main" id="{89840F28-256F-4F1C-A4F5-1F8C66B36C0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DC41982F-3E2D-4EDF-A367-128C4656C59C}"/>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59803296-2DE4-49F4-BB7A-DCCE7F47B110}"/>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What symptom would you expect without replay, and what different symptom would you expect without a target network?</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D47306B4-B382-4A9B-8994-B6C30341AC55}"/>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E1FCC152-03CF-4888-A428-24ED3FA76041}"/>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Separate data correlation from target motion.</a:t>
            </a:r>
          </a:p>
        </p:txBody>
      </p:sp>
      <p:sp>
        <p:nvSpPr>
          <p:cNvPr id="11" name="checkpoint-prompt-number-15-2">
            <a:extLst xmlns:a="http://schemas.openxmlformats.org/drawingml/2006/main">
              <a:ext uri="{FF2B5EF4-FFF2-40B4-BE49-F238E27FC236}">
                <a16:creationId xmlns:a16="http://schemas.microsoft.com/office/drawing/2014/main" id="{03915D7F-72E3-4060-81B7-56E549671B74}"/>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1794E3DF-38C7-459B-93D9-754266BAB374}"/>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Name an observable metric.</a:t>
            </a:r>
          </a:p>
        </p:txBody>
      </p:sp>
      <p:sp>
        <p:nvSpPr>
          <p:cNvPr id="13" name="checkpoint-prompt-number-15-3">
            <a:extLst xmlns:a="http://schemas.openxmlformats.org/drawingml/2006/main">
              <a:ext uri="{FF2B5EF4-FFF2-40B4-BE49-F238E27FC236}">
                <a16:creationId xmlns:a16="http://schemas.microsoft.com/office/drawing/2014/main" id="{227BAD4E-1D29-4D94-BDEA-CD0A996DFBA0}"/>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74F0AA6D-914C-4ADE-8AF3-08650EE2530F}"/>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Avoid claiming a theoretical cure.</a:t>
            </a:r>
          </a:p>
        </p:txBody>
      </p:sp>
    </p:spTree>
    <p:extLst>
      <p:ext uri="{BB962C8B-B14F-4D97-AF65-F5344CB8AC3E}">
        <p14:creationId xmlns:p14="http://schemas.microsoft.com/office/powerpoint/2010/main" val="19238739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1F4929D5-96EF-40A8-822A-E098EFCD26F0}"/>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DQN adds state that must be checkpointed</a:t>
            </a:r>
          </a:p>
        </p:txBody>
      </p:sp>
      <p:sp>
        <p:nvSpPr>
          <p:cNvPr id="2" name="title-accent-16">
            <a:extLst xmlns:a="http://schemas.openxmlformats.org/drawingml/2006/main">
              <a:ext uri="{FF2B5EF4-FFF2-40B4-BE49-F238E27FC236}">
                <a16:creationId xmlns:a16="http://schemas.microsoft.com/office/drawing/2014/main" id="{72D13B27-8090-456D-9620-C11BAF642ED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03B24643-C418-496D-B349-D2E6462DA6D2}"/>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6">
            <a:extLst xmlns:a="http://schemas.openxmlformats.org/drawingml/2006/main">
              <a:ext uri="{FF2B5EF4-FFF2-40B4-BE49-F238E27FC236}">
                <a16:creationId xmlns:a16="http://schemas.microsoft.com/office/drawing/2014/main" id="{0CCC5391-92D5-4D46-A0A9-7F4C2CBBAD4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A4AE73E5-20E2-4734-808D-7C1D0A3B045E}"/>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reproducible DQN run includes more than neural-network weights.</a:t>
            </a:r>
          </a:p>
        </p:txBody>
      </p:sp>
      <p:sp>
        <p:nvSpPr>
          <p:cNvPr id="7" name="claim-panel-16">
            <a:extLst xmlns:a="http://schemas.openxmlformats.org/drawingml/2006/main">
              <a:ext uri="{FF2B5EF4-FFF2-40B4-BE49-F238E27FC236}">
                <a16:creationId xmlns:a16="http://schemas.microsoft.com/office/drawing/2014/main" id="{20923D71-2A5F-4542-8280-F1663FD60E7D}"/>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E9EE1CC2-F20D-48D1-9C3F-92CB21A3AB5C}"/>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State</a:t>
            </a:r>
          </a:p>
        </p:txBody>
      </p:sp>
      <p:sp>
        <p:nvSpPr>
          <p:cNvPr id="9" name="claim-keyword-detail-16">
            <a:extLst xmlns:a="http://schemas.openxmlformats.org/drawingml/2006/main">
              <a:ext uri="{FF2B5EF4-FFF2-40B4-BE49-F238E27FC236}">
                <a16:creationId xmlns:a16="http://schemas.microsoft.com/office/drawing/2014/main" id="{4C34568D-656B-4CAB-AFCB-65B9AF4CBC01}"/>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Replay contents, target parameters, optimizer moments, counters, epsilon, and random states affect continuation.</a:t>
            </a:r>
          </a:p>
        </p:txBody>
      </p:sp>
      <p:sp>
        <p:nvSpPr>
          <p:cNvPr id="10" name="claim-detail-16-marker-1">
            <a:extLst xmlns:a="http://schemas.openxmlformats.org/drawingml/2006/main">
              <a:ext uri="{FF2B5EF4-FFF2-40B4-BE49-F238E27FC236}">
                <a16:creationId xmlns:a16="http://schemas.microsoft.com/office/drawing/2014/main" id="{915C2E96-1E6B-4277-8507-7BCD67DA35D9}"/>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B459763B-C811-4780-B21A-8218A1566DD3}"/>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Serialize online and target networks separately.</a:t>
            </a:r>
          </a:p>
        </p:txBody>
      </p:sp>
      <p:sp>
        <p:nvSpPr>
          <p:cNvPr id="12" name="claim-detail-16-marker-2">
            <a:extLst xmlns:a="http://schemas.openxmlformats.org/drawingml/2006/main">
              <a:ext uri="{FF2B5EF4-FFF2-40B4-BE49-F238E27FC236}">
                <a16:creationId xmlns:a16="http://schemas.microsoft.com/office/drawing/2014/main" id="{74F9D894-FFEF-42AE-A89C-E767964C7158}"/>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F9812766-61BA-4BAF-AF4A-CD7402240B31}"/>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Record buffer capacity, sampling seed, and sync cadence.</a:t>
            </a:r>
          </a:p>
        </p:txBody>
      </p:sp>
      <p:sp>
        <p:nvSpPr>
          <p:cNvPr id="14" name="claim-detail-16-marker-3">
            <a:extLst xmlns:a="http://schemas.openxmlformats.org/drawingml/2006/main">
              <a:ext uri="{FF2B5EF4-FFF2-40B4-BE49-F238E27FC236}">
                <a16:creationId xmlns:a16="http://schemas.microsoft.com/office/drawing/2014/main" id="{24060FB9-ABF7-4CF8-9818-9C7CAAEC8D62}"/>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079B99E0-124A-4536-844A-2268A66AEC55}"/>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Evaluate with frozen parameters and epsilon zero.</a:t>
            </a:r>
          </a:p>
        </p:txBody>
      </p:sp>
    </p:spTree>
    <p:extLst>
      <p:ext uri="{BB962C8B-B14F-4D97-AF65-F5344CB8AC3E}">
        <p14:creationId xmlns:p14="http://schemas.microsoft.com/office/powerpoint/2010/main" val="9506055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855BEEE3-9D71-4CCE-A67B-03D4CCBE374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37CB945D-2F88-44FA-9E4A-8EA2DBA8B40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FF34E735-BA1B-4E4D-90B2-CEFCA4AB575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7">
            <a:extLst xmlns:a="http://schemas.openxmlformats.org/drawingml/2006/main">
              <a:ext uri="{FF2B5EF4-FFF2-40B4-BE49-F238E27FC236}">
                <a16:creationId xmlns:a16="http://schemas.microsoft.com/office/drawing/2014/main" id="{8B0C7FB6-037B-4EFC-90F6-EBE02A3E726E}"/>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0CD43BC6-7CB4-457A-879D-B5039FAB0AD5}"/>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D255721B-F5C9-4669-9652-615B04F2376A}"/>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DQN maps one state to all discrete-action values.</a:t>
            </a:r>
          </a:p>
        </p:txBody>
      </p:sp>
      <p:sp>
        <p:nvSpPr>
          <p:cNvPr id="9" name="summary-number-17-2">
            <a:extLst xmlns:a="http://schemas.openxmlformats.org/drawingml/2006/main">
              <a:ext uri="{FF2B5EF4-FFF2-40B4-BE49-F238E27FC236}">
                <a16:creationId xmlns:a16="http://schemas.microsoft.com/office/drawing/2014/main" id="{8BF9C4B7-2F50-4A64-BBBD-33298A688A1B}"/>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B3D0B6AC-95E2-4849-96E7-50F12447F993}"/>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Replay reduces temporal correlation and reuses data.</a:t>
            </a:r>
          </a:p>
        </p:txBody>
      </p:sp>
      <p:sp>
        <p:nvSpPr>
          <p:cNvPr id="12" name="summary-number-17-3">
            <a:extLst xmlns:a="http://schemas.openxmlformats.org/drawingml/2006/main">
              <a:ext uri="{FF2B5EF4-FFF2-40B4-BE49-F238E27FC236}">
                <a16:creationId xmlns:a16="http://schemas.microsoft.com/office/drawing/2014/main" id="{3A3EE6B8-5F50-4E02-8DB1-C2FEEA131255}"/>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4A6474C4-3D3D-4B94-8166-0E0545E3600D}"/>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Target networks slow bootstrap-target movement.</a:t>
            </a:r>
          </a:p>
        </p:txBody>
      </p:sp>
      <p:sp>
        <p:nvSpPr>
          <p:cNvPr id="15" name="summary-number-17-4">
            <a:extLst xmlns:a="http://schemas.openxmlformats.org/drawingml/2006/main">
              <a:ext uri="{FF2B5EF4-FFF2-40B4-BE49-F238E27FC236}">
                <a16:creationId xmlns:a16="http://schemas.microsoft.com/office/drawing/2014/main" id="{B7DD4563-844A-411F-BE41-2EDED5D97153}"/>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61892063-A07A-4794-8B9C-E392DB257B48}"/>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Both mechanisms mitigate, but do not eliminate, deadly-triad risk.</a:t>
            </a:r>
          </a:p>
        </p:txBody>
      </p:sp>
      <p:sp>
        <p:nvSpPr>
          <p:cNvPr id="18" name="summary-next-17">
            <a:extLst xmlns:a="http://schemas.openxmlformats.org/drawingml/2006/main">
              <a:ext uri="{FF2B5EF4-FFF2-40B4-BE49-F238E27FC236}">
                <a16:creationId xmlns:a16="http://schemas.microsoft.com/office/drawing/2014/main" id="{52DF8F6B-20EF-4AAD-8AAC-AAAD0D1F0F57}"/>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Bayesian networks introduce a different way to represent uncertainty: explicit probabilistic structure.</a:t>
            </a:r>
          </a:p>
        </p:txBody>
      </p:sp>
    </p:spTree>
    <p:extLst>
      <p:ext uri="{BB962C8B-B14F-4D97-AF65-F5344CB8AC3E}">
        <p14:creationId xmlns:p14="http://schemas.microsoft.com/office/powerpoint/2010/main" val="18558246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FCBEC1F9-E2C3-4779-BB82-1DD7674D6A6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54C03CC3-EB36-4233-AC46-D1274AF2B64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D13E7054-7954-40DF-8334-1B882E47EED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6  |  Lesson 2</a:t>
            </a:r>
          </a:p>
        </p:txBody>
      </p:sp>
      <p:sp>
        <p:nvSpPr>
          <p:cNvPr id="5" name="footer-number-18">
            <a:extLst xmlns:a="http://schemas.openxmlformats.org/drawingml/2006/main">
              <a:ext uri="{FF2B5EF4-FFF2-40B4-BE49-F238E27FC236}">
                <a16:creationId xmlns:a16="http://schemas.microsoft.com/office/drawing/2014/main" id="{51F4013F-9CC1-48F4-90F6-E5227E477BA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72B7AB34-1A69-4C41-8BA7-F9AC97AA3012}"/>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351E6AE1-BB43-42FA-ACE3-C132131975DF}"/>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masked DQN target.</a:t>
            </a:r>
          </a:p>
        </p:txBody>
      </p:sp>
      <p:sp>
        <p:nvSpPr>
          <p:cNvPr id="8" name="question-number-18-2">
            <a:extLst xmlns:a="http://schemas.openxmlformats.org/drawingml/2006/main">
              <a:ext uri="{FF2B5EF4-FFF2-40B4-BE49-F238E27FC236}">
                <a16:creationId xmlns:a16="http://schemas.microsoft.com/office/drawing/2014/main" id="{787DFDFB-1E3E-42F7-8C49-B019A7460A28}"/>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4774B54B-3A44-4FA0-B4D5-5B4245E45DAF}"/>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why y must be detached.</a:t>
            </a:r>
          </a:p>
        </p:txBody>
      </p:sp>
      <p:sp>
        <p:nvSpPr>
          <p:cNvPr id="10" name="question-number-18-3">
            <a:extLst xmlns:a="http://schemas.openxmlformats.org/drawingml/2006/main">
              <a:ext uri="{FF2B5EF4-FFF2-40B4-BE49-F238E27FC236}">
                <a16:creationId xmlns:a16="http://schemas.microsoft.com/office/drawing/2014/main" id="{017D9AE6-1AAE-4452-B7EA-B589DAACA227}"/>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307A3C60-F934-4CEF-BAC1-3AE93D24AA2C}"/>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Compare hard and soft synchronization.</a:t>
            </a:r>
          </a:p>
        </p:txBody>
      </p:sp>
      <p:sp>
        <p:nvSpPr>
          <p:cNvPr id="12" name="question-number-18-4">
            <a:extLst xmlns:a="http://schemas.openxmlformats.org/drawingml/2006/main">
              <a:ext uri="{FF2B5EF4-FFF2-40B4-BE49-F238E27FC236}">
                <a16:creationId xmlns:a16="http://schemas.microsoft.com/office/drawing/2014/main" id="{BE4FB5B6-FBF5-49AF-8FBF-6934706A5B76}"/>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E844C468-8D0C-4287-B336-9D52772D9CD4}"/>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Describe replay warm-up.</a:t>
            </a:r>
          </a:p>
        </p:txBody>
      </p:sp>
      <p:sp>
        <p:nvSpPr>
          <p:cNvPr id="14" name="question-number-18-5">
            <a:extLst xmlns:a="http://schemas.openxmlformats.org/drawingml/2006/main">
              <a:ext uri="{FF2B5EF4-FFF2-40B4-BE49-F238E27FC236}">
                <a16:creationId xmlns:a16="http://schemas.microsoft.com/office/drawing/2014/main" id="{0D5C61CD-FC66-40C6-B52F-373DCE77B306}"/>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DBD7B271-E4D6-4465-864F-891EEB3F9762}"/>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Name all checkpoint state.</a:t>
            </a:r>
          </a:p>
        </p:txBody>
      </p:sp>
    </p:spTree>
    <p:extLst>
      <p:ext uri="{BB962C8B-B14F-4D97-AF65-F5344CB8AC3E}">
        <p14:creationId xmlns:p14="http://schemas.microsoft.com/office/powerpoint/2010/main" val="647687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2026-07-27T10:44:28.4710000Z</dcterms:created>
  <dcterms:modified xsi:type="dcterms:W3CDTF">2026-07-27T10:44:28.4710000Z</dcterms:modified>
</coreProperties>
</file>