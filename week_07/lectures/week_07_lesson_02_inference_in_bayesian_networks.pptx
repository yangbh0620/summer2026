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97534d50a7413d" /><Relationship Type="http://schemas.openxmlformats.org/officeDocument/2006/relationships/extended-properties" Target="/docProps/app.xml" Id="R7ac635d85aaa4450" /><Relationship Type="http://schemas.openxmlformats.org/officeDocument/2006/relationships/officeDocument" Target="/ppt/presentation.xml" Id="Rb25dc7bb54134918" /></Relationships>
</file>

<file path=ppt/presentation.xml><?xml version="1.0" encoding="utf-8"?>
<p:presentation xmlns:p="http://schemas.openxmlformats.org/presentationml/2006/main">
  <p:sldMasterIdLst>
    <p:sldMasterId xmlns:r="http://schemas.openxmlformats.org/officeDocument/2006/relationships" id="2147483648" r:id="R597de390a3024870"/>
  </p:sldMasterIdLst>
  <p:notesMasterIdLst>
    <p:notesMasterId xmlns:r="http://schemas.openxmlformats.org/officeDocument/2006/relationships" r:id="R13f1c2a19d504f3c"/>
  </p:notesMasterIdLst>
  <p:sldIdLst>
    <p:sldId xmlns:r="http://schemas.openxmlformats.org/officeDocument/2006/relationships" id="256" r:id="R265d214f44394f0e"/>
    <p:sldId xmlns:r="http://schemas.openxmlformats.org/officeDocument/2006/relationships" id="257" r:id="R4d726386bb574c18"/>
    <p:sldId xmlns:r="http://schemas.openxmlformats.org/officeDocument/2006/relationships" id="258" r:id="Raa2486cc6f9b4e3e"/>
    <p:sldId xmlns:r="http://schemas.openxmlformats.org/officeDocument/2006/relationships" id="259" r:id="Rf587c984326b4442"/>
    <p:sldId xmlns:r="http://schemas.openxmlformats.org/officeDocument/2006/relationships" id="260" r:id="R7b2cc7cfc8c64f80"/>
    <p:sldId xmlns:r="http://schemas.openxmlformats.org/officeDocument/2006/relationships" id="261" r:id="Rd4efde458d6344a6"/>
    <p:sldId xmlns:r="http://schemas.openxmlformats.org/officeDocument/2006/relationships" id="262" r:id="Ra62f065db6114072"/>
    <p:sldId xmlns:r="http://schemas.openxmlformats.org/officeDocument/2006/relationships" id="263" r:id="Rd28286701698416c"/>
    <p:sldId xmlns:r="http://schemas.openxmlformats.org/officeDocument/2006/relationships" id="264" r:id="R0cbbee7ce2934400"/>
    <p:sldId xmlns:r="http://schemas.openxmlformats.org/officeDocument/2006/relationships" id="265" r:id="R7bc2176337084a22"/>
    <p:sldId xmlns:r="http://schemas.openxmlformats.org/officeDocument/2006/relationships" id="266" r:id="Rdc8ed335211d41f5"/>
    <p:sldId xmlns:r="http://schemas.openxmlformats.org/officeDocument/2006/relationships" id="267" r:id="R2c186cea61184e89"/>
    <p:sldId xmlns:r="http://schemas.openxmlformats.org/officeDocument/2006/relationships" id="268" r:id="R31e125815a5c4ade"/>
    <p:sldId xmlns:r="http://schemas.openxmlformats.org/officeDocument/2006/relationships" id="269" r:id="R722bc9ceb9f849c5"/>
    <p:sldId xmlns:r="http://schemas.openxmlformats.org/officeDocument/2006/relationships" id="270" r:id="R30853fe68e1248ce"/>
    <p:sldId xmlns:r="http://schemas.openxmlformats.org/officeDocument/2006/relationships" id="271" r:id="R177b17cd99364ac6"/>
    <p:sldId xmlns:r="http://schemas.openxmlformats.org/officeDocument/2006/relationships" id="272" r:id="Ra6e453ab3e134f3c"/>
    <p:sldId xmlns:r="http://schemas.openxmlformats.org/officeDocument/2006/relationships" id="273" r:id="R7b6c643ac0be40c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332337096940d2" /><Relationship Type="http://schemas.openxmlformats.org/officeDocument/2006/relationships/slideMaster" Target="/ppt/slideMasters/slideMaster1.xml" Id="R597de390a3024870" /><Relationship Type="http://schemas.openxmlformats.org/officeDocument/2006/relationships/notesMaster" Target="/ppt/notesMasters/notesMaster1.xml" Id="R13f1c2a19d504f3c" /><Relationship Type="http://schemas.openxmlformats.org/officeDocument/2006/relationships/presProps" Target="/ppt/presProps.xml" Id="Rd01c5a16914e4b6b" /><Relationship Type="http://schemas.openxmlformats.org/officeDocument/2006/relationships/tableStyles" Target="/ppt/tableStyles.xml" Id="R4d040038b9f349f4" /><Relationship Type="http://schemas.openxmlformats.org/officeDocument/2006/relationships/slide" Target="/ppt/slides/slide1.xml" Id="R265d214f44394f0e" /><Relationship Type="http://schemas.openxmlformats.org/officeDocument/2006/relationships/slide" Target="/ppt/slides/slide2.xml" Id="R4d726386bb574c18" /><Relationship Type="http://schemas.openxmlformats.org/officeDocument/2006/relationships/slide" Target="/ppt/slides/slide3.xml" Id="Raa2486cc6f9b4e3e" /><Relationship Type="http://schemas.openxmlformats.org/officeDocument/2006/relationships/slide" Target="/ppt/slides/slide4.xml" Id="Rf587c984326b4442" /><Relationship Type="http://schemas.openxmlformats.org/officeDocument/2006/relationships/slide" Target="/ppt/slides/slide5.xml" Id="R7b2cc7cfc8c64f80" /><Relationship Type="http://schemas.openxmlformats.org/officeDocument/2006/relationships/slide" Target="/ppt/slides/slide6.xml" Id="Rd4efde458d6344a6" /><Relationship Type="http://schemas.openxmlformats.org/officeDocument/2006/relationships/slide" Target="/ppt/slides/slide7.xml" Id="Ra62f065db6114072" /><Relationship Type="http://schemas.openxmlformats.org/officeDocument/2006/relationships/slide" Target="/ppt/slides/slide8.xml" Id="Rd28286701698416c" /><Relationship Type="http://schemas.openxmlformats.org/officeDocument/2006/relationships/slide" Target="/ppt/slides/slide9.xml" Id="R0cbbee7ce2934400" /><Relationship Type="http://schemas.openxmlformats.org/officeDocument/2006/relationships/slide" Target="/ppt/slides/slide10.xml" Id="R7bc2176337084a22" /><Relationship Type="http://schemas.openxmlformats.org/officeDocument/2006/relationships/slide" Target="/ppt/slides/slide11.xml" Id="Rdc8ed335211d41f5" /><Relationship Type="http://schemas.openxmlformats.org/officeDocument/2006/relationships/slide" Target="/ppt/slides/slide12.xml" Id="R2c186cea61184e89" /><Relationship Type="http://schemas.openxmlformats.org/officeDocument/2006/relationships/slide" Target="/ppt/slides/slide13.xml" Id="R31e125815a5c4ade" /><Relationship Type="http://schemas.openxmlformats.org/officeDocument/2006/relationships/slide" Target="/ppt/slides/slide14.xml" Id="R722bc9ceb9f849c5" /><Relationship Type="http://schemas.openxmlformats.org/officeDocument/2006/relationships/slide" Target="/ppt/slides/slide15.xml" Id="R30853fe68e1248ce" /><Relationship Type="http://schemas.openxmlformats.org/officeDocument/2006/relationships/slide" Target="/ppt/slides/slide16.xml" Id="R177b17cd99364ac6" /><Relationship Type="http://schemas.openxmlformats.org/officeDocument/2006/relationships/slide" Target="/ppt/slides/slide17.xml" Id="Ra6e453ab3e134f3c" /><Relationship Type="http://schemas.openxmlformats.org/officeDocument/2006/relationships/slide" Target="/ppt/slides/slide18.xml" Id="R7b6c643ac0be40c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13953008bf3451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0a979347454e5d" /><Relationship Type="http://schemas.openxmlformats.org/officeDocument/2006/relationships/notesMaster" Target="/ppt/notesMasters/notesMaster1.xml" Id="Rfa33eb3b14974c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c291fca2294bc1" /><Relationship Type="http://schemas.openxmlformats.org/officeDocument/2006/relationships/notesMaster" Target="/ppt/notesMasters/notesMaster1.xml" Id="R2cfb7a55d21e49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8b842f2b604cd5" /><Relationship Type="http://schemas.openxmlformats.org/officeDocument/2006/relationships/notesMaster" Target="/ppt/notesMasters/notesMaster1.xml" Id="R20cb4d91c91641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08102187074d4e" /><Relationship Type="http://schemas.openxmlformats.org/officeDocument/2006/relationships/notesMaster" Target="/ppt/notesMasters/notesMaster1.xml" Id="R6436033311ff4f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6bf2f5de64c4a63" /><Relationship Type="http://schemas.openxmlformats.org/officeDocument/2006/relationships/notesMaster" Target="/ppt/notesMasters/notesMaster1.xml" Id="R2cff82741dfc4f6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2b0c630f704f77" /><Relationship Type="http://schemas.openxmlformats.org/officeDocument/2006/relationships/notesMaster" Target="/ppt/notesMasters/notesMaster1.xml" Id="R8ca4a9b82f1941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de2bb5edf9341af" /><Relationship Type="http://schemas.openxmlformats.org/officeDocument/2006/relationships/notesMaster" Target="/ppt/notesMasters/notesMaster1.xml" Id="R80b0a4c833684468" /></Relationships>
</file>

<file path=ppt/notesSlides/_rels/notesSlide8.xml.rels>&#65279;<?xml version="1.0" encoding="utf-8"?><Relationships xmlns="http://schemas.openxmlformats.org/package/2006/relationships"><Relationship Type="http://schemas.openxmlformats.org/officeDocument/2006/relationships/slide" Target="/ppt/slides/slide8.xml" Id="R8bc48298b31544e1" /><Relationship Type="http://schemas.openxmlformats.org/officeDocument/2006/relationships/notesMaster" Target="/ppt/notesMasters/notesMaster1.xml" Id="Rf650a16adeeb49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e4b4c1c48e47b9" /><Relationship Type="http://schemas.openxmlformats.org/officeDocument/2006/relationships/notesMaster" Target="/ppt/notesMasters/notesMaster1.xml" Id="R798239f43de347b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273e7577090405c" /><Relationship Type="http://schemas.openxmlformats.org/officeDocument/2006/relationships/notesMaster" Target="/ppt/notesMasters/notesMaster1.xml" Id="Ra5b3f2bbf75f464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2ef5fe16a074ecb" /><Relationship Type="http://schemas.openxmlformats.org/officeDocument/2006/relationships/notesMaster" Target="/ppt/notesMasters/notesMaster1.xml" Id="R5a73f089025d412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ac3eff08e23470b" /><Relationship Type="http://schemas.openxmlformats.org/officeDocument/2006/relationships/notesMaster" Target="/ppt/notesMasters/notesMaster1.xml" Id="Rf25410284f144f4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636459f45747a8" /><Relationship Type="http://schemas.openxmlformats.org/officeDocument/2006/relationships/notesMaster" Target="/ppt/notesMasters/notesMaster1.xml" Id="R6b913893f50349e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1ce4d88aced486f" /><Relationship Type="http://schemas.openxmlformats.org/officeDocument/2006/relationships/notesMaster" Target="/ppt/notesMasters/notesMaster1.xml" Id="R048407e441de4c4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a37823907d343dc" /><Relationship Type="http://schemas.openxmlformats.org/officeDocument/2006/relationships/notesMaster" Target="/ppt/notesMasters/notesMaster1.xml" Id="Re299e578598944a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9780f839e184c4b" /><Relationship Type="http://schemas.openxmlformats.org/officeDocument/2006/relationships/notesMaster" Target="/ppt/notesMasters/notesMaster1.xml" Id="R66e816944b5746c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d1ad6c894c849a9" /><Relationship Type="http://schemas.openxmlformats.org/officeDocument/2006/relationships/notesMaster" Target="/ppt/notesMasters/notesMaster1.xml" Id="Raedb909a2b3f41b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6ddf679cdb34a3c" /><Relationship Type="http://schemas.openxmlformats.org/officeDocument/2006/relationships/notesMaster" Target="/ppt/notesMasters/notesMaster1.xml" Id="Ra32fcf6427a346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Inference asks for a posterior over query variables after observing evidence. The same factors can be combined by enumeration, reorganized through variable elimination, or estimated with samples. This lesson treats the topic as both a formal method and an engineering component. We will state the model, trace the algorithm on concrete data, and identify the implementation contracts that preserve its guarantees. The goal is not to memorize isolated notation. The goal is to recognize which assumptions make the method valid, what evidence can expose a defect, and how the method connects to the rest of CMPSC 480. By the end, you should be able to explain the central result, reproduce the critical calculation or trace, and design a defensive implementation that behaves predictably on normal, boundary, and invalid inputs. Keep one question active throughout: what would a skeptical reviewer need to observe before trusting the result?</a:t>
            </a:r>
          </a:p>
          <a:p xmlns:a="http://schemas.openxmlformats.org/drawingml/2006/main">
            <a:r>
              <a:t/>
            </a:r>
          </a:p>
          <a:p xmlns:a="http://schemas.openxmlformats.org/drawingml/2006/main">
            <a:r>
              <a:t>[Sources]</a:t>
            </a:r>
          </a:p>
          <a:p xmlns:a="http://schemas.openxmlformats.org/drawingml/2006/main">
            <a:r>
              <a:t>- Repository prompt: week_07/Week_7_Lesson_2_Inference_in_Bayesian_Networks.md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objectives define the evidence expected after the lesson. 1) Define query, evidence, and hidden variables. 2) Compute an exact posterior by enumeration. 3) Multiply factors and sum out a variable. 4) Trace variable elimination step by step. 5) Explain why elimination order controls cost. 6) Compare rejection sampling and likelihood weighting. The sequence moves from vocabulary and assumptions to derivation, tracing, implementation, and judgment. As you work through the slides, attach every equation to the meaning of its variables and every algorithmic step to a data-structure operation. When a guarantee is stated, ask which precondition supports it. When an implementation choice is shown, ask which test would reveal a violation. That discipline turns the objectives into reusable engineering practice rather than a list of terms. You should finish able to explain both the successful case and the nearest counterexample.</a:t>
            </a:r>
          </a:p>
          <a:p xmlns:a="http://schemas.openxmlformats.org/drawingml/2006/main">
            <a:r>
              <a:t/>
            </a:r>
          </a:p>
          <a:p xmlns:a="http://schemas.openxmlformats.org/drawingml/2006/main">
            <a:r>
              <a:t>[Sources]</a:t>
            </a:r>
          </a:p>
          <a:p xmlns:a="http://schemas.openxmlformats.org/drawingml/2006/main">
            <a:r>
              <a:t>- Repository prompt: week_07/Week_7_Lesson_2_Inference_in_Bayesian_Networks.md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methods account for hidden variables; they differ in when terms are reused or approximated. The supporting details make the claim operational. 1) Enumeration expands every hidden assignment. 2) Elimination distributes sums through products. 3) Sampling replaces an exact sum with an empirical estimate. The highlighted idea, Reuse, is the part to retain when the surrounding notation changes. Variable elimination caches algebra in intermediate factors instead of recomputing identical sub-sums. A correct explanation should name the assumptions, describe the observable behavior, and distinguish the method from a superficially similar alternative. In code, this claim becomes a contract that can be exercised with a small counterexample as well as a representative case. Try to state the claim in one sentence, then identify the smallest input that would falsify an incorrect version.</a:t>
            </a:r>
          </a:p>
          <a:p xmlns:a="http://schemas.openxmlformats.org/drawingml/2006/main">
            <a:r>
              <a:t/>
            </a:r>
          </a:p>
          <a:p xmlns:a="http://schemas.openxmlformats.org/drawingml/2006/main">
            <a:r>
              <a:t>[Sources]</a:t>
            </a:r>
          </a:p>
          <a:p xmlns:a="http://schemas.openxmlformats.org/drawingml/2006/main">
            <a:r>
              <a:t>- Repository prompt: week_07/Week_7_Lesson_2_Inference_in_Bayesian_Networks.md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displayed relation as a compact specification rather than decorative notation: P(Q|e) = alpha P(Q,e) = alpha sum_h product_i P(x_i | parents_i). The symbols mean the following. 1) Q denotes query variables. 2) e fixes evidence variables. 3) h ranges over hidden assignments. 4) alpha normalizes entries to sum to one. The engineering implication is Evidence is fixed before hidden variables are marginalized. Work one term at a time, verify dimensions or domains before calculating, and separate the mathematical result from its numerical representation. A useful test case should make each term observable and should include a boundary condition that would fail if a sign, index, normalization, or termination rule were implemented incorrectly. Before substituting numbers, predict the sign, scale, and limiting behavior of the result. Then translate the relation into a function signature and identify which inputs must be validated before the arithmetic begins.</a:t>
            </a:r>
          </a:p>
          <a:p xmlns:a="http://schemas.openxmlformats.org/drawingml/2006/main">
            <a:r>
              <a:t/>
            </a:r>
          </a:p>
          <a:p xmlns:a="http://schemas.openxmlformats.org/drawingml/2006/main">
            <a:r>
              <a:t>[Sources]</a:t>
            </a:r>
          </a:p>
          <a:p xmlns:a="http://schemas.openxmlformats.org/drawingml/2006/main">
            <a:r>
              <a:t>- Repository prompt: week_07/Week_7_Lesson_2_Inference_in_Bayesian_Networks.md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columns separate related responsibilities. On the left, Factor multiplication: Join factors on shared variables. Multiply compatible entries. Scope is the union. Order affects intermediate size. On the right, Sum out: Choose one hidden variable. Sum entries over its values. Remove it from scope. Preserve remaining function values. The distinction matters because combining these concerns prematurely often hides an assumption or duplicates logic. A strong implementation exposes the boundary through clear types or functions, then tests each side independently before testing the combined behavior. The key takeaway is to compare the columns by information used, result produced, and failure modes, not merely by their names. If a design mixes both roles, label where the handoff occurs and what invariant crosses it.</a:t>
            </a:r>
          </a:p>
          <a:p xmlns:a="http://schemas.openxmlformats.org/drawingml/2006/main">
            <a:r>
              <a:t/>
            </a:r>
          </a:p>
          <a:p xmlns:a="http://schemas.openxmlformats.org/drawingml/2006/main">
            <a:r>
              <a:t>[Sources]</a:t>
            </a:r>
          </a:p>
          <a:p xmlns:a="http://schemas.openxmlformats.org/drawingml/2006/main">
            <a:r>
              <a:t>- Repository prompt: week_07/Week_7_Lesson_2_Inference_in_Bayesian_Networks.md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process gives a disciplined execution order. 1) Restrict: Apply evidence to each CPT factor. 2) Choose: Select a hidden variable order. 3) Join: Multiply all factors containing that variable. 4) Eliminate: Sum it out and return the new factor. 5) Normalize: Multiply remaining factors and scale. The emphasized stage deserves extra attention because defects introduced there propagate to every later result. Eliminate a variable only after collecting every factor that mentions it. When implementing the process, record the invariant that should hold after each stage and decide how failure will be represented. When analyzing it, trace a small instance all the way through before relying on an aggregate output. A useful review asks what state enters each stage, what state leaves it, and which later stage would expose corruption.</a:t>
            </a:r>
          </a:p>
          <a:p xmlns:a="http://schemas.openxmlformats.org/drawingml/2006/main">
            <a:r>
              <a:t/>
            </a:r>
          </a:p>
          <a:p xmlns:a="http://schemas.openxmlformats.org/drawingml/2006/main">
            <a:r>
              <a:t>[Sources]</a:t>
            </a:r>
          </a:p>
          <a:p xmlns:a="http://schemas.openxmlformats.org/drawingml/2006/main">
            <a:r>
              <a:t>- Repository prompt: week_07/Week_7_Lesson_2_Inference_in_Bayesian_Networks.md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pseudocode shows the control structure while leaving language-specific details open. Read it from initialization through termination and identify the state that changes on each iteration. The rail lists the stable questions: Track factor scopes. Never sum evidence. Use stable variable order. Normalize last. A faithful implementation should make those decisions explicit rather than depend on incidental container behavior. Trace the code on a minimal legal input, a boundary case, and a case that triggers its failure path. That three-part trace usually reveals incorrect initialization, update ordering, or termination earlier than a large demonstration does. Also estimate the dominant operation and choose a data structure whose cost matches the stated complexity.</a:t>
            </a:r>
          </a:p>
          <a:p xmlns:a="http://schemas.openxmlformats.org/drawingml/2006/main">
            <a:r>
              <a:t/>
            </a:r>
          </a:p>
          <a:p xmlns:a="http://schemas.openxmlformats.org/drawingml/2006/main">
            <a:r>
              <a:t>[Sources]</a:t>
            </a:r>
          </a:p>
          <a:p xmlns:a="http://schemas.openxmlformats.org/drawingml/2006/main">
            <a:r>
              <a:t>- Repository prompt: week_07/Week_7_Lesson_2_Inference_in_Bayesian_Networks.md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is B and E are independent roots; A depends on both. We observe A=true and query B. Work through it in the displayed order. 1) For B=true, sum P(B)P(E)P(A|B,E) over E. 2) For B=false, repeat the same sum over E. 3) This gives two unnormalized masses. 4) Divide each by their sum. The resulting conclusion is The normalized pair is P(B|A); enumeration recomputes the E contribution separately for each B value. This example is intentionally small enough to verify by hand. That makes it useful as an oracle for unit tests and for diagnosing discrepancies in a larger implementation. After reproducing the result, change one assumption or input and predict which intermediate quantity should change. If the output changes without the corresponding intermediate evidence, the implementation is not preserving the model. Record the trace in a table so that every update has a visible cause. Finally, state which theorem, invariant, or modeling assumption makes the result generalizable beyond this one instance.</a:t>
            </a:r>
          </a:p>
          <a:p xmlns:a="http://schemas.openxmlformats.org/drawingml/2006/main">
            <a:r>
              <a:t/>
            </a:r>
          </a:p>
          <a:p xmlns:a="http://schemas.openxmlformats.org/drawingml/2006/main">
            <a:r>
              <a:t>[Sources]</a:t>
            </a:r>
          </a:p>
          <a:p xmlns:a="http://schemas.openxmlformats.org/drawingml/2006/main">
            <a:r>
              <a:t>- Repository prompt: week_07/Week_7_Lesson_2_Inference_in_Bayesian_Networks.md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organizes the alternatives by the information they use and the guarantee they can support. Enumeration: Conceptually direct. Repeated subexpressions. Exponential hidden settings. Good hand oracle. In contrast, Elimination: Exact result. Order-dependent cost. Intermediate tables. Good sparse networks. In contrast, Compilation: Reuse structure further. Up-front cost. Memory tradeoff. Beyond this lesson. Do not choose a column by familiarity alone. Match the choice to the problem assumptions, available resources, and required evidence. In an exam answer or design review, state one reason the selected method fits and one reason another method does not. In an implementation, keep the shared interface stable so that the alternatives can be tested on the same inputs and compared with the same metrics. A fair experiment changes one method choice while holding data, seed, budget, and evaluation criterion constant. Report not only the winner but also the condition under which the ranking could reverse.</a:t>
            </a:r>
          </a:p>
          <a:p xmlns:a="http://schemas.openxmlformats.org/drawingml/2006/main">
            <a:r>
              <a:t/>
            </a:r>
          </a:p>
          <a:p xmlns:a="http://schemas.openxmlformats.org/drawingml/2006/main">
            <a:r>
              <a:t>[Sources]</a:t>
            </a:r>
          </a:p>
          <a:p xmlns:a="http://schemas.openxmlformats.org/drawingml/2006/main">
            <a:r>
              <a:t>- Repository prompt: week_07/Week_7_Lesson_2_Inference_in_Bayesian_Networks.md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reading the guidance and answer the checkpoint: Factors f(A,B) and g(B,C) are multiplied and B is summed out. What is the final scope? Use the prompts to structure the response. 1) Take the union first. 2) Remove only the eliminated variable. 3) Name variables still needed. The expected reasoning is The product has scope {A,B,C}; summing over B produces a factor with scope {A,C}. A complete answer should show the governing definition or equation, apply it to the supplied facts, and state any assumption needed to remove ambiguity. If your answer differs, identify the first inference where the reasoning diverges rather than changing only the final value. The point is diagnostic: a justified wrong step is easier to repair than an unexplained correct guess. After resolving it, invent one nearby variant that would change the answer and explain exactly why.</a:t>
            </a:r>
          </a:p>
          <a:p xmlns:a="http://schemas.openxmlformats.org/drawingml/2006/main">
            <a:r>
              <a:t/>
            </a:r>
          </a:p>
          <a:p xmlns:a="http://schemas.openxmlformats.org/drawingml/2006/main">
            <a:r>
              <a:t>[Sources]</a:t>
            </a:r>
          </a:p>
          <a:p xmlns:a="http://schemas.openxmlformats.org/drawingml/2006/main">
            <a:r>
              <a:t>- Repository prompt: week_07/Week_7_Lesson_2_Inference_in_Bayesian_Networks.md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columns separate related responsibilities. On the left, Rejection sampling: Sample every node ancestrally. Discard evidence mismatches. Unweighted surviving counts. Wasteful for rare evidence. On the right, Likelihood weighting: Clamp evidence values. Sample non-evidence nodes. Multiply evidence likelihoods. Can suffer weight degeneracy. The distinction matters because combining these concerns prematurely often hides an assumption or duplicates logic. A strong implementation exposes the boundary through clear types or functions, then tests each side independently before testing the combined behavior. The key takeaway is to compare the columns by information used, result produced, and failure modes, not merely by their names. If a design mixes both roles, label where the handoff occurs and what invariant crosses it.</a:t>
            </a:r>
          </a:p>
          <a:p xmlns:a="http://schemas.openxmlformats.org/drawingml/2006/main">
            <a:r>
              <a:t/>
            </a:r>
          </a:p>
          <a:p xmlns:a="http://schemas.openxmlformats.org/drawingml/2006/main">
            <a:r>
              <a:t>[Sources]</a:t>
            </a:r>
          </a:p>
          <a:p xmlns:a="http://schemas.openxmlformats.org/drawingml/2006/main">
            <a:r>
              <a:t>- Repository prompt: week_07/Week_7_Lesson_2_Inference_in_Bayesian_Networks.md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displayed relation as a compact specification rather than decorative notation: w(sample)=product_{E_i in evidence} P(e_i | parents(E_i)); P_hat(Q=q|e) proportional sum w 1[Q=q]. The symbols mean the following. 1) Evidence variables are not sampled. 2) Each evidence CPT contributes a weight. 3) Weighted query counts are accumulated. 4) Final counts are normalized. The engineering implication is No sample is rejected, but a few extreme weights can dominate. Work one term at a time, verify dimensions or domains before calculating, and separate the mathematical result from its numerical representation. A useful test case should make each term observable and should include a boundary condition that would fail if a sign, index, normalization, or termination rule were implemented incorrectly. Before substituting numbers, predict the sign, scale, and limiting behavior of the result. Then translate the relation into a function signature and identify which inputs must be validated before the arithmetic begins.</a:t>
            </a:r>
          </a:p>
          <a:p xmlns:a="http://schemas.openxmlformats.org/drawingml/2006/main">
            <a:r>
              <a:t/>
            </a:r>
          </a:p>
          <a:p xmlns:a="http://schemas.openxmlformats.org/drawingml/2006/main">
            <a:r>
              <a:t>[Sources]</a:t>
            </a:r>
          </a:p>
          <a:p xmlns:a="http://schemas.openxmlformats.org/drawingml/2006/main">
            <a:r>
              <a:t>- Repository prompt: week_07/Week_7_Lesson_2_Inference_in_Bayesian_Networks.md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is In B-&gt;A&lt;-E with observed A, eliminate E before answering the two B values. Work through it in the displayed order. 1) Restrict A's factor to A=true. 2) Multiply P(E) with P(A=true|B,E). 3) Sum E once to create phi(B). 4) Multiply phi(B) by P(B) and normalize. The resulting conclusion is The intermediate factor phi(B) stores the repeated E marginal needed by both posterior entries. This example is intentionally small enough to verify by hand. That makes it useful as an oracle for unit tests and for diagnosing discrepancies in a larger implementation. After reproducing the result, change one assumption or input and predict which intermediate quantity should change. If the output changes without the corresponding intermediate evidence, the implementation is not preserving the model. Record the trace in a table so that every update has a visible cause. Finally, state which theorem, invariant, or modeling assumption makes the result generalizable beyond this one instance.</a:t>
            </a:r>
          </a:p>
          <a:p xmlns:a="http://schemas.openxmlformats.org/drawingml/2006/main">
            <a:r>
              <a:t/>
            </a:r>
          </a:p>
          <a:p xmlns:a="http://schemas.openxmlformats.org/drawingml/2006/main">
            <a:r>
              <a:t>[Sources]</a:t>
            </a:r>
          </a:p>
          <a:p xmlns:a="http://schemas.openxmlformats.org/drawingml/2006/main">
            <a:r>
              <a:t>- Repository prompt: week_07/Week_7_Lesson_2_Inference_in_Bayesian_Networks.md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organizes the alternatives by the information they use and the guarantee they can support. Leaf first: Small scopes. Early simplification. Good heuristic. Not always optimal. In contrast, Hub first: Joins many neighbors. Creates broad factor. Memory spikes. Exposes dense structure. In contrast, Heuristic order: Estimate added connections. Choose low-growth variable. Deterministic ties. Record actual max scope. Do not choose a column by familiarity alone. Match the choice to the problem assumptions, available resources, and required evidence. In an exam answer or design review, state one reason the selected method fits and one reason another method does not. In an implementation, keep the shared interface stable so that the alternatives can be tested on the same inputs and compared with the same metrics. A fair experiment changes one method choice while holding data, seed, budget, and evaluation criterion constant. Report not only the winner but also the condition under which the ranking could reverse.</a:t>
            </a:r>
          </a:p>
          <a:p xmlns:a="http://schemas.openxmlformats.org/drawingml/2006/main">
            <a:r>
              <a:t/>
            </a:r>
          </a:p>
          <a:p xmlns:a="http://schemas.openxmlformats.org/drawingml/2006/main">
            <a:r>
              <a:t>[Sources]</a:t>
            </a:r>
          </a:p>
          <a:p xmlns:a="http://schemas.openxmlformats.org/drawingml/2006/main">
            <a:r>
              <a:t>- Repository prompt: week_07/Week_7_Lesson_2_Inference_in_Bayesian_Networks.md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reading the guidance and answer the checkpoint: Evidence has probability one in a million and an exact factor would contain 2^30 entries. Which introductory sampler is preferable and why? Use the prompts to structure the response. 1) Estimate rejection efficiency. 2) Consider weight variance. 3) State that approximation has uncertainty. The expected reasoning is Likelihood weighting is preferable to rejection because it does not discard nearly every sample, although weight variance may still be severe and effective sample size must be reported. A complete answer should show the governing definition or equation, apply it to the supplied facts, and state any assumption needed to remove ambiguity. If your answer differs, identify the first inference where the reasoning diverges rather than changing only the final value. The point is diagnostic: a justified wrong step is easier to repair than an unexplained correct guess. After resolving it, invent one nearby variant that would change the answer and explain exactly why.</a:t>
            </a:r>
          </a:p>
          <a:p xmlns:a="http://schemas.openxmlformats.org/drawingml/2006/main">
            <a:r>
              <a:t/>
            </a:r>
          </a:p>
          <a:p xmlns:a="http://schemas.openxmlformats.org/drawingml/2006/main">
            <a:r>
              <a:t>[Sources]</a:t>
            </a:r>
          </a:p>
          <a:p xmlns:a="http://schemas.openxmlformats.org/drawingml/2006/main">
            <a:r>
              <a:t>- Repository prompt: week_07/Week_7_Lesson_2_Inference_in_Bayesian_Networks.md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Inference code should expose factor scopes, operation counts, and independent probability checks. The supporting details make the claim operational. 1) Verify every returned distribution sums to one. 2) Compare elimination with enumeration on random small DAGs. 3) Report sample count, seed, effective sample size, and error. The highlighted idea, Oracle, is the part to retain when the surrounding notation changes. A tiny network can be enumerated completely and serve as a ground truth for elimination and sampling. A correct explanation should name the assumptions, describe the observable behavior, and distinguish the method from a superficially similar alternative. In code, this claim becomes a contract that can be exercised with a small counterexample as well as a representative case. Try to state the claim in one sentence, then identify the smallest input that would falsify an incorrect version.</a:t>
            </a:r>
          </a:p>
          <a:p xmlns:a="http://schemas.openxmlformats.org/drawingml/2006/main">
            <a:r>
              <a:t/>
            </a:r>
          </a:p>
          <a:p xmlns:a="http://schemas.openxmlformats.org/drawingml/2006/main">
            <a:r>
              <a:t>[Sources]</a:t>
            </a:r>
          </a:p>
          <a:p xmlns:a="http://schemas.openxmlformats.org/drawingml/2006/main">
            <a:r>
              <a:t>- Repository prompt: week_07/Week_7_Lesson_2_Inference_in_Bayesian_Networks.md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lesson reduces to four reusable ideas. 1) Enumeration is exact but repeats work. 2) Variable elimination reuses intermediate factors. 3) Order controls the largest intermediate scope. 4) Sampling trades exactness for scalable estimates. These are connected: the formal model supplies the algorithm, the algorithm's invariant supports its guarantee, and the implementation contract makes that guarantee testable. The next topic is Module C begins with supervised learning and linear regression from first principles. Before moving on, make sure you can reproduce one worked trace without notes and can name one edge case that would distinguish a correct implementation from a plausible but defective one. Keep the summary as a checklist for the corresponding code lab and review questions.</a:t>
            </a:r>
          </a:p>
          <a:p xmlns:a="http://schemas.openxmlformats.org/drawingml/2006/main">
            <a:r>
              <a:t/>
            </a:r>
          </a:p>
          <a:p xmlns:a="http://schemas.openxmlformats.org/drawingml/2006/main">
            <a:r>
              <a:t>[Sources]</a:t>
            </a:r>
          </a:p>
          <a:p xmlns:a="http://schemas.openxmlformats.org/drawingml/2006/main">
            <a:r>
              <a:t>- Repository prompt: week_07/Week_7_Lesson_2_Inference_in_Bayesian_Networks.md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questions as an exit check. 1) Write a posterior as a normalized sum. 2) Multiply two factor scopes. 3) Trace one elimination. 4) Explain a poor order. 5) Compare two samplers. 6) Design an exact-inference oracle. Answer with definitions, calculations, traces, or design evidence rather than one-word labels. When a question asks for a comparison, hold the input and evaluation criterion constant. When it asks for a derivation, show the intermediate quantities. When it asks for an engineering decision, name the contract and the test that supports it. Any answer that depends on an unstated convention should make that convention explicit. A strong answer should be concise enough to audit yet complete enough to reproduce.</a:t>
            </a:r>
          </a:p>
          <a:p xmlns:a="http://schemas.openxmlformats.org/drawingml/2006/main">
            <a:r>
              <a:t/>
            </a:r>
          </a:p>
          <a:p xmlns:a="http://schemas.openxmlformats.org/drawingml/2006/main">
            <a:r>
              <a:t>[Sources]</a:t>
            </a:r>
          </a:p>
          <a:p xmlns:a="http://schemas.openxmlformats.org/drawingml/2006/main">
            <a:r>
              <a:t>- Repository prompt: week_07/Week_7_Lesson_2_Inference_in_Bayesian_Networks.md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a444ca977194f3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9ea0ca7e604d8d" /><Relationship Type="http://schemas.openxmlformats.org/officeDocument/2006/relationships/slideLayout" Target="/ppt/slideLayouts/slideLayout1.xml" Id="Ra354339ea84843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54339ea84843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504e29096b646ea" /><Relationship Type="http://schemas.openxmlformats.org/officeDocument/2006/relationships/notesSlide" Target="/ppt/notesSlides/notesSlide1.xml" Id="R2f1db336540c46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1b9d2e6b32c4118" /><Relationship Type="http://schemas.openxmlformats.org/officeDocument/2006/relationships/notesSlide" Target="/ppt/notesSlides/notesSlide2.xml" Id="Rc1f2c7ad14f844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76dae72391a465d" /><Relationship Type="http://schemas.openxmlformats.org/officeDocument/2006/relationships/notesSlide" Target="/ppt/notesSlides/notesSlide3.xml" Id="R5630023a6eaf40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0bf135a6eb441c" /><Relationship Type="http://schemas.openxmlformats.org/officeDocument/2006/relationships/notesSlide" Target="/ppt/notesSlides/notesSlide4.xml" Id="Rb4cc644ae92046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60d31ffba1944bd" /><Relationship Type="http://schemas.openxmlformats.org/officeDocument/2006/relationships/notesSlide" Target="/ppt/notesSlides/notesSlide5.xml" Id="Re087dda87a0b45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8c06a4fc4dd47d7" /><Relationship Type="http://schemas.openxmlformats.org/officeDocument/2006/relationships/notesSlide" Target="/ppt/notesSlides/notesSlide6.xml" Id="R66a8a3694fc647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d56ab2172dc405f" /><Relationship Type="http://schemas.openxmlformats.org/officeDocument/2006/relationships/notesSlide" Target="/ppt/notesSlides/notesSlide7.xml" Id="Re72745bcdafb42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f942f14cd284dec" /><Relationship Type="http://schemas.openxmlformats.org/officeDocument/2006/relationships/notesSlide" Target="/ppt/notesSlides/notesSlide8.xml" Id="R90a22179496e45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f282f86d7c343cc" /><Relationship Type="http://schemas.openxmlformats.org/officeDocument/2006/relationships/notesSlide" Target="/ppt/notesSlides/notesSlide9.xml" Id="Rb25c456b2dff46f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4ff1236c76e4e51" /><Relationship Type="http://schemas.openxmlformats.org/officeDocument/2006/relationships/notesSlide" Target="/ppt/notesSlides/notesSlide10.xml" Id="R3ccba8b9e1284d6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12f2f9802c84de0" /><Relationship Type="http://schemas.openxmlformats.org/officeDocument/2006/relationships/notesSlide" Target="/ppt/notesSlides/notesSlide11.xml" Id="R2b508d8354b840c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31f2923cf314d08" /><Relationship Type="http://schemas.openxmlformats.org/officeDocument/2006/relationships/notesSlide" Target="/ppt/notesSlides/notesSlide12.xml" Id="R3341680d57f740f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b3510284258459d" /><Relationship Type="http://schemas.openxmlformats.org/officeDocument/2006/relationships/notesSlide" Target="/ppt/notesSlides/notesSlide13.xml" Id="R63aee2160fde45a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5640fccd016435e" /><Relationship Type="http://schemas.openxmlformats.org/officeDocument/2006/relationships/notesSlide" Target="/ppt/notesSlides/notesSlide14.xml" Id="R0ae2b11da967492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b18b44a2e2d4b32" /><Relationship Type="http://schemas.openxmlformats.org/officeDocument/2006/relationships/notesSlide" Target="/ppt/notesSlides/notesSlide15.xml" Id="R4bf5afa228ac4c3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68759de471543aa" /><Relationship Type="http://schemas.openxmlformats.org/officeDocument/2006/relationships/notesSlide" Target="/ppt/notesSlides/notesSlide16.xml" Id="R5d96aa6e861e448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47e2b75e73946d6" /><Relationship Type="http://schemas.openxmlformats.org/officeDocument/2006/relationships/notesSlide" Target="/ppt/notesSlides/notesSlide17.xml" Id="R6f9862b7f47b447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49ed62511524ada" /><Relationship Type="http://schemas.openxmlformats.org/officeDocument/2006/relationships/notesSlide" Target="/ppt/notesSlides/notesSlide18.xml" Id="Rd839de948b51456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urse-eyebrow">
            <a:extLst xmlns:a="http://schemas.openxmlformats.org/drawingml/2006/main">
              <a:ext uri="{FF2B5EF4-FFF2-40B4-BE49-F238E27FC236}">
                <a16:creationId xmlns:a16="http://schemas.microsoft.com/office/drawing/2014/main" id="{B6086E76-DBA6-4454-8841-7B7C3AB0805C}"/>
              </a:ext>
            </a:extLst>
          </p:cNvPr>
          <p:cNvSpPr>
            <a:spLocks xmlns:a="http://schemas.openxmlformats.org/drawingml/2006/main" noGrp="1"/>
          </p:cNvSpPr>
          <p:nvPr/>
        </p:nvSpPr>
        <p:spPr>
          <a:xfrm xmlns:a="http://schemas.openxmlformats.org/drawingml/2006/main">
            <a:off x="400050" y="419100"/>
            <a:ext cx="742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5C6470"/>
                </a:solidFill>
                <a:latin typeface="Arial"/>
                <a:ea typeface="Arial"/>
                <a:cs typeface="Arial"/>
              </a:defRPr>
            </a:pPr>
            <a:r>
              <a:rPr sz="1500" b="1">
                <a:solidFill>
                  <a:srgbClr val="5C6470"/>
                </a:solidFill>
                <a:latin typeface="Arial"/>
                <a:ea typeface="Arial"/>
                <a:cs typeface="Arial"/>
              </a:rPr>
              <a:t>CMPSC 480  |  WEEK 07  |  LESSON 2</a:t>
            </a:r>
          </a:p>
        </p:txBody>
      </p:sp>
      <p:sp>
        <p:nvSpPr>
          <p:cNvPr id="2" name="title-accent-field">
            <a:extLst xmlns:a="http://schemas.openxmlformats.org/drawingml/2006/main">
              <a:ext uri="{FF2B5EF4-FFF2-40B4-BE49-F238E27FC236}">
                <a16:creationId xmlns:a16="http://schemas.microsoft.com/office/drawing/2014/main" id="{157CE1D4-1BB4-41B9-8952-0EDC12506C89}"/>
              </a:ext>
            </a:extLst>
          </p:cNvPr>
          <p:cNvSpPr>
            <a:spLocks xmlns:a="http://schemas.openxmlformats.org/drawingml/2006/main" noGrp="1"/>
          </p:cNvSpPr>
          <p:nvPr/>
        </p:nvSpPr>
        <p:spPr>
          <a:xfrm xmlns:a="http://schemas.openxmlformats.org/drawingml/2006/main">
            <a:off x="400050" y="1266825"/>
            <a:ext cx="152400" cy="3333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deck-title">
            <a:extLst xmlns:a="http://schemas.openxmlformats.org/drawingml/2006/main">
              <a:ext uri="{FF2B5EF4-FFF2-40B4-BE49-F238E27FC236}">
                <a16:creationId xmlns:a16="http://schemas.microsoft.com/office/drawing/2014/main" id="{F1D309EC-DFE6-4FA0-8DB4-D9A620A2DDA5}"/>
              </a:ext>
            </a:extLst>
          </p:cNvPr>
          <p:cNvSpPr>
            <a:spLocks xmlns:a="http://schemas.openxmlformats.org/drawingml/2006/main" noGrp="1"/>
          </p:cNvSpPr>
          <p:nvPr/>
        </p:nvSpPr>
        <p:spPr>
          <a:xfrm xmlns:a="http://schemas.openxmlformats.org/drawingml/2006/main">
            <a:off x="838200" y="1200150"/>
            <a:ext cx="1009650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4800" b="1">
                <a:solidFill>
                  <a:srgbClr val="111111"/>
                </a:solidFill>
                <a:latin typeface="Arial"/>
                <a:ea typeface="Arial"/>
                <a:cs typeface="Arial"/>
              </a:defRPr>
            </a:pPr>
            <a:r>
              <a:rPr sz="4800" b="1">
                <a:solidFill>
                  <a:srgbClr val="111111"/>
                </a:solidFill>
                <a:latin typeface="Arial"/>
                <a:ea typeface="Arial"/>
                <a:cs typeface="Arial"/>
              </a:rPr>
              <a:t>Inference in Bayesian Networks</a:t>
            </a:r>
          </a:p>
        </p:txBody>
      </p:sp>
      <p:sp>
        <p:nvSpPr>
          <p:cNvPr id="4" name="deck-subtitle">
            <a:extLst xmlns:a="http://schemas.openxmlformats.org/drawingml/2006/main">
              <a:ext uri="{FF2B5EF4-FFF2-40B4-BE49-F238E27FC236}">
                <a16:creationId xmlns:a16="http://schemas.microsoft.com/office/drawing/2014/main" id="{48893CF3-A364-4E19-AEC5-D592C51D2D30}"/>
              </a:ext>
            </a:extLst>
          </p:cNvPr>
          <p:cNvSpPr>
            <a:spLocks xmlns:a="http://schemas.openxmlformats.org/drawingml/2006/main" noGrp="1"/>
          </p:cNvSpPr>
          <p:nvPr/>
        </p:nvSpPr>
        <p:spPr>
          <a:xfrm xmlns:a="http://schemas.openxmlformats.org/drawingml/2006/main">
            <a:off x="838200" y="4171950"/>
            <a:ext cx="7620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0">
                <a:solidFill>
                  <a:srgbClr val="5C6470"/>
                </a:solidFill>
                <a:latin typeface="Arial"/>
                <a:ea typeface="Arial"/>
                <a:cs typeface="Arial"/>
              </a:defRPr>
            </a:pPr>
            <a:r>
              <a:rPr sz="2100" b="0">
                <a:solidFill>
                  <a:srgbClr val="5C6470"/>
                </a:solidFill>
                <a:latin typeface="Arial"/>
                <a:ea typeface="Arial"/>
                <a:cs typeface="Arial"/>
              </a:rPr>
              <a:t>Enumeration, variable elimination, and weighted samples</a:t>
            </a:r>
          </a:p>
        </p:txBody>
      </p:sp>
      <p:cxnSp>
        <p:nvCxnSpPr>
          <p:cNvPr id="12" name="title-bottom-rule"/>
          <p:cNvCxnSpPr/>
          <p:nvPr/>
        </p:nvCxnSpPr>
        <p:spPr>
          <a:xfrm xmlns:a="http://schemas.openxmlformats.org/drawingml/2006/main">
            <a:off x="400050" y="59531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6" name="title-duration">
            <a:extLst xmlns:a="http://schemas.openxmlformats.org/drawingml/2006/main">
              <a:ext uri="{FF2B5EF4-FFF2-40B4-BE49-F238E27FC236}">
                <a16:creationId xmlns:a16="http://schemas.microsoft.com/office/drawing/2014/main" id="{AD00DFEF-DC1B-4432-B07A-9CA1251E7A8A}"/>
              </a:ext>
            </a:extLst>
          </p:cNvPr>
          <p:cNvSpPr>
            <a:spLocks xmlns:a="http://schemas.openxmlformats.org/drawingml/2006/main" noGrp="1"/>
          </p:cNvSpPr>
          <p:nvPr/>
        </p:nvSpPr>
        <p:spPr>
          <a:xfrm xmlns:a="http://schemas.openxmlformats.org/drawingml/2006/main">
            <a:off x="400050" y="61341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470"/>
                </a:solidFill>
                <a:latin typeface="Arial"/>
                <a:ea typeface="Arial"/>
                <a:cs typeface="Arial"/>
              </a:defRPr>
            </a:pPr>
            <a:r>
              <a:rPr sz="1125" b="0">
                <a:solidFill>
                  <a:srgbClr val="5C6470"/>
                </a:solidFill>
                <a:latin typeface="Arial"/>
                <a:ea typeface="Arial"/>
                <a:cs typeface="Arial"/>
              </a:rPr>
              <a:t>Approximately 50 minutes</a:t>
            </a:r>
          </a:p>
        </p:txBody>
      </p:sp>
      <p:sp>
        <p:nvSpPr>
          <p:cNvPr id="7" name="title-slide-number">
            <a:extLst xmlns:a="http://schemas.openxmlformats.org/drawingml/2006/main">
              <a:ext uri="{FF2B5EF4-FFF2-40B4-BE49-F238E27FC236}">
                <a16:creationId xmlns:a16="http://schemas.microsoft.com/office/drawing/2014/main" id="{979FBE78-5517-406C-AF8A-A5DF2D3F7A02}"/>
              </a:ext>
            </a:extLst>
          </p:cNvPr>
          <p:cNvSpPr>
            <a:spLocks xmlns:a="http://schemas.openxmlformats.org/drawingml/2006/main" noGrp="1"/>
          </p:cNvSpPr>
          <p:nvPr/>
        </p:nvSpPr>
        <p:spPr>
          <a:xfrm xmlns:a="http://schemas.openxmlformats.org/drawingml/2006/main">
            <a:off x="11239500" y="6134100"/>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a:t>
            </a:r>
          </a:p>
        </p:txBody>
      </p:sp>
    </p:spTree>
    <p:extLst>
      <p:ext uri="{BB962C8B-B14F-4D97-AF65-F5344CB8AC3E}">
        <p14:creationId xmlns:p14="http://schemas.microsoft.com/office/powerpoint/2010/main" val="13836046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2">
            <a:extLst xmlns:a="http://schemas.openxmlformats.org/drawingml/2006/main">
              <a:ext uri="{FF2B5EF4-FFF2-40B4-BE49-F238E27FC236}">
                <a16:creationId xmlns:a16="http://schemas.microsoft.com/office/drawing/2014/main" id="{860DB34A-4CF1-4491-BD60-EBB2DA0FB982}"/>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Learning objectives</a:t>
            </a:r>
          </a:p>
        </p:txBody>
      </p:sp>
      <p:sp>
        <p:nvSpPr>
          <p:cNvPr id="2" name="title-accent-2">
            <a:extLst xmlns:a="http://schemas.openxmlformats.org/drawingml/2006/main">
              <a:ext uri="{FF2B5EF4-FFF2-40B4-BE49-F238E27FC236}">
                <a16:creationId xmlns:a16="http://schemas.microsoft.com/office/drawing/2014/main" id="{DAFDB9F3-259F-42B8-8A06-AE5A9BDC5702}"/>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2">
            <a:extLst xmlns:a="http://schemas.openxmlformats.org/drawingml/2006/main">
              <a:ext uri="{FF2B5EF4-FFF2-40B4-BE49-F238E27FC236}">
                <a16:creationId xmlns:a16="http://schemas.microsoft.com/office/drawing/2014/main" id="{A381EFE4-55FE-4438-8E78-6B7E3BC73101}"/>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2</a:t>
            </a:r>
          </a:p>
        </p:txBody>
      </p:sp>
      <p:sp>
        <p:nvSpPr>
          <p:cNvPr id="5" name="footer-number-2">
            <a:extLst xmlns:a="http://schemas.openxmlformats.org/drawingml/2006/main">
              <a:ext uri="{FF2B5EF4-FFF2-40B4-BE49-F238E27FC236}">
                <a16:creationId xmlns:a16="http://schemas.microsoft.com/office/drawing/2014/main" id="{3F87C711-2E08-49C4-A889-5ABA2312735A}"/>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2</a:t>
            </a:r>
          </a:p>
        </p:txBody>
      </p:sp>
      <p:sp>
        <p:nvSpPr>
          <p:cNvPr id="6" name="objective-intro-2">
            <a:extLst xmlns:a="http://schemas.openxmlformats.org/drawingml/2006/main">
              <a:ext uri="{FF2B5EF4-FFF2-40B4-BE49-F238E27FC236}">
                <a16:creationId xmlns:a16="http://schemas.microsoft.com/office/drawing/2014/main" id="{DB1E96A4-A509-4A07-8E99-50CCDAEC3746}"/>
              </a:ext>
            </a:extLst>
          </p:cNvPr>
          <p:cNvSpPr>
            <a:spLocks xmlns:a="http://schemas.openxmlformats.org/drawingml/2006/main" noGrp="1"/>
          </p:cNvSpPr>
          <p:nvPr/>
        </p:nvSpPr>
        <p:spPr>
          <a:xfrm xmlns:a="http://schemas.openxmlformats.org/drawingml/2006/main">
            <a:off x="400050" y="142875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5C6470"/>
                </a:solidFill>
                <a:latin typeface="Arial"/>
                <a:ea typeface="Arial"/>
                <a:cs typeface="Arial"/>
              </a:defRPr>
            </a:pPr>
            <a:r>
              <a:rPr sz="1650" b="0">
                <a:solidFill>
                  <a:srgbClr val="5C6470"/>
                </a:solidFill>
                <a:latin typeface="Arial"/>
                <a:ea typeface="Arial"/>
                <a:cs typeface="Arial"/>
              </a:rPr>
              <a:t>By the end of this lesson, you should be able to:</a:t>
            </a:r>
          </a:p>
        </p:txBody>
      </p:sp>
      <p:sp>
        <p:nvSpPr>
          <p:cNvPr id="7" name="objective-number-1">
            <a:extLst xmlns:a="http://schemas.openxmlformats.org/drawingml/2006/main">
              <a:ext uri="{FF2B5EF4-FFF2-40B4-BE49-F238E27FC236}">
                <a16:creationId xmlns:a16="http://schemas.microsoft.com/office/drawing/2014/main" id="{3656DE75-EE44-44AA-A980-6B85F387F4F0}"/>
              </a:ext>
            </a:extLst>
          </p:cNvPr>
          <p:cNvSpPr>
            <a:spLocks xmlns:a="http://schemas.openxmlformats.org/drawingml/2006/main" noGrp="1"/>
          </p:cNvSpPr>
          <p:nvPr/>
        </p:nvSpPr>
        <p:spPr>
          <a:xfrm xmlns:a="http://schemas.openxmlformats.org/drawingml/2006/main">
            <a:off x="400050" y="20478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01</a:t>
            </a:r>
          </a:p>
        </p:txBody>
      </p:sp>
      <p:cxnSp>
        <p:nvCxnSpPr>
          <p:cNvPr id="32" name="objective-rule-1"/>
          <p:cNvCxnSpPr/>
          <p:nvPr/>
        </p:nvCxnSpPr>
        <p:spPr>
          <a:xfrm xmlns:a="http://schemas.openxmlformats.org/drawingml/2006/main">
            <a:off x="1076325" y="22764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objective-text-1">
            <a:extLst xmlns:a="http://schemas.openxmlformats.org/drawingml/2006/main">
              <a:ext uri="{FF2B5EF4-FFF2-40B4-BE49-F238E27FC236}">
                <a16:creationId xmlns:a16="http://schemas.microsoft.com/office/drawing/2014/main" id="{0317EB53-FCF6-41EC-B293-5B2B2AB910C6}"/>
              </a:ext>
            </a:extLst>
          </p:cNvPr>
          <p:cNvSpPr>
            <a:spLocks xmlns:a="http://schemas.openxmlformats.org/drawingml/2006/main" noGrp="1"/>
          </p:cNvSpPr>
          <p:nvPr/>
        </p:nvSpPr>
        <p:spPr>
          <a:xfrm xmlns:a="http://schemas.openxmlformats.org/drawingml/2006/main">
            <a:off x="2047875" y="20478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Define query, evidence, and hidden variables.</a:t>
            </a:r>
          </a:p>
        </p:txBody>
      </p:sp>
      <p:sp>
        <p:nvSpPr>
          <p:cNvPr id="10" name="objective-number-2">
            <a:extLst xmlns:a="http://schemas.openxmlformats.org/drawingml/2006/main">
              <a:ext uri="{FF2B5EF4-FFF2-40B4-BE49-F238E27FC236}">
                <a16:creationId xmlns:a16="http://schemas.microsoft.com/office/drawing/2014/main" id="{0A9FB51D-4843-414F-8F96-6B0EF3A8D6D6}"/>
              </a:ext>
            </a:extLst>
          </p:cNvPr>
          <p:cNvSpPr>
            <a:spLocks xmlns:a="http://schemas.openxmlformats.org/drawingml/2006/main" noGrp="1"/>
          </p:cNvSpPr>
          <p:nvPr/>
        </p:nvSpPr>
        <p:spPr>
          <a:xfrm xmlns:a="http://schemas.openxmlformats.org/drawingml/2006/main">
            <a:off x="400050" y="27241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02</a:t>
            </a:r>
          </a:p>
        </p:txBody>
      </p:sp>
      <p:cxnSp>
        <p:nvCxnSpPr>
          <p:cNvPr id="35" name="objective-rule-2"/>
          <p:cNvCxnSpPr/>
          <p:nvPr/>
        </p:nvCxnSpPr>
        <p:spPr>
          <a:xfrm xmlns:a="http://schemas.openxmlformats.org/drawingml/2006/main">
            <a:off x="1076325" y="29527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2" name="objective-text-2">
            <a:extLst xmlns:a="http://schemas.openxmlformats.org/drawingml/2006/main">
              <a:ext uri="{FF2B5EF4-FFF2-40B4-BE49-F238E27FC236}">
                <a16:creationId xmlns:a16="http://schemas.microsoft.com/office/drawing/2014/main" id="{A1C8C370-EE11-41CC-9F8F-60B1E047966B}"/>
              </a:ext>
            </a:extLst>
          </p:cNvPr>
          <p:cNvSpPr>
            <a:spLocks xmlns:a="http://schemas.openxmlformats.org/drawingml/2006/main" noGrp="1"/>
          </p:cNvSpPr>
          <p:nvPr/>
        </p:nvSpPr>
        <p:spPr>
          <a:xfrm xmlns:a="http://schemas.openxmlformats.org/drawingml/2006/main">
            <a:off x="2047875" y="27241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Compute an exact posterior by enumeration.</a:t>
            </a:r>
          </a:p>
        </p:txBody>
      </p:sp>
      <p:sp>
        <p:nvSpPr>
          <p:cNvPr id="13" name="objective-number-3">
            <a:extLst xmlns:a="http://schemas.openxmlformats.org/drawingml/2006/main">
              <a:ext uri="{FF2B5EF4-FFF2-40B4-BE49-F238E27FC236}">
                <a16:creationId xmlns:a16="http://schemas.microsoft.com/office/drawing/2014/main" id="{6A442862-22F3-4D39-97F5-BD2A9E9005C0}"/>
              </a:ext>
            </a:extLst>
          </p:cNvPr>
          <p:cNvSpPr>
            <a:spLocks xmlns:a="http://schemas.openxmlformats.org/drawingml/2006/main" noGrp="1"/>
          </p:cNvSpPr>
          <p:nvPr/>
        </p:nvSpPr>
        <p:spPr>
          <a:xfrm xmlns:a="http://schemas.openxmlformats.org/drawingml/2006/main">
            <a:off x="400050" y="34004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03</a:t>
            </a:r>
          </a:p>
        </p:txBody>
      </p:sp>
      <p:cxnSp>
        <p:nvCxnSpPr>
          <p:cNvPr id="38" name="objective-rule-3"/>
          <p:cNvCxnSpPr/>
          <p:nvPr/>
        </p:nvCxnSpPr>
        <p:spPr>
          <a:xfrm xmlns:a="http://schemas.openxmlformats.org/drawingml/2006/main">
            <a:off x="1076325" y="362902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5" name="objective-text-3">
            <a:extLst xmlns:a="http://schemas.openxmlformats.org/drawingml/2006/main">
              <a:ext uri="{FF2B5EF4-FFF2-40B4-BE49-F238E27FC236}">
                <a16:creationId xmlns:a16="http://schemas.microsoft.com/office/drawing/2014/main" id="{46D2CC3A-BD60-4C19-BA23-08A0B7BD2DEA}"/>
              </a:ext>
            </a:extLst>
          </p:cNvPr>
          <p:cNvSpPr>
            <a:spLocks xmlns:a="http://schemas.openxmlformats.org/drawingml/2006/main" noGrp="1"/>
          </p:cNvSpPr>
          <p:nvPr/>
        </p:nvSpPr>
        <p:spPr>
          <a:xfrm xmlns:a="http://schemas.openxmlformats.org/drawingml/2006/main">
            <a:off x="2047875" y="340042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Multiply factors and sum out a variable.</a:t>
            </a:r>
          </a:p>
        </p:txBody>
      </p:sp>
      <p:sp>
        <p:nvSpPr>
          <p:cNvPr id="16" name="objective-number-4">
            <a:extLst xmlns:a="http://schemas.openxmlformats.org/drawingml/2006/main">
              <a:ext uri="{FF2B5EF4-FFF2-40B4-BE49-F238E27FC236}">
                <a16:creationId xmlns:a16="http://schemas.microsoft.com/office/drawing/2014/main" id="{0CE0A8F2-E79D-4FFD-8A3E-2A2235CF04AE}"/>
              </a:ext>
            </a:extLst>
          </p:cNvPr>
          <p:cNvSpPr>
            <a:spLocks xmlns:a="http://schemas.openxmlformats.org/drawingml/2006/main" noGrp="1"/>
          </p:cNvSpPr>
          <p:nvPr/>
        </p:nvSpPr>
        <p:spPr>
          <a:xfrm xmlns:a="http://schemas.openxmlformats.org/drawingml/2006/main">
            <a:off x="400050" y="407670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04</a:t>
            </a:r>
          </a:p>
        </p:txBody>
      </p:sp>
      <p:cxnSp>
        <p:nvCxnSpPr>
          <p:cNvPr id="41" name="objective-rule-4"/>
          <p:cNvCxnSpPr/>
          <p:nvPr/>
        </p:nvCxnSpPr>
        <p:spPr>
          <a:xfrm xmlns:a="http://schemas.openxmlformats.org/drawingml/2006/main">
            <a:off x="1076325" y="430530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8" name="objective-text-4">
            <a:extLst xmlns:a="http://schemas.openxmlformats.org/drawingml/2006/main">
              <a:ext uri="{FF2B5EF4-FFF2-40B4-BE49-F238E27FC236}">
                <a16:creationId xmlns:a16="http://schemas.microsoft.com/office/drawing/2014/main" id="{BBC2190E-7A1B-4604-B096-80469D062F7B}"/>
              </a:ext>
            </a:extLst>
          </p:cNvPr>
          <p:cNvSpPr>
            <a:spLocks xmlns:a="http://schemas.openxmlformats.org/drawingml/2006/main" noGrp="1"/>
          </p:cNvSpPr>
          <p:nvPr/>
        </p:nvSpPr>
        <p:spPr>
          <a:xfrm xmlns:a="http://schemas.openxmlformats.org/drawingml/2006/main">
            <a:off x="2047875" y="407670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Trace variable elimination step by step.</a:t>
            </a:r>
          </a:p>
        </p:txBody>
      </p:sp>
      <p:sp>
        <p:nvSpPr>
          <p:cNvPr id="19" name="objective-number-5">
            <a:extLst xmlns:a="http://schemas.openxmlformats.org/drawingml/2006/main">
              <a:ext uri="{FF2B5EF4-FFF2-40B4-BE49-F238E27FC236}">
                <a16:creationId xmlns:a16="http://schemas.microsoft.com/office/drawing/2014/main" id="{7BBDBE07-A3A5-4760-A88C-45AE72AD7A76}"/>
              </a:ext>
            </a:extLst>
          </p:cNvPr>
          <p:cNvSpPr>
            <a:spLocks xmlns:a="http://schemas.openxmlformats.org/drawingml/2006/main" noGrp="1"/>
          </p:cNvSpPr>
          <p:nvPr/>
        </p:nvSpPr>
        <p:spPr>
          <a:xfrm xmlns:a="http://schemas.openxmlformats.org/drawingml/2006/main">
            <a:off x="400050" y="47529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05</a:t>
            </a:r>
          </a:p>
        </p:txBody>
      </p:sp>
      <p:cxnSp>
        <p:nvCxnSpPr>
          <p:cNvPr id="44" name="objective-rule-5"/>
          <p:cNvCxnSpPr/>
          <p:nvPr/>
        </p:nvCxnSpPr>
        <p:spPr>
          <a:xfrm xmlns:a="http://schemas.openxmlformats.org/drawingml/2006/main">
            <a:off x="1076325" y="49815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1" name="objective-text-5">
            <a:extLst xmlns:a="http://schemas.openxmlformats.org/drawingml/2006/main">
              <a:ext uri="{FF2B5EF4-FFF2-40B4-BE49-F238E27FC236}">
                <a16:creationId xmlns:a16="http://schemas.microsoft.com/office/drawing/2014/main" id="{F4BDEFD4-0A07-493B-A734-618CC3896056}"/>
              </a:ext>
            </a:extLst>
          </p:cNvPr>
          <p:cNvSpPr>
            <a:spLocks xmlns:a="http://schemas.openxmlformats.org/drawingml/2006/main" noGrp="1"/>
          </p:cNvSpPr>
          <p:nvPr/>
        </p:nvSpPr>
        <p:spPr>
          <a:xfrm xmlns:a="http://schemas.openxmlformats.org/drawingml/2006/main">
            <a:off x="2047875" y="47529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Explain why elimination order controls cost.</a:t>
            </a:r>
          </a:p>
        </p:txBody>
      </p:sp>
      <p:sp>
        <p:nvSpPr>
          <p:cNvPr id="22" name="objective-number-6">
            <a:extLst xmlns:a="http://schemas.openxmlformats.org/drawingml/2006/main">
              <a:ext uri="{FF2B5EF4-FFF2-40B4-BE49-F238E27FC236}">
                <a16:creationId xmlns:a16="http://schemas.microsoft.com/office/drawing/2014/main" id="{C8655551-3EBA-497E-8445-F3A935482ACE}"/>
              </a:ext>
            </a:extLst>
          </p:cNvPr>
          <p:cNvSpPr>
            <a:spLocks xmlns:a="http://schemas.openxmlformats.org/drawingml/2006/main" noGrp="1"/>
          </p:cNvSpPr>
          <p:nvPr/>
        </p:nvSpPr>
        <p:spPr>
          <a:xfrm xmlns:a="http://schemas.openxmlformats.org/drawingml/2006/main">
            <a:off x="400050" y="54292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06</a:t>
            </a:r>
          </a:p>
        </p:txBody>
      </p:sp>
      <p:cxnSp>
        <p:nvCxnSpPr>
          <p:cNvPr id="47" name="objective-rule-6"/>
          <p:cNvCxnSpPr/>
          <p:nvPr/>
        </p:nvCxnSpPr>
        <p:spPr>
          <a:xfrm xmlns:a="http://schemas.openxmlformats.org/drawingml/2006/main">
            <a:off x="1076325" y="56578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4" name="objective-text-6">
            <a:extLst xmlns:a="http://schemas.openxmlformats.org/drawingml/2006/main">
              <a:ext uri="{FF2B5EF4-FFF2-40B4-BE49-F238E27FC236}">
                <a16:creationId xmlns:a16="http://schemas.microsoft.com/office/drawing/2014/main" id="{497B32EC-C373-48E7-BF7C-AC81D077B3AF}"/>
              </a:ext>
            </a:extLst>
          </p:cNvPr>
          <p:cNvSpPr>
            <a:spLocks xmlns:a="http://schemas.openxmlformats.org/drawingml/2006/main" noGrp="1"/>
          </p:cNvSpPr>
          <p:nvPr/>
        </p:nvSpPr>
        <p:spPr>
          <a:xfrm xmlns:a="http://schemas.openxmlformats.org/drawingml/2006/main">
            <a:off x="2047875" y="54292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Compare rejection sampling and likelihood weighting.</a:t>
            </a:r>
          </a:p>
        </p:txBody>
      </p:sp>
    </p:spTree>
    <p:extLst>
      <p:ext uri="{BB962C8B-B14F-4D97-AF65-F5344CB8AC3E}">
        <p14:creationId xmlns:p14="http://schemas.microsoft.com/office/powerpoint/2010/main" val="85015920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3">
            <a:extLst xmlns:a="http://schemas.openxmlformats.org/drawingml/2006/main">
              <a:ext uri="{FF2B5EF4-FFF2-40B4-BE49-F238E27FC236}">
                <a16:creationId xmlns:a16="http://schemas.microsoft.com/office/drawing/2014/main" id="{7D6FB48E-3E58-46F9-9F47-8B216FBB1D76}"/>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Inference is organized marginalization</a:t>
            </a:r>
          </a:p>
        </p:txBody>
      </p:sp>
      <p:sp>
        <p:nvSpPr>
          <p:cNvPr id="2" name="title-accent-3">
            <a:extLst xmlns:a="http://schemas.openxmlformats.org/drawingml/2006/main">
              <a:ext uri="{FF2B5EF4-FFF2-40B4-BE49-F238E27FC236}">
                <a16:creationId xmlns:a16="http://schemas.microsoft.com/office/drawing/2014/main" id="{1F3BF39C-AE2B-4AD8-9199-7416BC6EFA72}"/>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3">
            <a:extLst xmlns:a="http://schemas.openxmlformats.org/drawingml/2006/main">
              <a:ext uri="{FF2B5EF4-FFF2-40B4-BE49-F238E27FC236}">
                <a16:creationId xmlns:a16="http://schemas.microsoft.com/office/drawing/2014/main" id="{3895452E-8A5D-497D-BF28-99632E437994}"/>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2</a:t>
            </a:r>
          </a:p>
        </p:txBody>
      </p:sp>
      <p:sp>
        <p:nvSpPr>
          <p:cNvPr id="5" name="footer-number-3">
            <a:extLst xmlns:a="http://schemas.openxmlformats.org/drawingml/2006/main">
              <a:ext uri="{FF2B5EF4-FFF2-40B4-BE49-F238E27FC236}">
                <a16:creationId xmlns:a16="http://schemas.microsoft.com/office/drawing/2014/main" id="{79859DAB-4522-4BE3-9AE0-8F7D88FE6EDE}"/>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3</a:t>
            </a:r>
          </a:p>
        </p:txBody>
      </p:sp>
      <p:sp>
        <p:nvSpPr>
          <p:cNvPr id="6" name="claim-3">
            <a:extLst xmlns:a="http://schemas.openxmlformats.org/drawingml/2006/main">
              <a:ext uri="{FF2B5EF4-FFF2-40B4-BE49-F238E27FC236}">
                <a16:creationId xmlns:a16="http://schemas.microsoft.com/office/drawing/2014/main" id="{3A2B00C3-1053-4113-8B4D-66E80257EA86}"/>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All methods account for hidden variables; they differ in when terms are reused or approximated.</a:t>
            </a:r>
          </a:p>
        </p:txBody>
      </p:sp>
      <p:sp>
        <p:nvSpPr>
          <p:cNvPr id="7" name="claim-panel-3">
            <a:extLst xmlns:a="http://schemas.openxmlformats.org/drawingml/2006/main">
              <a:ext uri="{FF2B5EF4-FFF2-40B4-BE49-F238E27FC236}">
                <a16:creationId xmlns:a16="http://schemas.microsoft.com/office/drawing/2014/main" id="{7FA839D4-70AA-4986-917A-3C746E255331}"/>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3">
            <a:extLst xmlns:a="http://schemas.openxmlformats.org/drawingml/2006/main">
              <a:ext uri="{FF2B5EF4-FFF2-40B4-BE49-F238E27FC236}">
                <a16:creationId xmlns:a16="http://schemas.microsoft.com/office/drawing/2014/main" id="{21C13C26-B11E-4119-A1E0-FA1D981DD7B8}"/>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Reuse</a:t>
            </a:r>
          </a:p>
        </p:txBody>
      </p:sp>
      <p:sp>
        <p:nvSpPr>
          <p:cNvPr id="9" name="claim-keyword-detail-3">
            <a:extLst xmlns:a="http://schemas.openxmlformats.org/drawingml/2006/main">
              <a:ext uri="{FF2B5EF4-FFF2-40B4-BE49-F238E27FC236}">
                <a16:creationId xmlns:a16="http://schemas.microsoft.com/office/drawing/2014/main" id="{D07D6C48-BD01-45D0-88E1-5A972E6061EB}"/>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Variable elimination caches algebra in intermediate factors instead of recomputing identical sub-sums.</a:t>
            </a:r>
          </a:p>
        </p:txBody>
      </p:sp>
      <p:sp>
        <p:nvSpPr>
          <p:cNvPr id="10" name="claim-detail-3-marker-1">
            <a:extLst xmlns:a="http://schemas.openxmlformats.org/drawingml/2006/main">
              <a:ext uri="{FF2B5EF4-FFF2-40B4-BE49-F238E27FC236}">
                <a16:creationId xmlns:a16="http://schemas.microsoft.com/office/drawing/2014/main" id="{DFD80CDC-7279-45C1-83F6-04211B982717}"/>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3-text-1">
            <a:extLst xmlns:a="http://schemas.openxmlformats.org/drawingml/2006/main">
              <a:ext uri="{FF2B5EF4-FFF2-40B4-BE49-F238E27FC236}">
                <a16:creationId xmlns:a16="http://schemas.microsoft.com/office/drawing/2014/main" id="{FA72B86C-B600-472B-B089-F6E5B4B52207}"/>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Enumeration expands every hidden assignment.</a:t>
            </a:r>
          </a:p>
        </p:txBody>
      </p:sp>
      <p:sp>
        <p:nvSpPr>
          <p:cNvPr id="12" name="claim-detail-3-marker-2">
            <a:extLst xmlns:a="http://schemas.openxmlformats.org/drawingml/2006/main">
              <a:ext uri="{FF2B5EF4-FFF2-40B4-BE49-F238E27FC236}">
                <a16:creationId xmlns:a16="http://schemas.microsoft.com/office/drawing/2014/main" id="{21A1F778-97B6-4E59-BD8A-A11ACE71E05D}"/>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3-text-2">
            <a:extLst xmlns:a="http://schemas.openxmlformats.org/drawingml/2006/main">
              <a:ext uri="{FF2B5EF4-FFF2-40B4-BE49-F238E27FC236}">
                <a16:creationId xmlns:a16="http://schemas.microsoft.com/office/drawing/2014/main" id="{5AD91BC4-33FB-41F0-A88F-694AE8235D3D}"/>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Elimination distributes sums through products.</a:t>
            </a:r>
          </a:p>
        </p:txBody>
      </p:sp>
      <p:sp>
        <p:nvSpPr>
          <p:cNvPr id="14" name="claim-detail-3-marker-3">
            <a:extLst xmlns:a="http://schemas.openxmlformats.org/drawingml/2006/main">
              <a:ext uri="{FF2B5EF4-FFF2-40B4-BE49-F238E27FC236}">
                <a16:creationId xmlns:a16="http://schemas.microsoft.com/office/drawing/2014/main" id="{71A06C59-6B2E-4376-A8F6-4DE6F9FEEFB3}"/>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3-text-3">
            <a:extLst xmlns:a="http://schemas.openxmlformats.org/drawingml/2006/main">
              <a:ext uri="{FF2B5EF4-FFF2-40B4-BE49-F238E27FC236}">
                <a16:creationId xmlns:a16="http://schemas.microsoft.com/office/drawing/2014/main" id="{0A6E7525-38AC-4638-B022-22AFFC0B0CDF}"/>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Sampling replaces an exact sum with an empirical estimate.</a:t>
            </a:r>
          </a:p>
        </p:txBody>
      </p:sp>
    </p:spTree>
    <p:extLst>
      <p:ext uri="{BB962C8B-B14F-4D97-AF65-F5344CB8AC3E}">
        <p14:creationId xmlns:p14="http://schemas.microsoft.com/office/powerpoint/2010/main" val="128669679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4">
            <a:extLst xmlns:a="http://schemas.openxmlformats.org/drawingml/2006/main">
              <a:ext uri="{FF2B5EF4-FFF2-40B4-BE49-F238E27FC236}">
                <a16:creationId xmlns:a16="http://schemas.microsoft.com/office/drawing/2014/main" id="{BB73C189-B4DF-4A2C-BEB3-1F94A0230B23}"/>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The posterior query</a:t>
            </a:r>
          </a:p>
        </p:txBody>
      </p:sp>
      <p:sp>
        <p:nvSpPr>
          <p:cNvPr id="2" name="title-accent-4">
            <a:extLst xmlns:a="http://schemas.openxmlformats.org/drawingml/2006/main">
              <a:ext uri="{FF2B5EF4-FFF2-40B4-BE49-F238E27FC236}">
                <a16:creationId xmlns:a16="http://schemas.microsoft.com/office/drawing/2014/main" id="{87969D5A-89AF-4341-9CD8-57C78A5FBB61}"/>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4">
            <a:extLst xmlns:a="http://schemas.openxmlformats.org/drawingml/2006/main">
              <a:ext uri="{FF2B5EF4-FFF2-40B4-BE49-F238E27FC236}">
                <a16:creationId xmlns:a16="http://schemas.microsoft.com/office/drawing/2014/main" id="{497E3168-A3A6-4F9C-8B84-015BC9925A2C}"/>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2</a:t>
            </a:r>
          </a:p>
        </p:txBody>
      </p:sp>
      <p:sp>
        <p:nvSpPr>
          <p:cNvPr id="5" name="footer-number-4">
            <a:extLst xmlns:a="http://schemas.openxmlformats.org/drawingml/2006/main">
              <a:ext uri="{FF2B5EF4-FFF2-40B4-BE49-F238E27FC236}">
                <a16:creationId xmlns:a16="http://schemas.microsoft.com/office/drawing/2014/main" id="{5BA42F34-17B1-44D1-8B9F-ADAA60363D34}"/>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4</a:t>
            </a:r>
          </a:p>
        </p:txBody>
      </p:sp>
      <p:sp>
        <p:nvSpPr>
          <p:cNvPr id="6" name="formula-panel-4">
            <a:extLst xmlns:a="http://schemas.openxmlformats.org/drawingml/2006/main">
              <a:ext uri="{FF2B5EF4-FFF2-40B4-BE49-F238E27FC236}">
                <a16:creationId xmlns:a16="http://schemas.microsoft.com/office/drawing/2014/main" id="{04C8CB04-BD04-4123-A671-281B3FFE1529}"/>
              </a:ext>
            </a:extLst>
          </p:cNvPr>
          <p:cNvSpPr>
            <a:spLocks xmlns:a="http://schemas.openxmlformats.org/drawingml/2006/main" noGrp="1"/>
          </p:cNvSpPr>
          <p:nvPr/>
        </p:nvSpPr>
        <p:spPr>
          <a:xfrm xmlns:a="http://schemas.openxmlformats.org/drawingml/2006/main">
            <a:off x="400050" y="1657350"/>
            <a:ext cx="113919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ormula-4">
            <a:extLst xmlns:a="http://schemas.openxmlformats.org/drawingml/2006/main">
              <a:ext uri="{FF2B5EF4-FFF2-40B4-BE49-F238E27FC236}">
                <a16:creationId xmlns:a16="http://schemas.microsoft.com/office/drawing/2014/main" id="{9D5F85A6-76A6-4C80-90F5-BD1BB8340683}"/>
              </a:ext>
            </a:extLst>
          </p:cNvPr>
          <p:cNvSpPr>
            <a:spLocks xmlns:a="http://schemas.openxmlformats.org/drawingml/2006/main" noGrp="1"/>
          </p:cNvSpPr>
          <p:nvPr/>
        </p:nvSpPr>
        <p:spPr>
          <a:xfrm xmlns:a="http://schemas.openxmlformats.org/drawingml/2006/main">
            <a:off x="781050" y="1952625"/>
            <a:ext cx="10629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3300" b="1">
                <a:solidFill>
                  <a:srgbClr val="111111"/>
                </a:solidFill>
                <a:latin typeface="Cambria Math"/>
                <a:ea typeface="Cambria Math"/>
                <a:cs typeface="Cambria Math"/>
              </a:defRPr>
            </a:pPr>
            <a:r>
              <a:rPr sz="3300" b="1">
                <a:solidFill>
                  <a:srgbClr val="111111"/>
                </a:solidFill>
                <a:latin typeface="Cambria Math"/>
                <a:ea typeface="Cambria Math"/>
                <a:cs typeface="Cambria Math"/>
              </a:rPr>
              <a:t>P(Q|e) = alpha P(Q,e) = alpha sum_h product_i P(x_i | parents_i)</a:t>
            </a:r>
          </a:p>
        </p:txBody>
      </p:sp>
      <p:sp>
        <p:nvSpPr>
          <p:cNvPr id="8" name="formula-definition-4-marker-1">
            <a:extLst xmlns:a="http://schemas.openxmlformats.org/drawingml/2006/main">
              <a:ext uri="{FF2B5EF4-FFF2-40B4-BE49-F238E27FC236}">
                <a16:creationId xmlns:a16="http://schemas.microsoft.com/office/drawing/2014/main" id="{0F5E719E-77B9-486C-B406-6B457C47FF0B}"/>
              </a:ext>
            </a:extLst>
          </p:cNvPr>
          <p:cNvSpPr>
            <a:spLocks xmlns:a="http://schemas.openxmlformats.org/drawingml/2006/main" noGrp="1"/>
          </p:cNvSpPr>
          <p:nvPr/>
        </p:nvSpPr>
        <p:spPr>
          <a:xfrm xmlns:a="http://schemas.openxmlformats.org/drawingml/2006/main">
            <a:off x="400050" y="38195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formula-definition-4-text-1">
            <a:extLst xmlns:a="http://schemas.openxmlformats.org/drawingml/2006/main">
              <a:ext uri="{FF2B5EF4-FFF2-40B4-BE49-F238E27FC236}">
                <a16:creationId xmlns:a16="http://schemas.microsoft.com/office/drawing/2014/main" id="{6531B15B-DAF8-44B7-98CA-49D12B38C162}"/>
              </a:ext>
            </a:extLst>
          </p:cNvPr>
          <p:cNvSpPr>
            <a:spLocks xmlns:a="http://schemas.openxmlformats.org/drawingml/2006/main" noGrp="1"/>
          </p:cNvSpPr>
          <p:nvPr/>
        </p:nvSpPr>
        <p:spPr>
          <a:xfrm xmlns:a="http://schemas.openxmlformats.org/drawingml/2006/main">
            <a:off x="628650" y="37338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Q denotes query variables.</a:t>
            </a:r>
          </a:p>
        </p:txBody>
      </p:sp>
      <p:sp>
        <p:nvSpPr>
          <p:cNvPr id="10" name="formula-definition-4-marker-2">
            <a:extLst xmlns:a="http://schemas.openxmlformats.org/drawingml/2006/main">
              <a:ext uri="{FF2B5EF4-FFF2-40B4-BE49-F238E27FC236}">
                <a16:creationId xmlns:a16="http://schemas.microsoft.com/office/drawing/2014/main" id="{73506DC1-134D-4940-BC27-43979644C84C}"/>
              </a:ext>
            </a:extLst>
          </p:cNvPr>
          <p:cNvSpPr>
            <a:spLocks xmlns:a="http://schemas.openxmlformats.org/drawingml/2006/main" noGrp="1"/>
          </p:cNvSpPr>
          <p:nvPr/>
        </p:nvSpPr>
        <p:spPr>
          <a:xfrm xmlns:a="http://schemas.openxmlformats.org/drawingml/2006/main">
            <a:off x="400050" y="44481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formula-definition-4-text-2">
            <a:extLst xmlns:a="http://schemas.openxmlformats.org/drawingml/2006/main">
              <a:ext uri="{FF2B5EF4-FFF2-40B4-BE49-F238E27FC236}">
                <a16:creationId xmlns:a16="http://schemas.microsoft.com/office/drawing/2014/main" id="{CDD949FC-5043-4C9A-83B0-924CA1CF5079}"/>
              </a:ext>
            </a:extLst>
          </p:cNvPr>
          <p:cNvSpPr>
            <a:spLocks xmlns:a="http://schemas.openxmlformats.org/drawingml/2006/main" noGrp="1"/>
          </p:cNvSpPr>
          <p:nvPr/>
        </p:nvSpPr>
        <p:spPr>
          <a:xfrm xmlns:a="http://schemas.openxmlformats.org/drawingml/2006/main">
            <a:off x="628650" y="43624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 fixes evidence variables.</a:t>
            </a:r>
          </a:p>
        </p:txBody>
      </p:sp>
      <p:sp>
        <p:nvSpPr>
          <p:cNvPr id="12" name="formula-definition-4-marker-3">
            <a:extLst xmlns:a="http://schemas.openxmlformats.org/drawingml/2006/main">
              <a:ext uri="{FF2B5EF4-FFF2-40B4-BE49-F238E27FC236}">
                <a16:creationId xmlns:a16="http://schemas.microsoft.com/office/drawing/2014/main" id="{0B7EB310-75C4-4E29-8EFD-1DEDFDF5224F}"/>
              </a:ext>
            </a:extLst>
          </p:cNvPr>
          <p:cNvSpPr>
            <a:spLocks xmlns:a="http://schemas.openxmlformats.org/drawingml/2006/main" noGrp="1"/>
          </p:cNvSpPr>
          <p:nvPr/>
        </p:nvSpPr>
        <p:spPr>
          <a:xfrm xmlns:a="http://schemas.openxmlformats.org/drawingml/2006/main">
            <a:off x="400050" y="5076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formula-definition-4-text-3">
            <a:extLst xmlns:a="http://schemas.openxmlformats.org/drawingml/2006/main">
              <a:ext uri="{FF2B5EF4-FFF2-40B4-BE49-F238E27FC236}">
                <a16:creationId xmlns:a16="http://schemas.microsoft.com/office/drawing/2014/main" id="{539CC123-7DB5-499F-AC5D-4CA3FFD7D1E9}"/>
              </a:ext>
            </a:extLst>
          </p:cNvPr>
          <p:cNvSpPr>
            <a:spLocks xmlns:a="http://schemas.openxmlformats.org/drawingml/2006/main" noGrp="1"/>
          </p:cNvSpPr>
          <p:nvPr/>
        </p:nvSpPr>
        <p:spPr>
          <a:xfrm xmlns:a="http://schemas.openxmlformats.org/drawingml/2006/main">
            <a:off x="628650" y="49911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h ranges over hidden assignments.</a:t>
            </a:r>
          </a:p>
        </p:txBody>
      </p:sp>
      <p:sp>
        <p:nvSpPr>
          <p:cNvPr id="14" name="formula-definition-4-marker-4">
            <a:extLst xmlns:a="http://schemas.openxmlformats.org/drawingml/2006/main">
              <a:ext uri="{FF2B5EF4-FFF2-40B4-BE49-F238E27FC236}">
                <a16:creationId xmlns:a16="http://schemas.microsoft.com/office/drawing/2014/main" id="{0B2F6302-3A00-4FB1-BF7C-616A5AEAD730}"/>
              </a:ext>
            </a:extLst>
          </p:cNvPr>
          <p:cNvSpPr>
            <a:spLocks xmlns:a="http://schemas.openxmlformats.org/drawingml/2006/main" noGrp="1"/>
          </p:cNvSpPr>
          <p:nvPr/>
        </p:nvSpPr>
        <p:spPr>
          <a:xfrm xmlns:a="http://schemas.openxmlformats.org/drawingml/2006/main">
            <a:off x="400050" y="57054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formula-definition-4-text-4">
            <a:extLst xmlns:a="http://schemas.openxmlformats.org/drawingml/2006/main">
              <a:ext uri="{FF2B5EF4-FFF2-40B4-BE49-F238E27FC236}">
                <a16:creationId xmlns:a16="http://schemas.microsoft.com/office/drawing/2014/main" id="{50368853-0969-45A7-B711-3E8A4C5E4E4D}"/>
              </a:ext>
            </a:extLst>
          </p:cNvPr>
          <p:cNvSpPr>
            <a:spLocks xmlns:a="http://schemas.openxmlformats.org/drawingml/2006/main" noGrp="1"/>
          </p:cNvSpPr>
          <p:nvPr/>
        </p:nvSpPr>
        <p:spPr>
          <a:xfrm xmlns:a="http://schemas.openxmlformats.org/drawingml/2006/main">
            <a:off x="628650" y="56197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alpha normalizes entries to sum to one.</a:t>
            </a:r>
          </a:p>
        </p:txBody>
      </p:sp>
      <p:sp>
        <p:nvSpPr>
          <p:cNvPr id="16" name="formula-implication-panel-4">
            <a:extLst xmlns:a="http://schemas.openxmlformats.org/drawingml/2006/main">
              <a:ext uri="{FF2B5EF4-FFF2-40B4-BE49-F238E27FC236}">
                <a16:creationId xmlns:a16="http://schemas.microsoft.com/office/drawing/2014/main" id="{1AC22A10-F5D1-45EA-B2D3-32FEB9CBF3E6}"/>
              </a:ext>
            </a:extLst>
          </p:cNvPr>
          <p:cNvSpPr>
            <a:spLocks xmlns:a="http://schemas.openxmlformats.org/drawingml/2006/main" noGrp="1"/>
          </p:cNvSpPr>
          <p:nvPr/>
        </p:nvSpPr>
        <p:spPr>
          <a:xfrm xmlns:a="http://schemas.openxmlformats.org/drawingml/2006/main">
            <a:off x="8191500" y="3733800"/>
            <a:ext cx="3600450" cy="1885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formula-implication-label-4">
            <a:extLst xmlns:a="http://schemas.openxmlformats.org/drawingml/2006/main">
              <a:ext uri="{FF2B5EF4-FFF2-40B4-BE49-F238E27FC236}">
                <a16:creationId xmlns:a16="http://schemas.microsoft.com/office/drawing/2014/main" id="{753752F0-8538-41CA-98DB-E14624D2C13F}"/>
              </a:ext>
            </a:extLst>
          </p:cNvPr>
          <p:cNvSpPr>
            <a:spLocks xmlns:a="http://schemas.openxmlformats.org/drawingml/2006/main" noGrp="1"/>
          </p:cNvSpPr>
          <p:nvPr/>
        </p:nvSpPr>
        <p:spPr>
          <a:xfrm xmlns:a="http://schemas.openxmlformats.org/drawingml/2006/main">
            <a:off x="8458200" y="3990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ENGINEERING IMPLICATION</a:t>
            </a:r>
          </a:p>
        </p:txBody>
      </p:sp>
      <p:sp>
        <p:nvSpPr>
          <p:cNvPr id="18" name="formula-implication-4">
            <a:extLst xmlns:a="http://schemas.openxmlformats.org/drawingml/2006/main">
              <a:ext uri="{FF2B5EF4-FFF2-40B4-BE49-F238E27FC236}">
                <a16:creationId xmlns:a16="http://schemas.microsoft.com/office/drawing/2014/main" id="{7A9435BD-047F-4C3C-B66C-DCB6294CB601}"/>
              </a:ext>
            </a:extLst>
          </p:cNvPr>
          <p:cNvSpPr>
            <a:spLocks xmlns:a="http://schemas.openxmlformats.org/drawingml/2006/main" noGrp="1"/>
          </p:cNvSpPr>
          <p:nvPr/>
        </p:nvSpPr>
        <p:spPr>
          <a:xfrm xmlns:a="http://schemas.openxmlformats.org/drawingml/2006/main">
            <a:off x="8458200" y="4438650"/>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Evidence is fixed before hidden variables are marginalized.</a:t>
            </a:r>
          </a:p>
        </p:txBody>
      </p:sp>
    </p:spTree>
    <p:extLst>
      <p:ext uri="{BB962C8B-B14F-4D97-AF65-F5344CB8AC3E}">
        <p14:creationId xmlns:p14="http://schemas.microsoft.com/office/powerpoint/2010/main" val="5308499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5">
            <a:extLst xmlns:a="http://schemas.openxmlformats.org/drawingml/2006/main">
              <a:ext uri="{FF2B5EF4-FFF2-40B4-BE49-F238E27FC236}">
                <a16:creationId xmlns:a16="http://schemas.microsoft.com/office/drawing/2014/main" id="{A2A111F5-EE3C-40F5-855E-F8FF38687616}"/>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Factors are small functions, not full distributions</a:t>
            </a:r>
          </a:p>
        </p:txBody>
      </p:sp>
      <p:sp>
        <p:nvSpPr>
          <p:cNvPr id="2" name="title-accent-5">
            <a:extLst xmlns:a="http://schemas.openxmlformats.org/drawingml/2006/main">
              <a:ext uri="{FF2B5EF4-FFF2-40B4-BE49-F238E27FC236}">
                <a16:creationId xmlns:a16="http://schemas.microsoft.com/office/drawing/2014/main" id="{BA0374E9-FFD9-4D14-99BB-B90873DD1810}"/>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5">
            <a:extLst xmlns:a="http://schemas.openxmlformats.org/drawingml/2006/main">
              <a:ext uri="{FF2B5EF4-FFF2-40B4-BE49-F238E27FC236}">
                <a16:creationId xmlns:a16="http://schemas.microsoft.com/office/drawing/2014/main" id="{98CB9723-5016-4CFD-8526-74A8A9AFA788}"/>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2</a:t>
            </a:r>
          </a:p>
        </p:txBody>
      </p:sp>
      <p:sp>
        <p:nvSpPr>
          <p:cNvPr id="5" name="footer-number-5">
            <a:extLst xmlns:a="http://schemas.openxmlformats.org/drawingml/2006/main">
              <a:ext uri="{FF2B5EF4-FFF2-40B4-BE49-F238E27FC236}">
                <a16:creationId xmlns:a16="http://schemas.microsoft.com/office/drawing/2014/main" id="{858B48CC-57BF-412A-A06E-7138BCE3E25D}"/>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5</a:t>
            </a:r>
          </a:p>
        </p:txBody>
      </p:sp>
      <p:cxnSp>
        <p:nvCxnSpPr>
          <p:cNvPr id="30" name="column-divider-5"/>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5">
            <a:extLst xmlns:a="http://schemas.openxmlformats.org/drawingml/2006/main">
              <a:ext uri="{FF2B5EF4-FFF2-40B4-BE49-F238E27FC236}">
                <a16:creationId xmlns:a16="http://schemas.microsoft.com/office/drawing/2014/main" id="{780E18D3-0EFA-445C-957E-91982BC9C56C}"/>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Factor multiplication</a:t>
            </a:r>
          </a:p>
        </p:txBody>
      </p:sp>
      <p:sp>
        <p:nvSpPr>
          <p:cNvPr id="8" name="right-title-5">
            <a:extLst xmlns:a="http://schemas.openxmlformats.org/drawingml/2006/main">
              <a:ext uri="{FF2B5EF4-FFF2-40B4-BE49-F238E27FC236}">
                <a16:creationId xmlns:a16="http://schemas.microsoft.com/office/drawing/2014/main" id="{8879C4D5-C079-46A0-B8EE-1E90CE5FF9D6}"/>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Sum out</a:t>
            </a:r>
          </a:p>
        </p:txBody>
      </p:sp>
      <p:sp>
        <p:nvSpPr>
          <p:cNvPr id="9" name="left-bullet-5-marker-1">
            <a:extLst xmlns:a="http://schemas.openxmlformats.org/drawingml/2006/main">
              <a:ext uri="{FF2B5EF4-FFF2-40B4-BE49-F238E27FC236}">
                <a16:creationId xmlns:a16="http://schemas.microsoft.com/office/drawing/2014/main" id="{C1CA9FA4-3D3B-41FF-AC03-2D47EE231A41}"/>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5-text-1">
            <a:extLst xmlns:a="http://schemas.openxmlformats.org/drawingml/2006/main">
              <a:ext uri="{FF2B5EF4-FFF2-40B4-BE49-F238E27FC236}">
                <a16:creationId xmlns:a16="http://schemas.microsoft.com/office/drawing/2014/main" id="{112CBD11-D17F-4752-9289-8F1C06B223B7}"/>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Join factors on shared variables.</a:t>
            </a:r>
          </a:p>
        </p:txBody>
      </p:sp>
      <p:sp>
        <p:nvSpPr>
          <p:cNvPr id="11" name="left-bullet-5-marker-2">
            <a:extLst xmlns:a="http://schemas.openxmlformats.org/drawingml/2006/main">
              <a:ext uri="{FF2B5EF4-FFF2-40B4-BE49-F238E27FC236}">
                <a16:creationId xmlns:a16="http://schemas.microsoft.com/office/drawing/2014/main" id="{313EEDA9-64CF-43A2-A29E-0280D4A393B9}"/>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5-text-2">
            <a:extLst xmlns:a="http://schemas.openxmlformats.org/drawingml/2006/main">
              <a:ext uri="{FF2B5EF4-FFF2-40B4-BE49-F238E27FC236}">
                <a16:creationId xmlns:a16="http://schemas.microsoft.com/office/drawing/2014/main" id="{9188B7A2-3326-4154-8CD2-8AF1F6C58B0A}"/>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Multiply compatible entries.</a:t>
            </a:r>
          </a:p>
        </p:txBody>
      </p:sp>
      <p:sp>
        <p:nvSpPr>
          <p:cNvPr id="13" name="left-bullet-5-marker-3">
            <a:extLst xmlns:a="http://schemas.openxmlformats.org/drawingml/2006/main">
              <a:ext uri="{FF2B5EF4-FFF2-40B4-BE49-F238E27FC236}">
                <a16:creationId xmlns:a16="http://schemas.microsoft.com/office/drawing/2014/main" id="{5FB75990-549E-4CEE-A840-9F97F45D38FD}"/>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5-text-3">
            <a:extLst xmlns:a="http://schemas.openxmlformats.org/drawingml/2006/main">
              <a:ext uri="{FF2B5EF4-FFF2-40B4-BE49-F238E27FC236}">
                <a16:creationId xmlns:a16="http://schemas.microsoft.com/office/drawing/2014/main" id="{6B9C85C6-875A-4EAE-9ECD-ACA775ADABA7}"/>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Scope is the union.</a:t>
            </a:r>
          </a:p>
        </p:txBody>
      </p:sp>
      <p:sp>
        <p:nvSpPr>
          <p:cNvPr id="15" name="left-bullet-5-marker-4">
            <a:extLst xmlns:a="http://schemas.openxmlformats.org/drawingml/2006/main">
              <a:ext uri="{FF2B5EF4-FFF2-40B4-BE49-F238E27FC236}">
                <a16:creationId xmlns:a16="http://schemas.microsoft.com/office/drawing/2014/main" id="{CC3E8E9D-0C06-4A71-BD2F-6046C34396F4}"/>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5-text-4">
            <a:extLst xmlns:a="http://schemas.openxmlformats.org/drawingml/2006/main">
              <a:ext uri="{FF2B5EF4-FFF2-40B4-BE49-F238E27FC236}">
                <a16:creationId xmlns:a16="http://schemas.microsoft.com/office/drawing/2014/main" id="{5A3440D6-0586-472A-931C-F652F444EA73}"/>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Order affects intermediate size.</a:t>
            </a:r>
          </a:p>
        </p:txBody>
      </p:sp>
      <p:sp>
        <p:nvSpPr>
          <p:cNvPr id="17" name="right-bullet-5-marker-1">
            <a:extLst xmlns:a="http://schemas.openxmlformats.org/drawingml/2006/main">
              <a:ext uri="{FF2B5EF4-FFF2-40B4-BE49-F238E27FC236}">
                <a16:creationId xmlns:a16="http://schemas.microsoft.com/office/drawing/2014/main" id="{14220DA7-A6A1-497F-8CAB-429913E012BD}"/>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5-text-1">
            <a:extLst xmlns:a="http://schemas.openxmlformats.org/drawingml/2006/main">
              <a:ext uri="{FF2B5EF4-FFF2-40B4-BE49-F238E27FC236}">
                <a16:creationId xmlns:a16="http://schemas.microsoft.com/office/drawing/2014/main" id="{A532DE64-F0CF-45CA-8CD5-E3CA85B880CC}"/>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Choose one hidden variable.</a:t>
            </a:r>
          </a:p>
        </p:txBody>
      </p:sp>
      <p:sp>
        <p:nvSpPr>
          <p:cNvPr id="19" name="right-bullet-5-marker-2">
            <a:extLst xmlns:a="http://schemas.openxmlformats.org/drawingml/2006/main">
              <a:ext uri="{FF2B5EF4-FFF2-40B4-BE49-F238E27FC236}">
                <a16:creationId xmlns:a16="http://schemas.microsoft.com/office/drawing/2014/main" id="{2BCF5FA0-95AE-45CA-9A1F-FABF31CFE037}"/>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5-text-2">
            <a:extLst xmlns:a="http://schemas.openxmlformats.org/drawingml/2006/main">
              <a:ext uri="{FF2B5EF4-FFF2-40B4-BE49-F238E27FC236}">
                <a16:creationId xmlns:a16="http://schemas.microsoft.com/office/drawing/2014/main" id="{8BBDAB48-6A87-4B85-A630-6AFB5B5127B3}"/>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Sum entries over its values.</a:t>
            </a:r>
          </a:p>
        </p:txBody>
      </p:sp>
      <p:sp>
        <p:nvSpPr>
          <p:cNvPr id="21" name="right-bullet-5-marker-3">
            <a:extLst xmlns:a="http://schemas.openxmlformats.org/drawingml/2006/main">
              <a:ext uri="{FF2B5EF4-FFF2-40B4-BE49-F238E27FC236}">
                <a16:creationId xmlns:a16="http://schemas.microsoft.com/office/drawing/2014/main" id="{AC68DFA0-15BC-4F1E-B87D-02E16E2F742D}"/>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5-text-3">
            <a:extLst xmlns:a="http://schemas.openxmlformats.org/drawingml/2006/main">
              <a:ext uri="{FF2B5EF4-FFF2-40B4-BE49-F238E27FC236}">
                <a16:creationId xmlns:a16="http://schemas.microsoft.com/office/drawing/2014/main" id="{9F59A180-D88F-40C5-B053-B9C8BC725F0A}"/>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Remove it from scope.</a:t>
            </a:r>
          </a:p>
        </p:txBody>
      </p:sp>
      <p:sp>
        <p:nvSpPr>
          <p:cNvPr id="23" name="right-bullet-5-marker-4">
            <a:extLst xmlns:a="http://schemas.openxmlformats.org/drawingml/2006/main">
              <a:ext uri="{FF2B5EF4-FFF2-40B4-BE49-F238E27FC236}">
                <a16:creationId xmlns:a16="http://schemas.microsoft.com/office/drawing/2014/main" id="{AD03F231-1355-4230-8098-13BD6B5170BF}"/>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5-text-4">
            <a:extLst xmlns:a="http://schemas.openxmlformats.org/drawingml/2006/main">
              <a:ext uri="{FF2B5EF4-FFF2-40B4-BE49-F238E27FC236}">
                <a16:creationId xmlns:a16="http://schemas.microsoft.com/office/drawing/2014/main" id="{F3F460F3-9BF8-4358-B4DC-943D385B7ED1}"/>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Preserve remaining function values.</a:t>
            </a:r>
          </a:p>
        </p:txBody>
      </p:sp>
    </p:spTree>
    <p:extLst>
      <p:ext uri="{BB962C8B-B14F-4D97-AF65-F5344CB8AC3E}">
        <p14:creationId xmlns:p14="http://schemas.microsoft.com/office/powerpoint/2010/main" val="8057102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slide-title-6">
            <a:extLst xmlns:a="http://schemas.openxmlformats.org/drawingml/2006/main">
              <a:ext uri="{FF2B5EF4-FFF2-40B4-BE49-F238E27FC236}">
                <a16:creationId xmlns:a16="http://schemas.microsoft.com/office/drawing/2014/main" id="{648379A2-CA68-4C2A-8ABE-F86F785A392F}"/>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Variable elimination reorganizes exact inference</a:t>
            </a:r>
          </a:p>
        </p:txBody>
      </p:sp>
      <p:sp>
        <p:nvSpPr>
          <p:cNvPr id="2" name="title-accent-6">
            <a:extLst xmlns:a="http://schemas.openxmlformats.org/drawingml/2006/main">
              <a:ext uri="{FF2B5EF4-FFF2-40B4-BE49-F238E27FC236}">
                <a16:creationId xmlns:a16="http://schemas.microsoft.com/office/drawing/2014/main" id="{B634306E-88B5-421E-B22B-4B0EE8FB926A}"/>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33" name="title-rule-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6">
            <a:extLst xmlns:a="http://schemas.openxmlformats.org/drawingml/2006/main">
              <a:ext uri="{FF2B5EF4-FFF2-40B4-BE49-F238E27FC236}">
                <a16:creationId xmlns:a16="http://schemas.microsoft.com/office/drawing/2014/main" id="{3D0B8B76-3F93-4BE0-9C83-85AD731197B6}"/>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2</a:t>
            </a:r>
          </a:p>
        </p:txBody>
      </p:sp>
      <p:sp>
        <p:nvSpPr>
          <p:cNvPr id="5" name="footer-number-6">
            <a:extLst xmlns:a="http://schemas.openxmlformats.org/drawingml/2006/main">
              <a:ext uri="{FF2B5EF4-FFF2-40B4-BE49-F238E27FC236}">
                <a16:creationId xmlns:a16="http://schemas.microsoft.com/office/drawing/2014/main" id="{FC62ED0E-BE07-4D7C-8469-B0FAAFEDE944}"/>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6</a:t>
            </a:r>
          </a:p>
        </p:txBody>
      </p:sp>
      <p:cxnSp>
        <p:nvCxnSpPr>
          <p:cNvPr id="36" name="process-connector-6-1"/>
          <p:cNvCxnSpPr/>
          <p:nvPr/>
        </p:nvCxnSpPr>
        <p:spPr>
          <a:xfrm xmlns:a="http://schemas.openxmlformats.org/drawingml/2006/main">
            <a:off x="25241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7" name="process-connector-6-2"/>
          <p:cNvCxnSpPr/>
          <p:nvPr/>
        </p:nvCxnSpPr>
        <p:spPr>
          <a:xfrm xmlns:a="http://schemas.openxmlformats.org/drawingml/2006/main">
            <a:off x="48482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8" name="process-connector-6-3"/>
          <p:cNvCxnSpPr/>
          <p:nvPr/>
        </p:nvCxnSpPr>
        <p:spPr>
          <a:xfrm xmlns:a="http://schemas.openxmlformats.org/drawingml/2006/main">
            <a:off x="71723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9" name="process-connector-6-4"/>
          <p:cNvCxnSpPr/>
          <p:nvPr/>
        </p:nvCxnSpPr>
        <p:spPr>
          <a:xfrm xmlns:a="http://schemas.openxmlformats.org/drawingml/2006/main">
            <a:off x="9496425" y="3114675"/>
            <a:ext cx="171450" cy="0"/>
          </a:xfrm>
          <a:prstGeom xmlns:a="http://schemas.openxmlformats.org/drawingml/2006/main" prst="straightConnector1">
            <a:avLst/>
          </a:prstGeom>
          <a:ln xmlns:a="http://schemas.openxmlformats.org/drawingml/2006/main" w="19050">
            <a:solidFill>
              <a:srgbClr val="3D8DFF"/>
            </a:solidFill>
            <a:prstDash val="solid"/>
          </a:ln>
        </p:spPr>
      </p:cxnSp>
      <p:sp>
        <p:nvSpPr>
          <p:cNvPr id="10" name="process-node-6-1">
            <a:extLst xmlns:a="http://schemas.openxmlformats.org/drawingml/2006/main">
              <a:ext uri="{FF2B5EF4-FFF2-40B4-BE49-F238E27FC236}">
                <a16:creationId xmlns:a16="http://schemas.microsoft.com/office/drawing/2014/main" id="{0C70DBF8-5D1A-4574-8C7F-00451B8103EC}"/>
              </a:ext>
            </a:extLst>
          </p:cNvPr>
          <p:cNvSpPr>
            <a:spLocks xmlns:a="http://schemas.openxmlformats.org/drawingml/2006/main" noGrp="1"/>
          </p:cNvSpPr>
          <p:nvPr/>
        </p:nvSpPr>
        <p:spPr>
          <a:xfrm xmlns:a="http://schemas.openxmlformats.org/drawingml/2006/main">
            <a:off x="4000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1" name="process-number-6-1">
            <a:extLst xmlns:a="http://schemas.openxmlformats.org/drawingml/2006/main">
              <a:ext uri="{FF2B5EF4-FFF2-40B4-BE49-F238E27FC236}">
                <a16:creationId xmlns:a16="http://schemas.microsoft.com/office/drawing/2014/main" id="{2097ABD9-D146-4096-9A6E-2AB77AB94EF8}"/>
              </a:ext>
            </a:extLst>
          </p:cNvPr>
          <p:cNvSpPr>
            <a:spLocks xmlns:a="http://schemas.openxmlformats.org/drawingml/2006/main" noGrp="1"/>
          </p:cNvSpPr>
          <p:nvPr/>
        </p:nvSpPr>
        <p:spPr>
          <a:xfrm xmlns:a="http://schemas.openxmlformats.org/drawingml/2006/main">
            <a:off x="5715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2" name="process-title-6-1">
            <a:extLst xmlns:a="http://schemas.openxmlformats.org/drawingml/2006/main">
              <a:ext uri="{FF2B5EF4-FFF2-40B4-BE49-F238E27FC236}">
                <a16:creationId xmlns:a16="http://schemas.microsoft.com/office/drawing/2014/main" id="{3F4CC0F5-EFD2-4C76-8A4A-3C2D72CCA610}"/>
              </a:ext>
            </a:extLst>
          </p:cNvPr>
          <p:cNvSpPr>
            <a:spLocks xmlns:a="http://schemas.openxmlformats.org/drawingml/2006/main" noGrp="1"/>
          </p:cNvSpPr>
          <p:nvPr/>
        </p:nvSpPr>
        <p:spPr>
          <a:xfrm xmlns:a="http://schemas.openxmlformats.org/drawingml/2006/main">
            <a:off x="5715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Restrict</a:t>
            </a:r>
          </a:p>
        </p:txBody>
      </p:sp>
      <p:sp>
        <p:nvSpPr>
          <p:cNvPr id="13" name="process-detail-6-1">
            <a:extLst xmlns:a="http://schemas.openxmlformats.org/drawingml/2006/main">
              <a:ext uri="{FF2B5EF4-FFF2-40B4-BE49-F238E27FC236}">
                <a16:creationId xmlns:a16="http://schemas.microsoft.com/office/drawing/2014/main" id="{4911B3EA-8EB8-4EC4-9FD0-EA9FEB587463}"/>
              </a:ext>
            </a:extLst>
          </p:cNvPr>
          <p:cNvSpPr>
            <a:spLocks xmlns:a="http://schemas.openxmlformats.org/drawingml/2006/main" noGrp="1"/>
          </p:cNvSpPr>
          <p:nvPr/>
        </p:nvSpPr>
        <p:spPr>
          <a:xfrm xmlns:a="http://schemas.openxmlformats.org/drawingml/2006/main">
            <a:off x="5715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Apply evidence to each CPT factor.</a:t>
            </a:r>
          </a:p>
        </p:txBody>
      </p:sp>
      <p:sp>
        <p:nvSpPr>
          <p:cNvPr id="14" name="process-node-6-2">
            <a:extLst xmlns:a="http://schemas.openxmlformats.org/drawingml/2006/main">
              <a:ext uri="{FF2B5EF4-FFF2-40B4-BE49-F238E27FC236}">
                <a16:creationId xmlns:a16="http://schemas.microsoft.com/office/drawing/2014/main" id="{02A35B67-BE9C-460F-B9F3-DEAEEDAE6C54}"/>
              </a:ext>
            </a:extLst>
          </p:cNvPr>
          <p:cNvSpPr>
            <a:spLocks xmlns:a="http://schemas.openxmlformats.org/drawingml/2006/main" noGrp="1"/>
          </p:cNvSpPr>
          <p:nvPr/>
        </p:nvSpPr>
        <p:spPr>
          <a:xfrm xmlns:a="http://schemas.openxmlformats.org/drawingml/2006/main">
            <a:off x="27241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5" name="process-number-6-2">
            <a:extLst xmlns:a="http://schemas.openxmlformats.org/drawingml/2006/main">
              <a:ext uri="{FF2B5EF4-FFF2-40B4-BE49-F238E27FC236}">
                <a16:creationId xmlns:a16="http://schemas.microsoft.com/office/drawing/2014/main" id="{E203FA53-360C-4FE4-B28C-19FC25B957F2}"/>
              </a:ext>
            </a:extLst>
          </p:cNvPr>
          <p:cNvSpPr>
            <a:spLocks xmlns:a="http://schemas.openxmlformats.org/drawingml/2006/main" noGrp="1"/>
          </p:cNvSpPr>
          <p:nvPr/>
        </p:nvSpPr>
        <p:spPr>
          <a:xfrm xmlns:a="http://schemas.openxmlformats.org/drawingml/2006/main">
            <a:off x="28956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6" name="process-title-6-2">
            <a:extLst xmlns:a="http://schemas.openxmlformats.org/drawingml/2006/main">
              <a:ext uri="{FF2B5EF4-FFF2-40B4-BE49-F238E27FC236}">
                <a16:creationId xmlns:a16="http://schemas.microsoft.com/office/drawing/2014/main" id="{75672BEB-A139-4B15-B70E-B8A6D20ED117}"/>
              </a:ext>
            </a:extLst>
          </p:cNvPr>
          <p:cNvSpPr>
            <a:spLocks xmlns:a="http://schemas.openxmlformats.org/drawingml/2006/main" noGrp="1"/>
          </p:cNvSpPr>
          <p:nvPr/>
        </p:nvSpPr>
        <p:spPr>
          <a:xfrm xmlns:a="http://schemas.openxmlformats.org/drawingml/2006/main">
            <a:off x="28956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Choose</a:t>
            </a:r>
          </a:p>
        </p:txBody>
      </p:sp>
      <p:sp>
        <p:nvSpPr>
          <p:cNvPr id="17" name="process-detail-6-2">
            <a:extLst xmlns:a="http://schemas.openxmlformats.org/drawingml/2006/main">
              <a:ext uri="{FF2B5EF4-FFF2-40B4-BE49-F238E27FC236}">
                <a16:creationId xmlns:a16="http://schemas.microsoft.com/office/drawing/2014/main" id="{93F14C0A-47D0-42C6-954D-5A8B0D2D82F3}"/>
              </a:ext>
            </a:extLst>
          </p:cNvPr>
          <p:cNvSpPr>
            <a:spLocks xmlns:a="http://schemas.openxmlformats.org/drawingml/2006/main" noGrp="1"/>
          </p:cNvSpPr>
          <p:nvPr/>
        </p:nvSpPr>
        <p:spPr>
          <a:xfrm xmlns:a="http://schemas.openxmlformats.org/drawingml/2006/main">
            <a:off x="28956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Select a hidden variable order.</a:t>
            </a:r>
          </a:p>
        </p:txBody>
      </p:sp>
      <p:sp>
        <p:nvSpPr>
          <p:cNvPr id="18" name="process-node-6-3">
            <a:extLst xmlns:a="http://schemas.openxmlformats.org/drawingml/2006/main">
              <a:ext uri="{FF2B5EF4-FFF2-40B4-BE49-F238E27FC236}">
                <a16:creationId xmlns:a16="http://schemas.microsoft.com/office/drawing/2014/main" id="{EEA1B1B6-FAF1-4A00-9657-B7530F8929DA}"/>
              </a:ext>
            </a:extLst>
          </p:cNvPr>
          <p:cNvSpPr>
            <a:spLocks xmlns:a="http://schemas.openxmlformats.org/drawingml/2006/main" noGrp="1"/>
          </p:cNvSpPr>
          <p:nvPr/>
        </p:nvSpPr>
        <p:spPr>
          <a:xfrm xmlns:a="http://schemas.openxmlformats.org/drawingml/2006/main">
            <a:off x="5048250" y="2238375"/>
            <a:ext cx="2095500" cy="2381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9" name="process-number-6-3">
            <a:extLst xmlns:a="http://schemas.openxmlformats.org/drawingml/2006/main">
              <a:ext uri="{FF2B5EF4-FFF2-40B4-BE49-F238E27FC236}">
                <a16:creationId xmlns:a16="http://schemas.microsoft.com/office/drawing/2014/main" id="{BA80B020-1811-4FB1-868F-9C68CF67296D}"/>
              </a:ext>
            </a:extLst>
          </p:cNvPr>
          <p:cNvSpPr>
            <a:spLocks xmlns:a="http://schemas.openxmlformats.org/drawingml/2006/main" noGrp="1"/>
          </p:cNvSpPr>
          <p:nvPr/>
        </p:nvSpPr>
        <p:spPr>
          <a:xfrm xmlns:a="http://schemas.openxmlformats.org/drawingml/2006/main">
            <a:off x="52197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20" name="process-title-6-3">
            <a:extLst xmlns:a="http://schemas.openxmlformats.org/drawingml/2006/main">
              <a:ext uri="{FF2B5EF4-FFF2-40B4-BE49-F238E27FC236}">
                <a16:creationId xmlns:a16="http://schemas.microsoft.com/office/drawing/2014/main" id="{DDBF8528-B2D0-417A-96C1-3CD921BBCE6D}"/>
              </a:ext>
            </a:extLst>
          </p:cNvPr>
          <p:cNvSpPr>
            <a:spLocks xmlns:a="http://schemas.openxmlformats.org/drawingml/2006/main" noGrp="1"/>
          </p:cNvSpPr>
          <p:nvPr/>
        </p:nvSpPr>
        <p:spPr>
          <a:xfrm xmlns:a="http://schemas.openxmlformats.org/drawingml/2006/main">
            <a:off x="52197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Join</a:t>
            </a:r>
          </a:p>
        </p:txBody>
      </p:sp>
      <p:sp>
        <p:nvSpPr>
          <p:cNvPr id="21" name="process-detail-6-3">
            <a:extLst xmlns:a="http://schemas.openxmlformats.org/drawingml/2006/main">
              <a:ext uri="{FF2B5EF4-FFF2-40B4-BE49-F238E27FC236}">
                <a16:creationId xmlns:a16="http://schemas.microsoft.com/office/drawing/2014/main" id="{7C572C05-A035-4EFE-8253-6C8C7E804151}"/>
              </a:ext>
            </a:extLst>
          </p:cNvPr>
          <p:cNvSpPr>
            <a:spLocks xmlns:a="http://schemas.openxmlformats.org/drawingml/2006/main" noGrp="1"/>
          </p:cNvSpPr>
          <p:nvPr/>
        </p:nvSpPr>
        <p:spPr>
          <a:xfrm xmlns:a="http://schemas.openxmlformats.org/drawingml/2006/main">
            <a:off x="52197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Multiply all factors containing that variable.</a:t>
            </a:r>
          </a:p>
        </p:txBody>
      </p:sp>
      <p:sp>
        <p:nvSpPr>
          <p:cNvPr id="22" name="process-node-6-4">
            <a:extLst xmlns:a="http://schemas.openxmlformats.org/drawingml/2006/main">
              <a:ext uri="{FF2B5EF4-FFF2-40B4-BE49-F238E27FC236}">
                <a16:creationId xmlns:a16="http://schemas.microsoft.com/office/drawing/2014/main" id="{AAA67543-337D-4F18-8B25-701046C201AF}"/>
              </a:ext>
            </a:extLst>
          </p:cNvPr>
          <p:cNvSpPr>
            <a:spLocks xmlns:a="http://schemas.openxmlformats.org/drawingml/2006/main" noGrp="1"/>
          </p:cNvSpPr>
          <p:nvPr/>
        </p:nvSpPr>
        <p:spPr>
          <a:xfrm xmlns:a="http://schemas.openxmlformats.org/drawingml/2006/main">
            <a:off x="73723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3" name="process-number-6-4">
            <a:extLst xmlns:a="http://schemas.openxmlformats.org/drawingml/2006/main">
              <a:ext uri="{FF2B5EF4-FFF2-40B4-BE49-F238E27FC236}">
                <a16:creationId xmlns:a16="http://schemas.microsoft.com/office/drawing/2014/main" id="{26D16089-B742-42C0-B52E-2B38BCCAC9B9}"/>
              </a:ext>
            </a:extLst>
          </p:cNvPr>
          <p:cNvSpPr>
            <a:spLocks xmlns:a="http://schemas.openxmlformats.org/drawingml/2006/main" noGrp="1"/>
          </p:cNvSpPr>
          <p:nvPr/>
        </p:nvSpPr>
        <p:spPr>
          <a:xfrm xmlns:a="http://schemas.openxmlformats.org/drawingml/2006/main">
            <a:off x="75438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04</a:t>
            </a:r>
          </a:p>
        </p:txBody>
      </p:sp>
      <p:sp>
        <p:nvSpPr>
          <p:cNvPr id="24" name="process-title-6-4">
            <a:extLst xmlns:a="http://schemas.openxmlformats.org/drawingml/2006/main">
              <a:ext uri="{FF2B5EF4-FFF2-40B4-BE49-F238E27FC236}">
                <a16:creationId xmlns:a16="http://schemas.microsoft.com/office/drawing/2014/main" id="{A00EEABA-D112-4E41-BE37-D05D02B0B134}"/>
              </a:ext>
            </a:extLst>
          </p:cNvPr>
          <p:cNvSpPr>
            <a:spLocks xmlns:a="http://schemas.openxmlformats.org/drawingml/2006/main" noGrp="1"/>
          </p:cNvSpPr>
          <p:nvPr/>
        </p:nvSpPr>
        <p:spPr>
          <a:xfrm xmlns:a="http://schemas.openxmlformats.org/drawingml/2006/main">
            <a:off x="75438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Eliminate</a:t>
            </a:r>
          </a:p>
        </p:txBody>
      </p:sp>
      <p:sp>
        <p:nvSpPr>
          <p:cNvPr id="25" name="process-detail-6-4">
            <a:extLst xmlns:a="http://schemas.openxmlformats.org/drawingml/2006/main">
              <a:ext uri="{FF2B5EF4-FFF2-40B4-BE49-F238E27FC236}">
                <a16:creationId xmlns:a16="http://schemas.microsoft.com/office/drawing/2014/main" id="{A58881C4-0A74-44B3-970C-BABC7C17EAF9}"/>
              </a:ext>
            </a:extLst>
          </p:cNvPr>
          <p:cNvSpPr>
            <a:spLocks xmlns:a="http://schemas.openxmlformats.org/drawingml/2006/main" noGrp="1"/>
          </p:cNvSpPr>
          <p:nvPr/>
        </p:nvSpPr>
        <p:spPr>
          <a:xfrm xmlns:a="http://schemas.openxmlformats.org/drawingml/2006/main">
            <a:off x="75438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Sum it out and return the new factor.</a:t>
            </a:r>
          </a:p>
        </p:txBody>
      </p:sp>
      <p:sp>
        <p:nvSpPr>
          <p:cNvPr id="26" name="process-node-6-5">
            <a:extLst xmlns:a="http://schemas.openxmlformats.org/drawingml/2006/main">
              <a:ext uri="{FF2B5EF4-FFF2-40B4-BE49-F238E27FC236}">
                <a16:creationId xmlns:a16="http://schemas.microsoft.com/office/drawing/2014/main" id="{A339508A-458B-44BB-A3C8-FEC3CFDD1133}"/>
              </a:ext>
            </a:extLst>
          </p:cNvPr>
          <p:cNvSpPr>
            <a:spLocks xmlns:a="http://schemas.openxmlformats.org/drawingml/2006/main" noGrp="1"/>
          </p:cNvSpPr>
          <p:nvPr/>
        </p:nvSpPr>
        <p:spPr>
          <a:xfrm xmlns:a="http://schemas.openxmlformats.org/drawingml/2006/main">
            <a:off x="96964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7" name="process-number-6-5">
            <a:extLst xmlns:a="http://schemas.openxmlformats.org/drawingml/2006/main">
              <a:ext uri="{FF2B5EF4-FFF2-40B4-BE49-F238E27FC236}">
                <a16:creationId xmlns:a16="http://schemas.microsoft.com/office/drawing/2014/main" id="{5D233A44-04CD-461A-B226-A705CB6214DF}"/>
              </a:ext>
            </a:extLst>
          </p:cNvPr>
          <p:cNvSpPr>
            <a:spLocks xmlns:a="http://schemas.openxmlformats.org/drawingml/2006/main" noGrp="1"/>
          </p:cNvSpPr>
          <p:nvPr/>
        </p:nvSpPr>
        <p:spPr>
          <a:xfrm xmlns:a="http://schemas.openxmlformats.org/drawingml/2006/main">
            <a:off x="98679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05</a:t>
            </a:r>
          </a:p>
        </p:txBody>
      </p:sp>
      <p:sp>
        <p:nvSpPr>
          <p:cNvPr id="28" name="process-title-6-5">
            <a:extLst xmlns:a="http://schemas.openxmlformats.org/drawingml/2006/main">
              <a:ext uri="{FF2B5EF4-FFF2-40B4-BE49-F238E27FC236}">
                <a16:creationId xmlns:a16="http://schemas.microsoft.com/office/drawing/2014/main" id="{BDB4078B-6CFD-49C0-9CC1-43FC65EAEF35}"/>
              </a:ext>
            </a:extLst>
          </p:cNvPr>
          <p:cNvSpPr>
            <a:spLocks xmlns:a="http://schemas.openxmlformats.org/drawingml/2006/main" noGrp="1"/>
          </p:cNvSpPr>
          <p:nvPr/>
        </p:nvSpPr>
        <p:spPr>
          <a:xfrm xmlns:a="http://schemas.openxmlformats.org/drawingml/2006/main">
            <a:off x="98679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Normalize</a:t>
            </a:r>
          </a:p>
        </p:txBody>
      </p:sp>
      <p:sp>
        <p:nvSpPr>
          <p:cNvPr id="29" name="process-detail-6-5">
            <a:extLst xmlns:a="http://schemas.openxmlformats.org/drawingml/2006/main">
              <a:ext uri="{FF2B5EF4-FFF2-40B4-BE49-F238E27FC236}">
                <a16:creationId xmlns:a16="http://schemas.microsoft.com/office/drawing/2014/main" id="{72BC7E49-E095-40A2-897D-402B2885F97E}"/>
              </a:ext>
            </a:extLst>
          </p:cNvPr>
          <p:cNvSpPr>
            <a:spLocks xmlns:a="http://schemas.openxmlformats.org/drawingml/2006/main" noGrp="1"/>
          </p:cNvSpPr>
          <p:nvPr/>
        </p:nvSpPr>
        <p:spPr>
          <a:xfrm xmlns:a="http://schemas.openxmlformats.org/drawingml/2006/main">
            <a:off x="98679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Multiply remaining factors and scale.</a:t>
            </a:r>
          </a:p>
        </p:txBody>
      </p:sp>
      <p:sp>
        <p:nvSpPr>
          <p:cNvPr id="30" name="process-takeaway-6">
            <a:extLst xmlns:a="http://schemas.openxmlformats.org/drawingml/2006/main">
              <a:ext uri="{FF2B5EF4-FFF2-40B4-BE49-F238E27FC236}">
                <a16:creationId xmlns:a16="http://schemas.microsoft.com/office/drawing/2014/main" id="{91C5B968-B505-4852-95BC-E7E21442057E}"/>
              </a:ext>
            </a:extLst>
          </p:cNvPr>
          <p:cNvSpPr>
            <a:spLocks xmlns:a="http://schemas.openxmlformats.org/drawingml/2006/main" noGrp="1"/>
          </p:cNvSpPr>
          <p:nvPr/>
        </p:nvSpPr>
        <p:spPr>
          <a:xfrm xmlns:a="http://schemas.openxmlformats.org/drawingml/2006/main">
            <a:off x="400050" y="5095875"/>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Eliminate a variable only after collecting every factor that mentions it.</a:t>
            </a:r>
          </a:p>
        </p:txBody>
      </p:sp>
    </p:spTree>
    <p:extLst>
      <p:ext uri="{BB962C8B-B14F-4D97-AF65-F5344CB8AC3E}">
        <p14:creationId xmlns:p14="http://schemas.microsoft.com/office/powerpoint/2010/main" val="130756320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7">
            <a:extLst xmlns:a="http://schemas.openxmlformats.org/drawingml/2006/main">
              <a:ext uri="{FF2B5EF4-FFF2-40B4-BE49-F238E27FC236}">
                <a16:creationId xmlns:a16="http://schemas.microsoft.com/office/drawing/2014/main" id="{947808B1-A90B-4757-8397-EC4AADD84429}"/>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Variable-elimination skeleton</a:t>
            </a:r>
          </a:p>
        </p:txBody>
      </p:sp>
      <p:sp>
        <p:nvSpPr>
          <p:cNvPr id="2" name="title-accent-7">
            <a:extLst xmlns:a="http://schemas.openxmlformats.org/drawingml/2006/main">
              <a:ext uri="{FF2B5EF4-FFF2-40B4-BE49-F238E27FC236}">
                <a16:creationId xmlns:a16="http://schemas.microsoft.com/office/drawing/2014/main" id="{9E120CFD-BD84-4C04-82C9-17C57678E0E9}"/>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9" name="title-rule-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7">
            <a:extLst xmlns:a="http://schemas.openxmlformats.org/drawingml/2006/main">
              <a:ext uri="{FF2B5EF4-FFF2-40B4-BE49-F238E27FC236}">
                <a16:creationId xmlns:a16="http://schemas.microsoft.com/office/drawing/2014/main" id="{C6D44474-C3F7-4C70-AFEA-EDB725D4969A}"/>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2</a:t>
            </a:r>
          </a:p>
        </p:txBody>
      </p:sp>
      <p:sp>
        <p:nvSpPr>
          <p:cNvPr id="5" name="footer-number-7">
            <a:extLst xmlns:a="http://schemas.openxmlformats.org/drawingml/2006/main">
              <a:ext uri="{FF2B5EF4-FFF2-40B4-BE49-F238E27FC236}">
                <a16:creationId xmlns:a16="http://schemas.microsoft.com/office/drawing/2014/main" id="{6534741D-8F90-4BCD-BCAA-F3B6967AD342}"/>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7</a:t>
            </a:r>
          </a:p>
        </p:txBody>
      </p:sp>
      <p:sp>
        <p:nvSpPr>
          <p:cNvPr id="6" name="code-panel-7">
            <a:extLst xmlns:a="http://schemas.openxmlformats.org/drawingml/2006/main">
              <a:ext uri="{FF2B5EF4-FFF2-40B4-BE49-F238E27FC236}">
                <a16:creationId xmlns:a16="http://schemas.microsoft.com/office/drawing/2014/main" id="{97D68221-157D-4E57-B9DE-2F5B91F38379}"/>
              </a:ext>
            </a:extLst>
          </p:cNvPr>
          <p:cNvSpPr>
            <a:spLocks xmlns:a="http://schemas.openxmlformats.org/drawingml/2006/main" noGrp="1"/>
          </p:cNvSpPr>
          <p:nvPr/>
        </p:nvSpPr>
        <p:spPr>
          <a:xfrm xmlns:a="http://schemas.openxmlformats.org/drawingml/2006/main">
            <a:off x="400050" y="1600200"/>
            <a:ext cx="7410450" cy="4095750"/>
          </a:xfrm>
          <a:prstGeom xmlns:a="http://schemas.openxmlformats.org/drawingml/2006/main" prst="rect">
            <a:avLst/>
          </a:prstGeom>
          <a:solidFill xmlns:a="http://schemas.openxmlformats.org/drawingml/2006/main">
            <a:srgbClr val="F5F6F7"/>
          </a:solidFill>
          <a:ln xmlns:a="http://schemas.openxmlformats.org/drawingml/2006/main" w="9525">
            <a:solidFill>
              <a:srgbClr val="B8BCC4"/>
            </a:solidFill>
            <a:prstDash val="solid"/>
          </a:ln>
        </p:spPr>
      </p:sp>
      <p:sp>
        <p:nvSpPr>
          <p:cNvPr id="7" name="code-7">
            <a:extLst xmlns:a="http://schemas.openxmlformats.org/drawingml/2006/main">
              <a:ext uri="{FF2B5EF4-FFF2-40B4-BE49-F238E27FC236}">
                <a16:creationId xmlns:a16="http://schemas.microsoft.com/office/drawing/2014/main" id="{4A974582-B2B0-477B-9DB3-CCBD34126C35}"/>
              </a:ext>
            </a:extLst>
          </p:cNvPr>
          <p:cNvSpPr>
            <a:spLocks xmlns:a="http://schemas.openxmlformats.org/drawingml/2006/main" noGrp="1"/>
          </p:cNvSpPr>
          <p:nvPr/>
        </p:nvSpPr>
        <p:spPr>
          <a:xfrm xmlns:a="http://schemas.openxmlformats.org/drawingml/2006/main">
            <a:off x="647700" y="1838325"/>
            <a:ext cx="691515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factors = restrict(CPT_factors, evidence)</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for z in elimination_order(hidden):</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related = [f for f in factors if z in scope(f)]</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factors.remove(related)</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joined = pointwise_product(related)</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factors.add(sum_out(z, joined))</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result = pointwise_product(factors)</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return normalize(result over query)</a:t>
            </a:r>
          </a:p>
        </p:txBody>
      </p:sp>
      <p:sp>
        <p:nvSpPr>
          <p:cNvPr id="8" name="code-rail-title-7">
            <a:extLst xmlns:a="http://schemas.openxmlformats.org/drawingml/2006/main">
              <a:ext uri="{FF2B5EF4-FFF2-40B4-BE49-F238E27FC236}">
                <a16:creationId xmlns:a16="http://schemas.microsoft.com/office/drawing/2014/main" id="{FFD5F0EE-6F05-46C2-BA0C-F1B33978FECC}"/>
              </a:ext>
            </a:extLst>
          </p:cNvPr>
          <p:cNvSpPr>
            <a:spLocks xmlns:a="http://schemas.openxmlformats.org/drawingml/2006/main" noGrp="1"/>
          </p:cNvSpPr>
          <p:nvPr/>
        </p:nvSpPr>
        <p:spPr>
          <a:xfrm xmlns:a="http://schemas.openxmlformats.org/drawingml/2006/main">
            <a:off x="8191500" y="16859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Implementation contract</a:t>
            </a:r>
          </a:p>
        </p:txBody>
      </p:sp>
      <p:sp>
        <p:nvSpPr>
          <p:cNvPr id="9" name="code-rail-7-marker-1">
            <a:extLst xmlns:a="http://schemas.openxmlformats.org/drawingml/2006/main">
              <a:ext uri="{FF2B5EF4-FFF2-40B4-BE49-F238E27FC236}">
                <a16:creationId xmlns:a16="http://schemas.microsoft.com/office/drawing/2014/main" id="{6DB2F7C1-D2FF-4853-AFC6-B46735A7F1F8}"/>
              </a:ext>
            </a:extLst>
          </p:cNvPr>
          <p:cNvSpPr>
            <a:spLocks xmlns:a="http://schemas.openxmlformats.org/drawingml/2006/main" noGrp="1"/>
          </p:cNvSpPr>
          <p:nvPr/>
        </p:nvSpPr>
        <p:spPr>
          <a:xfrm xmlns:a="http://schemas.openxmlformats.org/drawingml/2006/main">
            <a:off x="8191500" y="24669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code-rail-7-text-1">
            <a:extLst xmlns:a="http://schemas.openxmlformats.org/drawingml/2006/main">
              <a:ext uri="{FF2B5EF4-FFF2-40B4-BE49-F238E27FC236}">
                <a16:creationId xmlns:a16="http://schemas.microsoft.com/office/drawing/2014/main" id="{8B38311C-70A3-43DB-94AE-A8CE8528ABC8}"/>
              </a:ext>
            </a:extLst>
          </p:cNvPr>
          <p:cNvSpPr>
            <a:spLocks xmlns:a="http://schemas.openxmlformats.org/drawingml/2006/main" noGrp="1"/>
          </p:cNvSpPr>
          <p:nvPr/>
        </p:nvSpPr>
        <p:spPr>
          <a:xfrm xmlns:a="http://schemas.openxmlformats.org/drawingml/2006/main">
            <a:off x="8420100" y="23812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Track factor scopes.</a:t>
            </a:r>
          </a:p>
        </p:txBody>
      </p:sp>
      <p:sp>
        <p:nvSpPr>
          <p:cNvPr id="11" name="code-rail-7-marker-2">
            <a:extLst xmlns:a="http://schemas.openxmlformats.org/drawingml/2006/main">
              <a:ext uri="{FF2B5EF4-FFF2-40B4-BE49-F238E27FC236}">
                <a16:creationId xmlns:a16="http://schemas.microsoft.com/office/drawing/2014/main" id="{01328626-0EDE-4DB2-ADD1-F976C136D94E}"/>
              </a:ext>
            </a:extLst>
          </p:cNvPr>
          <p:cNvSpPr>
            <a:spLocks xmlns:a="http://schemas.openxmlformats.org/drawingml/2006/main" noGrp="1"/>
          </p:cNvSpPr>
          <p:nvPr/>
        </p:nvSpPr>
        <p:spPr>
          <a:xfrm xmlns:a="http://schemas.openxmlformats.org/drawingml/2006/main">
            <a:off x="8191500" y="32099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code-rail-7-text-2">
            <a:extLst xmlns:a="http://schemas.openxmlformats.org/drawingml/2006/main">
              <a:ext uri="{FF2B5EF4-FFF2-40B4-BE49-F238E27FC236}">
                <a16:creationId xmlns:a16="http://schemas.microsoft.com/office/drawing/2014/main" id="{3428A2BD-E3CD-4107-BDD6-A9DB91FE4A4B}"/>
              </a:ext>
            </a:extLst>
          </p:cNvPr>
          <p:cNvSpPr>
            <a:spLocks xmlns:a="http://schemas.openxmlformats.org/drawingml/2006/main" noGrp="1"/>
          </p:cNvSpPr>
          <p:nvPr/>
        </p:nvSpPr>
        <p:spPr>
          <a:xfrm xmlns:a="http://schemas.openxmlformats.org/drawingml/2006/main">
            <a:off x="8420100" y="31242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Never sum evidence.</a:t>
            </a:r>
          </a:p>
        </p:txBody>
      </p:sp>
      <p:sp>
        <p:nvSpPr>
          <p:cNvPr id="13" name="code-rail-7-marker-3">
            <a:extLst xmlns:a="http://schemas.openxmlformats.org/drawingml/2006/main">
              <a:ext uri="{FF2B5EF4-FFF2-40B4-BE49-F238E27FC236}">
                <a16:creationId xmlns:a16="http://schemas.microsoft.com/office/drawing/2014/main" id="{90B11EDA-8C98-4ABB-BB46-57CEBEBA2BA7}"/>
              </a:ext>
            </a:extLst>
          </p:cNvPr>
          <p:cNvSpPr>
            <a:spLocks xmlns:a="http://schemas.openxmlformats.org/drawingml/2006/main" noGrp="1"/>
          </p:cNvSpPr>
          <p:nvPr/>
        </p:nvSpPr>
        <p:spPr>
          <a:xfrm xmlns:a="http://schemas.openxmlformats.org/drawingml/2006/main">
            <a:off x="8191500" y="39528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code-rail-7-text-3">
            <a:extLst xmlns:a="http://schemas.openxmlformats.org/drawingml/2006/main">
              <a:ext uri="{FF2B5EF4-FFF2-40B4-BE49-F238E27FC236}">
                <a16:creationId xmlns:a16="http://schemas.microsoft.com/office/drawing/2014/main" id="{66ED04FB-FE45-46AA-BD0A-F2AF2C5F4DA6}"/>
              </a:ext>
            </a:extLst>
          </p:cNvPr>
          <p:cNvSpPr>
            <a:spLocks xmlns:a="http://schemas.openxmlformats.org/drawingml/2006/main" noGrp="1"/>
          </p:cNvSpPr>
          <p:nvPr/>
        </p:nvSpPr>
        <p:spPr>
          <a:xfrm xmlns:a="http://schemas.openxmlformats.org/drawingml/2006/main">
            <a:off x="8420100" y="38671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Use stable variable order.</a:t>
            </a:r>
          </a:p>
        </p:txBody>
      </p:sp>
      <p:sp>
        <p:nvSpPr>
          <p:cNvPr id="15" name="code-rail-7-marker-4">
            <a:extLst xmlns:a="http://schemas.openxmlformats.org/drawingml/2006/main">
              <a:ext uri="{FF2B5EF4-FFF2-40B4-BE49-F238E27FC236}">
                <a16:creationId xmlns:a16="http://schemas.microsoft.com/office/drawing/2014/main" id="{B97BB973-8C95-4CC7-B5A3-505E5A76DD56}"/>
              </a:ext>
            </a:extLst>
          </p:cNvPr>
          <p:cNvSpPr>
            <a:spLocks xmlns:a="http://schemas.openxmlformats.org/drawingml/2006/main" noGrp="1"/>
          </p:cNvSpPr>
          <p:nvPr/>
        </p:nvSpPr>
        <p:spPr>
          <a:xfrm xmlns:a="http://schemas.openxmlformats.org/drawingml/2006/main">
            <a:off x="8191500" y="4695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code-rail-7-text-4">
            <a:extLst xmlns:a="http://schemas.openxmlformats.org/drawingml/2006/main">
              <a:ext uri="{FF2B5EF4-FFF2-40B4-BE49-F238E27FC236}">
                <a16:creationId xmlns:a16="http://schemas.microsoft.com/office/drawing/2014/main" id="{096BDCD6-32A9-4A7A-84E4-51EEF11CDD63}"/>
              </a:ext>
            </a:extLst>
          </p:cNvPr>
          <p:cNvSpPr>
            <a:spLocks xmlns:a="http://schemas.openxmlformats.org/drawingml/2006/main" noGrp="1"/>
          </p:cNvSpPr>
          <p:nvPr/>
        </p:nvSpPr>
        <p:spPr>
          <a:xfrm xmlns:a="http://schemas.openxmlformats.org/drawingml/2006/main">
            <a:off x="8420100" y="46101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Normalize last.</a:t>
            </a:r>
          </a:p>
        </p:txBody>
      </p:sp>
    </p:spTree>
    <p:extLst>
      <p:ext uri="{BB962C8B-B14F-4D97-AF65-F5344CB8AC3E}">
        <p14:creationId xmlns:p14="http://schemas.microsoft.com/office/powerpoint/2010/main" val="3045938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8">
            <a:extLst xmlns:a="http://schemas.openxmlformats.org/drawingml/2006/main">
              <a:ext uri="{FF2B5EF4-FFF2-40B4-BE49-F238E27FC236}">
                <a16:creationId xmlns:a16="http://schemas.microsoft.com/office/drawing/2014/main" id="{CD8CC37F-E3A9-48C1-A1B0-590903750D4C}"/>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Enumeration on a two-cause alarm</a:t>
            </a:r>
          </a:p>
        </p:txBody>
      </p:sp>
      <p:sp>
        <p:nvSpPr>
          <p:cNvPr id="2" name="title-accent-8">
            <a:extLst xmlns:a="http://schemas.openxmlformats.org/drawingml/2006/main">
              <a:ext uri="{FF2B5EF4-FFF2-40B4-BE49-F238E27FC236}">
                <a16:creationId xmlns:a16="http://schemas.microsoft.com/office/drawing/2014/main" id="{AD8B81E4-10A5-4E37-BC71-4146249BF361}"/>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8">
            <a:extLst xmlns:a="http://schemas.openxmlformats.org/drawingml/2006/main">
              <a:ext uri="{FF2B5EF4-FFF2-40B4-BE49-F238E27FC236}">
                <a16:creationId xmlns:a16="http://schemas.microsoft.com/office/drawing/2014/main" id="{526C4315-0311-4F1B-BFBD-D1953EEE81E3}"/>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2</a:t>
            </a:r>
          </a:p>
        </p:txBody>
      </p:sp>
      <p:sp>
        <p:nvSpPr>
          <p:cNvPr id="5" name="footer-number-8">
            <a:extLst xmlns:a="http://schemas.openxmlformats.org/drawingml/2006/main">
              <a:ext uri="{FF2B5EF4-FFF2-40B4-BE49-F238E27FC236}">
                <a16:creationId xmlns:a16="http://schemas.microsoft.com/office/drawing/2014/main" id="{D7727942-9BB8-4708-8A4E-BDE54984F252}"/>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8</a:t>
            </a:r>
          </a:p>
        </p:txBody>
      </p:sp>
      <p:sp>
        <p:nvSpPr>
          <p:cNvPr id="6" name="example-label-8">
            <a:extLst xmlns:a="http://schemas.openxmlformats.org/drawingml/2006/main">
              <a:ext uri="{FF2B5EF4-FFF2-40B4-BE49-F238E27FC236}">
                <a16:creationId xmlns:a16="http://schemas.microsoft.com/office/drawing/2014/main" id="{6897C43F-6D67-4183-8FF9-63D4412654E0}"/>
              </a:ext>
            </a:extLst>
          </p:cNvPr>
          <p:cNvSpPr>
            <a:spLocks xmlns:a="http://schemas.openxmlformats.org/drawingml/2006/main" noGrp="1"/>
          </p:cNvSpPr>
          <p:nvPr/>
        </p:nvSpPr>
        <p:spPr>
          <a:xfrm xmlns:a="http://schemas.openxmlformats.org/drawingml/2006/main">
            <a:off x="400050" y="1562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SCENARIO</a:t>
            </a:r>
          </a:p>
        </p:txBody>
      </p:sp>
      <p:sp>
        <p:nvSpPr>
          <p:cNvPr id="7" name="example-scenario-8">
            <a:extLst xmlns:a="http://schemas.openxmlformats.org/drawingml/2006/main">
              <a:ext uri="{FF2B5EF4-FFF2-40B4-BE49-F238E27FC236}">
                <a16:creationId xmlns:a16="http://schemas.microsoft.com/office/drawing/2014/main" id="{8B296EA1-8C41-4FC4-B11A-798E99370F3B}"/>
              </a:ext>
            </a:extLst>
          </p:cNvPr>
          <p:cNvSpPr>
            <a:spLocks xmlns:a="http://schemas.openxmlformats.org/drawingml/2006/main" noGrp="1"/>
          </p:cNvSpPr>
          <p:nvPr/>
        </p:nvSpPr>
        <p:spPr>
          <a:xfrm xmlns:a="http://schemas.openxmlformats.org/drawingml/2006/main">
            <a:off x="400050" y="1952625"/>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B and E are independent roots; A depends on both. We observe A=true and query B.</a:t>
            </a:r>
          </a:p>
        </p:txBody>
      </p:sp>
      <p:cxnSp>
        <p:nvCxnSpPr>
          <p:cNvPr id="26" name="example-divider-8"/>
          <p:cNvCxnSpPr/>
          <p:nvPr/>
        </p:nvCxnSpPr>
        <p:spPr>
          <a:xfrm xmlns:a="http://schemas.openxmlformats.org/drawingml/2006/main">
            <a:off x="5238750" y="1657350"/>
            <a:ext cx="0" cy="3048000"/>
          </a:xfrm>
          <a:prstGeom xmlns:a="http://schemas.openxmlformats.org/drawingml/2006/main" prst="straightConnector1">
            <a:avLst/>
          </a:prstGeom>
          <a:ln xmlns:a="http://schemas.openxmlformats.org/drawingml/2006/main" w="9525">
            <a:solidFill>
              <a:srgbClr val="B8BCC4"/>
            </a:solidFill>
            <a:prstDash val="solid"/>
          </a:ln>
        </p:spPr>
      </p:cxnSp>
      <p:sp>
        <p:nvSpPr>
          <p:cNvPr id="9" name="example-step-8-marker-1">
            <a:extLst xmlns:a="http://schemas.openxmlformats.org/drawingml/2006/main">
              <a:ext uri="{FF2B5EF4-FFF2-40B4-BE49-F238E27FC236}">
                <a16:creationId xmlns:a16="http://schemas.microsoft.com/office/drawing/2014/main" id="{3EEDEF4E-4173-4C9F-8B79-0BB08D5E595F}"/>
              </a:ext>
            </a:extLst>
          </p:cNvPr>
          <p:cNvSpPr>
            <a:spLocks xmlns:a="http://schemas.openxmlformats.org/drawingml/2006/main" noGrp="1"/>
          </p:cNvSpPr>
          <p:nvPr/>
        </p:nvSpPr>
        <p:spPr>
          <a:xfrm xmlns:a="http://schemas.openxmlformats.org/drawingml/2006/main">
            <a:off x="5667375" y="1847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example-step-8-text-1">
            <a:extLst xmlns:a="http://schemas.openxmlformats.org/drawingml/2006/main">
              <a:ext uri="{FF2B5EF4-FFF2-40B4-BE49-F238E27FC236}">
                <a16:creationId xmlns:a16="http://schemas.microsoft.com/office/drawing/2014/main" id="{1CA57C73-8026-480B-989A-C57D2AD833AD}"/>
              </a:ext>
            </a:extLst>
          </p:cNvPr>
          <p:cNvSpPr>
            <a:spLocks xmlns:a="http://schemas.openxmlformats.org/drawingml/2006/main" noGrp="1"/>
          </p:cNvSpPr>
          <p:nvPr/>
        </p:nvSpPr>
        <p:spPr>
          <a:xfrm xmlns:a="http://schemas.openxmlformats.org/drawingml/2006/main">
            <a:off x="5895975" y="17621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For B=true, sum P(B)P(E)P(A|B,E) over E.</a:t>
            </a:r>
          </a:p>
        </p:txBody>
      </p:sp>
      <p:sp>
        <p:nvSpPr>
          <p:cNvPr id="11" name="example-step-8-marker-2">
            <a:extLst xmlns:a="http://schemas.openxmlformats.org/drawingml/2006/main">
              <a:ext uri="{FF2B5EF4-FFF2-40B4-BE49-F238E27FC236}">
                <a16:creationId xmlns:a16="http://schemas.microsoft.com/office/drawing/2014/main" id="{EAB2030F-661D-4AC2-AB81-17D183BD6077}"/>
              </a:ext>
            </a:extLst>
          </p:cNvPr>
          <p:cNvSpPr>
            <a:spLocks xmlns:a="http://schemas.openxmlformats.org/drawingml/2006/main" noGrp="1"/>
          </p:cNvSpPr>
          <p:nvPr/>
        </p:nvSpPr>
        <p:spPr>
          <a:xfrm xmlns:a="http://schemas.openxmlformats.org/drawingml/2006/main">
            <a:off x="5667375" y="25336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example-step-8-text-2">
            <a:extLst xmlns:a="http://schemas.openxmlformats.org/drawingml/2006/main">
              <a:ext uri="{FF2B5EF4-FFF2-40B4-BE49-F238E27FC236}">
                <a16:creationId xmlns:a16="http://schemas.microsoft.com/office/drawing/2014/main" id="{30148B97-28E7-46AB-BFA9-B65D26BC65AE}"/>
              </a:ext>
            </a:extLst>
          </p:cNvPr>
          <p:cNvSpPr>
            <a:spLocks xmlns:a="http://schemas.openxmlformats.org/drawingml/2006/main" noGrp="1"/>
          </p:cNvSpPr>
          <p:nvPr/>
        </p:nvSpPr>
        <p:spPr>
          <a:xfrm xmlns:a="http://schemas.openxmlformats.org/drawingml/2006/main">
            <a:off x="5895975" y="24479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For B=false, repeat the same sum over E.</a:t>
            </a:r>
          </a:p>
        </p:txBody>
      </p:sp>
      <p:sp>
        <p:nvSpPr>
          <p:cNvPr id="13" name="example-step-8-marker-3">
            <a:extLst xmlns:a="http://schemas.openxmlformats.org/drawingml/2006/main">
              <a:ext uri="{FF2B5EF4-FFF2-40B4-BE49-F238E27FC236}">
                <a16:creationId xmlns:a16="http://schemas.microsoft.com/office/drawing/2014/main" id="{0BF406B0-8183-4BDD-AE9A-136D3FD1421D}"/>
              </a:ext>
            </a:extLst>
          </p:cNvPr>
          <p:cNvSpPr>
            <a:spLocks xmlns:a="http://schemas.openxmlformats.org/drawingml/2006/main" noGrp="1"/>
          </p:cNvSpPr>
          <p:nvPr/>
        </p:nvSpPr>
        <p:spPr>
          <a:xfrm xmlns:a="http://schemas.openxmlformats.org/drawingml/2006/main">
            <a:off x="5667375" y="32194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example-step-8-text-3">
            <a:extLst xmlns:a="http://schemas.openxmlformats.org/drawingml/2006/main">
              <a:ext uri="{FF2B5EF4-FFF2-40B4-BE49-F238E27FC236}">
                <a16:creationId xmlns:a16="http://schemas.microsoft.com/office/drawing/2014/main" id="{1E34128F-C1B1-43CD-B981-499A3427BC59}"/>
              </a:ext>
            </a:extLst>
          </p:cNvPr>
          <p:cNvSpPr>
            <a:spLocks xmlns:a="http://schemas.openxmlformats.org/drawingml/2006/main" noGrp="1"/>
          </p:cNvSpPr>
          <p:nvPr/>
        </p:nvSpPr>
        <p:spPr>
          <a:xfrm xmlns:a="http://schemas.openxmlformats.org/drawingml/2006/main">
            <a:off x="5895975" y="31337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This gives two unnormalized masses.</a:t>
            </a:r>
          </a:p>
        </p:txBody>
      </p:sp>
      <p:sp>
        <p:nvSpPr>
          <p:cNvPr id="15" name="example-step-8-marker-4">
            <a:extLst xmlns:a="http://schemas.openxmlformats.org/drawingml/2006/main">
              <a:ext uri="{FF2B5EF4-FFF2-40B4-BE49-F238E27FC236}">
                <a16:creationId xmlns:a16="http://schemas.microsoft.com/office/drawing/2014/main" id="{B3552C11-AF89-41D8-B4E1-72D2EE8F7B6C}"/>
              </a:ext>
            </a:extLst>
          </p:cNvPr>
          <p:cNvSpPr>
            <a:spLocks xmlns:a="http://schemas.openxmlformats.org/drawingml/2006/main" noGrp="1"/>
          </p:cNvSpPr>
          <p:nvPr/>
        </p:nvSpPr>
        <p:spPr>
          <a:xfrm xmlns:a="http://schemas.openxmlformats.org/drawingml/2006/main">
            <a:off x="5667375" y="39052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example-step-8-text-4">
            <a:extLst xmlns:a="http://schemas.openxmlformats.org/drawingml/2006/main">
              <a:ext uri="{FF2B5EF4-FFF2-40B4-BE49-F238E27FC236}">
                <a16:creationId xmlns:a16="http://schemas.microsoft.com/office/drawing/2014/main" id="{8C9CCC5A-DBCA-4900-BF3D-16970FBAE9DA}"/>
              </a:ext>
            </a:extLst>
          </p:cNvPr>
          <p:cNvSpPr>
            <a:spLocks xmlns:a="http://schemas.openxmlformats.org/drawingml/2006/main" noGrp="1"/>
          </p:cNvSpPr>
          <p:nvPr/>
        </p:nvSpPr>
        <p:spPr>
          <a:xfrm xmlns:a="http://schemas.openxmlformats.org/drawingml/2006/main">
            <a:off x="5895975" y="38195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Divide each by their sum.</a:t>
            </a:r>
          </a:p>
        </p:txBody>
      </p:sp>
      <p:sp>
        <p:nvSpPr>
          <p:cNvPr id="17" name="example-result-panel-8">
            <a:extLst xmlns:a="http://schemas.openxmlformats.org/drawingml/2006/main">
              <a:ext uri="{FF2B5EF4-FFF2-40B4-BE49-F238E27FC236}">
                <a16:creationId xmlns:a16="http://schemas.microsoft.com/office/drawing/2014/main" id="{CE334C0C-847B-4415-A863-E5915C6E277F}"/>
              </a:ext>
            </a:extLst>
          </p:cNvPr>
          <p:cNvSpPr>
            <a:spLocks xmlns:a="http://schemas.openxmlformats.org/drawingml/2006/main" noGrp="1"/>
          </p:cNvSpPr>
          <p:nvPr/>
        </p:nvSpPr>
        <p:spPr>
          <a:xfrm xmlns:a="http://schemas.openxmlformats.org/drawingml/2006/main">
            <a:off x="400050" y="5000625"/>
            <a:ext cx="11391900" cy="8001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example-result-8">
            <a:extLst xmlns:a="http://schemas.openxmlformats.org/drawingml/2006/main">
              <a:ext uri="{FF2B5EF4-FFF2-40B4-BE49-F238E27FC236}">
                <a16:creationId xmlns:a16="http://schemas.microsoft.com/office/drawing/2014/main" id="{C2DA4BD6-75C5-4E09-91CA-5111136999C4}"/>
              </a:ext>
            </a:extLst>
          </p:cNvPr>
          <p:cNvSpPr>
            <a:spLocks xmlns:a="http://schemas.openxmlformats.org/drawingml/2006/main" noGrp="1"/>
          </p:cNvSpPr>
          <p:nvPr/>
        </p:nvSpPr>
        <p:spPr>
          <a:xfrm xmlns:a="http://schemas.openxmlformats.org/drawingml/2006/main">
            <a:off x="685800" y="5181600"/>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The normalized pair is P(B|A); enumeration recomputes the E contribution separately for each B value.</a:t>
            </a:r>
          </a:p>
        </p:txBody>
      </p:sp>
    </p:spTree>
    <p:extLst>
      <p:ext uri="{BB962C8B-B14F-4D97-AF65-F5344CB8AC3E}">
        <p14:creationId xmlns:p14="http://schemas.microsoft.com/office/powerpoint/2010/main" val="164773359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9">
            <a:extLst xmlns:a="http://schemas.openxmlformats.org/drawingml/2006/main">
              <a:ext uri="{FF2B5EF4-FFF2-40B4-BE49-F238E27FC236}">
                <a16:creationId xmlns:a16="http://schemas.microsoft.com/office/drawing/2014/main" id="{A6F6FBED-E1C6-4987-8DBE-55B0506CC41A}"/>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Exact methods trade simplicity for reuse</a:t>
            </a:r>
          </a:p>
        </p:txBody>
      </p:sp>
      <p:sp>
        <p:nvSpPr>
          <p:cNvPr id="2" name="title-accent-9">
            <a:extLst xmlns:a="http://schemas.openxmlformats.org/drawingml/2006/main">
              <a:ext uri="{FF2B5EF4-FFF2-40B4-BE49-F238E27FC236}">
                <a16:creationId xmlns:a16="http://schemas.microsoft.com/office/drawing/2014/main" id="{E6FE0ED1-32F8-492C-9227-6953F327A10F}"/>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40" name="title-rule-9"/>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9">
            <a:extLst xmlns:a="http://schemas.openxmlformats.org/drawingml/2006/main">
              <a:ext uri="{FF2B5EF4-FFF2-40B4-BE49-F238E27FC236}">
                <a16:creationId xmlns:a16="http://schemas.microsoft.com/office/drawing/2014/main" id="{31BF7905-3171-4684-96F7-CBDEE4AE35D7}"/>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2</a:t>
            </a:r>
          </a:p>
        </p:txBody>
      </p:sp>
      <p:sp>
        <p:nvSpPr>
          <p:cNvPr id="5" name="footer-number-9">
            <a:extLst xmlns:a="http://schemas.openxmlformats.org/drawingml/2006/main">
              <a:ext uri="{FF2B5EF4-FFF2-40B4-BE49-F238E27FC236}">
                <a16:creationId xmlns:a16="http://schemas.microsoft.com/office/drawing/2014/main" id="{0B024045-6CB9-4304-9DD7-B966810E0662}"/>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9</a:t>
            </a:r>
          </a:p>
        </p:txBody>
      </p:sp>
      <p:sp>
        <p:nvSpPr>
          <p:cNvPr id="6" name="comparison-title-9-1">
            <a:extLst xmlns:a="http://schemas.openxmlformats.org/drawingml/2006/main">
              <a:ext uri="{FF2B5EF4-FFF2-40B4-BE49-F238E27FC236}">
                <a16:creationId xmlns:a16="http://schemas.microsoft.com/office/drawing/2014/main" id="{62075B72-17E9-4EAC-BF01-C707F9B7EF36}"/>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Enumeration</a:t>
            </a:r>
          </a:p>
        </p:txBody>
      </p:sp>
      <p:sp>
        <p:nvSpPr>
          <p:cNvPr id="7" name="comparison-tagline-9-1">
            <a:extLst xmlns:a="http://schemas.openxmlformats.org/drawingml/2006/main">
              <a:ext uri="{FF2B5EF4-FFF2-40B4-BE49-F238E27FC236}">
                <a16:creationId xmlns:a16="http://schemas.microsoft.com/office/drawing/2014/main" id="{CA1E87E0-96B6-43BB-948B-6A7413B29CB1}"/>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Expand assignments</a:t>
            </a:r>
          </a:p>
        </p:txBody>
      </p:sp>
      <p:sp>
        <p:nvSpPr>
          <p:cNvPr id="8" name="comparison-bullet-9-1-marker-1">
            <a:extLst xmlns:a="http://schemas.openxmlformats.org/drawingml/2006/main">
              <a:ext uri="{FF2B5EF4-FFF2-40B4-BE49-F238E27FC236}">
                <a16:creationId xmlns:a16="http://schemas.microsoft.com/office/drawing/2014/main" id="{A0BB7400-EB21-43B6-9D1E-2E853029D988}"/>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comparison-bullet-9-1-text-1">
            <a:extLst xmlns:a="http://schemas.openxmlformats.org/drawingml/2006/main">
              <a:ext uri="{FF2B5EF4-FFF2-40B4-BE49-F238E27FC236}">
                <a16:creationId xmlns:a16="http://schemas.microsoft.com/office/drawing/2014/main" id="{5FA31504-0FBB-48E8-9679-B07F05448FB5}"/>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Conceptually direct.</a:t>
            </a:r>
          </a:p>
        </p:txBody>
      </p:sp>
      <p:sp>
        <p:nvSpPr>
          <p:cNvPr id="10" name="comparison-bullet-9-1-marker-2">
            <a:extLst xmlns:a="http://schemas.openxmlformats.org/drawingml/2006/main">
              <a:ext uri="{FF2B5EF4-FFF2-40B4-BE49-F238E27FC236}">
                <a16:creationId xmlns:a16="http://schemas.microsoft.com/office/drawing/2014/main" id="{97E829B3-E1E1-4F2E-AD8F-B1C6EC69C16A}"/>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omparison-bullet-9-1-text-2">
            <a:extLst xmlns:a="http://schemas.openxmlformats.org/drawingml/2006/main">
              <a:ext uri="{FF2B5EF4-FFF2-40B4-BE49-F238E27FC236}">
                <a16:creationId xmlns:a16="http://schemas.microsoft.com/office/drawing/2014/main" id="{33E5E374-9FE8-4495-BC8B-DEA5195DD9A1}"/>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Repeated subexpressions.</a:t>
            </a:r>
          </a:p>
        </p:txBody>
      </p:sp>
      <p:sp>
        <p:nvSpPr>
          <p:cNvPr id="12" name="comparison-bullet-9-1-marker-3">
            <a:extLst xmlns:a="http://schemas.openxmlformats.org/drawingml/2006/main">
              <a:ext uri="{FF2B5EF4-FFF2-40B4-BE49-F238E27FC236}">
                <a16:creationId xmlns:a16="http://schemas.microsoft.com/office/drawing/2014/main" id="{3D881437-1A78-4BCB-B61E-7EBE577DE3CC}"/>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omparison-bullet-9-1-text-3">
            <a:extLst xmlns:a="http://schemas.openxmlformats.org/drawingml/2006/main">
              <a:ext uri="{FF2B5EF4-FFF2-40B4-BE49-F238E27FC236}">
                <a16:creationId xmlns:a16="http://schemas.microsoft.com/office/drawing/2014/main" id="{4A8F9C4B-B312-487F-9B2E-6D97FF961067}"/>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Exponential hidden settings.</a:t>
            </a:r>
          </a:p>
        </p:txBody>
      </p:sp>
      <p:sp>
        <p:nvSpPr>
          <p:cNvPr id="14" name="comparison-bullet-9-1-marker-4">
            <a:extLst xmlns:a="http://schemas.openxmlformats.org/drawingml/2006/main">
              <a:ext uri="{FF2B5EF4-FFF2-40B4-BE49-F238E27FC236}">
                <a16:creationId xmlns:a16="http://schemas.microsoft.com/office/drawing/2014/main" id="{5CB598EB-46D7-4D72-A0FE-F2D9F499C9FD}"/>
              </a:ext>
            </a:extLst>
          </p:cNvPr>
          <p:cNvSpPr>
            <a:spLocks xmlns:a="http://schemas.openxmlformats.org/drawingml/2006/main" noGrp="1"/>
          </p:cNvSpPr>
          <p:nvPr/>
        </p:nvSpPr>
        <p:spPr>
          <a:xfrm xmlns:a="http://schemas.openxmlformats.org/drawingml/2006/main">
            <a:off x="400050" y="4991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omparison-bullet-9-1-text-4">
            <a:extLst xmlns:a="http://schemas.openxmlformats.org/drawingml/2006/main">
              <a:ext uri="{FF2B5EF4-FFF2-40B4-BE49-F238E27FC236}">
                <a16:creationId xmlns:a16="http://schemas.microsoft.com/office/drawing/2014/main" id="{520E1D2A-6A75-4661-8300-AFCE25DE63B6}"/>
              </a:ext>
            </a:extLst>
          </p:cNvPr>
          <p:cNvSpPr>
            <a:spLocks xmlns:a="http://schemas.openxmlformats.org/drawingml/2006/main" noGrp="1"/>
          </p:cNvSpPr>
          <p:nvPr/>
        </p:nvSpPr>
        <p:spPr>
          <a:xfrm xmlns:a="http://schemas.openxmlformats.org/drawingml/2006/main">
            <a:off x="6286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Good hand oracle.</a:t>
            </a:r>
          </a:p>
        </p:txBody>
      </p:sp>
      <p:cxnSp>
        <p:nvCxnSpPr>
          <p:cNvPr id="53" name="comparison-divider-9-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7" name="comparison-title-9-2">
            <a:extLst xmlns:a="http://schemas.openxmlformats.org/drawingml/2006/main">
              <a:ext uri="{FF2B5EF4-FFF2-40B4-BE49-F238E27FC236}">
                <a16:creationId xmlns:a16="http://schemas.microsoft.com/office/drawing/2014/main" id="{B54ABAAD-D6E2-452D-8B8F-CD8349EF6CEB}"/>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Elimination</a:t>
            </a:r>
          </a:p>
        </p:txBody>
      </p:sp>
      <p:sp>
        <p:nvSpPr>
          <p:cNvPr id="18" name="comparison-tagline-9-2">
            <a:extLst xmlns:a="http://schemas.openxmlformats.org/drawingml/2006/main">
              <a:ext uri="{FF2B5EF4-FFF2-40B4-BE49-F238E27FC236}">
                <a16:creationId xmlns:a16="http://schemas.microsoft.com/office/drawing/2014/main" id="{6B87D02A-8807-4E6F-AC2D-0986D2CAEEFC}"/>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Reuse factors</a:t>
            </a:r>
          </a:p>
        </p:txBody>
      </p:sp>
      <p:sp>
        <p:nvSpPr>
          <p:cNvPr id="19" name="comparison-bullet-9-2-marker-1">
            <a:extLst xmlns:a="http://schemas.openxmlformats.org/drawingml/2006/main">
              <a:ext uri="{FF2B5EF4-FFF2-40B4-BE49-F238E27FC236}">
                <a16:creationId xmlns:a16="http://schemas.microsoft.com/office/drawing/2014/main" id="{C4A147E3-C525-486B-B191-51EF356FDD53}"/>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0" name="comparison-bullet-9-2-text-1">
            <a:extLst xmlns:a="http://schemas.openxmlformats.org/drawingml/2006/main">
              <a:ext uri="{FF2B5EF4-FFF2-40B4-BE49-F238E27FC236}">
                <a16:creationId xmlns:a16="http://schemas.microsoft.com/office/drawing/2014/main" id="{F04255B5-8FF8-4F6C-9799-5F219272B85B}"/>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Exact result.</a:t>
            </a:r>
          </a:p>
        </p:txBody>
      </p:sp>
      <p:sp>
        <p:nvSpPr>
          <p:cNvPr id="21" name="comparison-bullet-9-2-marker-2">
            <a:extLst xmlns:a="http://schemas.openxmlformats.org/drawingml/2006/main">
              <a:ext uri="{FF2B5EF4-FFF2-40B4-BE49-F238E27FC236}">
                <a16:creationId xmlns:a16="http://schemas.microsoft.com/office/drawing/2014/main" id="{C78CC3F0-4961-4684-AAC0-C6F27967462D}"/>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2" name="comparison-bullet-9-2-text-2">
            <a:extLst xmlns:a="http://schemas.openxmlformats.org/drawingml/2006/main">
              <a:ext uri="{FF2B5EF4-FFF2-40B4-BE49-F238E27FC236}">
                <a16:creationId xmlns:a16="http://schemas.microsoft.com/office/drawing/2014/main" id="{F9634CF3-4F7B-4A32-80BF-609A84CB2745}"/>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Order-dependent cost.</a:t>
            </a:r>
          </a:p>
        </p:txBody>
      </p:sp>
      <p:sp>
        <p:nvSpPr>
          <p:cNvPr id="23" name="comparison-bullet-9-2-marker-3">
            <a:extLst xmlns:a="http://schemas.openxmlformats.org/drawingml/2006/main">
              <a:ext uri="{FF2B5EF4-FFF2-40B4-BE49-F238E27FC236}">
                <a16:creationId xmlns:a16="http://schemas.microsoft.com/office/drawing/2014/main" id="{CE3C4134-E30E-4EF6-AEF3-724F9DE2693C}"/>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4" name="comparison-bullet-9-2-text-3">
            <a:extLst xmlns:a="http://schemas.openxmlformats.org/drawingml/2006/main">
              <a:ext uri="{FF2B5EF4-FFF2-40B4-BE49-F238E27FC236}">
                <a16:creationId xmlns:a16="http://schemas.microsoft.com/office/drawing/2014/main" id="{3F0A00DF-CDCF-41AE-AB00-5724901004A9}"/>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Intermediate tables.</a:t>
            </a:r>
          </a:p>
        </p:txBody>
      </p:sp>
      <p:sp>
        <p:nvSpPr>
          <p:cNvPr id="25" name="comparison-bullet-9-2-marker-4">
            <a:extLst xmlns:a="http://schemas.openxmlformats.org/drawingml/2006/main">
              <a:ext uri="{FF2B5EF4-FFF2-40B4-BE49-F238E27FC236}">
                <a16:creationId xmlns:a16="http://schemas.microsoft.com/office/drawing/2014/main" id="{9BE7C59B-E4D4-4BC9-8F1C-436BB9AB1513}"/>
              </a:ext>
            </a:extLst>
          </p:cNvPr>
          <p:cNvSpPr>
            <a:spLocks xmlns:a="http://schemas.openxmlformats.org/drawingml/2006/main" noGrp="1"/>
          </p:cNvSpPr>
          <p:nvPr/>
        </p:nvSpPr>
        <p:spPr>
          <a:xfrm xmlns:a="http://schemas.openxmlformats.org/drawingml/2006/main">
            <a:off x="4298950" y="49911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6" name="comparison-bullet-9-2-text-4">
            <a:extLst xmlns:a="http://schemas.openxmlformats.org/drawingml/2006/main">
              <a:ext uri="{FF2B5EF4-FFF2-40B4-BE49-F238E27FC236}">
                <a16:creationId xmlns:a16="http://schemas.microsoft.com/office/drawing/2014/main" id="{BAB130D9-E170-445A-8FDE-CA69E9BF48C3}"/>
              </a:ext>
            </a:extLst>
          </p:cNvPr>
          <p:cNvSpPr>
            <a:spLocks xmlns:a="http://schemas.openxmlformats.org/drawingml/2006/main" noGrp="1"/>
          </p:cNvSpPr>
          <p:nvPr/>
        </p:nvSpPr>
        <p:spPr>
          <a:xfrm xmlns:a="http://schemas.openxmlformats.org/drawingml/2006/main">
            <a:off x="45275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Good sparse networks.</a:t>
            </a:r>
          </a:p>
        </p:txBody>
      </p:sp>
      <p:cxnSp>
        <p:nvCxnSpPr>
          <p:cNvPr id="64" name="comparison-divider-9-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8" name="comparison-title-9-3">
            <a:extLst xmlns:a="http://schemas.openxmlformats.org/drawingml/2006/main">
              <a:ext uri="{FF2B5EF4-FFF2-40B4-BE49-F238E27FC236}">
                <a16:creationId xmlns:a16="http://schemas.microsoft.com/office/drawing/2014/main" id="{C4B05267-EBC2-49DA-91AA-72E6C22FAEEA}"/>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Compilation</a:t>
            </a:r>
          </a:p>
        </p:txBody>
      </p:sp>
      <p:sp>
        <p:nvSpPr>
          <p:cNvPr id="29" name="comparison-tagline-9-3">
            <a:extLst xmlns:a="http://schemas.openxmlformats.org/drawingml/2006/main">
              <a:ext uri="{FF2B5EF4-FFF2-40B4-BE49-F238E27FC236}">
                <a16:creationId xmlns:a16="http://schemas.microsoft.com/office/drawing/2014/main" id="{56CA2400-8A37-4539-BD3D-28C4BA774B16}"/>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Many queries</a:t>
            </a:r>
          </a:p>
        </p:txBody>
      </p:sp>
      <p:sp>
        <p:nvSpPr>
          <p:cNvPr id="30" name="comparison-bullet-9-3-marker-1">
            <a:extLst xmlns:a="http://schemas.openxmlformats.org/drawingml/2006/main">
              <a:ext uri="{FF2B5EF4-FFF2-40B4-BE49-F238E27FC236}">
                <a16:creationId xmlns:a16="http://schemas.microsoft.com/office/drawing/2014/main" id="{51988D72-9828-4D8A-95C5-DD84221FFC05}"/>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1" name="comparison-bullet-9-3-text-1">
            <a:extLst xmlns:a="http://schemas.openxmlformats.org/drawingml/2006/main">
              <a:ext uri="{FF2B5EF4-FFF2-40B4-BE49-F238E27FC236}">
                <a16:creationId xmlns:a16="http://schemas.microsoft.com/office/drawing/2014/main" id="{F0F6EADC-4476-4891-818A-622D79452F99}"/>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Reuse structure further.</a:t>
            </a:r>
          </a:p>
        </p:txBody>
      </p:sp>
      <p:sp>
        <p:nvSpPr>
          <p:cNvPr id="32" name="comparison-bullet-9-3-marker-2">
            <a:extLst xmlns:a="http://schemas.openxmlformats.org/drawingml/2006/main">
              <a:ext uri="{FF2B5EF4-FFF2-40B4-BE49-F238E27FC236}">
                <a16:creationId xmlns:a16="http://schemas.microsoft.com/office/drawing/2014/main" id="{AED2E3AA-FE99-43F2-AA03-6B2E28FED897}"/>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3" name="comparison-bullet-9-3-text-2">
            <a:extLst xmlns:a="http://schemas.openxmlformats.org/drawingml/2006/main">
              <a:ext uri="{FF2B5EF4-FFF2-40B4-BE49-F238E27FC236}">
                <a16:creationId xmlns:a16="http://schemas.microsoft.com/office/drawing/2014/main" id="{F8A8F76C-D461-4390-9BA2-5ACCC28B61EA}"/>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Up-front cost.</a:t>
            </a:r>
          </a:p>
        </p:txBody>
      </p:sp>
      <p:sp>
        <p:nvSpPr>
          <p:cNvPr id="34" name="comparison-bullet-9-3-marker-3">
            <a:extLst xmlns:a="http://schemas.openxmlformats.org/drawingml/2006/main">
              <a:ext uri="{FF2B5EF4-FFF2-40B4-BE49-F238E27FC236}">
                <a16:creationId xmlns:a16="http://schemas.microsoft.com/office/drawing/2014/main" id="{FDC223CB-8549-42AC-8E1F-7B43405C6B41}"/>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5" name="comparison-bullet-9-3-text-3">
            <a:extLst xmlns:a="http://schemas.openxmlformats.org/drawingml/2006/main">
              <a:ext uri="{FF2B5EF4-FFF2-40B4-BE49-F238E27FC236}">
                <a16:creationId xmlns:a16="http://schemas.microsoft.com/office/drawing/2014/main" id="{B67EE076-8EB1-47F4-9378-42B67D6D6029}"/>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Memory tradeoff.</a:t>
            </a:r>
          </a:p>
        </p:txBody>
      </p:sp>
      <p:sp>
        <p:nvSpPr>
          <p:cNvPr id="36" name="comparison-bullet-9-3-marker-4">
            <a:extLst xmlns:a="http://schemas.openxmlformats.org/drawingml/2006/main">
              <a:ext uri="{FF2B5EF4-FFF2-40B4-BE49-F238E27FC236}">
                <a16:creationId xmlns:a16="http://schemas.microsoft.com/office/drawing/2014/main" id="{D8EB24F4-E635-4AB2-9231-D5DDC3FD4657}"/>
              </a:ext>
            </a:extLst>
          </p:cNvPr>
          <p:cNvSpPr>
            <a:spLocks xmlns:a="http://schemas.openxmlformats.org/drawingml/2006/main" noGrp="1"/>
          </p:cNvSpPr>
          <p:nvPr/>
        </p:nvSpPr>
        <p:spPr>
          <a:xfrm xmlns:a="http://schemas.openxmlformats.org/drawingml/2006/main">
            <a:off x="8197850" y="49911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7" name="comparison-bullet-9-3-text-4">
            <a:extLst xmlns:a="http://schemas.openxmlformats.org/drawingml/2006/main">
              <a:ext uri="{FF2B5EF4-FFF2-40B4-BE49-F238E27FC236}">
                <a16:creationId xmlns:a16="http://schemas.microsoft.com/office/drawing/2014/main" id="{35F4E766-ED26-4AE1-A014-FFF90A2C35B2}"/>
              </a:ext>
            </a:extLst>
          </p:cNvPr>
          <p:cNvSpPr>
            <a:spLocks xmlns:a="http://schemas.openxmlformats.org/drawingml/2006/main" noGrp="1"/>
          </p:cNvSpPr>
          <p:nvPr/>
        </p:nvSpPr>
        <p:spPr>
          <a:xfrm xmlns:a="http://schemas.openxmlformats.org/drawingml/2006/main">
            <a:off x="84264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Beyond this lesson.</a:t>
            </a:r>
          </a:p>
        </p:txBody>
      </p:sp>
    </p:spTree>
    <p:extLst>
      <p:ext uri="{BB962C8B-B14F-4D97-AF65-F5344CB8AC3E}">
        <p14:creationId xmlns:p14="http://schemas.microsoft.com/office/powerpoint/2010/main" val="88126967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10">
            <a:extLst xmlns:a="http://schemas.openxmlformats.org/drawingml/2006/main">
              <a:ext uri="{FF2B5EF4-FFF2-40B4-BE49-F238E27FC236}">
                <a16:creationId xmlns:a16="http://schemas.microsoft.com/office/drawing/2014/main" id="{4B95D7F1-150F-4B9A-AEA1-50DFA090B25A}"/>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Checkpoint: factor scope</a:t>
            </a:r>
          </a:p>
        </p:txBody>
      </p:sp>
      <p:sp>
        <p:nvSpPr>
          <p:cNvPr id="2" name="title-accent-10">
            <a:extLst xmlns:a="http://schemas.openxmlformats.org/drawingml/2006/main">
              <a:ext uri="{FF2B5EF4-FFF2-40B4-BE49-F238E27FC236}">
                <a16:creationId xmlns:a16="http://schemas.microsoft.com/office/drawing/2014/main" id="{D8535168-5785-4183-8FB4-D379C89FC700}"/>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10"/>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0">
            <a:extLst xmlns:a="http://schemas.openxmlformats.org/drawingml/2006/main">
              <a:ext uri="{FF2B5EF4-FFF2-40B4-BE49-F238E27FC236}">
                <a16:creationId xmlns:a16="http://schemas.microsoft.com/office/drawing/2014/main" id="{E2F76300-7841-4466-8688-17EB45D1BF4B}"/>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2</a:t>
            </a:r>
          </a:p>
        </p:txBody>
      </p:sp>
      <p:sp>
        <p:nvSpPr>
          <p:cNvPr id="5" name="footer-number-10">
            <a:extLst xmlns:a="http://schemas.openxmlformats.org/drawingml/2006/main">
              <a:ext uri="{FF2B5EF4-FFF2-40B4-BE49-F238E27FC236}">
                <a16:creationId xmlns:a16="http://schemas.microsoft.com/office/drawing/2014/main" id="{F3E1B579-05C1-4A3D-9FFA-0E7498EF75B2}"/>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10</a:t>
            </a:r>
          </a:p>
        </p:txBody>
      </p:sp>
      <p:sp>
        <p:nvSpPr>
          <p:cNvPr id="6" name="checkpoint-label-10">
            <a:extLst xmlns:a="http://schemas.openxmlformats.org/drawingml/2006/main">
              <a:ext uri="{FF2B5EF4-FFF2-40B4-BE49-F238E27FC236}">
                <a16:creationId xmlns:a16="http://schemas.microsoft.com/office/drawing/2014/main" id="{D9A481A5-4572-4D69-9932-D8E7061A67B4}"/>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10">
            <a:extLst xmlns:a="http://schemas.openxmlformats.org/drawingml/2006/main">
              <a:ext uri="{FF2B5EF4-FFF2-40B4-BE49-F238E27FC236}">
                <a16:creationId xmlns:a16="http://schemas.microsoft.com/office/drawing/2014/main" id="{E7681598-988A-4931-9200-E9C400DBB2FD}"/>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Factors f(A,B) and g(B,C) are multiplied and B is summed out. What is the final scope?</a:t>
            </a:r>
          </a:p>
        </p:txBody>
      </p:sp>
      <p:cxnSp>
        <p:nvCxnSpPr>
          <p:cNvPr id="22" name="checkpoint-rule-10"/>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10-1">
            <a:extLst xmlns:a="http://schemas.openxmlformats.org/drawingml/2006/main">
              <a:ext uri="{FF2B5EF4-FFF2-40B4-BE49-F238E27FC236}">
                <a16:creationId xmlns:a16="http://schemas.microsoft.com/office/drawing/2014/main" id="{7CE3EB52-3CB9-4620-BBEA-AE08D0FECCB5}"/>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10-1">
            <a:extLst xmlns:a="http://schemas.openxmlformats.org/drawingml/2006/main">
              <a:ext uri="{FF2B5EF4-FFF2-40B4-BE49-F238E27FC236}">
                <a16:creationId xmlns:a16="http://schemas.microsoft.com/office/drawing/2014/main" id="{D2F73AB4-9F5F-424E-A4E9-8C27F111B467}"/>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Take the union first.</a:t>
            </a:r>
          </a:p>
        </p:txBody>
      </p:sp>
      <p:sp>
        <p:nvSpPr>
          <p:cNvPr id="11" name="checkpoint-prompt-number-10-2">
            <a:extLst xmlns:a="http://schemas.openxmlformats.org/drawingml/2006/main">
              <a:ext uri="{FF2B5EF4-FFF2-40B4-BE49-F238E27FC236}">
                <a16:creationId xmlns:a16="http://schemas.microsoft.com/office/drawing/2014/main" id="{2F3BDF2B-B31D-484F-9C67-8D7570106186}"/>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10-2">
            <a:extLst xmlns:a="http://schemas.openxmlformats.org/drawingml/2006/main">
              <a:ext uri="{FF2B5EF4-FFF2-40B4-BE49-F238E27FC236}">
                <a16:creationId xmlns:a16="http://schemas.microsoft.com/office/drawing/2014/main" id="{A593DF60-950A-44A0-AC18-3FC8DEB42617}"/>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Remove only the eliminated variable.</a:t>
            </a:r>
          </a:p>
        </p:txBody>
      </p:sp>
      <p:sp>
        <p:nvSpPr>
          <p:cNvPr id="13" name="checkpoint-prompt-number-10-3">
            <a:extLst xmlns:a="http://schemas.openxmlformats.org/drawingml/2006/main">
              <a:ext uri="{FF2B5EF4-FFF2-40B4-BE49-F238E27FC236}">
                <a16:creationId xmlns:a16="http://schemas.microsoft.com/office/drawing/2014/main" id="{B461D5A0-19AA-4F77-AE62-F14009415C24}"/>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10-3">
            <a:extLst xmlns:a="http://schemas.openxmlformats.org/drawingml/2006/main">
              <a:ext uri="{FF2B5EF4-FFF2-40B4-BE49-F238E27FC236}">
                <a16:creationId xmlns:a16="http://schemas.microsoft.com/office/drawing/2014/main" id="{987B0483-A156-4A1C-9439-43ED2548BFF8}"/>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Name variables still needed.</a:t>
            </a:r>
          </a:p>
        </p:txBody>
      </p:sp>
    </p:spTree>
    <p:extLst>
      <p:ext uri="{BB962C8B-B14F-4D97-AF65-F5344CB8AC3E}">
        <p14:creationId xmlns:p14="http://schemas.microsoft.com/office/powerpoint/2010/main" val="4612202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11">
            <a:extLst xmlns:a="http://schemas.openxmlformats.org/drawingml/2006/main">
              <a:ext uri="{FF2B5EF4-FFF2-40B4-BE49-F238E27FC236}">
                <a16:creationId xmlns:a16="http://schemas.microsoft.com/office/drawing/2014/main" id="{3FE7368D-352F-46B3-9D72-C78D49F85339}"/>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Evidence rarity separates sampling methods</a:t>
            </a:r>
          </a:p>
        </p:txBody>
      </p:sp>
      <p:sp>
        <p:nvSpPr>
          <p:cNvPr id="2" name="title-accent-11">
            <a:extLst xmlns:a="http://schemas.openxmlformats.org/drawingml/2006/main">
              <a:ext uri="{FF2B5EF4-FFF2-40B4-BE49-F238E27FC236}">
                <a16:creationId xmlns:a16="http://schemas.microsoft.com/office/drawing/2014/main" id="{BF57159F-B69A-4DAB-9C7E-773B093AB7BC}"/>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11"/>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1">
            <a:extLst xmlns:a="http://schemas.openxmlformats.org/drawingml/2006/main">
              <a:ext uri="{FF2B5EF4-FFF2-40B4-BE49-F238E27FC236}">
                <a16:creationId xmlns:a16="http://schemas.microsoft.com/office/drawing/2014/main" id="{7A9C2340-6E5B-42B1-925B-06866B4563A8}"/>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2</a:t>
            </a:r>
          </a:p>
        </p:txBody>
      </p:sp>
      <p:sp>
        <p:nvSpPr>
          <p:cNvPr id="5" name="footer-number-11">
            <a:extLst xmlns:a="http://schemas.openxmlformats.org/drawingml/2006/main">
              <a:ext uri="{FF2B5EF4-FFF2-40B4-BE49-F238E27FC236}">
                <a16:creationId xmlns:a16="http://schemas.microsoft.com/office/drawing/2014/main" id="{CE6BA32C-9B44-43B2-985A-A27FACAFEA38}"/>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11</a:t>
            </a:r>
          </a:p>
        </p:txBody>
      </p:sp>
      <p:cxnSp>
        <p:nvCxnSpPr>
          <p:cNvPr id="30" name="column-divider-11"/>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11">
            <a:extLst xmlns:a="http://schemas.openxmlformats.org/drawingml/2006/main">
              <a:ext uri="{FF2B5EF4-FFF2-40B4-BE49-F238E27FC236}">
                <a16:creationId xmlns:a16="http://schemas.microsoft.com/office/drawing/2014/main" id="{AFCFEB68-9BF3-4392-B975-4EE6028D1986}"/>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Rejection sampling</a:t>
            </a:r>
          </a:p>
        </p:txBody>
      </p:sp>
      <p:sp>
        <p:nvSpPr>
          <p:cNvPr id="8" name="right-title-11">
            <a:extLst xmlns:a="http://schemas.openxmlformats.org/drawingml/2006/main">
              <a:ext uri="{FF2B5EF4-FFF2-40B4-BE49-F238E27FC236}">
                <a16:creationId xmlns:a16="http://schemas.microsoft.com/office/drawing/2014/main" id="{762DAABD-3382-4CA0-AF4D-F270445B0651}"/>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Likelihood weighting</a:t>
            </a:r>
          </a:p>
        </p:txBody>
      </p:sp>
      <p:sp>
        <p:nvSpPr>
          <p:cNvPr id="9" name="left-bullet-11-marker-1">
            <a:extLst xmlns:a="http://schemas.openxmlformats.org/drawingml/2006/main">
              <a:ext uri="{FF2B5EF4-FFF2-40B4-BE49-F238E27FC236}">
                <a16:creationId xmlns:a16="http://schemas.microsoft.com/office/drawing/2014/main" id="{749BAE0B-0589-4661-A792-D48FAF574483}"/>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11-text-1">
            <a:extLst xmlns:a="http://schemas.openxmlformats.org/drawingml/2006/main">
              <a:ext uri="{FF2B5EF4-FFF2-40B4-BE49-F238E27FC236}">
                <a16:creationId xmlns:a16="http://schemas.microsoft.com/office/drawing/2014/main" id="{099986D9-5BAD-4672-A4A9-EDA1F85EC8CF}"/>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Sample every node ancestrally.</a:t>
            </a:r>
          </a:p>
        </p:txBody>
      </p:sp>
      <p:sp>
        <p:nvSpPr>
          <p:cNvPr id="11" name="left-bullet-11-marker-2">
            <a:extLst xmlns:a="http://schemas.openxmlformats.org/drawingml/2006/main">
              <a:ext uri="{FF2B5EF4-FFF2-40B4-BE49-F238E27FC236}">
                <a16:creationId xmlns:a16="http://schemas.microsoft.com/office/drawing/2014/main" id="{92566CEE-CA86-4F2A-AB78-26A564654460}"/>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11-text-2">
            <a:extLst xmlns:a="http://schemas.openxmlformats.org/drawingml/2006/main">
              <a:ext uri="{FF2B5EF4-FFF2-40B4-BE49-F238E27FC236}">
                <a16:creationId xmlns:a16="http://schemas.microsoft.com/office/drawing/2014/main" id="{11D59941-3E25-4C99-AE79-721C9FCB8719}"/>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Discard evidence mismatches.</a:t>
            </a:r>
          </a:p>
        </p:txBody>
      </p:sp>
      <p:sp>
        <p:nvSpPr>
          <p:cNvPr id="13" name="left-bullet-11-marker-3">
            <a:extLst xmlns:a="http://schemas.openxmlformats.org/drawingml/2006/main">
              <a:ext uri="{FF2B5EF4-FFF2-40B4-BE49-F238E27FC236}">
                <a16:creationId xmlns:a16="http://schemas.microsoft.com/office/drawing/2014/main" id="{562E00CD-A267-4717-8263-D6C27AB6BA1A}"/>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11-text-3">
            <a:extLst xmlns:a="http://schemas.openxmlformats.org/drawingml/2006/main">
              <a:ext uri="{FF2B5EF4-FFF2-40B4-BE49-F238E27FC236}">
                <a16:creationId xmlns:a16="http://schemas.microsoft.com/office/drawing/2014/main" id="{6494CCE7-EC68-4C1E-8A94-604891DB0738}"/>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Unweighted surviving counts.</a:t>
            </a:r>
          </a:p>
        </p:txBody>
      </p:sp>
      <p:sp>
        <p:nvSpPr>
          <p:cNvPr id="15" name="left-bullet-11-marker-4">
            <a:extLst xmlns:a="http://schemas.openxmlformats.org/drawingml/2006/main">
              <a:ext uri="{FF2B5EF4-FFF2-40B4-BE49-F238E27FC236}">
                <a16:creationId xmlns:a16="http://schemas.microsoft.com/office/drawing/2014/main" id="{CE81604D-0729-46F4-BAC9-983EFF866DF1}"/>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11-text-4">
            <a:extLst xmlns:a="http://schemas.openxmlformats.org/drawingml/2006/main">
              <a:ext uri="{FF2B5EF4-FFF2-40B4-BE49-F238E27FC236}">
                <a16:creationId xmlns:a16="http://schemas.microsoft.com/office/drawing/2014/main" id="{1CAAA9BF-510C-4029-B6E3-1BA97FCBE7DE}"/>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Wasteful for rare evidence.</a:t>
            </a:r>
          </a:p>
        </p:txBody>
      </p:sp>
      <p:sp>
        <p:nvSpPr>
          <p:cNvPr id="17" name="right-bullet-11-marker-1">
            <a:extLst xmlns:a="http://schemas.openxmlformats.org/drawingml/2006/main">
              <a:ext uri="{FF2B5EF4-FFF2-40B4-BE49-F238E27FC236}">
                <a16:creationId xmlns:a16="http://schemas.microsoft.com/office/drawing/2014/main" id="{564C8796-7848-4EB1-924E-9C1AFE2B6D91}"/>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11-text-1">
            <a:extLst xmlns:a="http://schemas.openxmlformats.org/drawingml/2006/main">
              <a:ext uri="{FF2B5EF4-FFF2-40B4-BE49-F238E27FC236}">
                <a16:creationId xmlns:a16="http://schemas.microsoft.com/office/drawing/2014/main" id="{ACD570BC-4424-4E73-833D-7E4DD5B6D3F0}"/>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Clamp evidence values.</a:t>
            </a:r>
          </a:p>
        </p:txBody>
      </p:sp>
      <p:sp>
        <p:nvSpPr>
          <p:cNvPr id="19" name="right-bullet-11-marker-2">
            <a:extLst xmlns:a="http://schemas.openxmlformats.org/drawingml/2006/main">
              <a:ext uri="{FF2B5EF4-FFF2-40B4-BE49-F238E27FC236}">
                <a16:creationId xmlns:a16="http://schemas.microsoft.com/office/drawing/2014/main" id="{4AB2992C-C4BE-499D-9D19-4DCC2096BC6C}"/>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11-text-2">
            <a:extLst xmlns:a="http://schemas.openxmlformats.org/drawingml/2006/main">
              <a:ext uri="{FF2B5EF4-FFF2-40B4-BE49-F238E27FC236}">
                <a16:creationId xmlns:a16="http://schemas.microsoft.com/office/drawing/2014/main" id="{CC4D5BE0-BFBA-4A2E-9D7B-0F161B7D24CF}"/>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Sample non-evidence nodes.</a:t>
            </a:r>
          </a:p>
        </p:txBody>
      </p:sp>
      <p:sp>
        <p:nvSpPr>
          <p:cNvPr id="21" name="right-bullet-11-marker-3">
            <a:extLst xmlns:a="http://schemas.openxmlformats.org/drawingml/2006/main">
              <a:ext uri="{FF2B5EF4-FFF2-40B4-BE49-F238E27FC236}">
                <a16:creationId xmlns:a16="http://schemas.microsoft.com/office/drawing/2014/main" id="{B00EAA50-8676-487D-B7CE-0D7CDED8AAEC}"/>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11-text-3">
            <a:extLst xmlns:a="http://schemas.openxmlformats.org/drawingml/2006/main">
              <a:ext uri="{FF2B5EF4-FFF2-40B4-BE49-F238E27FC236}">
                <a16:creationId xmlns:a16="http://schemas.microsoft.com/office/drawing/2014/main" id="{8B1D5868-4C0E-4E74-B35A-636C2216A2F3}"/>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Multiply evidence likelihoods.</a:t>
            </a:r>
          </a:p>
        </p:txBody>
      </p:sp>
      <p:sp>
        <p:nvSpPr>
          <p:cNvPr id="23" name="right-bullet-11-marker-4">
            <a:extLst xmlns:a="http://schemas.openxmlformats.org/drawingml/2006/main">
              <a:ext uri="{FF2B5EF4-FFF2-40B4-BE49-F238E27FC236}">
                <a16:creationId xmlns:a16="http://schemas.microsoft.com/office/drawing/2014/main" id="{8667ABAF-81A3-4E9E-94BC-A50C99C74C57}"/>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11-text-4">
            <a:extLst xmlns:a="http://schemas.openxmlformats.org/drawingml/2006/main">
              <a:ext uri="{FF2B5EF4-FFF2-40B4-BE49-F238E27FC236}">
                <a16:creationId xmlns:a16="http://schemas.microsoft.com/office/drawing/2014/main" id="{BF7A7171-BFBD-4022-BDC2-5284CD06370E}"/>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Can suffer weight degeneracy.</a:t>
            </a:r>
          </a:p>
        </p:txBody>
      </p:sp>
    </p:spTree>
    <p:extLst>
      <p:ext uri="{BB962C8B-B14F-4D97-AF65-F5344CB8AC3E}">
        <p14:creationId xmlns:p14="http://schemas.microsoft.com/office/powerpoint/2010/main" val="169597070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2">
            <a:extLst xmlns:a="http://schemas.openxmlformats.org/drawingml/2006/main">
              <a:ext uri="{FF2B5EF4-FFF2-40B4-BE49-F238E27FC236}">
                <a16:creationId xmlns:a16="http://schemas.microsoft.com/office/drawing/2014/main" id="{11980A63-3A22-463B-B82A-F1EA3A095B13}"/>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Likelihood-weighted estimate</a:t>
            </a:r>
          </a:p>
        </p:txBody>
      </p:sp>
      <p:sp>
        <p:nvSpPr>
          <p:cNvPr id="2" name="title-accent-12">
            <a:extLst xmlns:a="http://schemas.openxmlformats.org/drawingml/2006/main">
              <a:ext uri="{FF2B5EF4-FFF2-40B4-BE49-F238E27FC236}">
                <a16:creationId xmlns:a16="http://schemas.microsoft.com/office/drawing/2014/main" id="{25210292-2D69-4571-9C43-53C8F28A8BD8}"/>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2">
            <a:extLst xmlns:a="http://schemas.openxmlformats.org/drawingml/2006/main">
              <a:ext uri="{FF2B5EF4-FFF2-40B4-BE49-F238E27FC236}">
                <a16:creationId xmlns:a16="http://schemas.microsoft.com/office/drawing/2014/main" id="{F1AD90F1-D1AD-4A6C-9CED-3BBADE4F8C64}"/>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2</a:t>
            </a:r>
          </a:p>
        </p:txBody>
      </p:sp>
      <p:sp>
        <p:nvSpPr>
          <p:cNvPr id="5" name="footer-number-12">
            <a:extLst xmlns:a="http://schemas.openxmlformats.org/drawingml/2006/main">
              <a:ext uri="{FF2B5EF4-FFF2-40B4-BE49-F238E27FC236}">
                <a16:creationId xmlns:a16="http://schemas.microsoft.com/office/drawing/2014/main" id="{4C191ECC-E243-4419-812C-3FB3FA384752}"/>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12</a:t>
            </a:r>
          </a:p>
        </p:txBody>
      </p:sp>
      <p:sp>
        <p:nvSpPr>
          <p:cNvPr id="6" name="formula-panel-12">
            <a:extLst xmlns:a="http://schemas.openxmlformats.org/drawingml/2006/main">
              <a:ext uri="{FF2B5EF4-FFF2-40B4-BE49-F238E27FC236}">
                <a16:creationId xmlns:a16="http://schemas.microsoft.com/office/drawing/2014/main" id="{1758F965-7F5C-43FA-9D29-44763E9494F3}"/>
              </a:ext>
            </a:extLst>
          </p:cNvPr>
          <p:cNvSpPr>
            <a:spLocks xmlns:a="http://schemas.openxmlformats.org/drawingml/2006/main" noGrp="1"/>
          </p:cNvSpPr>
          <p:nvPr/>
        </p:nvSpPr>
        <p:spPr>
          <a:xfrm xmlns:a="http://schemas.openxmlformats.org/drawingml/2006/main">
            <a:off x="400050" y="1657350"/>
            <a:ext cx="113919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ormula-12">
            <a:extLst xmlns:a="http://schemas.openxmlformats.org/drawingml/2006/main">
              <a:ext uri="{FF2B5EF4-FFF2-40B4-BE49-F238E27FC236}">
                <a16:creationId xmlns:a16="http://schemas.microsoft.com/office/drawing/2014/main" id="{07099252-F547-47A2-A68E-AC6D0F408C7E}"/>
              </a:ext>
            </a:extLst>
          </p:cNvPr>
          <p:cNvSpPr>
            <a:spLocks xmlns:a="http://schemas.openxmlformats.org/drawingml/2006/main" noGrp="1"/>
          </p:cNvSpPr>
          <p:nvPr/>
        </p:nvSpPr>
        <p:spPr>
          <a:xfrm xmlns:a="http://schemas.openxmlformats.org/drawingml/2006/main">
            <a:off x="781050" y="1952625"/>
            <a:ext cx="10629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550" b="1">
                <a:solidFill>
                  <a:srgbClr val="111111"/>
                </a:solidFill>
                <a:latin typeface="Cambria Math"/>
                <a:ea typeface="Cambria Math"/>
                <a:cs typeface="Cambria Math"/>
              </a:defRPr>
            </a:pPr>
            <a:r>
              <a:rPr sz="2550" b="1">
                <a:solidFill>
                  <a:srgbClr val="111111"/>
                </a:solidFill>
                <a:latin typeface="Cambria Math"/>
                <a:ea typeface="Cambria Math"/>
                <a:cs typeface="Cambria Math"/>
              </a:rPr>
              <a:t>w(sample)=product_{E_i in evidence} P(e_i | parents(E_i)); P_hat(Q=q|e) proportional sum w 1[Q=q]</a:t>
            </a:r>
          </a:p>
        </p:txBody>
      </p:sp>
      <p:sp>
        <p:nvSpPr>
          <p:cNvPr id="8" name="formula-definition-12-marker-1">
            <a:extLst xmlns:a="http://schemas.openxmlformats.org/drawingml/2006/main">
              <a:ext uri="{FF2B5EF4-FFF2-40B4-BE49-F238E27FC236}">
                <a16:creationId xmlns:a16="http://schemas.microsoft.com/office/drawing/2014/main" id="{7453D4FF-3B90-4BF6-82EC-9BEEAC2DF9CB}"/>
              </a:ext>
            </a:extLst>
          </p:cNvPr>
          <p:cNvSpPr>
            <a:spLocks xmlns:a="http://schemas.openxmlformats.org/drawingml/2006/main" noGrp="1"/>
          </p:cNvSpPr>
          <p:nvPr/>
        </p:nvSpPr>
        <p:spPr>
          <a:xfrm xmlns:a="http://schemas.openxmlformats.org/drawingml/2006/main">
            <a:off x="400050" y="38195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formula-definition-12-text-1">
            <a:extLst xmlns:a="http://schemas.openxmlformats.org/drawingml/2006/main">
              <a:ext uri="{FF2B5EF4-FFF2-40B4-BE49-F238E27FC236}">
                <a16:creationId xmlns:a16="http://schemas.microsoft.com/office/drawing/2014/main" id="{ED1AFFAF-F08F-4B51-A4C7-FC1B744D0D28}"/>
              </a:ext>
            </a:extLst>
          </p:cNvPr>
          <p:cNvSpPr>
            <a:spLocks xmlns:a="http://schemas.openxmlformats.org/drawingml/2006/main" noGrp="1"/>
          </p:cNvSpPr>
          <p:nvPr/>
        </p:nvSpPr>
        <p:spPr>
          <a:xfrm xmlns:a="http://schemas.openxmlformats.org/drawingml/2006/main">
            <a:off x="628650" y="37338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Evidence variables are not sampled.</a:t>
            </a:r>
          </a:p>
        </p:txBody>
      </p:sp>
      <p:sp>
        <p:nvSpPr>
          <p:cNvPr id="10" name="formula-definition-12-marker-2">
            <a:extLst xmlns:a="http://schemas.openxmlformats.org/drawingml/2006/main">
              <a:ext uri="{FF2B5EF4-FFF2-40B4-BE49-F238E27FC236}">
                <a16:creationId xmlns:a16="http://schemas.microsoft.com/office/drawing/2014/main" id="{65C626B0-2285-4EC4-90A6-A5884D7696B2}"/>
              </a:ext>
            </a:extLst>
          </p:cNvPr>
          <p:cNvSpPr>
            <a:spLocks xmlns:a="http://schemas.openxmlformats.org/drawingml/2006/main" noGrp="1"/>
          </p:cNvSpPr>
          <p:nvPr/>
        </p:nvSpPr>
        <p:spPr>
          <a:xfrm xmlns:a="http://schemas.openxmlformats.org/drawingml/2006/main">
            <a:off x="400050" y="44481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formula-definition-12-text-2">
            <a:extLst xmlns:a="http://schemas.openxmlformats.org/drawingml/2006/main">
              <a:ext uri="{FF2B5EF4-FFF2-40B4-BE49-F238E27FC236}">
                <a16:creationId xmlns:a16="http://schemas.microsoft.com/office/drawing/2014/main" id="{DAE2E3A6-7A6C-48E5-8004-0BC595400281}"/>
              </a:ext>
            </a:extLst>
          </p:cNvPr>
          <p:cNvSpPr>
            <a:spLocks xmlns:a="http://schemas.openxmlformats.org/drawingml/2006/main" noGrp="1"/>
          </p:cNvSpPr>
          <p:nvPr/>
        </p:nvSpPr>
        <p:spPr>
          <a:xfrm xmlns:a="http://schemas.openxmlformats.org/drawingml/2006/main">
            <a:off x="628650" y="43624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Each evidence CPT contributes a weight.</a:t>
            </a:r>
          </a:p>
        </p:txBody>
      </p:sp>
      <p:sp>
        <p:nvSpPr>
          <p:cNvPr id="12" name="formula-definition-12-marker-3">
            <a:extLst xmlns:a="http://schemas.openxmlformats.org/drawingml/2006/main">
              <a:ext uri="{FF2B5EF4-FFF2-40B4-BE49-F238E27FC236}">
                <a16:creationId xmlns:a16="http://schemas.microsoft.com/office/drawing/2014/main" id="{B2D26391-8722-4439-9EAE-6993537C4D72}"/>
              </a:ext>
            </a:extLst>
          </p:cNvPr>
          <p:cNvSpPr>
            <a:spLocks xmlns:a="http://schemas.openxmlformats.org/drawingml/2006/main" noGrp="1"/>
          </p:cNvSpPr>
          <p:nvPr/>
        </p:nvSpPr>
        <p:spPr>
          <a:xfrm xmlns:a="http://schemas.openxmlformats.org/drawingml/2006/main">
            <a:off x="400050" y="5076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formula-definition-12-text-3">
            <a:extLst xmlns:a="http://schemas.openxmlformats.org/drawingml/2006/main">
              <a:ext uri="{FF2B5EF4-FFF2-40B4-BE49-F238E27FC236}">
                <a16:creationId xmlns:a16="http://schemas.microsoft.com/office/drawing/2014/main" id="{791219C7-A7F3-4238-AE06-9CF1AF11A16F}"/>
              </a:ext>
            </a:extLst>
          </p:cNvPr>
          <p:cNvSpPr>
            <a:spLocks xmlns:a="http://schemas.openxmlformats.org/drawingml/2006/main" noGrp="1"/>
          </p:cNvSpPr>
          <p:nvPr/>
        </p:nvSpPr>
        <p:spPr>
          <a:xfrm xmlns:a="http://schemas.openxmlformats.org/drawingml/2006/main">
            <a:off x="628650" y="49911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Weighted query counts are accumulated.</a:t>
            </a:r>
          </a:p>
        </p:txBody>
      </p:sp>
      <p:sp>
        <p:nvSpPr>
          <p:cNvPr id="14" name="formula-definition-12-marker-4">
            <a:extLst xmlns:a="http://schemas.openxmlformats.org/drawingml/2006/main">
              <a:ext uri="{FF2B5EF4-FFF2-40B4-BE49-F238E27FC236}">
                <a16:creationId xmlns:a16="http://schemas.microsoft.com/office/drawing/2014/main" id="{C5DCF941-BC32-42FF-9E44-B7DE8F2FC0EF}"/>
              </a:ext>
            </a:extLst>
          </p:cNvPr>
          <p:cNvSpPr>
            <a:spLocks xmlns:a="http://schemas.openxmlformats.org/drawingml/2006/main" noGrp="1"/>
          </p:cNvSpPr>
          <p:nvPr/>
        </p:nvSpPr>
        <p:spPr>
          <a:xfrm xmlns:a="http://schemas.openxmlformats.org/drawingml/2006/main">
            <a:off x="400050" y="57054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formula-definition-12-text-4">
            <a:extLst xmlns:a="http://schemas.openxmlformats.org/drawingml/2006/main">
              <a:ext uri="{FF2B5EF4-FFF2-40B4-BE49-F238E27FC236}">
                <a16:creationId xmlns:a16="http://schemas.microsoft.com/office/drawing/2014/main" id="{A89E5C01-A1AC-41FC-91A6-9D373722186B}"/>
              </a:ext>
            </a:extLst>
          </p:cNvPr>
          <p:cNvSpPr>
            <a:spLocks xmlns:a="http://schemas.openxmlformats.org/drawingml/2006/main" noGrp="1"/>
          </p:cNvSpPr>
          <p:nvPr/>
        </p:nvSpPr>
        <p:spPr>
          <a:xfrm xmlns:a="http://schemas.openxmlformats.org/drawingml/2006/main">
            <a:off x="628650" y="56197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Final counts are normalized.</a:t>
            </a:r>
          </a:p>
        </p:txBody>
      </p:sp>
      <p:sp>
        <p:nvSpPr>
          <p:cNvPr id="16" name="formula-implication-panel-12">
            <a:extLst xmlns:a="http://schemas.openxmlformats.org/drawingml/2006/main">
              <a:ext uri="{FF2B5EF4-FFF2-40B4-BE49-F238E27FC236}">
                <a16:creationId xmlns:a16="http://schemas.microsoft.com/office/drawing/2014/main" id="{A7439F24-223A-405B-8A20-CEDA9E7F47E3}"/>
              </a:ext>
            </a:extLst>
          </p:cNvPr>
          <p:cNvSpPr>
            <a:spLocks xmlns:a="http://schemas.openxmlformats.org/drawingml/2006/main" noGrp="1"/>
          </p:cNvSpPr>
          <p:nvPr/>
        </p:nvSpPr>
        <p:spPr>
          <a:xfrm xmlns:a="http://schemas.openxmlformats.org/drawingml/2006/main">
            <a:off x="8191500" y="3733800"/>
            <a:ext cx="3600450" cy="1885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formula-implication-label-12">
            <a:extLst xmlns:a="http://schemas.openxmlformats.org/drawingml/2006/main">
              <a:ext uri="{FF2B5EF4-FFF2-40B4-BE49-F238E27FC236}">
                <a16:creationId xmlns:a16="http://schemas.microsoft.com/office/drawing/2014/main" id="{1DADFE6B-806D-4F86-AD8B-295C2CC0DE19}"/>
              </a:ext>
            </a:extLst>
          </p:cNvPr>
          <p:cNvSpPr>
            <a:spLocks xmlns:a="http://schemas.openxmlformats.org/drawingml/2006/main" noGrp="1"/>
          </p:cNvSpPr>
          <p:nvPr/>
        </p:nvSpPr>
        <p:spPr>
          <a:xfrm xmlns:a="http://schemas.openxmlformats.org/drawingml/2006/main">
            <a:off x="8458200" y="3990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ENGINEERING IMPLICATION</a:t>
            </a:r>
          </a:p>
        </p:txBody>
      </p:sp>
      <p:sp>
        <p:nvSpPr>
          <p:cNvPr id="18" name="formula-implication-12">
            <a:extLst xmlns:a="http://schemas.openxmlformats.org/drawingml/2006/main">
              <a:ext uri="{FF2B5EF4-FFF2-40B4-BE49-F238E27FC236}">
                <a16:creationId xmlns:a16="http://schemas.microsoft.com/office/drawing/2014/main" id="{E7F3048D-3AA0-4A46-A927-DFC6B93D4F0E}"/>
              </a:ext>
            </a:extLst>
          </p:cNvPr>
          <p:cNvSpPr>
            <a:spLocks xmlns:a="http://schemas.openxmlformats.org/drawingml/2006/main" noGrp="1"/>
          </p:cNvSpPr>
          <p:nvPr/>
        </p:nvSpPr>
        <p:spPr>
          <a:xfrm xmlns:a="http://schemas.openxmlformats.org/drawingml/2006/main">
            <a:off x="8458200" y="4438650"/>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No sample is rejected, but a few extreme weights can dominate.</a:t>
            </a:r>
          </a:p>
        </p:txBody>
      </p:sp>
    </p:spTree>
    <p:extLst>
      <p:ext uri="{BB962C8B-B14F-4D97-AF65-F5344CB8AC3E}">
        <p14:creationId xmlns:p14="http://schemas.microsoft.com/office/powerpoint/2010/main" val="152882567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3">
            <a:extLst xmlns:a="http://schemas.openxmlformats.org/drawingml/2006/main">
              <a:ext uri="{FF2B5EF4-FFF2-40B4-BE49-F238E27FC236}">
                <a16:creationId xmlns:a16="http://schemas.microsoft.com/office/drawing/2014/main" id="{700D6D37-906C-4F95-A59E-8D3D731D8493}"/>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Elimination reuses an upstream sum</a:t>
            </a:r>
          </a:p>
        </p:txBody>
      </p:sp>
      <p:sp>
        <p:nvSpPr>
          <p:cNvPr id="2" name="title-accent-13">
            <a:extLst xmlns:a="http://schemas.openxmlformats.org/drawingml/2006/main">
              <a:ext uri="{FF2B5EF4-FFF2-40B4-BE49-F238E27FC236}">
                <a16:creationId xmlns:a16="http://schemas.microsoft.com/office/drawing/2014/main" id="{0BDE02CC-C6CA-41B6-B695-C16BE0EDD9D3}"/>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3">
            <a:extLst xmlns:a="http://schemas.openxmlformats.org/drawingml/2006/main">
              <a:ext uri="{FF2B5EF4-FFF2-40B4-BE49-F238E27FC236}">
                <a16:creationId xmlns:a16="http://schemas.microsoft.com/office/drawing/2014/main" id="{45D59B84-2ADF-428B-8D36-F8E17E109C27}"/>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2</a:t>
            </a:r>
          </a:p>
        </p:txBody>
      </p:sp>
      <p:sp>
        <p:nvSpPr>
          <p:cNvPr id="5" name="footer-number-13">
            <a:extLst xmlns:a="http://schemas.openxmlformats.org/drawingml/2006/main">
              <a:ext uri="{FF2B5EF4-FFF2-40B4-BE49-F238E27FC236}">
                <a16:creationId xmlns:a16="http://schemas.microsoft.com/office/drawing/2014/main" id="{FE12875E-764A-4004-928B-8BC3792340EA}"/>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13</a:t>
            </a:r>
          </a:p>
        </p:txBody>
      </p:sp>
      <p:sp>
        <p:nvSpPr>
          <p:cNvPr id="6" name="example-label-13">
            <a:extLst xmlns:a="http://schemas.openxmlformats.org/drawingml/2006/main">
              <a:ext uri="{FF2B5EF4-FFF2-40B4-BE49-F238E27FC236}">
                <a16:creationId xmlns:a16="http://schemas.microsoft.com/office/drawing/2014/main" id="{F428EEB0-F4EC-48AD-BF69-6D1A5525DF03}"/>
              </a:ext>
            </a:extLst>
          </p:cNvPr>
          <p:cNvSpPr>
            <a:spLocks xmlns:a="http://schemas.openxmlformats.org/drawingml/2006/main" noGrp="1"/>
          </p:cNvSpPr>
          <p:nvPr/>
        </p:nvSpPr>
        <p:spPr>
          <a:xfrm xmlns:a="http://schemas.openxmlformats.org/drawingml/2006/main">
            <a:off x="400050" y="1562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SCENARIO</a:t>
            </a:r>
          </a:p>
        </p:txBody>
      </p:sp>
      <p:sp>
        <p:nvSpPr>
          <p:cNvPr id="7" name="example-scenario-13">
            <a:extLst xmlns:a="http://schemas.openxmlformats.org/drawingml/2006/main">
              <a:ext uri="{FF2B5EF4-FFF2-40B4-BE49-F238E27FC236}">
                <a16:creationId xmlns:a16="http://schemas.microsoft.com/office/drawing/2014/main" id="{0A08D70F-11E6-4707-91D9-134A0CA4275C}"/>
              </a:ext>
            </a:extLst>
          </p:cNvPr>
          <p:cNvSpPr>
            <a:spLocks xmlns:a="http://schemas.openxmlformats.org/drawingml/2006/main" noGrp="1"/>
          </p:cNvSpPr>
          <p:nvPr/>
        </p:nvSpPr>
        <p:spPr>
          <a:xfrm xmlns:a="http://schemas.openxmlformats.org/drawingml/2006/main">
            <a:off x="400050" y="1952625"/>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In B-&gt;A&lt;-E with observed A, eliminate E before answering the two B values.</a:t>
            </a:r>
          </a:p>
        </p:txBody>
      </p:sp>
      <p:cxnSp>
        <p:nvCxnSpPr>
          <p:cNvPr id="26" name="example-divider-13"/>
          <p:cNvCxnSpPr/>
          <p:nvPr/>
        </p:nvCxnSpPr>
        <p:spPr>
          <a:xfrm xmlns:a="http://schemas.openxmlformats.org/drawingml/2006/main">
            <a:off x="5238750" y="1657350"/>
            <a:ext cx="0" cy="3048000"/>
          </a:xfrm>
          <a:prstGeom xmlns:a="http://schemas.openxmlformats.org/drawingml/2006/main" prst="straightConnector1">
            <a:avLst/>
          </a:prstGeom>
          <a:ln xmlns:a="http://schemas.openxmlformats.org/drawingml/2006/main" w="9525">
            <a:solidFill>
              <a:srgbClr val="B8BCC4"/>
            </a:solidFill>
            <a:prstDash val="solid"/>
          </a:ln>
        </p:spPr>
      </p:cxnSp>
      <p:sp>
        <p:nvSpPr>
          <p:cNvPr id="9" name="example-step-13-marker-1">
            <a:extLst xmlns:a="http://schemas.openxmlformats.org/drawingml/2006/main">
              <a:ext uri="{FF2B5EF4-FFF2-40B4-BE49-F238E27FC236}">
                <a16:creationId xmlns:a16="http://schemas.microsoft.com/office/drawing/2014/main" id="{2A72DBA2-7131-49BD-B3F0-CC44FAFBDF4D}"/>
              </a:ext>
            </a:extLst>
          </p:cNvPr>
          <p:cNvSpPr>
            <a:spLocks xmlns:a="http://schemas.openxmlformats.org/drawingml/2006/main" noGrp="1"/>
          </p:cNvSpPr>
          <p:nvPr/>
        </p:nvSpPr>
        <p:spPr>
          <a:xfrm xmlns:a="http://schemas.openxmlformats.org/drawingml/2006/main">
            <a:off x="5667375" y="1847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example-step-13-text-1">
            <a:extLst xmlns:a="http://schemas.openxmlformats.org/drawingml/2006/main">
              <a:ext uri="{FF2B5EF4-FFF2-40B4-BE49-F238E27FC236}">
                <a16:creationId xmlns:a16="http://schemas.microsoft.com/office/drawing/2014/main" id="{950B6393-23A7-4F78-BC24-A0084FB928D0}"/>
              </a:ext>
            </a:extLst>
          </p:cNvPr>
          <p:cNvSpPr>
            <a:spLocks xmlns:a="http://schemas.openxmlformats.org/drawingml/2006/main" noGrp="1"/>
          </p:cNvSpPr>
          <p:nvPr/>
        </p:nvSpPr>
        <p:spPr>
          <a:xfrm xmlns:a="http://schemas.openxmlformats.org/drawingml/2006/main">
            <a:off x="5895975" y="17621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Restrict A's factor to A=true.</a:t>
            </a:r>
          </a:p>
        </p:txBody>
      </p:sp>
      <p:sp>
        <p:nvSpPr>
          <p:cNvPr id="11" name="example-step-13-marker-2">
            <a:extLst xmlns:a="http://schemas.openxmlformats.org/drawingml/2006/main">
              <a:ext uri="{FF2B5EF4-FFF2-40B4-BE49-F238E27FC236}">
                <a16:creationId xmlns:a16="http://schemas.microsoft.com/office/drawing/2014/main" id="{7012576E-D3EB-4728-9135-A9719ACE47D9}"/>
              </a:ext>
            </a:extLst>
          </p:cNvPr>
          <p:cNvSpPr>
            <a:spLocks xmlns:a="http://schemas.openxmlformats.org/drawingml/2006/main" noGrp="1"/>
          </p:cNvSpPr>
          <p:nvPr/>
        </p:nvSpPr>
        <p:spPr>
          <a:xfrm xmlns:a="http://schemas.openxmlformats.org/drawingml/2006/main">
            <a:off x="5667375" y="25336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example-step-13-text-2">
            <a:extLst xmlns:a="http://schemas.openxmlformats.org/drawingml/2006/main">
              <a:ext uri="{FF2B5EF4-FFF2-40B4-BE49-F238E27FC236}">
                <a16:creationId xmlns:a16="http://schemas.microsoft.com/office/drawing/2014/main" id="{CF959672-D854-471D-ACA4-5EFE6201EC67}"/>
              </a:ext>
            </a:extLst>
          </p:cNvPr>
          <p:cNvSpPr>
            <a:spLocks xmlns:a="http://schemas.openxmlformats.org/drawingml/2006/main" noGrp="1"/>
          </p:cNvSpPr>
          <p:nvPr/>
        </p:nvSpPr>
        <p:spPr>
          <a:xfrm xmlns:a="http://schemas.openxmlformats.org/drawingml/2006/main">
            <a:off x="5895975" y="24479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Multiply P(E) with P(A=true|B,E).</a:t>
            </a:r>
          </a:p>
        </p:txBody>
      </p:sp>
      <p:sp>
        <p:nvSpPr>
          <p:cNvPr id="13" name="example-step-13-marker-3">
            <a:extLst xmlns:a="http://schemas.openxmlformats.org/drawingml/2006/main">
              <a:ext uri="{FF2B5EF4-FFF2-40B4-BE49-F238E27FC236}">
                <a16:creationId xmlns:a16="http://schemas.microsoft.com/office/drawing/2014/main" id="{BF264529-E374-4E4F-95BB-CDF77A38B84E}"/>
              </a:ext>
            </a:extLst>
          </p:cNvPr>
          <p:cNvSpPr>
            <a:spLocks xmlns:a="http://schemas.openxmlformats.org/drawingml/2006/main" noGrp="1"/>
          </p:cNvSpPr>
          <p:nvPr/>
        </p:nvSpPr>
        <p:spPr>
          <a:xfrm xmlns:a="http://schemas.openxmlformats.org/drawingml/2006/main">
            <a:off x="5667375" y="32194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example-step-13-text-3">
            <a:extLst xmlns:a="http://schemas.openxmlformats.org/drawingml/2006/main">
              <a:ext uri="{FF2B5EF4-FFF2-40B4-BE49-F238E27FC236}">
                <a16:creationId xmlns:a16="http://schemas.microsoft.com/office/drawing/2014/main" id="{478821CA-90AD-490D-A6CD-6C6C52FE6FB8}"/>
              </a:ext>
            </a:extLst>
          </p:cNvPr>
          <p:cNvSpPr>
            <a:spLocks xmlns:a="http://schemas.openxmlformats.org/drawingml/2006/main" noGrp="1"/>
          </p:cNvSpPr>
          <p:nvPr/>
        </p:nvSpPr>
        <p:spPr>
          <a:xfrm xmlns:a="http://schemas.openxmlformats.org/drawingml/2006/main">
            <a:off x="5895975" y="31337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Sum E once to create phi(B).</a:t>
            </a:r>
          </a:p>
        </p:txBody>
      </p:sp>
      <p:sp>
        <p:nvSpPr>
          <p:cNvPr id="15" name="example-step-13-marker-4">
            <a:extLst xmlns:a="http://schemas.openxmlformats.org/drawingml/2006/main">
              <a:ext uri="{FF2B5EF4-FFF2-40B4-BE49-F238E27FC236}">
                <a16:creationId xmlns:a16="http://schemas.microsoft.com/office/drawing/2014/main" id="{738B442A-0795-4D21-ABDD-F70068F338AD}"/>
              </a:ext>
            </a:extLst>
          </p:cNvPr>
          <p:cNvSpPr>
            <a:spLocks xmlns:a="http://schemas.openxmlformats.org/drawingml/2006/main" noGrp="1"/>
          </p:cNvSpPr>
          <p:nvPr/>
        </p:nvSpPr>
        <p:spPr>
          <a:xfrm xmlns:a="http://schemas.openxmlformats.org/drawingml/2006/main">
            <a:off x="5667375" y="39052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example-step-13-text-4">
            <a:extLst xmlns:a="http://schemas.openxmlformats.org/drawingml/2006/main">
              <a:ext uri="{FF2B5EF4-FFF2-40B4-BE49-F238E27FC236}">
                <a16:creationId xmlns:a16="http://schemas.microsoft.com/office/drawing/2014/main" id="{B06E0283-7D7E-4395-9C39-984D7538B662}"/>
              </a:ext>
            </a:extLst>
          </p:cNvPr>
          <p:cNvSpPr>
            <a:spLocks xmlns:a="http://schemas.openxmlformats.org/drawingml/2006/main" noGrp="1"/>
          </p:cNvSpPr>
          <p:nvPr/>
        </p:nvSpPr>
        <p:spPr>
          <a:xfrm xmlns:a="http://schemas.openxmlformats.org/drawingml/2006/main">
            <a:off x="5895975" y="38195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Multiply phi(B) by P(B) and normalize.</a:t>
            </a:r>
          </a:p>
        </p:txBody>
      </p:sp>
      <p:sp>
        <p:nvSpPr>
          <p:cNvPr id="17" name="example-result-panel-13">
            <a:extLst xmlns:a="http://schemas.openxmlformats.org/drawingml/2006/main">
              <a:ext uri="{FF2B5EF4-FFF2-40B4-BE49-F238E27FC236}">
                <a16:creationId xmlns:a16="http://schemas.microsoft.com/office/drawing/2014/main" id="{D6820D2D-9BAA-4609-A7B6-89D20C3FAD40}"/>
              </a:ext>
            </a:extLst>
          </p:cNvPr>
          <p:cNvSpPr>
            <a:spLocks xmlns:a="http://schemas.openxmlformats.org/drawingml/2006/main" noGrp="1"/>
          </p:cNvSpPr>
          <p:nvPr/>
        </p:nvSpPr>
        <p:spPr>
          <a:xfrm xmlns:a="http://schemas.openxmlformats.org/drawingml/2006/main">
            <a:off x="400050" y="5000625"/>
            <a:ext cx="11391900" cy="8001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example-result-13">
            <a:extLst xmlns:a="http://schemas.openxmlformats.org/drawingml/2006/main">
              <a:ext uri="{FF2B5EF4-FFF2-40B4-BE49-F238E27FC236}">
                <a16:creationId xmlns:a16="http://schemas.microsoft.com/office/drawing/2014/main" id="{0395D0C1-4104-4C12-9A6D-F49857A29CCF}"/>
              </a:ext>
            </a:extLst>
          </p:cNvPr>
          <p:cNvSpPr>
            <a:spLocks xmlns:a="http://schemas.openxmlformats.org/drawingml/2006/main" noGrp="1"/>
          </p:cNvSpPr>
          <p:nvPr/>
        </p:nvSpPr>
        <p:spPr>
          <a:xfrm xmlns:a="http://schemas.openxmlformats.org/drawingml/2006/main">
            <a:off x="685800" y="5181600"/>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The intermediate factor phi(B) stores the repeated E marginal needed by both posterior entries.</a:t>
            </a:r>
          </a:p>
        </p:txBody>
      </p:sp>
    </p:spTree>
    <p:extLst>
      <p:ext uri="{BB962C8B-B14F-4D97-AF65-F5344CB8AC3E}">
        <p14:creationId xmlns:p14="http://schemas.microsoft.com/office/powerpoint/2010/main" val="181835715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14">
            <a:extLst xmlns:a="http://schemas.openxmlformats.org/drawingml/2006/main">
              <a:ext uri="{FF2B5EF4-FFF2-40B4-BE49-F238E27FC236}">
                <a16:creationId xmlns:a16="http://schemas.microsoft.com/office/drawing/2014/main" id="{920F6578-9CA2-4230-892B-2C3F7C9177D6}"/>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Elimination orders control the largest factor</a:t>
            </a:r>
          </a:p>
        </p:txBody>
      </p:sp>
      <p:sp>
        <p:nvSpPr>
          <p:cNvPr id="2" name="title-accent-14">
            <a:extLst xmlns:a="http://schemas.openxmlformats.org/drawingml/2006/main">
              <a:ext uri="{FF2B5EF4-FFF2-40B4-BE49-F238E27FC236}">
                <a16:creationId xmlns:a16="http://schemas.microsoft.com/office/drawing/2014/main" id="{57E0BE09-FC9B-42F1-A318-F11217E205B6}"/>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40" name="title-rule-1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4">
            <a:extLst xmlns:a="http://schemas.openxmlformats.org/drawingml/2006/main">
              <a:ext uri="{FF2B5EF4-FFF2-40B4-BE49-F238E27FC236}">
                <a16:creationId xmlns:a16="http://schemas.microsoft.com/office/drawing/2014/main" id="{8CD20E87-8276-4E44-8468-A54F9A5B61B1}"/>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2</a:t>
            </a:r>
          </a:p>
        </p:txBody>
      </p:sp>
      <p:sp>
        <p:nvSpPr>
          <p:cNvPr id="5" name="footer-number-14">
            <a:extLst xmlns:a="http://schemas.openxmlformats.org/drawingml/2006/main">
              <a:ext uri="{FF2B5EF4-FFF2-40B4-BE49-F238E27FC236}">
                <a16:creationId xmlns:a16="http://schemas.microsoft.com/office/drawing/2014/main" id="{19DA97BB-A882-46FD-9C29-FCB14DED13E8}"/>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14</a:t>
            </a:r>
          </a:p>
        </p:txBody>
      </p:sp>
      <p:sp>
        <p:nvSpPr>
          <p:cNvPr id="6" name="comparison-title-14-1">
            <a:extLst xmlns:a="http://schemas.openxmlformats.org/drawingml/2006/main">
              <a:ext uri="{FF2B5EF4-FFF2-40B4-BE49-F238E27FC236}">
                <a16:creationId xmlns:a16="http://schemas.microsoft.com/office/drawing/2014/main" id="{7D99A5C2-1903-4F73-BF95-169831997E91}"/>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Leaf first</a:t>
            </a:r>
          </a:p>
        </p:txBody>
      </p:sp>
      <p:sp>
        <p:nvSpPr>
          <p:cNvPr id="7" name="comparison-tagline-14-1">
            <a:extLst xmlns:a="http://schemas.openxmlformats.org/drawingml/2006/main">
              <a:ext uri="{FF2B5EF4-FFF2-40B4-BE49-F238E27FC236}">
                <a16:creationId xmlns:a16="http://schemas.microsoft.com/office/drawing/2014/main" id="{353D08C5-7D28-44DC-8851-ECD9143750F4}"/>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Often local</a:t>
            </a:r>
          </a:p>
        </p:txBody>
      </p:sp>
      <p:sp>
        <p:nvSpPr>
          <p:cNvPr id="8" name="comparison-bullet-14-1-marker-1">
            <a:extLst xmlns:a="http://schemas.openxmlformats.org/drawingml/2006/main">
              <a:ext uri="{FF2B5EF4-FFF2-40B4-BE49-F238E27FC236}">
                <a16:creationId xmlns:a16="http://schemas.microsoft.com/office/drawing/2014/main" id="{E6E90581-661A-457C-B8E8-3EACB0A309B1}"/>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comparison-bullet-14-1-text-1">
            <a:extLst xmlns:a="http://schemas.openxmlformats.org/drawingml/2006/main">
              <a:ext uri="{FF2B5EF4-FFF2-40B4-BE49-F238E27FC236}">
                <a16:creationId xmlns:a16="http://schemas.microsoft.com/office/drawing/2014/main" id="{0815B8E5-2A11-411F-B975-02857136A529}"/>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Small scopes.</a:t>
            </a:r>
          </a:p>
        </p:txBody>
      </p:sp>
      <p:sp>
        <p:nvSpPr>
          <p:cNvPr id="10" name="comparison-bullet-14-1-marker-2">
            <a:extLst xmlns:a="http://schemas.openxmlformats.org/drawingml/2006/main">
              <a:ext uri="{FF2B5EF4-FFF2-40B4-BE49-F238E27FC236}">
                <a16:creationId xmlns:a16="http://schemas.microsoft.com/office/drawing/2014/main" id="{53FAC68F-6C81-4772-B911-0CC3E6551949}"/>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omparison-bullet-14-1-text-2">
            <a:extLst xmlns:a="http://schemas.openxmlformats.org/drawingml/2006/main">
              <a:ext uri="{FF2B5EF4-FFF2-40B4-BE49-F238E27FC236}">
                <a16:creationId xmlns:a16="http://schemas.microsoft.com/office/drawing/2014/main" id="{62D73166-1D9D-4C0F-BC96-9469801EB708}"/>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Early simplification.</a:t>
            </a:r>
          </a:p>
        </p:txBody>
      </p:sp>
      <p:sp>
        <p:nvSpPr>
          <p:cNvPr id="12" name="comparison-bullet-14-1-marker-3">
            <a:extLst xmlns:a="http://schemas.openxmlformats.org/drawingml/2006/main">
              <a:ext uri="{FF2B5EF4-FFF2-40B4-BE49-F238E27FC236}">
                <a16:creationId xmlns:a16="http://schemas.microsoft.com/office/drawing/2014/main" id="{8E714B20-E2CE-4384-AB2E-CC56AD9DF8DC}"/>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omparison-bullet-14-1-text-3">
            <a:extLst xmlns:a="http://schemas.openxmlformats.org/drawingml/2006/main">
              <a:ext uri="{FF2B5EF4-FFF2-40B4-BE49-F238E27FC236}">
                <a16:creationId xmlns:a16="http://schemas.microsoft.com/office/drawing/2014/main" id="{0AB81202-4F81-412F-ACCE-9A75DA9EB7E7}"/>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Good heuristic.</a:t>
            </a:r>
          </a:p>
        </p:txBody>
      </p:sp>
      <p:sp>
        <p:nvSpPr>
          <p:cNvPr id="14" name="comparison-bullet-14-1-marker-4">
            <a:extLst xmlns:a="http://schemas.openxmlformats.org/drawingml/2006/main">
              <a:ext uri="{FF2B5EF4-FFF2-40B4-BE49-F238E27FC236}">
                <a16:creationId xmlns:a16="http://schemas.microsoft.com/office/drawing/2014/main" id="{657CA32C-A8CA-448F-802F-359828C054B0}"/>
              </a:ext>
            </a:extLst>
          </p:cNvPr>
          <p:cNvSpPr>
            <a:spLocks xmlns:a="http://schemas.openxmlformats.org/drawingml/2006/main" noGrp="1"/>
          </p:cNvSpPr>
          <p:nvPr/>
        </p:nvSpPr>
        <p:spPr>
          <a:xfrm xmlns:a="http://schemas.openxmlformats.org/drawingml/2006/main">
            <a:off x="400050" y="4991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omparison-bullet-14-1-text-4">
            <a:extLst xmlns:a="http://schemas.openxmlformats.org/drawingml/2006/main">
              <a:ext uri="{FF2B5EF4-FFF2-40B4-BE49-F238E27FC236}">
                <a16:creationId xmlns:a16="http://schemas.microsoft.com/office/drawing/2014/main" id="{490ECCCA-D64D-49F3-A50A-D8095C2D4E3B}"/>
              </a:ext>
            </a:extLst>
          </p:cNvPr>
          <p:cNvSpPr>
            <a:spLocks xmlns:a="http://schemas.openxmlformats.org/drawingml/2006/main" noGrp="1"/>
          </p:cNvSpPr>
          <p:nvPr/>
        </p:nvSpPr>
        <p:spPr>
          <a:xfrm xmlns:a="http://schemas.openxmlformats.org/drawingml/2006/main">
            <a:off x="6286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Not always optimal.</a:t>
            </a:r>
          </a:p>
        </p:txBody>
      </p:sp>
      <p:cxnSp>
        <p:nvCxnSpPr>
          <p:cNvPr id="53" name="comparison-divider-14-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7" name="comparison-title-14-2">
            <a:extLst xmlns:a="http://schemas.openxmlformats.org/drawingml/2006/main">
              <a:ext uri="{FF2B5EF4-FFF2-40B4-BE49-F238E27FC236}">
                <a16:creationId xmlns:a16="http://schemas.microsoft.com/office/drawing/2014/main" id="{4D6F4C74-C43F-4D19-B772-E2E429DA4BE3}"/>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Hub first</a:t>
            </a:r>
          </a:p>
        </p:txBody>
      </p:sp>
      <p:sp>
        <p:nvSpPr>
          <p:cNvPr id="18" name="comparison-tagline-14-2">
            <a:extLst xmlns:a="http://schemas.openxmlformats.org/drawingml/2006/main">
              <a:ext uri="{FF2B5EF4-FFF2-40B4-BE49-F238E27FC236}">
                <a16:creationId xmlns:a16="http://schemas.microsoft.com/office/drawing/2014/main" id="{FE9C132B-8F34-492E-93E8-D6F3DF9B571C}"/>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Often costly</a:t>
            </a:r>
          </a:p>
        </p:txBody>
      </p:sp>
      <p:sp>
        <p:nvSpPr>
          <p:cNvPr id="19" name="comparison-bullet-14-2-marker-1">
            <a:extLst xmlns:a="http://schemas.openxmlformats.org/drawingml/2006/main">
              <a:ext uri="{FF2B5EF4-FFF2-40B4-BE49-F238E27FC236}">
                <a16:creationId xmlns:a16="http://schemas.microsoft.com/office/drawing/2014/main" id="{B3EE9207-2B41-4693-A49C-2D80F337936B}"/>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0" name="comparison-bullet-14-2-text-1">
            <a:extLst xmlns:a="http://schemas.openxmlformats.org/drawingml/2006/main">
              <a:ext uri="{FF2B5EF4-FFF2-40B4-BE49-F238E27FC236}">
                <a16:creationId xmlns:a16="http://schemas.microsoft.com/office/drawing/2014/main" id="{743B06E5-9106-486B-8761-20E105065A6B}"/>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Joins many neighbors.</a:t>
            </a:r>
          </a:p>
        </p:txBody>
      </p:sp>
      <p:sp>
        <p:nvSpPr>
          <p:cNvPr id="21" name="comparison-bullet-14-2-marker-2">
            <a:extLst xmlns:a="http://schemas.openxmlformats.org/drawingml/2006/main">
              <a:ext uri="{FF2B5EF4-FFF2-40B4-BE49-F238E27FC236}">
                <a16:creationId xmlns:a16="http://schemas.microsoft.com/office/drawing/2014/main" id="{E5C8DC71-A766-4873-84C4-D753A29AF1AE}"/>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2" name="comparison-bullet-14-2-text-2">
            <a:extLst xmlns:a="http://schemas.openxmlformats.org/drawingml/2006/main">
              <a:ext uri="{FF2B5EF4-FFF2-40B4-BE49-F238E27FC236}">
                <a16:creationId xmlns:a16="http://schemas.microsoft.com/office/drawing/2014/main" id="{A85FF8CF-9841-4CE4-BCF2-2B040D7FF210}"/>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Creates broad factor.</a:t>
            </a:r>
          </a:p>
        </p:txBody>
      </p:sp>
      <p:sp>
        <p:nvSpPr>
          <p:cNvPr id="23" name="comparison-bullet-14-2-marker-3">
            <a:extLst xmlns:a="http://schemas.openxmlformats.org/drawingml/2006/main">
              <a:ext uri="{FF2B5EF4-FFF2-40B4-BE49-F238E27FC236}">
                <a16:creationId xmlns:a16="http://schemas.microsoft.com/office/drawing/2014/main" id="{04B9F744-DA5F-40FF-96F7-AD8358CBDFD2}"/>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4" name="comparison-bullet-14-2-text-3">
            <a:extLst xmlns:a="http://schemas.openxmlformats.org/drawingml/2006/main">
              <a:ext uri="{FF2B5EF4-FFF2-40B4-BE49-F238E27FC236}">
                <a16:creationId xmlns:a16="http://schemas.microsoft.com/office/drawing/2014/main" id="{EB55BBAD-DDF4-4AD1-AAD2-1E3254BF99AC}"/>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Memory spikes.</a:t>
            </a:r>
          </a:p>
        </p:txBody>
      </p:sp>
      <p:sp>
        <p:nvSpPr>
          <p:cNvPr id="25" name="comparison-bullet-14-2-marker-4">
            <a:extLst xmlns:a="http://schemas.openxmlformats.org/drawingml/2006/main">
              <a:ext uri="{FF2B5EF4-FFF2-40B4-BE49-F238E27FC236}">
                <a16:creationId xmlns:a16="http://schemas.microsoft.com/office/drawing/2014/main" id="{4571D6D2-0038-4716-A788-7F97C2C6973C}"/>
              </a:ext>
            </a:extLst>
          </p:cNvPr>
          <p:cNvSpPr>
            <a:spLocks xmlns:a="http://schemas.openxmlformats.org/drawingml/2006/main" noGrp="1"/>
          </p:cNvSpPr>
          <p:nvPr/>
        </p:nvSpPr>
        <p:spPr>
          <a:xfrm xmlns:a="http://schemas.openxmlformats.org/drawingml/2006/main">
            <a:off x="4298950" y="49911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6" name="comparison-bullet-14-2-text-4">
            <a:extLst xmlns:a="http://schemas.openxmlformats.org/drawingml/2006/main">
              <a:ext uri="{FF2B5EF4-FFF2-40B4-BE49-F238E27FC236}">
                <a16:creationId xmlns:a16="http://schemas.microsoft.com/office/drawing/2014/main" id="{4B8D781E-AA93-4CB2-8F78-9F9111420B10}"/>
              </a:ext>
            </a:extLst>
          </p:cNvPr>
          <p:cNvSpPr>
            <a:spLocks xmlns:a="http://schemas.openxmlformats.org/drawingml/2006/main" noGrp="1"/>
          </p:cNvSpPr>
          <p:nvPr/>
        </p:nvSpPr>
        <p:spPr>
          <a:xfrm xmlns:a="http://schemas.openxmlformats.org/drawingml/2006/main">
            <a:off x="45275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Exposes dense structure.</a:t>
            </a:r>
          </a:p>
        </p:txBody>
      </p:sp>
      <p:cxnSp>
        <p:nvCxnSpPr>
          <p:cNvPr id="64" name="comparison-divider-14-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8" name="comparison-title-14-3">
            <a:extLst xmlns:a="http://schemas.openxmlformats.org/drawingml/2006/main">
              <a:ext uri="{FF2B5EF4-FFF2-40B4-BE49-F238E27FC236}">
                <a16:creationId xmlns:a16="http://schemas.microsoft.com/office/drawing/2014/main" id="{328651C2-6245-46B0-A879-6C89487DE345}"/>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Heuristic order</a:t>
            </a:r>
          </a:p>
        </p:txBody>
      </p:sp>
      <p:sp>
        <p:nvSpPr>
          <p:cNvPr id="29" name="comparison-tagline-14-3">
            <a:extLst xmlns:a="http://schemas.openxmlformats.org/drawingml/2006/main">
              <a:ext uri="{FF2B5EF4-FFF2-40B4-BE49-F238E27FC236}">
                <a16:creationId xmlns:a16="http://schemas.microsoft.com/office/drawing/2014/main" id="{84DA04E0-24A4-482B-B3DF-83BC5E0D05B7}"/>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Min-fill idea</a:t>
            </a:r>
          </a:p>
        </p:txBody>
      </p:sp>
      <p:sp>
        <p:nvSpPr>
          <p:cNvPr id="30" name="comparison-bullet-14-3-marker-1">
            <a:extLst xmlns:a="http://schemas.openxmlformats.org/drawingml/2006/main">
              <a:ext uri="{FF2B5EF4-FFF2-40B4-BE49-F238E27FC236}">
                <a16:creationId xmlns:a16="http://schemas.microsoft.com/office/drawing/2014/main" id="{687C8AD4-0301-4AB5-9A0A-6CF606F8E6D1}"/>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1" name="comparison-bullet-14-3-text-1">
            <a:extLst xmlns:a="http://schemas.openxmlformats.org/drawingml/2006/main">
              <a:ext uri="{FF2B5EF4-FFF2-40B4-BE49-F238E27FC236}">
                <a16:creationId xmlns:a16="http://schemas.microsoft.com/office/drawing/2014/main" id="{1617FCF9-9793-4CFB-9BF0-D4918DD47A3F}"/>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Estimate added connections.</a:t>
            </a:r>
          </a:p>
        </p:txBody>
      </p:sp>
      <p:sp>
        <p:nvSpPr>
          <p:cNvPr id="32" name="comparison-bullet-14-3-marker-2">
            <a:extLst xmlns:a="http://schemas.openxmlformats.org/drawingml/2006/main">
              <a:ext uri="{FF2B5EF4-FFF2-40B4-BE49-F238E27FC236}">
                <a16:creationId xmlns:a16="http://schemas.microsoft.com/office/drawing/2014/main" id="{F16189F9-A3C7-4819-8069-D9FEA476497D}"/>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3" name="comparison-bullet-14-3-text-2">
            <a:extLst xmlns:a="http://schemas.openxmlformats.org/drawingml/2006/main">
              <a:ext uri="{FF2B5EF4-FFF2-40B4-BE49-F238E27FC236}">
                <a16:creationId xmlns:a16="http://schemas.microsoft.com/office/drawing/2014/main" id="{13E012E9-D4D7-4310-AE01-6982AAE95AC1}"/>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Choose low-growth variable.</a:t>
            </a:r>
          </a:p>
        </p:txBody>
      </p:sp>
      <p:sp>
        <p:nvSpPr>
          <p:cNvPr id="34" name="comparison-bullet-14-3-marker-3">
            <a:extLst xmlns:a="http://schemas.openxmlformats.org/drawingml/2006/main">
              <a:ext uri="{FF2B5EF4-FFF2-40B4-BE49-F238E27FC236}">
                <a16:creationId xmlns:a16="http://schemas.microsoft.com/office/drawing/2014/main" id="{CFAA9C1A-2439-49E1-8229-F01FA64B2E3E}"/>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5" name="comparison-bullet-14-3-text-3">
            <a:extLst xmlns:a="http://schemas.openxmlformats.org/drawingml/2006/main">
              <a:ext uri="{FF2B5EF4-FFF2-40B4-BE49-F238E27FC236}">
                <a16:creationId xmlns:a16="http://schemas.microsoft.com/office/drawing/2014/main" id="{7C8DB8DA-C208-475D-8F6C-DD0125998691}"/>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Deterministic ties.</a:t>
            </a:r>
          </a:p>
        </p:txBody>
      </p:sp>
      <p:sp>
        <p:nvSpPr>
          <p:cNvPr id="36" name="comparison-bullet-14-3-marker-4">
            <a:extLst xmlns:a="http://schemas.openxmlformats.org/drawingml/2006/main">
              <a:ext uri="{FF2B5EF4-FFF2-40B4-BE49-F238E27FC236}">
                <a16:creationId xmlns:a16="http://schemas.microsoft.com/office/drawing/2014/main" id="{B480214C-9E8D-4DD2-B0E1-57EF81AE5D71}"/>
              </a:ext>
            </a:extLst>
          </p:cNvPr>
          <p:cNvSpPr>
            <a:spLocks xmlns:a="http://schemas.openxmlformats.org/drawingml/2006/main" noGrp="1"/>
          </p:cNvSpPr>
          <p:nvPr/>
        </p:nvSpPr>
        <p:spPr>
          <a:xfrm xmlns:a="http://schemas.openxmlformats.org/drawingml/2006/main">
            <a:off x="8197850" y="49911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7" name="comparison-bullet-14-3-text-4">
            <a:extLst xmlns:a="http://schemas.openxmlformats.org/drawingml/2006/main">
              <a:ext uri="{FF2B5EF4-FFF2-40B4-BE49-F238E27FC236}">
                <a16:creationId xmlns:a16="http://schemas.microsoft.com/office/drawing/2014/main" id="{5834E8B9-6FB6-4E4D-A01D-4311E4C79F60}"/>
              </a:ext>
            </a:extLst>
          </p:cNvPr>
          <p:cNvSpPr>
            <a:spLocks xmlns:a="http://schemas.openxmlformats.org/drawingml/2006/main" noGrp="1"/>
          </p:cNvSpPr>
          <p:nvPr/>
        </p:nvSpPr>
        <p:spPr>
          <a:xfrm xmlns:a="http://schemas.openxmlformats.org/drawingml/2006/main">
            <a:off x="84264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Record actual max scope.</a:t>
            </a:r>
          </a:p>
        </p:txBody>
      </p:sp>
    </p:spTree>
    <p:extLst>
      <p:ext uri="{BB962C8B-B14F-4D97-AF65-F5344CB8AC3E}">
        <p14:creationId xmlns:p14="http://schemas.microsoft.com/office/powerpoint/2010/main" val="194368244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15">
            <a:extLst xmlns:a="http://schemas.openxmlformats.org/drawingml/2006/main">
              <a:ext uri="{FF2B5EF4-FFF2-40B4-BE49-F238E27FC236}">
                <a16:creationId xmlns:a16="http://schemas.microsoft.com/office/drawing/2014/main" id="{31368277-1897-4151-BCD5-9174C3838F19}"/>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Checkpoint: choose an inference method</a:t>
            </a:r>
          </a:p>
        </p:txBody>
      </p:sp>
      <p:sp>
        <p:nvSpPr>
          <p:cNvPr id="2" name="title-accent-15">
            <a:extLst xmlns:a="http://schemas.openxmlformats.org/drawingml/2006/main">
              <a:ext uri="{FF2B5EF4-FFF2-40B4-BE49-F238E27FC236}">
                <a16:creationId xmlns:a16="http://schemas.microsoft.com/office/drawing/2014/main" id="{C1788422-6398-4C95-AA35-B79C6A9A9156}"/>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1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5">
            <a:extLst xmlns:a="http://schemas.openxmlformats.org/drawingml/2006/main">
              <a:ext uri="{FF2B5EF4-FFF2-40B4-BE49-F238E27FC236}">
                <a16:creationId xmlns:a16="http://schemas.microsoft.com/office/drawing/2014/main" id="{FFC3B648-07CC-4702-B429-52B857B8AB03}"/>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2</a:t>
            </a:r>
          </a:p>
        </p:txBody>
      </p:sp>
      <p:sp>
        <p:nvSpPr>
          <p:cNvPr id="5" name="footer-number-15">
            <a:extLst xmlns:a="http://schemas.openxmlformats.org/drawingml/2006/main">
              <a:ext uri="{FF2B5EF4-FFF2-40B4-BE49-F238E27FC236}">
                <a16:creationId xmlns:a16="http://schemas.microsoft.com/office/drawing/2014/main" id="{26E93B20-E670-43C4-802F-15CD1A549D87}"/>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15</a:t>
            </a:r>
          </a:p>
        </p:txBody>
      </p:sp>
      <p:sp>
        <p:nvSpPr>
          <p:cNvPr id="6" name="checkpoint-label-15">
            <a:extLst xmlns:a="http://schemas.openxmlformats.org/drawingml/2006/main">
              <a:ext uri="{FF2B5EF4-FFF2-40B4-BE49-F238E27FC236}">
                <a16:creationId xmlns:a16="http://schemas.microsoft.com/office/drawing/2014/main" id="{4D073701-2CB5-48B5-99A6-4B3A7C3810DB}"/>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15">
            <a:extLst xmlns:a="http://schemas.openxmlformats.org/drawingml/2006/main">
              <a:ext uri="{FF2B5EF4-FFF2-40B4-BE49-F238E27FC236}">
                <a16:creationId xmlns:a16="http://schemas.microsoft.com/office/drawing/2014/main" id="{82EC98AD-08CD-4E52-9EDD-8BC448595455}"/>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Evidence has probability one in a million and an exact factor would contain 2^30 entries. Which introductory sampler is preferable and why?</a:t>
            </a:r>
          </a:p>
        </p:txBody>
      </p:sp>
      <p:cxnSp>
        <p:nvCxnSpPr>
          <p:cNvPr id="22" name="checkpoint-rule-15"/>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15-1">
            <a:extLst xmlns:a="http://schemas.openxmlformats.org/drawingml/2006/main">
              <a:ext uri="{FF2B5EF4-FFF2-40B4-BE49-F238E27FC236}">
                <a16:creationId xmlns:a16="http://schemas.microsoft.com/office/drawing/2014/main" id="{D34AAC6D-105D-40B8-B7BA-41303BA3C301}"/>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15-1">
            <a:extLst xmlns:a="http://schemas.openxmlformats.org/drawingml/2006/main">
              <a:ext uri="{FF2B5EF4-FFF2-40B4-BE49-F238E27FC236}">
                <a16:creationId xmlns:a16="http://schemas.microsoft.com/office/drawing/2014/main" id="{FA12FC3C-5F6C-48A0-8378-48B9C7318576}"/>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Estimate rejection efficiency.</a:t>
            </a:r>
          </a:p>
        </p:txBody>
      </p:sp>
      <p:sp>
        <p:nvSpPr>
          <p:cNvPr id="11" name="checkpoint-prompt-number-15-2">
            <a:extLst xmlns:a="http://schemas.openxmlformats.org/drawingml/2006/main">
              <a:ext uri="{FF2B5EF4-FFF2-40B4-BE49-F238E27FC236}">
                <a16:creationId xmlns:a16="http://schemas.microsoft.com/office/drawing/2014/main" id="{E9FB9B52-9003-475C-A6ED-C7B21812C0B1}"/>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15-2">
            <a:extLst xmlns:a="http://schemas.openxmlformats.org/drawingml/2006/main">
              <a:ext uri="{FF2B5EF4-FFF2-40B4-BE49-F238E27FC236}">
                <a16:creationId xmlns:a16="http://schemas.microsoft.com/office/drawing/2014/main" id="{DE3601C1-C04E-4571-8B3B-70D567B46CEA}"/>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Consider weight variance.</a:t>
            </a:r>
          </a:p>
        </p:txBody>
      </p:sp>
      <p:sp>
        <p:nvSpPr>
          <p:cNvPr id="13" name="checkpoint-prompt-number-15-3">
            <a:extLst xmlns:a="http://schemas.openxmlformats.org/drawingml/2006/main">
              <a:ext uri="{FF2B5EF4-FFF2-40B4-BE49-F238E27FC236}">
                <a16:creationId xmlns:a16="http://schemas.microsoft.com/office/drawing/2014/main" id="{E5B592BB-8136-4BAF-AE8B-32DFE758037A}"/>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15-3">
            <a:extLst xmlns:a="http://schemas.openxmlformats.org/drawingml/2006/main">
              <a:ext uri="{FF2B5EF4-FFF2-40B4-BE49-F238E27FC236}">
                <a16:creationId xmlns:a16="http://schemas.microsoft.com/office/drawing/2014/main" id="{5572E608-E376-4D69-972F-878E4CEFD13A}"/>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State that approximation has uncertainty.</a:t>
            </a:r>
          </a:p>
        </p:txBody>
      </p:sp>
    </p:spTree>
    <p:extLst>
      <p:ext uri="{BB962C8B-B14F-4D97-AF65-F5344CB8AC3E}">
        <p14:creationId xmlns:p14="http://schemas.microsoft.com/office/powerpoint/2010/main" val="194906107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16">
            <a:extLst xmlns:a="http://schemas.openxmlformats.org/drawingml/2006/main">
              <a:ext uri="{FF2B5EF4-FFF2-40B4-BE49-F238E27FC236}">
                <a16:creationId xmlns:a16="http://schemas.microsoft.com/office/drawing/2014/main" id="{92ECA023-442C-43A9-810C-D506A13B2527}"/>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Test inference against normalization identities</a:t>
            </a:r>
          </a:p>
        </p:txBody>
      </p:sp>
      <p:sp>
        <p:nvSpPr>
          <p:cNvPr id="2" name="title-accent-16">
            <a:extLst xmlns:a="http://schemas.openxmlformats.org/drawingml/2006/main">
              <a:ext uri="{FF2B5EF4-FFF2-40B4-BE49-F238E27FC236}">
                <a16:creationId xmlns:a16="http://schemas.microsoft.com/office/drawing/2014/main" id="{E7E8D2A4-750B-44CC-8921-DE0713D9C42D}"/>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1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6">
            <a:extLst xmlns:a="http://schemas.openxmlformats.org/drawingml/2006/main">
              <a:ext uri="{FF2B5EF4-FFF2-40B4-BE49-F238E27FC236}">
                <a16:creationId xmlns:a16="http://schemas.microsoft.com/office/drawing/2014/main" id="{878E5A3F-D666-4EBE-A770-4B5A392D3F11}"/>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2</a:t>
            </a:r>
          </a:p>
        </p:txBody>
      </p:sp>
      <p:sp>
        <p:nvSpPr>
          <p:cNvPr id="5" name="footer-number-16">
            <a:extLst xmlns:a="http://schemas.openxmlformats.org/drawingml/2006/main">
              <a:ext uri="{FF2B5EF4-FFF2-40B4-BE49-F238E27FC236}">
                <a16:creationId xmlns:a16="http://schemas.microsoft.com/office/drawing/2014/main" id="{598B1043-5D0F-4A95-94A0-786A1E8B31CA}"/>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16</a:t>
            </a:r>
          </a:p>
        </p:txBody>
      </p:sp>
      <p:sp>
        <p:nvSpPr>
          <p:cNvPr id="6" name="claim-16">
            <a:extLst xmlns:a="http://schemas.openxmlformats.org/drawingml/2006/main">
              <a:ext uri="{FF2B5EF4-FFF2-40B4-BE49-F238E27FC236}">
                <a16:creationId xmlns:a16="http://schemas.microsoft.com/office/drawing/2014/main" id="{8D2FF03D-9200-452D-A1CB-03A7F289CA4E}"/>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Inference code should expose factor scopes, operation counts, and independent probability checks.</a:t>
            </a:r>
          </a:p>
        </p:txBody>
      </p:sp>
      <p:sp>
        <p:nvSpPr>
          <p:cNvPr id="7" name="claim-panel-16">
            <a:extLst xmlns:a="http://schemas.openxmlformats.org/drawingml/2006/main">
              <a:ext uri="{FF2B5EF4-FFF2-40B4-BE49-F238E27FC236}">
                <a16:creationId xmlns:a16="http://schemas.microsoft.com/office/drawing/2014/main" id="{19233D62-8C1D-4604-8562-B5D2A89F440B}"/>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16">
            <a:extLst xmlns:a="http://schemas.openxmlformats.org/drawingml/2006/main">
              <a:ext uri="{FF2B5EF4-FFF2-40B4-BE49-F238E27FC236}">
                <a16:creationId xmlns:a16="http://schemas.microsoft.com/office/drawing/2014/main" id="{A8731C04-9F38-42FC-985A-FF137A85186F}"/>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Oracle</a:t>
            </a:r>
          </a:p>
        </p:txBody>
      </p:sp>
      <p:sp>
        <p:nvSpPr>
          <p:cNvPr id="9" name="claim-keyword-detail-16">
            <a:extLst xmlns:a="http://schemas.openxmlformats.org/drawingml/2006/main">
              <a:ext uri="{FF2B5EF4-FFF2-40B4-BE49-F238E27FC236}">
                <a16:creationId xmlns:a16="http://schemas.microsoft.com/office/drawing/2014/main" id="{4D3B2F2F-BAE8-46E1-8922-6B52E67C4593}"/>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A tiny network can be enumerated completely and serve as a ground truth for elimination and sampling.</a:t>
            </a:r>
          </a:p>
        </p:txBody>
      </p:sp>
      <p:sp>
        <p:nvSpPr>
          <p:cNvPr id="10" name="claim-detail-16-marker-1">
            <a:extLst xmlns:a="http://schemas.openxmlformats.org/drawingml/2006/main">
              <a:ext uri="{FF2B5EF4-FFF2-40B4-BE49-F238E27FC236}">
                <a16:creationId xmlns:a16="http://schemas.microsoft.com/office/drawing/2014/main" id="{D3B1278D-4ED4-483B-B30D-A51B9229CE37}"/>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16-text-1">
            <a:extLst xmlns:a="http://schemas.openxmlformats.org/drawingml/2006/main">
              <a:ext uri="{FF2B5EF4-FFF2-40B4-BE49-F238E27FC236}">
                <a16:creationId xmlns:a16="http://schemas.microsoft.com/office/drawing/2014/main" id="{2EB0753F-53CF-4460-9DF8-CCEC71F9652E}"/>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Verify every returned distribution sums to one.</a:t>
            </a:r>
          </a:p>
        </p:txBody>
      </p:sp>
      <p:sp>
        <p:nvSpPr>
          <p:cNvPr id="12" name="claim-detail-16-marker-2">
            <a:extLst xmlns:a="http://schemas.openxmlformats.org/drawingml/2006/main">
              <a:ext uri="{FF2B5EF4-FFF2-40B4-BE49-F238E27FC236}">
                <a16:creationId xmlns:a16="http://schemas.microsoft.com/office/drawing/2014/main" id="{B7A39569-E96A-4FB8-8174-4449A61F6790}"/>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16-text-2">
            <a:extLst xmlns:a="http://schemas.openxmlformats.org/drawingml/2006/main">
              <a:ext uri="{FF2B5EF4-FFF2-40B4-BE49-F238E27FC236}">
                <a16:creationId xmlns:a16="http://schemas.microsoft.com/office/drawing/2014/main" id="{8A25AF90-1322-4599-808D-4BC12A8BE3A1}"/>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Compare elimination with enumeration on random small DAGs.</a:t>
            </a:r>
          </a:p>
        </p:txBody>
      </p:sp>
      <p:sp>
        <p:nvSpPr>
          <p:cNvPr id="14" name="claim-detail-16-marker-3">
            <a:extLst xmlns:a="http://schemas.openxmlformats.org/drawingml/2006/main">
              <a:ext uri="{FF2B5EF4-FFF2-40B4-BE49-F238E27FC236}">
                <a16:creationId xmlns:a16="http://schemas.microsoft.com/office/drawing/2014/main" id="{1424A85A-AD50-43AD-9CA9-699104AFA08D}"/>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16-text-3">
            <a:extLst xmlns:a="http://schemas.openxmlformats.org/drawingml/2006/main">
              <a:ext uri="{FF2B5EF4-FFF2-40B4-BE49-F238E27FC236}">
                <a16:creationId xmlns:a16="http://schemas.microsoft.com/office/drawing/2014/main" id="{D74FA99B-DD0B-4FF8-AC60-8C010C56E04B}"/>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Report sample count, seed, effective sample size, and error.</a:t>
            </a:r>
          </a:p>
        </p:txBody>
      </p:sp>
    </p:spTree>
    <p:extLst>
      <p:ext uri="{BB962C8B-B14F-4D97-AF65-F5344CB8AC3E}">
        <p14:creationId xmlns:p14="http://schemas.microsoft.com/office/powerpoint/2010/main" val="39036471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7">
            <a:extLst xmlns:a="http://schemas.openxmlformats.org/drawingml/2006/main">
              <a:ext uri="{FF2B5EF4-FFF2-40B4-BE49-F238E27FC236}">
                <a16:creationId xmlns:a16="http://schemas.microsoft.com/office/drawing/2014/main" id="{2030A902-96FB-4FE9-AF7A-F93A864A0BF1}"/>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Key takeaways</a:t>
            </a:r>
          </a:p>
        </p:txBody>
      </p:sp>
      <p:sp>
        <p:nvSpPr>
          <p:cNvPr id="2" name="title-accent-17">
            <a:extLst xmlns:a="http://schemas.openxmlformats.org/drawingml/2006/main">
              <a:ext uri="{FF2B5EF4-FFF2-40B4-BE49-F238E27FC236}">
                <a16:creationId xmlns:a16="http://schemas.microsoft.com/office/drawing/2014/main" id="{75139A8F-7B57-4818-B224-60C4119D7590}"/>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7">
            <a:extLst xmlns:a="http://schemas.openxmlformats.org/drawingml/2006/main">
              <a:ext uri="{FF2B5EF4-FFF2-40B4-BE49-F238E27FC236}">
                <a16:creationId xmlns:a16="http://schemas.microsoft.com/office/drawing/2014/main" id="{9246BF84-57F7-4931-98FA-BF6344B0FE08}"/>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2</a:t>
            </a:r>
          </a:p>
        </p:txBody>
      </p:sp>
      <p:sp>
        <p:nvSpPr>
          <p:cNvPr id="5" name="footer-number-17">
            <a:extLst xmlns:a="http://schemas.openxmlformats.org/drawingml/2006/main">
              <a:ext uri="{FF2B5EF4-FFF2-40B4-BE49-F238E27FC236}">
                <a16:creationId xmlns:a16="http://schemas.microsoft.com/office/drawing/2014/main" id="{B8324DA0-8F32-4FDF-B67C-5C7F094A007A}"/>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17</a:t>
            </a:r>
          </a:p>
        </p:txBody>
      </p:sp>
      <p:sp>
        <p:nvSpPr>
          <p:cNvPr id="6" name="summary-number-17-1">
            <a:extLst xmlns:a="http://schemas.openxmlformats.org/drawingml/2006/main">
              <a:ext uri="{FF2B5EF4-FFF2-40B4-BE49-F238E27FC236}">
                <a16:creationId xmlns:a16="http://schemas.microsoft.com/office/drawing/2014/main" id="{97C4B788-02A9-4C5A-AE1C-758DFEB0FAEE}"/>
              </a:ext>
            </a:extLst>
          </p:cNvPr>
          <p:cNvSpPr>
            <a:spLocks xmlns:a="http://schemas.openxmlformats.org/drawingml/2006/main" noGrp="1"/>
          </p:cNvSpPr>
          <p:nvPr/>
        </p:nvSpPr>
        <p:spPr>
          <a:xfrm xmlns:a="http://schemas.openxmlformats.org/drawingml/2006/main">
            <a:off x="400050" y="16192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01</a:t>
            </a:r>
          </a:p>
        </p:txBody>
      </p:sp>
      <p:cxnSp>
        <p:nvCxnSpPr>
          <p:cNvPr id="25" name="summary-rule-17-1"/>
          <p:cNvCxnSpPr/>
          <p:nvPr/>
        </p:nvCxnSpPr>
        <p:spPr>
          <a:xfrm xmlns:a="http://schemas.openxmlformats.org/drawingml/2006/main">
            <a:off x="1123950" y="19240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8" name="summary-text-17-1">
            <a:extLst xmlns:a="http://schemas.openxmlformats.org/drawingml/2006/main">
              <a:ext uri="{FF2B5EF4-FFF2-40B4-BE49-F238E27FC236}">
                <a16:creationId xmlns:a16="http://schemas.microsoft.com/office/drawing/2014/main" id="{52E996DB-036E-41CB-936D-73B83A5BADA9}"/>
              </a:ext>
            </a:extLst>
          </p:cNvPr>
          <p:cNvSpPr>
            <a:spLocks xmlns:a="http://schemas.openxmlformats.org/drawingml/2006/main" noGrp="1"/>
          </p:cNvSpPr>
          <p:nvPr/>
        </p:nvSpPr>
        <p:spPr>
          <a:xfrm xmlns:a="http://schemas.openxmlformats.org/drawingml/2006/main">
            <a:off x="2324100" y="16192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Enumeration is exact but repeats work.</a:t>
            </a:r>
          </a:p>
        </p:txBody>
      </p:sp>
      <p:sp>
        <p:nvSpPr>
          <p:cNvPr id="9" name="summary-number-17-2">
            <a:extLst xmlns:a="http://schemas.openxmlformats.org/drawingml/2006/main">
              <a:ext uri="{FF2B5EF4-FFF2-40B4-BE49-F238E27FC236}">
                <a16:creationId xmlns:a16="http://schemas.microsoft.com/office/drawing/2014/main" id="{2A3501B2-633D-4737-9F6C-BF9AD7E9BC0B}"/>
              </a:ext>
            </a:extLst>
          </p:cNvPr>
          <p:cNvSpPr>
            <a:spLocks xmlns:a="http://schemas.openxmlformats.org/drawingml/2006/main" noGrp="1"/>
          </p:cNvSpPr>
          <p:nvPr/>
        </p:nvSpPr>
        <p:spPr>
          <a:xfrm xmlns:a="http://schemas.openxmlformats.org/drawingml/2006/main">
            <a:off x="400050" y="26098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02</a:t>
            </a:r>
          </a:p>
        </p:txBody>
      </p:sp>
      <p:cxnSp>
        <p:nvCxnSpPr>
          <p:cNvPr id="28" name="summary-rule-17-2"/>
          <p:cNvCxnSpPr/>
          <p:nvPr/>
        </p:nvCxnSpPr>
        <p:spPr>
          <a:xfrm xmlns:a="http://schemas.openxmlformats.org/drawingml/2006/main">
            <a:off x="1123950" y="29146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1" name="summary-text-17-2">
            <a:extLst xmlns:a="http://schemas.openxmlformats.org/drawingml/2006/main">
              <a:ext uri="{FF2B5EF4-FFF2-40B4-BE49-F238E27FC236}">
                <a16:creationId xmlns:a16="http://schemas.microsoft.com/office/drawing/2014/main" id="{D11671BE-D22C-466D-9CEC-17C8DFD2EC7C}"/>
              </a:ext>
            </a:extLst>
          </p:cNvPr>
          <p:cNvSpPr>
            <a:spLocks xmlns:a="http://schemas.openxmlformats.org/drawingml/2006/main" noGrp="1"/>
          </p:cNvSpPr>
          <p:nvPr/>
        </p:nvSpPr>
        <p:spPr>
          <a:xfrm xmlns:a="http://schemas.openxmlformats.org/drawingml/2006/main">
            <a:off x="2324100" y="26098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Variable elimination reuses intermediate factors.</a:t>
            </a:r>
          </a:p>
        </p:txBody>
      </p:sp>
      <p:sp>
        <p:nvSpPr>
          <p:cNvPr id="12" name="summary-number-17-3">
            <a:extLst xmlns:a="http://schemas.openxmlformats.org/drawingml/2006/main">
              <a:ext uri="{FF2B5EF4-FFF2-40B4-BE49-F238E27FC236}">
                <a16:creationId xmlns:a16="http://schemas.microsoft.com/office/drawing/2014/main" id="{EB3695A9-BB57-4460-90D7-8920F89283FD}"/>
              </a:ext>
            </a:extLst>
          </p:cNvPr>
          <p:cNvSpPr>
            <a:spLocks xmlns:a="http://schemas.openxmlformats.org/drawingml/2006/main" noGrp="1"/>
          </p:cNvSpPr>
          <p:nvPr/>
        </p:nvSpPr>
        <p:spPr>
          <a:xfrm xmlns:a="http://schemas.openxmlformats.org/drawingml/2006/main">
            <a:off x="400050" y="36004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03</a:t>
            </a:r>
          </a:p>
        </p:txBody>
      </p:sp>
      <p:cxnSp>
        <p:nvCxnSpPr>
          <p:cNvPr id="31" name="summary-rule-17-3"/>
          <p:cNvCxnSpPr/>
          <p:nvPr/>
        </p:nvCxnSpPr>
        <p:spPr>
          <a:xfrm xmlns:a="http://schemas.openxmlformats.org/drawingml/2006/main">
            <a:off x="1123950" y="39052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4" name="summary-text-17-3">
            <a:extLst xmlns:a="http://schemas.openxmlformats.org/drawingml/2006/main">
              <a:ext uri="{FF2B5EF4-FFF2-40B4-BE49-F238E27FC236}">
                <a16:creationId xmlns:a16="http://schemas.microsoft.com/office/drawing/2014/main" id="{0AE9E911-23E6-4010-811F-58F32A4D74ED}"/>
              </a:ext>
            </a:extLst>
          </p:cNvPr>
          <p:cNvSpPr>
            <a:spLocks xmlns:a="http://schemas.openxmlformats.org/drawingml/2006/main" noGrp="1"/>
          </p:cNvSpPr>
          <p:nvPr/>
        </p:nvSpPr>
        <p:spPr>
          <a:xfrm xmlns:a="http://schemas.openxmlformats.org/drawingml/2006/main">
            <a:off x="2324100" y="36004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Order controls the largest intermediate scope.</a:t>
            </a:r>
          </a:p>
        </p:txBody>
      </p:sp>
      <p:sp>
        <p:nvSpPr>
          <p:cNvPr id="15" name="summary-number-17-4">
            <a:extLst xmlns:a="http://schemas.openxmlformats.org/drawingml/2006/main">
              <a:ext uri="{FF2B5EF4-FFF2-40B4-BE49-F238E27FC236}">
                <a16:creationId xmlns:a16="http://schemas.microsoft.com/office/drawing/2014/main" id="{C0533D70-E412-4C19-BE11-6ACE3339A2AC}"/>
              </a:ext>
            </a:extLst>
          </p:cNvPr>
          <p:cNvSpPr>
            <a:spLocks xmlns:a="http://schemas.openxmlformats.org/drawingml/2006/main" noGrp="1"/>
          </p:cNvSpPr>
          <p:nvPr/>
        </p:nvSpPr>
        <p:spPr>
          <a:xfrm xmlns:a="http://schemas.openxmlformats.org/drawingml/2006/main">
            <a:off x="400050" y="45910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04</a:t>
            </a:r>
          </a:p>
        </p:txBody>
      </p:sp>
      <p:cxnSp>
        <p:nvCxnSpPr>
          <p:cNvPr id="34" name="summary-rule-17-4"/>
          <p:cNvCxnSpPr/>
          <p:nvPr/>
        </p:nvCxnSpPr>
        <p:spPr>
          <a:xfrm xmlns:a="http://schemas.openxmlformats.org/drawingml/2006/main">
            <a:off x="1123950" y="48958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7" name="summary-text-17-4">
            <a:extLst xmlns:a="http://schemas.openxmlformats.org/drawingml/2006/main">
              <a:ext uri="{FF2B5EF4-FFF2-40B4-BE49-F238E27FC236}">
                <a16:creationId xmlns:a16="http://schemas.microsoft.com/office/drawing/2014/main" id="{82CE81E1-8683-49DC-AAFF-E34B061F0E2F}"/>
              </a:ext>
            </a:extLst>
          </p:cNvPr>
          <p:cNvSpPr>
            <a:spLocks xmlns:a="http://schemas.openxmlformats.org/drawingml/2006/main" noGrp="1"/>
          </p:cNvSpPr>
          <p:nvPr/>
        </p:nvSpPr>
        <p:spPr>
          <a:xfrm xmlns:a="http://schemas.openxmlformats.org/drawingml/2006/main">
            <a:off x="2324100" y="45910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Sampling trades exactness for scalable estimates.</a:t>
            </a:r>
          </a:p>
        </p:txBody>
      </p:sp>
      <p:sp>
        <p:nvSpPr>
          <p:cNvPr id="18" name="summary-next-17">
            <a:extLst xmlns:a="http://schemas.openxmlformats.org/drawingml/2006/main">
              <a:ext uri="{FF2B5EF4-FFF2-40B4-BE49-F238E27FC236}">
                <a16:creationId xmlns:a16="http://schemas.microsoft.com/office/drawing/2014/main" id="{416A752D-E385-4727-B589-7E0BD1465CFE}"/>
              </a:ext>
            </a:extLst>
          </p:cNvPr>
          <p:cNvSpPr>
            <a:spLocks xmlns:a="http://schemas.openxmlformats.org/drawingml/2006/main" noGrp="1"/>
          </p:cNvSpPr>
          <p:nvPr/>
        </p:nvSpPr>
        <p:spPr>
          <a:xfrm xmlns:a="http://schemas.openxmlformats.org/drawingml/2006/main">
            <a:off x="400050" y="5667375"/>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Next: Module C begins with supervised learning and linear regression from first principles.</a:t>
            </a:r>
          </a:p>
        </p:txBody>
      </p:sp>
    </p:spTree>
    <p:extLst>
      <p:ext uri="{BB962C8B-B14F-4D97-AF65-F5344CB8AC3E}">
        <p14:creationId xmlns:p14="http://schemas.microsoft.com/office/powerpoint/2010/main" val="147942516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18">
            <a:extLst xmlns:a="http://schemas.openxmlformats.org/drawingml/2006/main">
              <a:ext uri="{FF2B5EF4-FFF2-40B4-BE49-F238E27FC236}">
                <a16:creationId xmlns:a16="http://schemas.microsoft.com/office/drawing/2014/main" id="{A27E86E3-1604-4949-A711-F45BA9ED739E}"/>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 your understanding</a:t>
            </a:r>
          </a:p>
        </p:txBody>
      </p:sp>
      <p:sp>
        <p:nvSpPr>
          <p:cNvPr id="2" name="title-accent-18">
            <a:extLst xmlns:a="http://schemas.openxmlformats.org/drawingml/2006/main">
              <a:ext uri="{FF2B5EF4-FFF2-40B4-BE49-F238E27FC236}">
                <a16:creationId xmlns:a16="http://schemas.microsoft.com/office/drawing/2014/main" id="{B9293B4E-79EC-4DCD-B2F8-634206E20DFD}"/>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1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8">
            <a:extLst xmlns:a="http://schemas.openxmlformats.org/drawingml/2006/main">
              <a:ext uri="{FF2B5EF4-FFF2-40B4-BE49-F238E27FC236}">
                <a16:creationId xmlns:a16="http://schemas.microsoft.com/office/drawing/2014/main" id="{892B1A7F-CE26-4842-86E3-29561955B1E4}"/>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2</a:t>
            </a:r>
          </a:p>
        </p:txBody>
      </p:sp>
      <p:sp>
        <p:nvSpPr>
          <p:cNvPr id="5" name="footer-number-18">
            <a:extLst xmlns:a="http://schemas.openxmlformats.org/drawingml/2006/main">
              <a:ext uri="{FF2B5EF4-FFF2-40B4-BE49-F238E27FC236}">
                <a16:creationId xmlns:a16="http://schemas.microsoft.com/office/drawing/2014/main" id="{5F41C508-5051-4820-B877-5DCF4CB24036}"/>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18</a:t>
            </a:r>
          </a:p>
        </p:txBody>
      </p:sp>
      <p:sp>
        <p:nvSpPr>
          <p:cNvPr id="6" name="question-number-18-1">
            <a:extLst xmlns:a="http://schemas.openxmlformats.org/drawingml/2006/main">
              <a:ext uri="{FF2B5EF4-FFF2-40B4-BE49-F238E27FC236}">
                <a16:creationId xmlns:a16="http://schemas.microsoft.com/office/drawing/2014/main" id="{3EF048BB-1BDD-4DB2-9644-85E5EA5F07C4}"/>
              </a:ext>
            </a:extLst>
          </p:cNvPr>
          <p:cNvSpPr>
            <a:spLocks xmlns:a="http://schemas.openxmlformats.org/drawingml/2006/main" noGrp="1"/>
          </p:cNvSpPr>
          <p:nvPr/>
        </p:nvSpPr>
        <p:spPr>
          <a:xfrm xmlns:a="http://schemas.openxmlformats.org/drawingml/2006/main">
            <a:off x="400050" y="15716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Q1</a:t>
            </a:r>
          </a:p>
        </p:txBody>
      </p:sp>
      <p:sp>
        <p:nvSpPr>
          <p:cNvPr id="7" name="question-text-18-1">
            <a:extLst xmlns:a="http://schemas.openxmlformats.org/drawingml/2006/main">
              <a:ext uri="{FF2B5EF4-FFF2-40B4-BE49-F238E27FC236}">
                <a16:creationId xmlns:a16="http://schemas.microsoft.com/office/drawing/2014/main" id="{BD7A5027-CC15-4AE5-A3AA-A4964C40B4B5}"/>
              </a:ext>
            </a:extLst>
          </p:cNvPr>
          <p:cNvSpPr>
            <a:spLocks xmlns:a="http://schemas.openxmlformats.org/drawingml/2006/main" noGrp="1"/>
          </p:cNvSpPr>
          <p:nvPr/>
        </p:nvSpPr>
        <p:spPr>
          <a:xfrm xmlns:a="http://schemas.openxmlformats.org/drawingml/2006/main">
            <a:off x="1257300" y="15716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Write a posterior as a normalized sum.</a:t>
            </a:r>
          </a:p>
        </p:txBody>
      </p:sp>
      <p:sp>
        <p:nvSpPr>
          <p:cNvPr id="8" name="question-number-18-2">
            <a:extLst xmlns:a="http://schemas.openxmlformats.org/drawingml/2006/main">
              <a:ext uri="{FF2B5EF4-FFF2-40B4-BE49-F238E27FC236}">
                <a16:creationId xmlns:a16="http://schemas.microsoft.com/office/drawing/2014/main" id="{C242C6C9-2DC0-4C43-8684-AEF3D7228460}"/>
              </a:ext>
            </a:extLst>
          </p:cNvPr>
          <p:cNvSpPr>
            <a:spLocks xmlns:a="http://schemas.openxmlformats.org/drawingml/2006/main" noGrp="1"/>
          </p:cNvSpPr>
          <p:nvPr/>
        </p:nvSpPr>
        <p:spPr>
          <a:xfrm xmlns:a="http://schemas.openxmlformats.org/drawingml/2006/main">
            <a:off x="400050" y="243840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Q2</a:t>
            </a:r>
          </a:p>
        </p:txBody>
      </p:sp>
      <p:sp>
        <p:nvSpPr>
          <p:cNvPr id="9" name="question-text-18-2">
            <a:extLst xmlns:a="http://schemas.openxmlformats.org/drawingml/2006/main">
              <a:ext uri="{FF2B5EF4-FFF2-40B4-BE49-F238E27FC236}">
                <a16:creationId xmlns:a16="http://schemas.microsoft.com/office/drawing/2014/main" id="{18BB5897-294F-497A-A915-50DA9D7DEF39}"/>
              </a:ext>
            </a:extLst>
          </p:cNvPr>
          <p:cNvSpPr>
            <a:spLocks xmlns:a="http://schemas.openxmlformats.org/drawingml/2006/main" noGrp="1"/>
          </p:cNvSpPr>
          <p:nvPr/>
        </p:nvSpPr>
        <p:spPr>
          <a:xfrm xmlns:a="http://schemas.openxmlformats.org/drawingml/2006/main">
            <a:off x="1257300" y="243840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Multiply two factor scopes.</a:t>
            </a:r>
          </a:p>
        </p:txBody>
      </p:sp>
      <p:sp>
        <p:nvSpPr>
          <p:cNvPr id="10" name="question-number-18-3">
            <a:extLst xmlns:a="http://schemas.openxmlformats.org/drawingml/2006/main">
              <a:ext uri="{FF2B5EF4-FFF2-40B4-BE49-F238E27FC236}">
                <a16:creationId xmlns:a16="http://schemas.microsoft.com/office/drawing/2014/main" id="{C1211C89-CABE-406A-A5F0-87E5BEA4D22A}"/>
              </a:ext>
            </a:extLst>
          </p:cNvPr>
          <p:cNvSpPr>
            <a:spLocks xmlns:a="http://schemas.openxmlformats.org/drawingml/2006/main" noGrp="1"/>
          </p:cNvSpPr>
          <p:nvPr/>
        </p:nvSpPr>
        <p:spPr>
          <a:xfrm xmlns:a="http://schemas.openxmlformats.org/drawingml/2006/main">
            <a:off x="400050" y="330517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Q3</a:t>
            </a:r>
          </a:p>
        </p:txBody>
      </p:sp>
      <p:sp>
        <p:nvSpPr>
          <p:cNvPr id="11" name="question-text-18-3">
            <a:extLst xmlns:a="http://schemas.openxmlformats.org/drawingml/2006/main">
              <a:ext uri="{FF2B5EF4-FFF2-40B4-BE49-F238E27FC236}">
                <a16:creationId xmlns:a16="http://schemas.microsoft.com/office/drawing/2014/main" id="{F992C93C-6D31-4D34-8DDF-CA5E1C1E4D97}"/>
              </a:ext>
            </a:extLst>
          </p:cNvPr>
          <p:cNvSpPr>
            <a:spLocks xmlns:a="http://schemas.openxmlformats.org/drawingml/2006/main" noGrp="1"/>
          </p:cNvSpPr>
          <p:nvPr/>
        </p:nvSpPr>
        <p:spPr>
          <a:xfrm xmlns:a="http://schemas.openxmlformats.org/drawingml/2006/main">
            <a:off x="1257300" y="330517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Trace one elimination.</a:t>
            </a:r>
          </a:p>
        </p:txBody>
      </p:sp>
      <p:sp>
        <p:nvSpPr>
          <p:cNvPr id="12" name="question-number-18-4">
            <a:extLst xmlns:a="http://schemas.openxmlformats.org/drawingml/2006/main">
              <a:ext uri="{FF2B5EF4-FFF2-40B4-BE49-F238E27FC236}">
                <a16:creationId xmlns:a16="http://schemas.microsoft.com/office/drawing/2014/main" id="{101F2264-20FA-4669-8B7B-B966E4006840}"/>
              </a:ext>
            </a:extLst>
          </p:cNvPr>
          <p:cNvSpPr>
            <a:spLocks xmlns:a="http://schemas.openxmlformats.org/drawingml/2006/main" noGrp="1"/>
          </p:cNvSpPr>
          <p:nvPr/>
        </p:nvSpPr>
        <p:spPr>
          <a:xfrm xmlns:a="http://schemas.openxmlformats.org/drawingml/2006/main">
            <a:off x="400050" y="417195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Q4</a:t>
            </a:r>
          </a:p>
        </p:txBody>
      </p:sp>
      <p:sp>
        <p:nvSpPr>
          <p:cNvPr id="13" name="question-text-18-4">
            <a:extLst xmlns:a="http://schemas.openxmlformats.org/drawingml/2006/main">
              <a:ext uri="{FF2B5EF4-FFF2-40B4-BE49-F238E27FC236}">
                <a16:creationId xmlns:a16="http://schemas.microsoft.com/office/drawing/2014/main" id="{4CE24183-5F26-4D55-9847-BA1349A41281}"/>
              </a:ext>
            </a:extLst>
          </p:cNvPr>
          <p:cNvSpPr>
            <a:spLocks xmlns:a="http://schemas.openxmlformats.org/drawingml/2006/main" noGrp="1"/>
          </p:cNvSpPr>
          <p:nvPr/>
        </p:nvSpPr>
        <p:spPr>
          <a:xfrm xmlns:a="http://schemas.openxmlformats.org/drawingml/2006/main">
            <a:off x="1257300" y="417195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Explain a poor order.</a:t>
            </a:r>
          </a:p>
        </p:txBody>
      </p:sp>
      <p:sp>
        <p:nvSpPr>
          <p:cNvPr id="14" name="question-number-18-5">
            <a:extLst xmlns:a="http://schemas.openxmlformats.org/drawingml/2006/main">
              <a:ext uri="{FF2B5EF4-FFF2-40B4-BE49-F238E27FC236}">
                <a16:creationId xmlns:a16="http://schemas.microsoft.com/office/drawing/2014/main" id="{EB0C188D-AB24-47EC-A235-9DA8CCFE6B59}"/>
              </a:ext>
            </a:extLst>
          </p:cNvPr>
          <p:cNvSpPr>
            <a:spLocks xmlns:a="http://schemas.openxmlformats.org/drawingml/2006/main" noGrp="1"/>
          </p:cNvSpPr>
          <p:nvPr/>
        </p:nvSpPr>
        <p:spPr>
          <a:xfrm xmlns:a="http://schemas.openxmlformats.org/drawingml/2006/main">
            <a:off x="400050" y="50387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Q5</a:t>
            </a:r>
          </a:p>
        </p:txBody>
      </p:sp>
      <p:sp>
        <p:nvSpPr>
          <p:cNvPr id="15" name="question-text-18-5">
            <a:extLst xmlns:a="http://schemas.openxmlformats.org/drawingml/2006/main">
              <a:ext uri="{FF2B5EF4-FFF2-40B4-BE49-F238E27FC236}">
                <a16:creationId xmlns:a16="http://schemas.microsoft.com/office/drawing/2014/main" id="{224DD583-E590-4099-AF5E-5F15077F2D73}"/>
              </a:ext>
            </a:extLst>
          </p:cNvPr>
          <p:cNvSpPr>
            <a:spLocks xmlns:a="http://schemas.openxmlformats.org/drawingml/2006/main" noGrp="1"/>
          </p:cNvSpPr>
          <p:nvPr/>
        </p:nvSpPr>
        <p:spPr>
          <a:xfrm xmlns:a="http://schemas.openxmlformats.org/drawingml/2006/main">
            <a:off x="1257300" y="50387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Compare two samplers.</a:t>
            </a:r>
          </a:p>
        </p:txBody>
      </p:sp>
    </p:spTree>
    <p:extLst>
      <p:ext uri="{BB962C8B-B14F-4D97-AF65-F5344CB8AC3E}">
        <p14:creationId xmlns:p14="http://schemas.microsoft.com/office/powerpoint/2010/main" val="5085833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2026-07-27T10:44:28.4620000Z</dcterms:created>
  <dcterms:modified xsi:type="dcterms:W3CDTF">2026-07-27T10:44:28.4620000Z</dcterms:modified>
</coreProperties>
</file>