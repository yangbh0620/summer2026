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df9a8d11fb4158" /><Relationship Type="http://schemas.openxmlformats.org/officeDocument/2006/relationships/extended-properties" Target="/docProps/app.xml" Id="R9d54d0557f084c17" /><Relationship Type="http://schemas.openxmlformats.org/officeDocument/2006/relationships/officeDocument" Target="/ppt/presentation.xml" Id="R560db2bc1d684dd8" /></Relationships>
</file>

<file path=ppt/presentation.xml><?xml version="1.0" encoding="utf-8"?>
<p:presentation xmlns:p="http://schemas.openxmlformats.org/presentationml/2006/main">
  <p:sldMasterIdLst>
    <p:sldMasterId xmlns:r="http://schemas.openxmlformats.org/officeDocument/2006/relationships" id="2147483648" r:id="Rb60429b82df54e0a"/>
  </p:sldMasterIdLst>
  <p:notesMasterIdLst>
    <p:notesMasterId xmlns:r="http://schemas.openxmlformats.org/officeDocument/2006/relationships" r:id="R51a0c91843304cca"/>
  </p:notesMasterIdLst>
  <p:sldIdLst>
    <p:sldId xmlns:r="http://schemas.openxmlformats.org/officeDocument/2006/relationships" id="256" r:id="Rbfa43198be784cfa"/>
    <p:sldId xmlns:r="http://schemas.openxmlformats.org/officeDocument/2006/relationships" id="257" r:id="Rb73c9b7c338446de"/>
    <p:sldId xmlns:r="http://schemas.openxmlformats.org/officeDocument/2006/relationships" id="258" r:id="R2ead8717be294efc"/>
    <p:sldId xmlns:r="http://schemas.openxmlformats.org/officeDocument/2006/relationships" id="259" r:id="R23f1134a2fcc4eca"/>
    <p:sldId xmlns:r="http://schemas.openxmlformats.org/officeDocument/2006/relationships" id="260" r:id="Rc095752456d24cd4"/>
    <p:sldId xmlns:r="http://schemas.openxmlformats.org/officeDocument/2006/relationships" id="261" r:id="R52715978dedb489c"/>
    <p:sldId xmlns:r="http://schemas.openxmlformats.org/officeDocument/2006/relationships" id="262" r:id="R0036bb973d0748bd"/>
    <p:sldId xmlns:r="http://schemas.openxmlformats.org/officeDocument/2006/relationships" id="263" r:id="R88129d72088348d4"/>
    <p:sldId xmlns:r="http://schemas.openxmlformats.org/officeDocument/2006/relationships" id="264" r:id="R46d3de2d6ec24b3c"/>
    <p:sldId xmlns:r="http://schemas.openxmlformats.org/officeDocument/2006/relationships" id="265" r:id="R7a011ce7e4e7425e"/>
    <p:sldId xmlns:r="http://schemas.openxmlformats.org/officeDocument/2006/relationships" id="266" r:id="Rb8c76122a8e44d0b"/>
    <p:sldId xmlns:r="http://schemas.openxmlformats.org/officeDocument/2006/relationships" id="267" r:id="R4446316c4b734fa2"/>
    <p:sldId xmlns:r="http://schemas.openxmlformats.org/officeDocument/2006/relationships" id="268" r:id="R18b2059353d2469f"/>
    <p:sldId xmlns:r="http://schemas.openxmlformats.org/officeDocument/2006/relationships" id="269" r:id="Rd1a81d14082744a2"/>
    <p:sldId xmlns:r="http://schemas.openxmlformats.org/officeDocument/2006/relationships" id="270" r:id="Rd9afb2a6cf604204"/>
    <p:sldId xmlns:r="http://schemas.openxmlformats.org/officeDocument/2006/relationships" id="271" r:id="R890b966762784a92"/>
    <p:sldId xmlns:r="http://schemas.openxmlformats.org/officeDocument/2006/relationships" id="272" r:id="Rdb497dce344443a7"/>
    <p:sldId xmlns:r="http://schemas.openxmlformats.org/officeDocument/2006/relationships" id="273" r:id="Rb09bfddcd5f045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a6197a7e214d79" /><Relationship Type="http://schemas.openxmlformats.org/officeDocument/2006/relationships/slideMaster" Target="/ppt/slideMasters/slideMaster1.xml" Id="Rb60429b82df54e0a" /><Relationship Type="http://schemas.openxmlformats.org/officeDocument/2006/relationships/notesMaster" Target="/ppt/notesMasters/notesMaster1.xml" Id="R51a0c91843304cca" /><Relationship Type="http://schemas.openxmlformats.org/officeDocument/2006/relationships/presProps" Target="/ppt/presProps.xml" Id="R77538c1dfad54c19" /><Relationship Type="http://schemas.openxmlformats.org/officeDocument/2006/relationships/tableStyles" Target="/ppt/tableStyles.xml" Id="Rf0c30d49f80a49c7" /><Relationship Type="http://schemas.openxmlformats.org/officeDocument/2006/relationships/slide" Target="/ppt/slides/slide1.xml" Id="Rbfa43198be784cfa" /><Relationship Type="http://schemas.openxmlformats.org/officeDocument/2006/relationships/slide" Target="/ppt/slides/slide2.xml" Id="Rb73c9b7c338446de" /><Relationship Type="http://schemas.openxmlformats.org/officeDocument/2006/relationships/slide" Target="/ppt/slides/slide3.xml" Id="R2ead8717be294efc" /><Relationship Type="http://schemas.openxmlformats.org/officeDocument/2006/relationships/slide" Target="/ppt/slides/slide4.xml" Id="R23f1134a2fcc4eca" /><Relationship Type="http://schemas.openxmlformats.org/officeDocument/2006/relationships/slide" Target="/ppt/slides/slide5.xml" Id="Rc095752456d24cd4" /><Relationship Type="http://schemas.openxmlformats.org/officeDocument/2006/relationships/slide" Target="/ppt/slides/slide6.xml" Id="R52715978dedb489c" /><Relationship Type="http://schemas.openxmlformats.org/officeDocument/2006/relationships/slide" Target="/ppt/slides/slide7.xml" Id="R0036bb973d0748bd" /><Relationship Type="http://schemas.openxmlformats.org/officeDocument/2006/relationships/slide" Target="/ppt/slides/slide8.xml" Id="R88129d72088348d4" /><Relationship Type="http://schemas.openxmlformats.org/officeDocument/2006/relationships/slide" Target="/ppt/slides/slide9.xml" Id="R46d3de2d6ec24b3c" /><Relationship Type="http://schemas.openxmlformats.org/officeDocument/2006/relationships/slide" Target="/ppt/slides/slide10.xml" Id="R7a011ce7e4e7425e" /><Relationship Type="http://schemas.openxmlformats.org/officeDocument/2006/relationships/slide" Target="/ppt/slides/slide11.xml" Id="Rb8c76122a8e44d0b" /><Relationship Type="http://schemas.openxmlformats.org/officeDocument/2006/relationships/slide" Target="/ppt/slides/slide12.xml" Id="R4446316c4b734fa2" /><Relationship Type="http://schemas.openxmlformats.org/officeDocument/2006/relationships/slide" Target="/ppt/slides/slide13.xml" Id="R18b2059353d2469f" /><Relationship Type="http://schemas.openxmlformats.org/officeDocument/2006/relationships/slide" Target="/ppt/slides/slide14.xml" Id="Rd1a81d14082744a2" /><Relationship Type="http://schemas.openxmlformats.org/officeDocument/2006/relationships/slide" Target="/ppt/slides/slide15.xml" Id="Rd9afb2a6cf604204" /><Relationship Type="http://schemas.openxmlformats.org/officeDocument/2006/relationships/slide" Target="/ppt/slides/slide16.xml" Id="R890b966762784a92" /><Relationship Type="http://schemas.openxmlformats.org/officeDocument/2006/relationships/slide" Target="/ppt/slides/slide17.xml" Id="Rdb497dce344443a7" /><Relationship Type="http://schemas.openxmlformats.org/officeDocument/2006/relationships/slide" Target="/ppt/slides/slide18.xml" Id="Rb09bfddcd5f045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80254224c949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f4b5ce33d441bf" /><Relationship Type="http://schemas.openxmlformats.org/officeDocument/2006/relationships/notesMaster" Target="/ppt/notesMasters/notesMaster1.xml" Id="R0d9de963957345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0d46b52fdd44f3" /><Relationship Type="http://schemas.openxmlformats.org/officeDocument/2006/relationships/notesMaster" Target="/ppt/notesMasters/notesMaster1.xml" Id="Rd8d8f9ae92814d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8f88608bc845c1" /><Relationship Type="http://schemas.openxmlformats.org/officeDocument/2006/relationships/notesMaster" Target="/ppt/notesMasters/notesMaster1.xml" Id="R3e5b64837e2440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5b7e12e5a94ac5" /><Relationship Type="http://schemas.openxmlformats.org/officeDocument/2006/relationships/notesMaster" Target="/ppt/notesMasters/notesMaster1.xml" Id="R34e646e119d346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7940b6a71246e2" /><Relationship Type="http://schemas.openxmlformats.org/officeDocument/2006/relationships/notesMaster" Target="/ppt/notesMasters/notesMaster1.xml" Id="R4f950ccc17514f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9e649d6d3f4855" /><Relationship Type="http://schemas.openxmlformats.org/officeDocument/2006/relationships/notesMaster" Target="/ppt/notesMasters/notesMaster1.xml" Id="R4a8235bd823d47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1836328f9240cd" /><Relationship Type="http://schemas.openxmlformats.org/officeDocument/2006/relationships/notesMaster" Target="/ppt/notesMasters/notesMaster1.xml" Id="Rb487e153d70040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514336627442c9" /><Relationship Type="http://schemas.openxmlformats.org/officeDocument/2006/relationships/notesMaster" Target="/ppt/notesMasters/notesMaster1.xml" Id="R3239f027f4ff48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6fcdb0b59f4d94" /><Relationship Type="http://schemas.openxmlformats.org/officeDocument/2006/relationships/notesMaster" Target="/ppt/notesMasters/notesMaster1.xml" Id="Rb644103b072843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1f3238895642be" /><Relationship Type="http://schemas.openxmlformats.org/officeDocument/2006/relationships/notesMaster" Target="/ppt/notesMasters/notesMaster1.xml" Id="R1362a6b3294443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8bb01676054abc" /><Relationship Type="http://schemas.openxmlformats.org/officeDocument/2006/relationships/notesMaster" Target="/ppt/notesMasters/notesMaster1.xml" Id="R7fc6d7af0ab347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85475a4d7d4e7e" /><Relationship Type="http://schemas.openxmlformats.org/officeDocument/2006/relationships/notesMaster" Target="/ppt/notesMasters/notesMaster1.xml" Id="R57ea4cb1e33a49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c7b6e66d3a4027" /><Relationship Type="http://schemas.openxmlformats.org/officeDocument/2006/relationships/notesMaster" Target="/ppt/notesMasters/notesMaster1.xml" Id="R1d27051c77bd44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30fdb442ea4849" /><Relationship Type="http://schemas.openxmlformats.org/officeDocument/2006/relationships/notesMaster" Target="/ppt/notesMasters/notesMaster1.xml" Id="R109c3d737c7e46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63aabc15ed4144" /><Relationship Type="http://schemas.openxmlformats.org/officeDocument/2006/relationships/notesMaster" Target="/ppt/notesMasters/notesMaster1.xml" Id="R6f7064e0156242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ab452d162c49b8" /><Relationship Type="http://schemas.openxmlformats.org/officeDocument/2006/relationships/notesMaster" Target="/ppt/notesMasters/notesMaster1.xml" Id="Rb52a5a8f370e405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3cf3861cb74203" /><Relationship Type="http://schemas.openxmlformats.org/officeDocument/2006/relationships/notesMaster" Target="/ppt/notesMasters/notesMaster1.xml" Id="R885985c76a4a41d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7cb8139909418b" /><Relationship Type="http://schemas.openxmlformats.org/officeDocument/2006/relationships/notesMaster" Target="/ppt/notesMasters/notesMaster1.xml" Id="R853f306365d743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full joint distribution answers every probabilistic query but grows exponentially. A Bayesian network makes conditional independence visible and factors that joint into local conditional tables.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Compute joint, marginal, conditional, and posterior probabilities. 2) Distinguish independence from conditional independence. 3) Quantify the full-joint parameter explosion. 4) Read variables, edges, parents, and CPTs in a DAG. 5) Compute a full assignment from local factors. 6) Identify graph-implied independencies informally.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Bayesian network is not merely a diagram; its missing edges assert conditional independencies that permit factorization. The supporting details make the claim operational. 1) Nodes are random variables. 2) Directed edges identify local parent sets. 3) Each CPT conditions a node on its parents. The highlighted idea, Factorization, is the part to retain when the surrounding notation changes. The graph and CPTs together define one joint distribution.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P(X|Y)=P(X,Y)/P(Y); P(X|Y)=P(Y|X)P(X)/P(Y). The symbols mean the following. 1) A joint assigns probability to complete combinations. 2) Marginalization sums out unwanted variables. 3) Conditioning renormalizes within observed evidence. 4) Bayes' rule reverses a conditional using a prior. The engineering implication is Every posterior calculation must account for both likelihood and base rate.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Marginal independence: P(X,Y)=P(X)P(Y). Observing X gives no information about Y. Can fail in a mixed population. Written X independent Y. On the right, Conditional independence: P(X,Y|Z)=P(X|Z)P(Y|Z). Z explains the association. Can hold within each group. Written X independent Y given Z.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Order: Choose a defensible variable order. 2) Parents: Add direct explanatory predecessors. 3) CPTs: Specify normalized local distributions. 4) Audit: Challenge missing-edge assumptions. 5) Validate: Check joint normalization on a small model. The emphasized stage deserves extra attention because defects introduced there propagate to every later result. Every omitted parent should correspond to an independence assumption you can defend.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Require a DAG. Use a complete assignment. Select the correct CPT row. Check probabilities in [0,1].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Disease prevalence is 1%, sensitivity is 90%, and false-positive rate is 5%. Work through it in the displayed order. 1) P(D and +)=0.01(0.90)=0.009. 2) P(not D and +)=0.99(0.05)=0.0495. 3) P(+)=0.0585. 4) P(D|+)=0.009/0.0585 about 0.154. The resulting conclusion is Despite 90% sensitivity, a positive result implies only about a 15.4% posterior because false positives act on a much larger group.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Full joint: 2^n rows for binary variables. 2^n-1 free parameters. No structural assumptions. Direct but infeasible. In contrast, Sparse Bayes net: Parents stay small. Parameters grow locally. Independence is explicit. Queries need inference. In contrast, Data reality: Rare cells lack samples. CPTs pool by parent context. Structure can be wrong. Validation remains essential.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If prevalence falls while sensitivity and false-positive rate stay fixed, what happens to P(disease|positive)? Use the prompts to structure the response. 1) Write numerator and denominator. 2) Identify which population dominates false positives. 3) State the direction, not only intuition. The expected reasoning is The posterior decreases because true positives shrink with the prevalence while false positives come from an even larger nondiseased population.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Chain and fork: X-&gt;Z-&gt;Y or X&lt;-Z-&gt;Y. X and Y may be dependent. Conditioning on Z blocks the path. Z explains transmission or cause. On the right, Collider: X-&gt;Z&lt;-Y. X and Y can be marginally independent. Conditioning on Z opens dependence. Explaining away appears.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P(X1,...,Xn) = product_i P(X_i | Parents(X_i)). The symbols mean the following. 1) The order is topological. 2) Root nodes use marginal priors. 3) Each nonroot factor selects a CPT row. 4) Multiplication yields one full-assignment probability. The engineering implication is A sparse parent structure replaces one exponential table with many small tables.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Rain R has P(R)=0.2; Sprinkler S has P(S|R)=0.1; WetGrass W has P(W|R,S)=0.99; Slippery L has P(L|W)=0.7. Work through it in the displayed order. 1) Choose assignment R,S,W,L all true. 2) Select factors 0.2, 0.1, 0.99, and 0.7. 3) Multiply in topological order. 4) 0.2(0.1)(0.99)(0.7)=0.01386. The resulting conclusion is The graph converts a complete-world probability into four auditable local lookups.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Cycle: No topological order. Circular local semantics. Factorization undefined. Reject at construction. In contrast, Missing edge: Model too simple. Posterior can be biased. Residual dependence remains. Audit with domain knowledge. In contrast, Extra edge: More CPT rows. More data required. Still can be valid. May overfit estimates.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How many free parameters does a full joint over 20 binary variables require, and why is one subtracted? Use the prompts to structure the response. 1) Count assignments. 2) Apply normalization. 3) Compare with 20 independent Bernoulli roots. The expected reasoning is It requires 2^20-1=1,048,575 free parameters because the final probability is fixed by normalization. Twenty independent roots require only 20.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syntactically valid DAG can still encode the wrong causal or conditional story. The supporting details make the claim operational. 1) Check every CPT row sums to one. 2) Generate samples and compare empirical marginals with analytic values. 3) Document that edges represent probabilistic dependence, not automatically causation. The highlighted idea, Audit, is the part to retain when the surrounding notation changes. Reviewers need normalized CPTs, graph assumptions, and tests on known conditional relationships.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Bayes' rule combines likelihood and prior. 2) Conditional independence is context-specific. 3) A Bayesian network factors a joint through parent sets. 4) Sparse structure makes representation compact but creates an inference task. These are connected: the formal model supplies the algorithm, the algorithm's invariant supports its guarantee, and the implementation contract makes that guarantee testable. The next topic is Exact and approximate inference turn the factorized model into posterior answers.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Compute a diagnostic posterior. 2) Distinguish a fork from a collider. 3) Count full-joint parameters. 4) Verify one CPT row. 5) Compute a complete assignment. 6) Name one missing-edge risk.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week_07/Week_7_Lesson_1_Probability_Review_and_Bayesian_Networks.md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6e54a29e0f47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524f839b5a4809" /><Relationship Type="http://schemas.openxmlformats.org/officeDocument/2006/relationships/slideLayout" Target="/ppt/slideLayouts/slideLayout1.xml" Id="Rbbafb7124e9b4b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afb7124e9b4b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15797b3cf64e78" /><Relationship Type="http://schemas.openxmlformats.org/officeDocument/2006/relationships/notesSlide" Target="/ppt/notesSlides/notesSlide1.xml" Id="R58ffe106ef5849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a23e454da0440b" /><Relationship Type="http://schemas.openxmlformats.org/officeDocument/2006/relationships/notesSlide" Target="/ppt/notesSlides/notesSlide2.xml" Id="Re7de91b4b88348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21d9a0c29a4285" /><Relationship Type="http://schemas.openxmlformats.org/officeDocument/2006/relationships/notesSlide" Target="/ppt/notesSlides/notesSlide3.xml" Id="Recf2a9bb674c45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806dd84b7446ec" /><Relationship Type="http://schemas.openxmlformats.org/officeDocument/2006/relationships/notesSlide" Target="/ppt/notesSlides/notesSlide4.xml" Id="R539838c155cf45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79abb2eb034d24" /><Relationship Type="http://schemas.openxmlformats.org/officeDocument/2006/relationships/notesSlide" Target="/ppt/notesSlides/notesSlide5.xml" Id="Re8bf00cb472c46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b60df118164222" /><Relationship Type="http://schemas.openxmlformats.org/officeDocument/2006/relationships/notesSlide" Target="/ppt/notesSlides/notesSlide6.xml" Id="Re7b79e58ef5e47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9d295644ce4a40" /><Relationship Type="http://schemas.openxmlformats.org/officeDocument/2006/relationships/notesSlide" Target="/ppt/notesSlides/notesSlide7.xml" Id="Rb2a245bd2a334e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008dc94d4e4e23" /><Relationship Type="http://schemas.openxmlformats.org/officeDocument/2006/relationships/notesSlide" Target="/ppt/notesSlides/notesSlide8.xml" Id="R5bdae8c476064c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37337892fc4e3c" /><Relationship Type="http://schemas.openxmlformats.org/officeDocument/2006/relationships/notesSlide" Target="/ppt/notesSlides/notesSlide9.xml" Id="R17820349ea0d44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d4e80401194276" /><Relationship Type="http://schemas.openxmlformats.org/officeDocument/2006/relationships/notesSlide" Target="/ppt/notesSlides/notesSlide10.xml" Id="R419416a0d33142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58ddf4701b451b" /><Relationship Type="http://schemas.openxmlformats.org/officeDocument/2006/relationships/notesSlide" Target="/ppt/notesSlides/notesSlide11.xml" Id="R194b6dff267446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f63c8eef77471b" /><Relationship Type="http://schemas.openxmlformats.org/officeDocument/2006/relationships/notesSlide" Target="/ppt/notesSlides/notesSlide12.xml" Id="Rf3587eafc4c14b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c80bfea4cd4f7e" /><Relationship Type="http://schemas.openxmlformats.org/officeDocument/2006/relationships/notesSlide" Target="/ppt/notesSlides/notesSlide13.xml" Id="R9900f5d1f9b74a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1115fd95b9478d" /><Relationship Type="http://schemas.openxmlformats.org/officeDocument/2006/relationships/notesSlide" Target="/ppt/notesSlides/notesSlide14.xml" Id="R868e10c601b04e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59699d7c8448b6" /><Relationship Type="http://schemas.openxmlformats.org/officeDocument/2006/relationships/notesSlide" Target="/ppt/notesSlides/notesSlide15.xml" Id="R27ee0f1ecb6d464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a97ec7fd80c4313" /><Relationship Type="http://schemas.openxmlformats.org/officeDocument/2006/relationships/notesSlide" Target="/ppt/notesSlides/notesSlide16.xml" Id="Rc5a830803622498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8128ad5bdfa428e" /><Relationship Type="http://schemas.openxmlformats.org/officeDocument/2006/relationships/notesSlide" Target="/ppt/notesSlides/notesSlide17.xml" Id="R60f42eaf7a8143a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038c078707d487f" /><Relationship Type="http://schemas.openxmlformats.org/officeDocument/2006/relationships/notesSlide" Target="/ppt/notesSlides/notesSlide18.xml" Id="Re81ca03725564f4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3A3E5FF9-49D5-4AE8-BFC9-72987ED37895}"/>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07  |  LESSON 1</a:t>
            </a:r>
          </a:p>
        </p:txBody>
      </p:sp>
      <p:sp>
        <p:nvSpPr>
          <p:cNvPr id="2" name="title-accent-field">
            <a:extLst xmlns:a="http://schemas.openxmlformats.org/drawingml/2006/main">
              <a:ext uri="{FF2B5EF4-FFF2-40B4-BE49-F238E27FC236}">
                <a16:creationId xmlns:a16="http://schemas.microsoft.com/office/drawing/2014/main" id="{AA450CBB-EEFD-433B-B742-39F66265C140}"/>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F38112E6-8D2C-4533-84B9-08ED823E8F05}"/>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Structured Probability: From Joints to Bayesian Networks</a:t>
            </a:r>
          </a:p>
        </p:txBody>
      </p:sp>
      <p:sp>
        <p:nvSpPr>
          <p:cNvPr id="4" name="deck-subtitle">
            <a:extLst xmlns:a="http://schemas.openxmlformats.org/drawingml/2006/main">
              <a:ext uri="{FF2B5EF4-FFF2-40B4-BE49-F238E27FC236}">
                <a16:creationId xmlns:a16="http://schemas.microsoft.com/office/drawing/2014/main" id="{20363E9D-2A36-4B69-8AC7-8E90899ED2FF}"/>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Factorization, conditional independence, and compact models</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5DE161CF-437F-45C9-AD4A-7C5E58DC1E33}"/>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46E5D9C1-64B2-4A32-8EC5-170EB36F1955}"/>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4059886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313BCB9D-7543-4932-B963-131AF123921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69353331-2510-4D78-9682-9133E7ACDA7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ADB00AFB-DE17-4870-81E4-0C6283C01E8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2">
            <a:extLst xmlns:a="http://schemas.openxmlformats.org/drawingml/2006/main">
              <a:ext uri="{FF2B5EF4-FFF2-40B4-BE49-F238E27FC236}">
                <a16:creationId xmlns:a16="http://schemas.microsoft.com/office/drawing/2014/main" id="{90B6DFCC-BA7B-427F-B60A-60B22AF7061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050ECCC5-F662-44A9-88A6-B063DA7CC640}"/>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065F508D-D86C-4A8F-A3E8-6A445EAA2DAB}"/>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A94B35F3-CCDE-4234-9395-ACAE7AC4BB60}"/>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Compute joint, marginal, conditional, and posterior probabilities.</a:t>
            </a:r>
          </a:p>
        </p:txBody>
      </p:sp>
      <p:sp>
        <p:nvSpPr>
          <p:cNvPr id="10" name="objective-number-2">
            <a:extLst xmlns:a="http://schemas.openxmlformats.org/drawingml/2006/main">
              <a:ext uri="{FF2B5EF4-FFF2-40B4-BE49-F238E27FC236}">
                <a16:creationId xmlns:a16="http://schemas.microsoft.com/office/drawing/2014/main" id="{59C0B2F9-4FCC-4FAA-BF3B-0005A32E49A3}"/>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4CF3DDEE-3505-494D-B395-8BDECD233443}"/>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Distinguish independence from conditional independence.</a:t>
            </a:r>
          </a:p>
        </p:txBody>
      </p:sp>
      <p:sp>
        <p:nvSpPr>
          <p:cNvPr id="13" name="objective-number-3">
            <a:extLst xmlns:a="http://schemas.openxmlformats.org/drawingml/2006/main">
              <a:ext uri="{FF2B5EF4-FFF2-40B4-BE49-F238E27FC236}">
                <a16:creationId xmlns:a16="http://schemas.microsoft.com/office/drawing/2014/main" id="{D0FFB9AC-0E73-4426-9FCC-1C979CB2E137}"/>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D56080D4-04A1-4E0B-B662-9235B4FA449C}"/>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Quantify the full-joint parameter explosion.</a:t>
            </a:r>
          </a:p>
        </p:txBody>
      </p:sp>
      <p:sp>
        <p:nvSpPr>
          <p:cNvPr id="16" name="objective-number-4">
            <a:extLst xmlns:a="http://schemas.openxmlformats.org/drawingml/2006/main">
              <a:ext uri="{FF2B5EF4-FFF2-40B4-BE49-F238E27FC236}">
                <a16:creationId xmlns:a16="http://schemas.microsoft.com/office/drawing/2014/main" id="{5D8302F0-A82A-4C2C-9CCE-4969B2537371}"/>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BBCAB415-9EBA-4FB6-A39A-49DEAA8FE5BA}"/>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Read variables, edges, parents, and CPTs in a DAG.</a:t>
            </a:r>
          </a:p>
        </p:txBody>
      </p:sp>
      <p:sp>
        <p:nvSpPr>
          <p:cNvPr id="19" name="objective-number-5">
            <a:extLst xmlns:a="http://schemas.openxmlformats.org/drawingml/2006/main">
              <a:ext uri="{FF2B5EF4-FFF2-40B4-BE49-F238E27FC236}">
                <a16:creationId xmlns:a16="http://schemas.microsoft.com/office/drawing/2014/main" id="{0253DE38-0905-4597-8754-9EB7215D5EBE}"/>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619ACC5B-FC9C-4829-AD4E-F0E9AB4AF443}"/>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Compute a full assignment from local factors.</a:t>
            </a:r>
          </a:p>
        </p:txBody>
      </p:sp>
      <p:sp>
        <p:nvSpPr>
          <p:cNvPr id="22" name="objective-number-6">
            <a:extLst xmlns:a="http://schemas.openxmlformats.org/drawingml/2006/main">
              <a:ext uri="{FF2B5EF4-FFF2-40B4-BE49-F238E27FC236}">
                <a16:creationId xmlns:a16="http://schemas.microsoft.com/office/drawing/2014/main" id="{CBD26E04-0372-47A9-BC9C-89F464F9CB91}"/>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85FD0C55-1865-41AE-A4FD-4DBD05729FD2}"/>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Identify graph-implied independencies informally.</a:t>
            </a:r>
          </a:p>
        </p:txBody>
      </p:sp>
    </p:spTree>
    <p:extLst>
      <p:ext uri="{BB962C8B-B14F-4D97-AF65-F5344CB8AC3E}">
        <p14:creationId xmlns:p14="http://schemas.microsoft.com/office/powerpoint/2010/main" val="5785025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2A5CD9CB-1763-44CA-8115-0C7F12C2938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Structure is a compression claim</a:t>
            </a:r>
          </a:p>
        </p:txBody>
      </p:sp>
      <p:sp>
        <p:nvSpPr>
          <p:cNvPr id="2" name="title-accent-3">
            <a:extLst xmlns:a="http://schemas.openxmlformats.org/drawingml/2006/main">
              <a:ext uri="{FF2B5EF4-FFF2-40B4-BE49-F238E27FC236}">
                <a16:creationId xmlns:a16="http://schemas.microsoft.com/office/drawing/2014/main" id="{E18BAE5D-7404-4124-8D43-1D6C3122644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6196F230-AD54-4465-BF38-39C1B9CD7DF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3">
            <a:extLst xmlns:a="http://schemas.openxmlformats.org/drawingml/2006/main">
              <a:ext uri="{FF2B5EF4-FFF2-40B4-BE49-F238E27FC236}">
                <a16:creationId xmlns:a16="http://schemas.microsoft.com/office/drawing/2014/main" id="{DDA0BD7C-28A2-42A0-A862-0CAB2E274BD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F44685DE-1A1C-4D32-85B0-1B7B3EAAA274}"/>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Bayesian network is not merely a diagram; its missing edges assert conditional independencies that permit factorization.</a:t>
            </a:r>
          </a:p>
        </p:txBody>
      </p:sp>
      <p:sp>
        <p:nvSpPr>
          <p:cNvPr id="7" name="claim-panel-3">
            <a:extLst xmlns:a="http://schemas.openxmlformats.org/drawingml/2006/main">
              <a:ext uri="{FF2B5EF4-FFF2-40B4-BE49-F238E27FC236}">
                <a16:creationId xmlns:a16="http://schemas.microsoft.com/office/drawing/2014/main" id="{977826C2-0528-47BC-B20E-5839C4379D0C}"/>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DF0E84AC-B859-4162-ACA5-1EF60BE9544E}"/>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Factorization</a:t>
            </a:r>
          </a:p>
        </p:txBody>
      </p:sp>
      <p:sp>
        <p:nvSpPr>
          <p:cNvPr id="9" name="claim-keyword-detail-3">
            <a:extLst xmlns:a="http://schemas.openxmlformats.org/drawingml/2006/main">
              <a:ext uri="{FF2B5EF4-FFF2-40B4-BE49-F238E27FC236}">
                <a16:creationId xmlns:a16="http://schemas.microsoft.com/office/drawing/2014/main" id="{36059059-D86A-4802-B369-ED1E229CC669}"/>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The graph and CPTs together define one joint distribution.</a:t>
            </a:r>
          </a:p>
        </p:txBody>
      </p:sp>
      <p:sp>
        <p:nvSpPr>
          <p:cNvPr id="10" name="claim-detail-3-marker-1">
            <a:extLst xmlns:a="http://schemas.openxmlformats.org/drawingml/2006/main">
              <a:ext uri="{FF2B5EF4-FFF2-40B4-BE49-F238E27FC236}">
                <a16:creationId xmlns:a16="http://schemas.microsoft.com/office/drawing/2014/main" id="{0F0CDF72-EFC4-41C7-BF1B-572A9C325B2A}"/>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528050D9-33AD-41B8-B367-CB859863A4D1}"/>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Nodes are random variables.</a:t>
            </a:r>
          </a:p>
        </p:txBody>
      </p:sp>
      <p:sp>
        <p:nvSpPr>
          <p:cNvPr id="12" name="claim-detail-3-marker-2">
            <a:extLst xmlns:a="http://schemas.openxmlformats.org/drawingml/2006/main">
              <a:ext uri="{FF2B5EF4-FFF2-40B4-BE49-F238E27FC236}">
                <a16:creationId xmlns:a16="http://schemas.microsoft.com/office/drawing/2014/main" id="{FE356DC3-B4B2-407F-A509-5A787E0C6678}"/>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47BC6CB5-85C8-4852-844A-A5AAC3994E09}"/>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Directed edges identify local parent sets.</a:t>
            </a:r>
          </a:p>
        </p:txBody>
      </p:sp>
      <p:sp>
        <p:nvSpPr>
          <p:cNvPr id="14" name="claim-detail-3-marker-3">
            <a:extLst xmlns:a="http://schemas.openxmlformats.org/drawingml/2006/main">
              <a:ext uri="{FF2B5EF4-FFF2-40B4-BE49-F238E27FC236}">
                <a16:creationId xmlns:a16="http://schemas.microsoft.com/office/drawing/2014/main" id="{65CDFFBF-0279-4416-9B0B-488A5944A90C}"/>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E2C102E0-99E5-4CFB-9DB5-D11488A96B1B}"/>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Each CPT conditions a node on its parents.</a:t>
            </a:r>
          </a:p>
        </p:txBody>
      </p:sp>
    </p:spTree>
    <p:extLst>
      <p:ext uri="{BB962C8B-B14F-4D97-AF65-F5344CB8AC3E}">
        <p14:creationId xmlns:p14="http://schemas.microsoft.com/office/powerpoint/2010/main" val="1168423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687003C7-A722-4FF5-8507-68D41FD5E38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Probability identities remain the foundation</a:t>
            </a:r>
          </a:p>
        </p:txBody>
      </p:sp>
      <p:sp>
        <p:nvSpPr>
          <p:cNvPr id="2" name="title-accent-4">
            <a:extLst xmlns:a="http://schemas.openxmlformats.org/drawingml/2006/main">
              <a:ext uri="{FF2B5EF4-FFF2-40B4-BE49-F238E27FC236}">
                <a16:creationId xmlns:a16="http://schemas.microsoft.com/office/drawing/2014/main" id="{21242D83-483A-46C8-81DE-822ECE1A7EA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CEDA6D5F-2528-4724-A6E7-7CBB2E010D4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4">
            <a:extLst xmlns:a="http://schemas.openxmlformats.org/drawingml/2006/main">
              <a:ext uri="{FF2B5EF4-FFF2-40B4-BE49-F238E27FC236}">
                <a16:creationId xmlns:a16="http://schemas.microsoft.com/office/drawing/2014/main" id="{EB428414-4E11-44F0-B95C-4F1C6B49CAA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D09B728C-85F2-4479-9333-3C566FF72E9E}"/>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5FF0631B-07B0-4B4A-94FD-2DE717364FF0}"/>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P(X|Y)=P(X,Y)/P(Y); P(X|Y)=P(Y|X)P(X)/P(Y)</a:t>
            </a:r>
          </a:p>
        </p:txBody>
      </p:sp>
      <p:sp>
        <p:nvSpPr>
          <p:cNvPr id="8" name="formula-definition-4-marker-1">
            <a:extLst xmlns:a="http://schemas.openxmlformats.org/drawingml/2006/main">
              <a:ext uri="{FF2B5EF4-FFF2-40B4-BE49-F238E27FC236}">
                <a16:creationId xmlns:a16="http://schemas.microsoft.com/office/drawing/2014/main" id="{6D412F56-E7D4-44C3-9EC5-5D46F3D12AF4}"/>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44566046-C28A-4E5D-91C6-9862B0330AD4}"/>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joint assigns probability to complete combinations.</a:t>
            </a:r>
          </a:p>
        </p:txBody>
      </p:sp>
      <p:sp>
        <p:nvSpPr>
          <p:cNvPr id="10" name="formula-definition-4-marker-2">
            <a:extLst xmlns:a="http://schemas.openxmlformats.org/drawingml/2006/main">
              <a:ext uri="{FF2B5EF4-FFF2-40B4-BE49-F238E27FC236}">
                <a16:creationId xmlns:a16="http://schemas.microsoft.com/office/drawing/2014/main" id="{A971CC30-85BC-4C5F-A74B-218C88C151C5}"/>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49D00135-1529-4BEB-B549-25B1FB406B6F}"/>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Marginalization sums out unwanted variables.</a:t>
            </a:r>
          </a:p>
        </p:txBody>
      </p:sp>
      <p:sp>
        <p:nvSpPr>
          <p:cNvPr id="12" name="formula-definition-4-marker-3">
            <a:extLst xmlns:a="http://schemas.openxmlformats.org/drawingml/2006/main">
              <a:ext uri="{FF2B5EF4-FFF2-40B4-BE49-F238E27FC236}">
                <a16:creationId xmlns:a16="http://schemas.microsoft.com/office/drawing/2014/main" id="{EC5347FA-D372-43D2-9E9C-CF31782874EB}"/>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D820779F-C03E-439B-80F1-896F41116DDA}"/>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Conditioning renormalizes within observed evidence.</a:t>
            </a:r>
          </a:p>
        </p:txBody>
      </p:sp>
      <p:sp>
        <p:nvSpPr>
          <p:cNvPr id="14" name="formula-definition-4-marker-4">
            <a:extLst xmlns:a="http://schemas.openxmlformats.org/drawingml/2006/main">
              <a:ext uri="{FF2B5EF4-FFF2-40B4-BE49-F238E27FC236}">
                <a16:creationId xmlns:a16="http://schemas.microsoft.com/office/drawing/2014/main" id="{9D0E9605-AF10-45C2-9F3E-A7CC9F2720E4}"/>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8F615BF3-A178-47F1-BA26-FAFF269D7A6F}"/>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Bayes' rule reverses a conditional using a prior.</a:t>
            </a:r>
          </a:p>
        </p:txBody>
      </p:sp>
      <p:sp>
        <p:nvSpPr>
          <p:cNvPr id="16" name="formula-implication-panel-4">
            <a:extLst xmlns:a="http://schemas.openxmlformats.org/drawingml/2006/main">
              <a:ext uri="{FF2B5EF4-FFF2-40B4-BE49-F238E27FC236}">
                <a16:creationId xmlns:a16="http://schemas.microsoft.com/office/drawing/2014/main" id="{2D939FB7-03E0-4CA4-B3AD-55EC8EDF2A98}"/>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11BCEB3E-7FC7-481F-BEBE-4472D910E8F4}"/>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39611356-C45F-4F42-93DF-3ADEC74E9BB2}"/>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Every posterior calculation must account for both likelihood and base rate.</a:t>
            </a:r>
          </a:p>
        </p:txBody>
      </p:sp>
    </p:spTree>
    <p:extLst>
      <p:ext uri="{BB962C8B-B14F-4D97-AF65-F5344CB8AC3E}">
        <p14:creationId xmlns:p14="http://schemas.microsoft.com/office/powerpoint/2010/main" val="12118729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FD36544B-476F-4DDF-A2C8-62575A8AB8C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Independence changes after conditioning</a:t>
            </a:r>
          </a:p>
        </p:txBody>
      </p:sp>
      <p:sp>
        <p:nvSpPr>
          <p:cNvPr id="2" name="title-accent-5">
            <a:extLst xmlns:a="http://schemas.openxmlformats.org/drawingml/2006/main">
              <a:ext uri="{FF2B5EF4-FFF2-40B4-BE49-F238E27FC236}">
                <a16:creationId xmlns:a16="http://schemas.microsoft.com/office/drawing/2014/main" id="{666DF0C2-9A2B-4292-A5F4-1CAA5AC1C3D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9BFA570B-27E2-45E3-9D80-81200C9A611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5">
            <a:extLst xmlns:a="http://schemas.openxmlformats.org/drawingml/2006/main">
              <a:ext uri="{FF2B5EF4-FFF2-40B4-BE49-F238E27FC236}">
                <a16:creationId xmlns:a16="http://schemas.microsoft.com/office/drawing/2014/main" id="{2C94570A-E185-4784-A5AC-AFE861F5C24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4A81E67C-6586-4384-8AB8-601C441619D1}"/>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Marginal independence</a:t>
            </a:r>
          </a:p>
        </p:txBody>
      </p:sp>
      <p:sp>
        <p:nvSpPr>
          <p:cNvPr id="8" name="right-title-5">
            <a:extLst xmlns:a="http://schemas.openxmlformats.org/drawingml/2006/main">
              <a:ext uri="{FF2B5EF4-FFF2-40B4-BE49-F238E27FC236}">
                <a16:creationId xmlns:a16="http://schemas.microsoft.com/office/drawing/2014/main" id="{55E85690-94A6-49AA-9F56-84C21393236C}"/>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Conditional independence</a:t>
            </a:r>
          </a:p>
        </p:txBody>
      </p:sp>
      <p:sp>
        <p:nvSpPr>
          <p:cNvPr id="9" name="left-bullet-5-marker-1">
            <a:extLst xmlns:a="http://schemas.openxmlformats.org/drawingml/2006/main">
              <a:ext uri="{FF2B5EF4-FFF2-40B4-BE49-F238E27FC236}">
                <a16:creationId xmlns:a16="http://schemas.microsoft.com/office/drawing/2014/main" id="{34F664F3-4CF2-48D0-8BEC-7C74C432C221}"/>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290653F3-B690-48BA-9E78-EBC5D41802E5}"/>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P(X,Y)=P(X)P(Y).</a:t>
            </a:r>
          </a:p>
        </p:txBody>
      </p:sp>
      <p:sp>
        <p:nvSpPr>
          <p:cNvPr id="11" name="left-bullet-5-marker-2">
            <a:extLst xmlns:a="http://schemas.openxmlformats.org/drawingml/2006/main">
              <a:ext uri="{FF2B5EF4-FFF2-40B4-BE49-F238E27FC236}">
                <a16:creationId xmlns:a16="http://schemas.microsoft.com/office/drawing/2014/main" id="{A2107EF1-7770-4731-802B-FAFF9A848535}"/>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C939E023-A70A-4EAB-A0E5-2D363EE5D72F}"/>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Observing X gives no information about Y.</a:t>
            </a:r>
          </a:p>
        </p:txBody>
      </p:sp>
      <p:sp>
        <p:nvSpPr>
          <p:cNvPr id="13" name="left-bullet-5-marker-3">
            <a:extLst xmlns:a="http://schemas.openxmlformats.org/drawingml/2006/main">
              <a:ext uri="{FF2B5EF4-FFF2-40B4-BE49-F238E27FC236}">
                <a16:creationId xmlns:a16="http://schemas.microsoft.com/office/drawing/2014/main" id="{85323FE4-E170-4A62-8FEC-B3A7770F5663}"/>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A3503314-C117-45D7-8E3C-C1B13F898834}"/>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fail in a mixed population.</a:t>
            </a:r>
          </a:p>
        </p:txBody>
      </p:sp>
      <p:sp>
        <p:nvSpPr>
          <p:cNvPr id="15" name="left-bullet-5-marker-4">
            <a:extLst xmlns:a="http://schemas.openxmlformats.org/drawingml/2006/main">
              <a:ext uri="{FF2B5EF4-FFF2-40B4-BE49-F238E27FC236}">
                <a16:creationId xmlns:a16="http://schemas.microsoft.com/office/drawing/2014/main" id="{1D45E233-4C8B-498D-99CA-889399F80F61}"/>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1F911B9B-53D4-4FC3-8660-F7838D3F6BDB}"/>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Written X independent Y.</a:t>
            </a:r>
          </a:p>
        </p:txBody>
      </p:sp>
      <p:sp>
        <p:nvSpPr>
          <p:cNvPr id="17" name="right-bullet-5-marker-1">
            <a:extLst xmlns:a="http://schemas.openxmlformats.org/drawingml/2006/main">
              <a:ext uri="{FF2B5EF4-FFF2-40B4-BE49-F238E27FC236}">
                <a16:creationId xmlns:a16="http://schemas.microsoft.com/office/drawing/2014/main" id="{85DB0AD6-0FB6-4B7E-9846-7BF3E48F952C}"/>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69C010D9-617F-4F40-B8AF-AC744D56955D}"/>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P(X,Y|Z)=P(X|Z)P(Y|Z).</a:t>
            </a:r>
          </a:p>
        </p:txBody>
      </p:sp>
      <p:sp>
        <p:nvSpPr>
          <p:cNvPr id="19" name="right-bullet-5-marker-2">
            <a:extLst xmlns:a="http://schemas.openxmlformats.org/drawingml/2006/main">
              <a:ext uri="{FF2B5EF4-FFF2-40B4-BE49-F238E27FC236}">
                <a16:creationId xmlns:a16="http://schemas.microsoft.com/office/drawing/2014/main" id="{871A3611-FBD9-4588-9C2F-17CBC348B7C9}"/>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C9C0D3F0-3E12-44C2-B682-709BD37C2B63}"/>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Z explains the association.</a:t>
            </a:r>
          </a:p>
        </p:txBody>
      </p:sp>
      <p:sp>
        <p:nvSpPr>
          <p:cNvPr id="21" name="right-bullet-5-marker-3">
            <a:extLst xmlns:a="http://schemas.openxmlformats.org/drawingml/2006/main">
              <a:ext uri="{FF2B5EF4-FFF2-40B4-BE49-F238E27FC236}">
                <a16:creationId xmlns:a16="http://schemas.microsoft.com/office/drawing/2014/main" id="{DE53A320-DA76-4819-8D97-D403F1C786A2}"/>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6D40F9FB-C976-4216-9CB1-5E52C1153033}"/>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hold within each group.</a:t>
            </a:r>
          </a:p>
        </p:txBody>
      </p:sp>
      <p:sp>
        <p:nvSpPr>
          <p:cNvPr id="23" name="right-bullet-5-marker-4">
            <a:extLst xmlns:a="http://schemas.openxmlformats.org/drawingml/2006/main">
              <a:ext uri="{FF2B5EF4-FFF2-40B4-BE49-F238E27FC236}">
                <a16:creationId xmlns:a16="http://schemas.microsoft.com/office/drawing/2014/main" id="{D29A1988-6706-482A-A4CC-58DF7EB03DEE}"/>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092A9E27-5C3F-4B67-980A-2584146F3B30}"/>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Written X independent Y given Z.</a:t>
            </a:r>
          </a:p>
        </p:txBody>
      </p:sp>
    </p:spTree>
    <p:extLst>
      <p:ext uri="{BB962C8B-B14F-4D97-AF65-F5344CB8AC3E}">
        <p14:creationId xmlns:p14="http://schemas.microsoft.com/office/powerpoint/2010/main" val="1476980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3FA4A0DF-5298-4FE7-96A4-8DAA14C0944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Build a Bayesian network deliberately</a:t>
            </a:r>
          </a:p>
        </p:txBody>
      </p:sp>
      <p:sp>
        <p:nvSpPr>
          <p:cNvPr id="2" name="title-accent-6">
            <a:extLst xmlns:a="http://schemas.openxmlformats.org/drawingml/2006/main">
              <a:ext uri="{FF2B5EF4-FFF2-40B4-BE49-F238E27FC236}">
                <a16:creationId xmlns:a16="http://schemas.microsoft.com/office/drawing/2014/main" id="{18A8C920-0AF2-4C0D-8A0C-A5D1149D286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0AF6815A-D314-4178-8FE4-117ABEFAC57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6">
            <a:extLst xmlns:a="http://schemas.openxmlformats.org/drawingml/2006/main">
              <a:ext uri="{FF2B5EF4-FFF2-40B4-BE49-F238E27FC236}">
                <a16:creationId xmlns:a16="http://schemas.microsoft.com/office/drawing/2014/main" id="{E74F8079-3DF3-49F2-AA6B-4D5CECD7CF8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12CAC7FC-41E1-4337-9EDF-52F851B6221D}"/>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33588A92-1150-49DE-B7D4-1883D329BB9B}"/>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639B5CF9-EBAA-4003-9888-6230399707E0}"/>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Order</a:t>
            </a:r>
          </a:p>
        </p:txBody>
      </p:sp>
      <p:sp>
        <p:nvSpPr>
          <p:cNvPr id="13" name="process-detail-6-1">
            <a:extLst xmlns:a="http://schemas.openxmlformats.org/drawingml/2006/main">
              <a:ext uri="{FF2B5EF4-FFF2-40B4-BE49-F238E27FC236}">
                <a16:creationId xmlns:a16="http://schemas.microsoft.com/office/drawing/2014/main" id="{CD4BD48F-E5B0-4A5E-AC96-5942A3C817D1}"/>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Choose a defensible variable order.</a:t>
            </a:r>
          </a:p>
        </p:txBody>
      </p:sp>
      <p:sp>
        <p:nvSpPr>
          <p:cNvPr id="14" name="process-node-6-2">
            <a:extLst xmlns:a="http://schemas.openxmlformats.org/drawingml/2006/main">
              <a:ext uri="{FF2B5EF4-FFF2-40B4-BE49-F238E27FC236}">
                <a16:creationId xmlns:a16="http://schemas.microsoft.com/office/drawing/2014/main" id="{A59BCA09-9EEF-43B8-BE5C-86139B57E788}"/>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49E8CCD8-F448-4190-85E8-4D6D55158C32}"/>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7DDA366D-7D67-4202-870A-1430950BD5FD}"/>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Parents</a:t>
            </a:r>
          </a:p>
        </p:txBody>
      </p:sp>
      <p:sp>
        <p:nvSpPr>
          <p:cNvPr id="17" name="process-detail-6-2">
            <a:extLst xmlns:a="http://schemas.openxmlformats.org/drawingml/2006/main">
              <a:ext uri="{FF2B5EF4-FFF2-40B4-BE49-F238E27FC236}">
                <a16:creationId xmlns:a16="http://schemas.microsoft.com/office/drawing/2014/main" id="{DBE29715-321B-4890-8C33-1D60DE027A73}"/>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Add direct explanatory predecessors.</a:t>
            </a:r>
          </a:p>
        </p:txBody>
      </p:sp>
      <p:sp>
        <p:nvSpPr>
          <p:cNvPr id="18" name="process-node-6-3">
            <a:extLst xmlns:a="http://schemas.openxmlformats.org/drawingml/2006/main">
              <a:ext uri="{FF2B5EF4-FFF2-40B4-BE49-F238E27FC236}">
                <a16:creationId xmlns:a16="http://schemas.microsoft.com/office/drawing/2014/main" id="{6142874A-CD52-4595-95FE-04B74788FB72}"/>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E32C8227-449D-4973-A559-02DF350EA42C}"/>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BCD15C11-E745-47B2-8E0D-C4CEDCD8D696}"/>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CPTs</a:t>
            </a:r>
          </a:p>
        </p:txBody>
      </p:sp>
      <p:sp>
        <p:nvSpPr>
          <p:cNvPr id="21" name="process-detail-6-3">
            <a:extLst xmlns:a="http://schemas.openxmlformats.org/drawingml/2006/main">
              <a:ext uri="{FF2B5EF4-FFF2-40B4-BE49-F238E27FC236}">
                <a16:creationId xmlns:a16="http://schemas.microsoft.com/office/drawing/2014/main" id="{DE8C5222-A557-43E0-BE1C-9D58AA104698}"/>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Specify normalized local distributions.</a:t>
            </a:r>
          </a:p>
        </p:txBody>
      </p:sp>
      <p:sp>
        <p:nvSpPr>
          <p:cNvPr id="22" name="process-node-6-4">
            <a:extLst xmlns:a="http://schemas.openxmlformats.org/drawingml/2006/main">
              <a:ext uri="{FF2B5EF4-FFF2-40B4-BE49-F238E27FC236}">
                <a16:creationId xmlns:a16="http://schemas.microsoft.com/office/drawing/2014/main" id="{B2923880-FB7D-49FC-8D63-938C83DC660C}"/>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9B834F22-CC4A-4097-963A-E2DBECCCE655}"/>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319D6ED3-C34B-4529-BEE5-49B277F6AFF4}"/>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Audit</a:t>
            </a:r>
          </a:p>
        </p:txBody>
      </p:sp>
      <p:sp>
        <p:nvSpPr>
          <p:cNvPr id="25" name="process-detail-6-4">
            <a:extLst xmlns:a="http://schemas.openxmlformats.org/drawingml/2006/main">
              <a:ext uri="{FF2B5EF4-FFF2-40B4-BE49-F238E27FC236}">
                <a16:creationId xmlns:a16="http://schemas.microsoft.com/office/drawing/2014/main" id="{D41B6B74-34A8-4B4F-920D-4C08699C9A7B}"/>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Challenge missing-edge assumptions.</a:t>
            </a:r>
          </a:p>
        </p:txBody>
      </p:sp>
      <p:sp>
        <p:nvSpPr>
          <p:cNvPr id="26" name="process-node-6-5">
            <a:extLst xmlns:a="http://schemas.openxmlformats.org/drawingml/2006/main">
              <a:ext uri="{FF2B5EF4-FFF2-40B4-BE49-F238E27FC236}">
                <a16:creationId xmlns:a16="http://schemas.microsoft.com/office/drawing/2014/main" id="{783B5837-4F66-4270-A6A5-E208F9487D38}"/>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D05AD427-43FB-4C4C-8108-E810B99B7A98}"/>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E97FF24F-6EF9-4337-950F-DA9E397C6ED5}"/>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Validate</a:t>
            </a:r>
          </a:p>
        </p:txBody>
      </p:sp>
      <p:sp>
        <p:nvSpPr>
          <p:cNvPr id="29" name="process-detail-6-5">
            <a:extLst xmlns:a="http://schemas.openxmlformats.org/drawingml/2006/main">
              <a:ext uri="{FF2B5EF4-FFF2-40B4-BE49-F238E27FC236}">
                <a16:creationId xmlns:a16="http://schemas.microsoft.com/office/drawing/2014/main" id="{CB9E56EC-536F-4F6A-80E9-CEAFB287BC9A}"/>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Check joint normalization on a small model.</a:t>
            </a:r>
          </a:p>
        </p:txBody>
      </p:sp>
      <p:sp>
        <p:nvSpPr>
          <p:cNvPr id="30" name="process-takeaway-6">
            <a:extLst xmlns:a="http://schemas.openxmlformats.org/drawingml/2006/main">
              <a:ext uri="{FF2B5EF4-FFF2-40B4-BE49-F238E27FC236}">
                <a16:creationId xmlns:a16="http://schemas.microsoft.com/office/drawing/2014/main" id="{4CEB61A3-ADB7-4F05-8681-D778BBCC9850}"/>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Every omitted parent should correspond to an independence assumption you can defend.</a:t>
            </a:r>
          </a:p>
        </p:txBody>
      </p:sp>
    </p:spTree>
    <p:extLst>
      <p:ext uri="{BB962C8B-B14F-4D97-AF65-F5344CB8AC3E}">
        <p14:creationId xmlns:p14="http://schemas.microsoft.com/office/powerpoint/2010/main" val="7859901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EE360A17-6E49-4385-96FA-E222660A8F8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Probability of a complete assignment</a:t>
            </a:r>
          </a:p>
        </p:txBody>
      </p:sp>
      <p:sp>
        <p:nvSpPr>
          <p:cNvPr id="2" name="title-accent-7">
            <a:extLst xmlns:a="http://schemas.openxmlformats.org/drawingml/2006/main">
              <a:ext uri="{FF2B5EF4-FFF2-40B4-BE49-F238E27FC236}">
                <a16:creationId xmlns:a16="http://schemas.microsoft.com/office/drawing/2014/main" id="{234004F9-B3AB-45AE-A6A6-7827778947F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9AD605C2-FB43-4AF9-ABE3-560350A1CEA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7">
            <a:extLst xmlns:a="http://schemas.openxmlformats.org/drawingml/2006/main">
              <a:ext uri="{FF2B5EF4-FFF2-40B4-BE49-F238E27FC236}">
                <a16:creationId xmlns:a16="http://schemas.microsoft.com/office/drawing/2014/main" id="{14694BAF-3454-4853-8B4E-B4715C0A40C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27C19918-6221-4741-A9B6-430EF66E5397}"/>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80D4D24C-1902-43B3-8CAD-29AB53D3FF58}"/>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function JOINT_PROBABILITY(network, assignment):</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p = 1</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for variable in topological_order(network):</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value = assignment[variable]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parent_values = assignment[parents(variable)]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p = p * CPT(variable, value, parent_values)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return p</a:t>
            </a:r>
          </a:p>
        </p:txBody>
      </p:sp>
      <p:sp>
        <p:nvSpPr>
          <p:cNvPr id="8" name="code-rail-title-7">
            <a:extLst xmlns:a="http://schemas.openxmlformats.org/drawingml/2006/main">
              <a:ext uri="{FF2B5EF4-FFF2-40B4-BE49-F238E27FC236}">
                <a16:creationId xmlns:a16="http://schemas.microsoft.com/office/drawing/2014/main" id="{FDC970D7-899D-444E-A786-A11DC0EF9063}"/>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Implementation contract</a:t>
            </a:r>
          </a:p>
        </p:txBody>
      </p:sp>
      <p:sp>
        <p:nvSpPr>
          <p:cNvPr id="9" name="code-rail-7-marker-1">
            <a:extLst xmlns:a="http://schemas.openxmlformats.org/drawingml/2006/main">
              <a:ext uri="{FF2B5EF4-FFF2-40B4-BE49-F238E27FC236}">
                <a16:creationId xmlns:a16="http://schemas.microsoft.com/office/drawing/2014/main" id="{E22EC270-C599-4399-86B1-6696647D57A6}"/>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69B2A7E6-19D4-4A42-A226-82FD408768E0}"/>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Require a DAG.</a:t>
            </a:r>
          </a:p>
        </p:txBody>
      </p:sp>
      <p:sp>
        <p:nvSpPr>
          <p:cNvPr id="11" name="code-rail-7-marker-2">
            <a:extLst xmlns:a="http://schemas.openxmlformats.org/drawingml/2006/main">
              <a:ext uri="{FF2B5EF4-FFF2-40B4-BE49-F238E27FC236}">
                <a16:creationId xmlns:a16="http://schemas.microsoft.com/office/drawing/2014/main" id="{946E66FA-B7F0-4E41-8AD5-2DE9C03BD6B7}"/>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29F17E15-A09E-4479-91A8-872B3B20BC48}"/>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 a complete assignment.</a:t>
            </a:r>
          </a:p>
        </p:txBody>
      </p:sp>
      <p:sp>
        <p:nvSpPr>
          <p:cNvPr id="13" name="code-rail-7-marker-3">
            <a:extLst xmlns:a="http://schemas.openxmlformats.org/drawingml/2006/main">
              <a:ext uri="{FF2B5EF4-FFF2-40B4-BE49-F238E27FC236}">
                <a16:creationId xmlns:a16="http://schemas.microsoft.com/office/drawing/2014/main" id="{BCDA5A72-3D20-4DA5-B4D2-E472786D8A10}"/>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3C2723C0-47E8-4EFC-B48D-D5407BD7EE96}"/>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Select the correct CPT row.</a:t>
            </a:r>
          </a:p>
        </p:txBody>
      </p:sp>
      <p:sp>
        <p:nvSpPr>
          <p:cNvPr id="15" name="code-rail-7-marker-4">
            <a:extLst xmlns:a="http://schemas.openxmlformats.org/drawingml/2006/main">
              <a:ext uri="{FF2B5EF4-FFF2-40B4-BE49-F238E27FC236}">
                <a16:creationId xmlns:a16="http://schemas.microsoft.com/office/drawing/2014/main" id="{4F95E605-50DD-4341-BE0B-77543A281830}"/>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E73E0685-670C-46CC-9BD2-00E3F08C8747}"/>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Check probabilities in [0,1].</a:t>
            </a:r>
          </a:p>
        </p:txBody>
      </p:sp>
    </p:spTree>
    <p:extLst>
      <p:ext uri="{BB962C8B-B14F-4D97-AF65-F5344CB8AC3E}">
        <p14:creationId xmlns:p14="http://schemas.microsoft.com/office/powerpoint/2010/main" val="19514507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B593FFAB-5A6F-4360-9524-48844C7CC3F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Bayes rule: a positive test is not a diagnosis</a:t>
            </a:r>
          </a:p>
        </p:txBody>
      </p:sp>
      <p:sp>
        <p:nvSpPr>
          <p:cNvPr id="2" name="title-accent-8">
            <a:extLst xmlns:a="http://schemas.openxmlformats.org/drawingml/2006/main">
              <a:ext uri="{FF2B5EF4-FFF2-40B4-BE49-F238E27FC236}">
                <a16:creationId xmlns:a16="http://schemas.microsoft.com/office/drawing/2014/main" id="{5AD7F40B-476A-4F0B-BF60-B569CF4EA0F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13F5C990-B7A2-4EC0-9B16-5DE5FA6F12D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8">
            <a:extLst xmlns:a="http://schemas.openxmlformats.org/drawingml/2006/main">
              <a:ext uri="{FF2B5EF4-FFF2-40B4-BE49-F238E27FC236}">
                <a16:creationId xmlns:a16="http://schemas.microsoft.com/office/drawing/2014/main" id="{8B55CA66-D601-44FD-8C43-A5EA0DFFD98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FD57222D-DC3B-4330-8749-076973A17E03}"/>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F96B0C0A-220D-4B06-A968-ACE4B65F7F53}"/>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Disease prevalence is 1%, sensitivity is 90%, and false-positive rate is 5%.</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3C8CC381-88A9-402B-836A-82008B2E5337}"/>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7DB2FFEB-1770-4419-8B23-7CD30EFA0397}"/>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P(D and +)=0.01(0.90)=0.009.</a:t>
            </a:r>
          </a:p>
        </p:txBody>
      </p:sp>
      <p:sp>
        <p:nvSpPr>
          <p:cNvPr id="11" name="example-step-8-marker-2">
            <a:extLst xmlns:a="http://schemas.openxmlformats.org/drawingml/2006/main">
              <a:ext uri="{FF2B5EF4-FFF2-40B4-BE49-F238E27FC236}">
                <a16:creationId xmlns:a16="http://schemas.microsoft.com/office/drawing/2014/main" id="{A3F41744-181A-47FA-B533-D18FB23D4D58}"/>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080D0D27-DF17-497E-A5D1-84D252F4613F}"/>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P(not D and +)=0.99(0.05)=0.0495.</a:t>
            </a:r>
          </a:p>
        </p:txBody>
      </p:sp>
      <p:sp>
        <p:nvSpPr>
          <p:cNvPr id="13" name="example-step-8-marker-3">
            <a:extLst xmlns:a="http://schemas.openxmlformats.org/drawingml/2006/main">
              <a:ext uri="{FF2B5EF4-FFF2-40B4-BE49-F238E27FC236}">
                <a16:creationId xmlns:a16="http://schemas.microsoft.com/office/drawing/2014/main" id="{804ADD30-3F3E-41B1-84D1-4F32D13A7AA7}"/>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9F01A395-6BB0-46BE-B2F1-8960E8FC6AEC}"/>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P(+)=0.0585.</a:t>
            </a:r>
          </a:p>
        </p:txBody>
      </p:sp>
      <p:sp>
        <p:nvSpPr>
          <p:cNvPr id="15" name="example-step-8-marker-4">
            <a:extLst xmlns:a="http://schemas.openxmlformats.org/drawingml/2006/main">
              <a:ext uri="{FF2B5EF4-FFF2-40B4-BE49-F238E27FC236}">
                <a16:creationId xmlns:a16="http://schemas.microsoft.com/office/drawing/2014/main" id="{7A9270AF-C18E-4F44-B625-F4429F501562}"/>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D147DFCE-B71E-4264-9A34-E8EC40F5EA8E}"/>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P(D|+)=0.009/0.0585 about 0.154.</a:t>
            </a:r>
          </a:p>
        </p:txBody>
      </p:sp>
      <p:sp>
        <p:nvSpPr>
          <p:cNvPr id="17" name="example-result-panel-8">
            <a:extLst xmlns:a="http://schemas.openxmlformats.org/drawingml/2006/main">
              <a:ext uri="{FF2B5EF4-FFF2-40B4-BE49-F238E27FC236}">
                <a16:creationId xmlns:a16="http://schemas.microsoft.com/office/drawing/2014/main" id="{882DB650-7C8B-478E-BB95-8090ACF5167C}"/>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D740053C-1010-4FFE-9CB3-9540C62E73D4}"/>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Despite 90% sensitivity, a positive result implies only about a 15.4% posterior because false positives act on a much larger group.</a:t>
            </a:r>
          </a:p>
        </p:txBody>
      </p:sp>
    </p:spTree>
    <p:extLst>
      <p:ext uri="{BB962C8B-B14F-4D97-AF65-F5344CB8AC3E}">
        <p14:creationId xmlns:p14="http://schemas.microsoft.com/office/powerpoint/2010/main" val="41926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D505A9C9-CBA0-456C-86D7-60B673BD3298}"/>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Representations scale differently</a:t>
            </a:r>
          </a:p>
        </p:txBody>
      </p:sp>
      <p:sp>
        <p:nvSpPr>
          <p:cNvPr id="2" name="title-accent-9">
            <a:extLst xmlns:a="http://schemas.openxmlformats.org/drawingml/2006/main">
              <a:ext uri="{FF2B5EF4-FFF2-40B4-BE49-F238E27FC236}">
                <a16:creationId xmlns:a16="http://schemas.microsoft.com/office/drawing/2014/main" id="{46E52824-D6F3-4A2A-9CBB-5E091C768BF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42EBF0C8-8B70-46B8-BA38-9D742A48570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9">
            <a:extLst xmlns:a="http://schemas.openxmlformats.org/drawingml/2006/main">
              <a:ext uri="{FF2B5EF4-FFF2-40B4-BE49-F238E27FC236}">
                <a16:creationId xmlns:a16="http://schemas.microsoft.com/office/drawing/2014/main" id="{F1EF5E65-DAE8-44EF-8360-F9B0FF00BBE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26993B67-865B-4118-96A9-51138EFD3DBA}"/>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Full joint</a:t>
            </a:r>
          </a:p>
        </p:txBody>
      </p:sp>
      <p:sp>
        <p:nvSpPr>
          <p:cNvPr id="7" name="comparison-tagline-9-1">
            <a:extLst xmlns:a="http://schemas.openxmlformats.org/drawingml/2006/main">
              <a:ext uri="{FF2B5EF4-FFF2-40B4-BE49-F238E27FC236}">
                <a16:creationId xmlns:a16="http://schemas.microsoft.com/office/drawing/2014/main" id="{A892CC83-F353-4D19-B66D-42935479BDE5}"/>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Every assignment</a:t>
            </a:r>
          </a:p>
        </p:txBody>
      </p:sp>
      <p:sp>
        <p:nvSpPr>
          <p:cNvPr id="8" name="comparison-bullet-9-1-marker-1">
            <a:extLst xmlns:a="http://schemas.openxmlformats.org/drawingml/2006/main">
              <a:ext uri="{FF2B5EF4-FFF2-40B4-BE49-F238E27FC236}">
                <a16:creationId xmlns:a16="http://schemas.microsoft.com/office/drawing/2014/main" id="{E948F7DB-3DE9-4B2B-AD84-83C909BD2CA1}"/>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61BF49AD-B175-4ECD-9739-18C01BEF2F46}"/>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2^n rows for binary variables.</a:t>
            </a:r>
          </a:p>
        </p:txBody>
      </p:sp>
      <p:sp>
        <p:nvSpPr>
          <p:cNvPr id="10" name="comparison-bullet-9-1-marker-2">
            <a:extLst xmlns:a="http://schemas.openxmlformats.org/drawingml/2006/main">
              <a:ext uri="{FF2B5EF4-FFF2-40B4-BE49-F238E27FC236}">
                <a16:creationId xmlns:a16="http://schemas.microsoft.com/office/drawing/2014/main" id="{D391F2BC-E9C7-4608-9C7E-38DD96E9C01D}"/>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843F9784-ACAC-4A0A-A010-40937B69FD92}"/>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2^n-1 free parameters.</a:t>
            </a:r>
          </a:p>
        </p:txBody>
      </p:sp>
      <p:sp>
        <p:nvSpPr>
          <p:cNvPr id="12" name="comparison-bullet-9-1-marker-3">
            <a:extLst xmlns:a="http://schemas.openxmlformats.org/drawingml/2006/main">
              <a:ext uri="{FF2B5EF4-FFF2-40B4-BE49-F238E27FC236}">
                <a16:creationId xmlns:a16="http://schemas.microsoft.com/office/drawing/2014/main" id="{1C642AC8-B35E-4D1A-A3C4-240C3BF2602B}"/>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F302AFA8-CD4F-4D93-9B2F-83ECB5B62570}"/>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 structural assumptions.</a:t>
            </a:r>
          </a:p>
        </p:txBody>
      </p:sp>
      <p:sp>
        <p:nvSpPr>
          <p:cNvPr id="14" name="comparison-bullet-9-1-marker-4">
            <a:extLst xmlns:a="http://schemas.openxmlformats.org/drawingml/2006/main">
              <a:ext uri="{FF2B5EF4-FFF2-40B4-BE49-F238E27FC236}">
                <a16:creationId xmlns:a16="http://schemas.microsoft.com/office/drawing/2014/main" id="{2BBBF39E-5D29-469F-9D07-0D2CD840CC76}"/>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68CECC70-C895-4944-81C1-49BE060BA2CF}"/>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Direct but infeasible.</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F69F3347-6099-4A8E-BE65-27F78116BD2A}"/>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Sparse Bayes net</a:t>
            </a:r>
          </a:p>
        </p:txBody>
      </p:sp>
      <p:sp>
        <p:nvSpPr>
          <p:cNvPr id="18" name="comparison-tagline-9-2">
            <a:extLst xmlns:a="http://schemas.openxmlformats.org/drawingml/2006/main">
              <a:ext uri="{FF2B5EF4-FFF2-40B4-BE49-F238E27FC236}">
                <a16:creationId xmlns:a16="http://schemas.microsoft.com/office/drawing/2014/main" id="{5B28B24E-66E9-4D39-B27C-3130B3518E90}"/>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Local CPTs</a:t>
            </a:r>
          </a:p>
        </p:txBody>
      </p:sp>
      <p:sp>
        <p:nvSpPr>
          <p:cNvPr id="19" name="comparison-bullet-9-2-marker-1">
            <a:extLst xmlns:a="http://schemas.openxmlformats.org/drawingml/2006/main">
              <a:ext uri="{FF2B5EF4-FFF2-40B4-BE49-F238E27FC236}">
                <a16:creationId xmlns:a16="http://schemas.microsoft.com/office/drawing/2014/main" id="{D6D0EE13-C41D-4324-8077-591D89476244}"/>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E0060DE4-38C2-44AA-B9AB-544877B8D7A6}"/>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Parents stay small.</a:t>
            </a:r>
          </a:p>
        </p:txBody>
      </p:sp>
      <p:sp>
        <p:nvSpPr>
          <p:cNvPr id="21" name="comparison-bullet-9-2-marker-2">
            <a:extLst xmlns:a="http://schemas.openxmlformats.org/drawingml/2006/main">
              <a:ext uri="{FF2B5EF4-FFF2-40B4-BE49-F238E27FC236}">
                <a16:creationId xmlns:a16="http://schemas.microsoft.com/office/drawing/2014/main" id="{22291F18-6DF7-4EB1-B39A-6FFDD4B388A9}"/>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2C5028AC-836D-4CD3-86EA-0EFFEB255D7C}"/>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Parameters grow locally.</a:t>
            </a:r>
          </a:p>
        </p:txBody>
      </p:sp>
      <p:sp>
        <p:nvSpPr>
          <p:cNvPr id="23" name="comparison-bullet-9-2-marker-3">
            <a:extLst xmlns:a="http://schemas.openxmlformats.org/drawingml/2006/main">
              <a:ext uri="{FF2B5EF4-FFF2-40B4-BE49-F238E27FC236}">
                <a16:creationId xmlns:a16="http://schemas.microsoft.com/office/drawing/2014/main" id="{FBFBD284-4F98-4FFA-BF9D-060A7ECA00A6}"/>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22DC85A8-C0E3-47A7-B327-59CF09045457}"/>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Independence is explicit.</a:t>
            </a:r>
          </a:p>
        </p:txBody>
      </p:sp>
      <p:sp>
        <p:nvSpPr>
          <p:cNvPr id="25" name="comparison-bullet-9-2-marker-4">
            <a:extLst xmlns:a="http://schemas.openxmlformats.org/drawingml/2006/main">
              <a:ext uri="{FF2B5EF4-FFF2-40B4-BE49-F238E27FC236}">
                <a16:creationId xmlns:a16="http://schemas.microsoft.com/office/drawing/2014/main" id="{9FCFFBF3-80A3-4587-856A-8BF9186D0E7F}"/>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B8112D2E-6CDE-47C4-8483-B50D4BECCE9E}"/>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Queries need inference.</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9FAE9F04-3535-405C-AC24-4A1DD0FAF1D8}"/>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Data reality</a:t>
            </a:r>
          </a:p>
        </p:txBody>
      </p:sp>
      <p:sp>
        <p:nvSpPr>
          <p:cNvPr id="29" name="comparison-tagline-9-3">
            <a:extLst xmlns:a="http://schemas.openxmlformats.org/drawingml/2006/main">
              <a:ext uri="{FF2B5EF4-FFF2-40B4-BE49-F238E27FC236}">
                <a16:creationId xmlns:a16="http://schemas.microsoft.com/office/drawing/2014/main" id="{D984FAFD-47B1-4F65-9AC6-3D9CDCC2A66A}"/>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Estimate reliably</a:t>
            </a:r>
          </a:p>
        </p:txBody>
      </p:sp>
      <p:sp>
        <p:nvSpPr>
          <p:cNvPr id="30" name="comparison-bullet-9-3-marker-1">
            <a:extLst xmlns:a="http://schemas.openxmlformats.org/drawingml/2006/main">
              <a:ext uri="{FF2B5EF4-FFF2-40B4-BE49-F238E27FC236}">
                <a16:creationId xmlns:a16="http://schemas.microsoft.com/office/drawing/2014/main" id="{A482D818-C5B3-4458-ACF7-6E1B15208FFC}"/>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894A104A-5C32-4B6F-80CC-A2081761AE91}"/>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Rare cells lack samples.</a:t>
            </a:r>
          </a:p>
        </p:txBody>
      </p:sp>
      <p:sp>
        <p:nvSpPr>
          <p:cNvPr id="32" name="comparison-bullet-9-3-marker-2">
            <a:extLst xmlns:a="http://schemas.openxmlformats.org/drawingml/2006/main">
              <a:ext uri="{FF2B5EF4-FFF2-40B4-BE49-F238E27FC236}">
                <a16:creationId xmlns:a16="http://schemas.microsoft.com/office/drawing/2014/main" id="{80D63726-9C3F-432D-87B6-CC3EBB1E2AF9}"/>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ACE1B259-D9BA-413F-8D2E-69B586BF686E}"/>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CPTs pool by parent context.</a:t>
            </a:r>
          </a:p>
        </p:txBody>
      </p:sp>
      <p:sp>
        <p:nvSpPr>
          <p:cNvPr id="34" name="comparison-bullet-9-3-marker-3">
            <a:extLst xmlns:a="http://schemas.openxmlformats.org/drawingml/2006/main">
              <a:ext uri="{FF2B5EF4-FFF2-40B4-BE49-F238E27FC236}">
                <a16:creationId xmlns:a16="http://schemas.microsoft.com/office/drawing/2014/main" id="{B8A4FD84-71D1-481F-B2DF-9C2F14C5FE45}"/>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CEBE1A6D-550F-4B87-9463-2C4AD26846A7}"/>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Structure can be wrong.</a:t>
            </a:r>
          </a:p>
        </p:txBody>
      </p:sp>
      <p:sp>
        <p:nvSpPr>
          <p:cNvPr id="36" name="comparison-bullet-9-3-marker-4">
            <a:extLst xmlns:a="http://schemas.openxmlformats.org/drawingml/2006/main">
              <a:ext uri="{FF2B5EF4-FFF2-40B4-BE49-F238E27FC236}">
                <a16:creationId xmlns:a16="http://schemas.microsoft.com/office/drawing/2014/main" id="{A1611F00-8507-4950-A598-5B7EEFF7860D}"/>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FFA45EDF-D4F3-4F5B-B317-65A0F455A4A4}"/>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Validation remains essential.</a:t>
            </a:r>
          </a:p>
        </p:txBody>
      </p:sp>
    </p:spTree>
    <p:extLst>
      <p:ext uri="{BB962C8B-B14F-4D97-AF65-F5344CB8AC3E}">
        <p14:creationId xmlns:p14="http://schemas.microsoft.com/office/powerpoint/2010/main" val="257489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D166C558-65A7-4FB1-9E27-AC0F9FA12D0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base-rate reasoning</a:t>
            </a:r>
          </a:p>
        </p:txBody>
      </p:sp>
      <p:sp>
        <p:nvSpPr>
          <p:cNvPr id="2" name="title-accent-10">
            <a:extLst xmlns:a="http://schemas.openxmlformats.org/drawingml/2006/main">
              <a:ext uri="{FF2B5EF4-FFF2-40B4-BE49-F238E27FC236}">
                <a16:creationId xmlns:a16="http://schemas.microsoft.com/office/drawing/2014/main" id="{87D9937D-6954-4A87-A7AC-33672985573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F07A2CF5-42CF-466A-8764-01AF87B6883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10">
            <a:extLst xmlns:a="http://schemas.openxmlformats.org/drawingml/2006/main">
              <a:ext uri="{FF2B5EF4-FFF2-40B4-BE49-F238E27FC236}">
                <a16:creationId xmlns:a16="http://schemas.microsoft.com/office/drawing/2014/main" id="{D1CBEFA6-B5A8-4021-B9E6-2C3F70C4F14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C16180F7-A753-4FFF-90D7-347792D50815}"/>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EC508435-46EB-4E16-B043-A23DD306A3B9}"/>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If prevalence falls while sensitivity and false-positive rate stay fixed, what happens to P(disease|positive)?</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88B8DE45-3708-466D-B294-E3D8141CCE4D}"/>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E9332AE0-FD98-459A-ACB2-E00EA61A30F6}"/>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Write numerator and denominator.</a:t>
            </a:r>
          </a:p>
        </p:txBody>
      </p:sp>
      <p:sp>
        <p:nvSpPr>
          <p:cNvPr id="11" name="checkpoint-prompt-number-10-2">
            <a:extLst xmlns:a="http://schemas.openxmlformats.org/drawingml/2006/main">
              <a:ext uri="{FF2B5EF4-FFF2-40B4-BE49-F238E27FC236}">
                <a16:creationId xmlns:a16="http://schemas.microsoft.com/office/drawing/2014/main" id="{5A5E93C8-9D36-4005-A868-B5A6DAE8B2C9}"/>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40D1ABCE-6DA3-4B63-961D-47EAF30E9120}"/>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Identify which population dominates false positives.</a:t>
            </a:r>
          </a:p>
        </p:txBody>
      </p:sp>
      <p:sp>
        <p:nvSpPr>
          <p:cNvPr id="13" name="checkpoint-prompt-number-10-3">
            <a:extLst xmlns:a="http://schemas.openxmlformats.org/drawingml/2006/main">
              <a:ext uri="{FF2B5EF4-FFF2-40B4-BE49-F238E27FC236}">
                <a16:creationId xmlns:a16="http://schemas.microsoft.com/office/drawing/2014/main" id="{73BA1530-660A-4236-ACB4-3295FBF23260}"/>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C4606B41-6BA3-4E4A-A8B6-BBE48683A0C5}"/>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the direction, not only intuition.</a:t>
            </a:r>
          </a:p>
        </p:txBody>
      </p:sp>
    </p:spTree>
    <p:extLst>
      <p:ext uri="{BB962C8B-B14F-4D97-AF65-F5344CB8AC3E}">
        <p14:creationId xmlns:p14="http://schemas.microsoft.com/office/powerpoint/2010/main" val="4132337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6B5312E9-918A-47ED-A798-CCA641A2A0C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Common graph patterns imply different evidence flow</a:t>
            </a:r>
          </a:p>
        </p:txBody>
      </p:sp>
      <p:sp>
        <p:nvSpPr>
          <p:cNvPr id="2" name="title-accent-11">
            <a:extLst xmlns:a="http://schemas.openxmlformats.org/drawingml/2006/main">
              <a:ext uri="{FF2B5EF4-FFF2-40B4-BE49-F238E27FC236}">
                <a16:creationId xmlns:a16="http://schemas.microsoft.com/office/drawing/2014/main" id="{BB9DC4C4-5254-4025-9913-DEA3B6B9392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C6D6596C-2684-46FB-916F-BCEF420C71E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11">
            <a:extLst xmlns:a="http://schemas.openxmlformats.org/drawingml/2006/main">
              <a:ext uri="{FF2B5EF4-FFF2-40B4-BE49-F238E27FC236}">
                <a16:creationId xmlns:a16="http://schemas.microsoft.com/office/drawing/2014/main" id="{85AA7D06-5364-4BD1-AB28-19D4327387F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EF795982-D1F3-4619-9B88-7F068FCCDD73}"/>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Chain and fork</a:t>
            </a:r>
          </a:p>
        </p:txBody>
      </p:sp>
      <p:sp>
        <p:nvSpPr>
          <p:cNvPr id="8" name="right-title-11">
            <a:extLst xmlns:a="http://schemas.openxmlformats.org/drawingml/2006/main">
              <a:ext uri="{FF2B5EF4-FFF2-40B4-BE49-F238E27FC236}">
                <a16:creationId xmlns:a16="http://schemas.microsoft.com/office/drawing/2014/main" id="{8E61F802-1CAC-479D-B7E1-40D6D29EDD54}"/>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Collider</a:t>
            </a:r>
          </a:p>
        </p:txBody>
      </p:sp>
      <p:sp>
        <p:nvSpPr>
          <p:cNvPr id="9" name="left-bullet-11-marker-1">
            <a:extLst xmlns:a="http://schemas.openxmlformats.org/drawingml/2006/main">
              <a:ext uri="{FF2B5EF4-FFF2-40B4-BE49-F238E27FC236}">
                <a16:creationId xmlns:a16="http://schemas.microsoft.com/office/drawing/2014/main" id="{9B50A822-E729-4910-9BA9-3C7125828FEF}"/>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2A91A739-A630-4766-8D42-7566F7BE4993}"/>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X-&gt;Z-&gt;Y or X&lt;-Z-&gt;Y.</a:t>
            </a:r>
          </a:p>
        </p:txBody>
      </p:sp>
      <p:sp>
        <p:nvSpPr>
          <p:cNvPr id="11" name="left-bullet-11-marker-2">
            <a:extLst xmlns:a="http://schemas.openxmlformats.org/drawingml/2006/main">
              <a:ext uri="{FF2B5EF4-FFF2-40B4-BE49-F238E27FC236}">
                <a16:creationId xmlns:a16="http://schemas.microsoft.com/office/drawing/2014/main" id="{0B1BADAE-CD40-418F-B37C-21274CBBA952}"/>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30184989-F585-4E83-B9F5-D696A26E57E4}"/>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X and Y may be dependent.</a:t>
            </a:r>
          </a:p>
        </p:txBody>
      </p:sp>
      <p:sp>
        <p:nvSpPr>
          <p:cNvPr id="13" name="left-bullet-11-marker-3">
            <a:extLst xmlns:a="http://schemas.openxmlformats.org/drawingml/2006/main">
              <a:ext uri="{FF2B5EF4-FFF2-40B4-BE49-F238E27FC236}">
                <a16:creationId xmlns:a16="http://schemas.microsoft.com/office/drawing/2014/main" id="{896E7535-3429-4591-965C-9F015B6738F2}"/>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8E110656-60D4-4B8B-AF51-A41C4581DBA4}"/>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Conditioning on Z blocks the path.</a:t>
            </a:r>
          </a:p>
        </p:txBody>
      </p:sp>
      <p:sp>
        <p:nvSpPr>
          <p:cNvPr id="15" name="left-bullet-11-marker-4">
            <a:extLst xmlns:a="http://schemas.openxmlformats.org/drawingml/2006/main">
              <a:ext uri="{FF2B5EF4-FFF2-40B4-BE49-F238E27FC236}">
                <a16:creationId xmlns:a16="http://schemas.microsoft.com/office/drawing/2014/main" id="{FF57765B-693C-4E31-93F1-4B878004D5BF}"/>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EBDD171A-24B0-4D41-A7EA-6FC6CB7B38EF}"/>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Z explains transmission or cause.</a:t>
            </a:r>
          </a:p>
        </p:txBody>
      </p:sp>
      <p:sp>
        <p:nvSpPr>
          <p:cNvPr id="17" name="right-bullet-11-marker-1">
            <a:extLst xmlns:a="http://schemas.openxmlformats.org/drawingml/2006/main">
              <a:ext uri="{FF2B5EF4-FFF2-40B4-BE49-F238E27FC236}">
                <a16:creationId xmlns:a16="http://schemas.microsoft.com/office/drawing/2014/main" id="{548D4F07-2B9D-412D-B392-A6392F242A04}"/>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2A899310-3CBF-4BAC-B994-63D2EF92ACA9}"/>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X-&gt;Z&lt;-Y.</a:t>
            </a:r>
          </a:p>
        </p:txBody>
      </p:sp>
      <p:sp>
        <p:nvSpPr>
          <p:cNvPr id="19" name="right-bullet-11-marker-2">
            <a:extLst xmlns:a="http://schemas.openxmlformats.org/drawingml/2006/main">
              <a:ext uri="{FF2B5EF4-FFF2-40B4-BE49-F238E27FC236}">
                <a16:creationId xmlns:a16="http://schemas.microsoft.com/office/drawing/2014/main" id="{8361E316-E071-48A5-BC0B-4234CB0F33A6}"/>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BCD62DD7-B840-475A-8F71-DF9850C4AE1A}"/>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X and Y can be marginally independent.</a:t>
            </a:r>
          </a:p>
        </p:txBody>
      </p:sp>
      <p:sp>
        <p:nvSpPr>
          <p:cNvPr id="21" name="right-bullet-11-marker-3">
            <a:extLst xmlns:a="http://schemas.openxmlformats.org/drawingml/2006/main">
              <a:ext uri="{FF2B5EF4-FFF2-40B4-BE49-F238E27FC236}">
                <a16:creationId xmlns:a16="http://schemas.microsoft.com/office/drawing/2014/main" id="{18B1471D-5B3D-452A-9F86-1A28990B4A2E}"/>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CFBBC9B9-DFC1-4C28-9034-33DBCD29C35A}"/>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Conditioning on Z opens dependence.</a:t>
            </a:r>
          </a:p>
        </p:txBody>
      </p:sp>
      <p:sp>
        <p:nvSpPr>
          <p:cNvPr id="23" name="right-bullet-11-marker-4">
            <a:extLst xmlns:a="http://schemas.openxmlformats.org/drawingml/2006/main">
              <a:ext uri="{FF2B5EF4-FFF2-40B4-BE49-F238E27FC236}">
                <a16:creationId xmlns:a16="http://schemas.microsoft.com/office/drawing/2014/main" id="{E7995C6F-E16C-455B-9B75-855AAE6DE824}"/>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546E7F00-4F64-4F20-9BC0-E4A47271BA78}"/>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Explaining away appears.</a:t>
            </a:r>
          </a:p>
        </p:txBody>
      </p:sp>
    </p:spTree>
    <p:extLst>
      <p:ext uri="{BB962C8B-B14F-4D97-AF65-F5344CB8AC3E}">
        <p14:creationId xmlns:p14="http://schemas.microsoft.com/office/powerpoint/2010/main" val="11108540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B3D13BBB-5CDF-4D46-AB02-1866AEB5D3D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Bayesian-network chain rule</a:t>
            </a:r>
          </a:p>
        </p:txBody>
      </p:sp>
      <p:sp>
        <p:nvSpPr>
          <p:cNvPr id="2" name="title-accent-12">
            <a:extLst xmlns:a="http://schemas.openxmlformats.org/drawingml/2006/main">
              <a:ext uri="{FF2B5EF4-FFF2-40B4-BE49-F238E27FC236}">
                <a16:creationId xmlns:a16="http://schemas.microsoft.com/office/drawing/2014/main" id="{F7F1622A-A65A-4A6F-9F98-B7DF04BBA5B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1A4F9BFA-FF92-4D09-92D6-F4371ED6882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12">
            <a:extLst xmlns:a="http://schemas.openxmlformats.org/drawingml/2006/main">
              <a:ext uri="{FF2B5EF4-FFF2-40B4-BE49-F238E27FC236}">
                <a16:creationId xmlns:a16="http://schemas.microsoft.com/office/drawing/2014/main" id="{19723D6E-F7B7-4D0C-8EB8-F29C18F67D5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BA1D3EE6-2B3A-4AE1-960A-01079D995275}"/>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32C4770F-A205-4F54-99D4-4C8A6BE95A6F}"/>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P(X1,...,Xn) = product_i P(X_i | Parents(X_i))</a:t>
            </a:r>
          </a:p>
        </p:txBody>
      </p:sp>
      <p:sp>
        <p:nvSpPr>
          <p:cNvPr id="8" name="formula-definition-12-marker-1">
            <a:extLst xmlns:a="http://schemas.openxmlformats.org/drawingml/2006/main">
              <a:ext uri="{FF2B5EF4-FFF2-40B4-BE49-F238E27FC236}">
                <a16:creationId xmlns:a16="http://schemas.microsoft.com/office/drawing/2014/main" id="{941508DE-01AF-4195-B45F-6DE1C349365E}"/>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85446B6F-0E4F-4FBA-A53D-EE99F2AC320E}"/>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order is topological.</a:t>
            </a:r>
          </a:p>
        </p:txBody>
      </p:sp>
      <p:sp>
        <p:nvSpPr>
          <p:cNvPr id="10" name="formula-definition-12-marker-2">
            <a:extLst xmlns:a="http://schemas.openxmlformats.org/drawingml/2006/main">
              <a:ext uri="{FF2B5EF4-FFF2-40B4-BE49-F238E27FC236}">
                <a16:creationId xmlns:a16="http://schemas.microsoft.com/office/drawing/2014/main" id="{B5769C7A-C5EE-4C87-B7BD-D94F30475159}"/>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AEF157CD-3BC7-4874-976E-280BAE868AD2}"/>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Root nodes use marginal priors.</a:t>
            </a:r>
          </a:p>
        </p:txBody>
      </p:sp>
      <p:sp>
        <p:nvSpPr>
          <p:cNvPr id="12" name="formula-definition-12-marker-3">
            <a:extLst xmlns:a="http://schemas.openxmlformats.org/drawingml/2006/main">
              <a:ext uri="{FF2B5EF4-FFF2-40B4-BE49-F238E27FC236}">
                <a16:creationId xmlns:a16="http://schemas.microsoft.com/office/drawing/2014/main" id="{F75B6A8D-7AE8-4B5D-8F7C-1C22C1C747AF}"/>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4C794B27-2B76-4F65-BFD8-179F46DBC9D5}"/>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Each nonroot factor selects a CPT row.</a:t>
            </a:r>
          </a:p>
        </p:txBody>
      </p:sp>
      <p:sp>
        <p:nvSpPr>
          <p:cNvPr id="14" name="formula-definition-12-marker-4">
            <a:extLst xmlns:a="http://schemas.openxmlformats.org/drawingml/2006/main">
              <a:ext uri="{FF2B5EF4-FFF2-40B4-BE49-F238E27FC236}">
                <a16:creationId xmlns:a16="http://schemas.microsoft.com/office/drawing/2014/main" id="{C45A6D48-27A0-4C3D-939A-B335D6BEE608}"/>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605FD9FF-8849-4B36-BF5C-62AFE8D94FB9}"/>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Multiplication yields one full-assignment probability.</a:t>
            </a:r>
          </a:p>
        </p:txBody>
      </p:sp>
      <p:sp>
        <p:nvSpPr>
          <p:cNvPr id="16" name="formula-implication-panel-12">
            <a:extLst xmlns:a="http://schemas.openxmlformats.org/drawingml/2006/main">
              <a:ext uri="{FF2B5EF4-FFF2-40B4-BE49-F238E27FC236}">
                <a16:creationId xmlns:a16="http://schemas.microsoft.com/office/drawing/2014/main" id="{378BE755-B3DC-4A15-B9B7-856C431ADABC}"/>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831954B0-CAE6-4778-A639-CE3F8BB154C5}"/>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6F590394-C8E1-49D7-A632-5F12EBDD832B}"/>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A sparse parent structure replaces one exponential table with many small tables.</a:t>
            </a:r>
          </a:p>
        </p:txBody>
      </p:sp>
    </p:spTree>
    <p:extLst>
      <p:ext uri="{BB962C8B-B14F-4D97-AF65-F5344CB8AC3E}">
        <p14:creationId xmlns:p14="http://schemas.microsoft.com/office/powerpoint/2010/main" val="17765387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3D40DFFB-A914-47F6-B48D-E987512DEBF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joint from a four-node network</a:t>
            </a:r>
          </a:p>
        </p:txBody>
      </p:sp>
      <p:sp>
        <p:nvSpPr>
          <p:cNvPr id="2" name="title-accent-13">
            <a:extLst xmlns:a="http://schemas.openxmlformats.org/drawingml/2006/main">
              <a:ext uri="{FF2B5EF4-FFF2-40B4-BE49-F238E27FC236}">
                <a16:creationId xmlns:a16="http://schemas.microsoft.com/office/drawing/2014/main" id="{12C2B1CC-9F00-40F3-AC8F-B85A7A4B333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D225DD73-1B74-421A-824E-EC0CBC33A4FB}"/>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13">
            <a:extLst xmlns:a="http://schemas.openxmlformats.org/drawingml/2006/main">
              <a:ext uri="{FF2B5EF4-FFF2-40B4-BE49-F238E27FC236}">
                <a16:creationId xmlns:a16="http://schemas.microsoft.com/office/drawing/2014/main" id="{6A3057BC-C845-4501-9F1C-63BAAFA9C49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A3BE7DE2-F206-441B-89E4-937BFDED975E}"/>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E01A6C6E-C91B-420E-976B-A080F0C0CFA7}"/>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Rain R has P(R)=0.2; Sprinkler S has P(S|R)=0.1; WetGrass W has P(W|R,S)=0.99; Slippery L has P(L|W)=0.7.</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40AF91CB-7B54-4B91-8CFA-411F5E27D0D3}"/>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113E8AFD-13B8-4E9F-86FC-D368952B2A11}"/>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Choose assignment R,S,W,L all true.</a:t>
            </a:r>
          </a:p>
        </p:txBody>
      </p:sp>
      <p:sp>
        <p:nvSpPr>
          <p:cNvPr id="11" name="example-step-13-marker-2">
            <a:extLst xmlns:a="http://schemas.openxmlformats.org/drawingml/2006/main">
              <a:ext uri="{FF2B5EF4-FFF2-40B4-BE49-F238E27FC236}">
                <a16:creationId xmlns:a16="http://schemas.microsoft.com/office/drawing/2014/main" id="{73E8D2D0-14AD-4CC6-B17D-4BACDD996969}"/>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20BF1035-D004-43D8-9E31-21727CC43CCD}"/>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Select factors 0.2, 0.1, 0.99, and 0.7.</a:t>
            </a:r>
          </a:p>
        </p:txBody>
      </p:sp>
      <p:sp>
        <p:nvSpPr>
          <p:cNvPr id="13" name="example-step-13-marker-3">
            <a:extLst xmlns:a="http://schemas.openxmlformats.org/drawingml/2006/main">
              <a:ext uri="{FF2B5EF4-FFF2-40B4-BE49-F238E27FC236}">
                <a16:creationId xmlns:a16="http://schemas.microsoft.com/office/drawing/2014/main" id="{7EA2EAAA-47FD-4234-BB52-AB23DABD7047}"/>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22C7AD01-F373-4A96-80E2-BC5C10984AEE}"/>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Multiply in topological order.</a:t>
            </a:r>
          </a:p>
        </p:txBody>
      </p:sp>
      <p:sp>
        <p:nvSpPr>
          <p:cNvPr id="15" name="example-step-13-marker-4">
            <a:extLst xmlns:a="http://schemas.openxmlformats.org/drawingml/2006/main">
              <a:ext uri="{FF2B5EF4-FFF2-40B4-BE49-F238E27FC236}">
                <a16:creationId xmlns:a16="http://schemas.microsoft.com/office/drawing/2014/main" id="{6217945C-2EAB-4BA0-9713-A82178CDEB71}"/>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584B5784-0173-4B47-9CCC-2B88A7691C82}"/>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0.2(0.1)(0.99)(0.7)=0.01386.</a:t>
            </a:r>
          </a:p>
        </p:txBody>
      </p:sp>
      <p:sp>
        <p:nvSpPr>
          <p:cNvPr id="17" name="example-result-panel-13">
            <a:extLst xmlns:a="http://schemas.openxmlformats.org/drawingml/2006/main">
              <a:ext uri="{FF2B5EF4-FFF2-40B4-BE49-F238E27FC236}">
                <a16:creationId xmlns:a16="http://schemas.microsoft.com/office/drawing/2014/main" id="{89332826-188A-4E3A-AD33-E20AA87DE2F9}"/>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93494139-3978-4B78-B2AD-A7F6B93ECA7F}"/>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The graph converts a complete-world probability into four auditable local lookups.</a:t>
            </a:r>
          </a:p>
        </p:txBody>
      </p:sp>
    </p:spTree>
    <p:extLst>
      <p:ext uri="{BB962C8B-B14F-4D97-AF65-F5344CB8AC3E}">
        <p14:creationId xmlns:p14="http://schemas.microsoft.com/office/powerpoint/2010/main" val="13875555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A9913169-7DA0-4A9E-A071-F0F32DD4AB7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Graph defects have recognizable consequences</a:t>
            </a:r>
          </a:p>
        </p:txBody>
      </p:sp>
      <p:sp>
        <p:nvSpPr>
          <p:cNvPr id="2" name="title-accent-14">
            <a:extLst xmlns:a="http://schemas.openxmlformats.org/drawingml/2006/main">
              <a:ext uri="{FF2B5EF4-FFF2-40B4-BE49-F238E27FC236}">
                <a16:creationId xmlns:a16="http://schemas.microsoft.com/office/drawing/2014/main" id="{97B89521-FCD5-426D-A5DA-3197FD916A1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A3E31A95-476E-44A9-8A2D-77431E3EB12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14">
            <a:extLst xmlns:a="http://schemas.openxmlformats.org/drawingml/2006/main">
              <a:ext uri="{FF2B5EF4-FFF2-40B4-BE49-F238E27FC236}">
                <a16:creationId xmlns:a16="http://schemas.microsoft.com/office/drawing/2014/main" id="{BC6D426A-3566-4826-BD45-A0A3EDD6CDE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A5317F1A-263E-4BCE-B29B-572833495F3F}"/>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Cycle</a:t>
            </a:r>
          </a:p>
        </p:txBody>
      </p:sp>
      <p:sp>
        <p:nvSpPr>
          <p:cNvPr id="7" name="comparison-tagline-14-1">
            <a:extLst xmlns:a="http://schemas.openxmlformats.org/drawingml/2006/main">
              <a:ext uri="{FF2B5EF4-FFF2-40B4-BE49-F238E27FC236}">
                <a16:creationId xmlns:a16="http://schemas.microsoft.com/office/drawing/2014/main" id="{3CD3225C-B375-40D2-BEB7-48572847DA39}"/>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Invalid BN</a:t>
            </a:r>
          </a:p>
        </p:txBody>
      </p:sp>
      <p:sp>
        <p:nvSpPr>
          <p:cNvPr id="8" name="comparison-bullet-14-1-marker-1">
            <a:extLst xmlns:a="http://schemas.openxmlformats.org/drawingml/2006/main">
              <a:ext uri="{FF2B5EF4-FFF2-40B4-BE49-F238E27FC236}">
                <a16:creationId xmlns:a16="http://schemas.microsoft.com/office/drawing/2014/main" id="{F5FF3551-4DAB-425E-8D51-4C4CAC52034E}"/>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7AE34621-1E44-4121-9657-5188E7DA6128}"/>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 topological order.</a:t>
            </a:r>
          </a:p>
        </p:txBody>
      </p:sp>
      <p:sp>
        <p:nvSpPr>
          <p:cNvPr id="10" name="comparison-bullet-14-1-marker-2">
            <a:extLst xmlns:a="http://schemas.openxmlformats.org/drawingml/2006/main">
              <a:ext uri="{FF2B5EF4-FFF2-40B4-BE49-F238E27FC236}">
                <a16:creationId xmlns:a16="http://schemas.microsoft.com/office/drawing/2014/main" id="{050898FE-4E6F-4EA8-9644-BA1A04BCA734}"/>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CD6D1F2F-3C6D-4F21-9CDA-054C870AECCC}"/>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Circular local semantics.</a:t>
            </a:r>
          </a:p>
        </p:txBody>
      </p:sp>
      <p:sp>
        <p:nvSpPr>
          <p:cNvPr id="12" name="comparison-bullet-14-1-marker-3">
            <a:extLst xmlns:a="http://schemas.openxmlformats.org/drawingml/2006/main">
              <a:ext uri="{FF2B5EF4-FFF2-40B4-BE49-F238E27FC236}">
                <a16:creationId xmlns:a16="http://schemas.microsoft.com/office/drawing/2014/main" id="{AF093050-CC9F-4960-A452-AC913FBDD395}"/>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363223D2-4E34-4D0F-9B96-9993B70B3AF2}"/>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Factorization undefined.</a:t>
            </a:r>
          </a:p>
        </p:txBody>
      </p:sp>
      <p:sp>
        <p:nvSpPr>
          <p:cNvPr id="14" name="comparison-bullet-14-1-marker-4">
            <a:extLst xmlns:a="http://schemas.openxmlformats.org/drawingml/2006/main">
              <a:ext uri="{FF2B5EF4-FFF2-40B4-BE49-F238E27FC236}">
                <a16:creationId xmlns:a16="http://schemas.microsoft.com/office/drawing/2014/main" id="{A1B0FC85-1395-408F-9A7B-AE1E1E6A1A9A}"/>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376A6866-B260-4224-BA43-B32F1B387A45}"/>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Reject at construction.</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D26F438B-D15E-4753-920E-FD1623FD317F}"/>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Missing edge</a:t>
            </a:r>
          </a:p>
        </p:txBody>
      </p:sp>
      <p:sp>
        <p:nvSpPr>
          <p:cNvPr id="18" name="comparison-tagline-14-2">
            <a:extLst xmlns:a="http://schemas.openxmlformats.org/drawingml/2006/main">
              <a:ext uri="{FF2B5EF4-FFF2-40B4-BE49-F238E27FC236}">
                <a16:creationId xmlns:a16="http://schemas.microsoft.com/office/drawing/2014/main" id="{E6DD58A7-CD38-439B-A154-F3E1A542E95D}"/>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False independence</a:t>
            </a:r>
          </a:p>
        </p:txBody>
      </p:sp>
      <p:sp>
        <p:nvSpPr>
          <p:cNvPr id="19" name="comparison-bullet-14-2-marker-1">
            <a:extLst xmlns:a="http://schemas.openxmlformats.org/drawingml/2006/main">
              <a:ext uri="{FF2B5EF4-FFF2-40B4-BE49-F238E27FC236}">
                <a16:creationId xmlns:a16="http://schemas.microsoft.com/office/drawing/2014/main" id="{D4B7CB91-4F2C-481E-A4BB-ACBEA412F01C}"/>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48E11FEA-BA84-4054-BB01-68E6A1EC396F}"/>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Model too simple.</a:t>
            </a:r>
          </a:p>
        </p:txBody>
      </p:sp>
      <p:sp>
        <p:nvSpPr>
          <p:cNvPr id="21" name="comparison-bullet-14-2-marker-2">
            <a:extLst xmlns:a="http://schemas.openxmlformats.org/drawingml/2006/main">
              <a:ext uri="{FF2B5EF4-FFF2-40B4-BE49-F238E27FC236}">
                <a16:creationId xmlns:a16="http://schemas.microsoft.com/office/drawing/2014/main" id="{84C70A5C-65DB-4022-B9DD-54117D06BB1F}"/>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E0F52528-934E-4BE7-8E99-742B03E209ED}"/>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Posterior can be biased.</a:t>
            </a:r>
          </a:p>
        </p:txBody>
      </p:sp>
      <p:sp>
        <p:nvSpPr>
          <p:cNvPr id="23" name="comparison-bullet-14-2-marker-3">
            <a:extLst xmlns:a="http://schemas.openxmlformats.org/drawingml/2006/main">
              <a:ext uri="{FF2B5EF4-FFF2-40B4-BE49-F238E27FC236}">
                <a16:creationId xmlns:a16="http://schemas.microsoft.com/office/drawing/2014/main" id="{381002BF-80F9-4E6A-80F7-AFABB8F7CD65}"/>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8DD4BB69-F81E-4FD3-BDA0-5BE2A9823CFA}"/>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Residual dependence remains.</a:t>
            </a:r>
          </a:p>
        </p:txBody>
      </p:sp>
      <p:sp>
        <p:nvSpPr>
          <p:cNvPr id="25" name="comparison-bullet-14-2-marker-4">
            <a:extLst xmlns:a="http://schemas.openxmlformats.org/drawingml/2006/main">
              <a:ext uri="{FF2B5EF4-FFF2-40B4-BE49-F238E27FC236}">
                <a16:creationId xmlns:a16="http://schemas.microsoft.com/office/drawing/2014/main" id="{8B2EE3CA-7E1D-4B60-9538-F227F77B50AE}"/>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B8C0E113-FA7D-4148-B4D8-5CFF30BAFBF2}"/>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Audit with domain knowledge.</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034F9B58-E2C3-4620-8CF4-BE1ABE9EE6A6}"/>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Extra edge</a:t>
            </a:r>
          </a:p>
        </p:txBody>
      </p:sp>
      <p:sp>
        <p:nvSpPr>
          <p:cNvPr id="29" name="comparison-tagline-14-3">
            <a:extLst xmlns:a="http://schemas.openxmlformats.org/drawingml/2006/main">
              <a:ext uri="{FF2B5EF4-FFF2-40B4-BE49-F238E27FC236}">
                <a16:creationId xmlns:a16="http://schemas.microsoft.com/office/drawing/2014/main" id="{F8B88DE2-D685-45D6-ABE8-E3195AC62842}"/>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Lost compression</a:t>
            </a:r>
          </a:p>
        </p:txBody>
      </p:sp>
      <p:sp>
        <p:nvSpPr>
          <p:cNvPr id="30" name="comparison-bullet-14-3-marker-1">
            <a:extLst xmlns:a="http://schemas.openxmlformats.org/drawingml/2006/main">
              <a:ext uri="{FF2B5EF4-FFF2-40B4-BE49-F238E27FC236}">
                <a16:creationId xmlns:a16="http://schemas.microsoft.com/office/drawing/2014/main" id="{69A8B7B0-BCC7-40CA-A7DA-361FD465B546}"/>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FB61A185-9F60-476F-A24F-2159C4184BD7}"/>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More CPT rows.</a:t>
            </a:r>
          </a:p>
        </p:txBody>
      </p:sp>
      <p:sp>
        <p:nvSpPr>
          <p:cNvPr id="32" name="comparison-bullet-14-3-marker-2">
            <a:extLst xmlns:a="http://schemas.openxmlformats.org/drawingml/2006/main">
              <a:ext uri="{FF2B5EF4-FFF2-40B4-BE49-F238E27FC236}">
                <a16:creationId xmlns:a16="http://schemas.microsoft.com/office/drawing/2014/main" id="{D627C9B5-B38A-4B6E-91D6-74D44BC9F270}"/>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8064996F-B88F-4B13-AF3F-79EE085D6440}"/>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More data required.</a:t>
            </a:r>
          </a:p>
        </p:txBody>
      </p:sp>
      <p:sp>
        <p:nvSpPr>
          <p:cNvPr id="34" name="comparison-bullet-14-3-marker-3">
            <a:extLst xmlns:a="http://schemas.openxmlformats.org/drawingml/2006/main">
              <a:ext uri="{FF2B5EF4-FFF2-40B4-BE49-F238E27FC236}">
                <a16:creationId xmlns:a16="http://schemas.microsoft.com/office/drawing/2014/main" id="{30975B25-013C-48F2-BE3B-64560FFE9F9B}"/>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1BD08FC1-5305-4DC0-9B8F-722A42378DE7}"/>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Still can be valid.</a:t>
            </a:r>
          </a:p>
        </p:txBody>
      </p:sp>
      <p:sp>
        <p:nvSpPr>
          <p:cNvPr id="36" name="comparison-bullet-14-3-marker-4">
            <a:extLst xmlns:a="http://schemas.openxmlformats.org/drawingml/2006/main">
              <a:ext uri="{FF2B5EF4-FFF2-40B4-BE49-F238E27FC236}">
                <a16:creationId xmlns:a16="http://schemas.microsoft.com/office/drawing/2014/main" id="{56B732D6-660E-4B19-8A05-730DB2C993BB}"/>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595DFE9F-9093-4DB1-A81A-9D5E72054EF0}"/>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May overfit estimates.</a:t>
            </a:r>
          </a:p>
        </p:txBody>
      </p:sp>
    </p:spTree>
    <p:extLst>
      <p:ext uri="{BB962C8B-B14F-4D97-AF65-F5344CB8AC3E}">
        <p14:creationId xmlns:p14="http://schemas.microsoft.com/office/powerpoint/2010/main" val="15877746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02BE0FB2-E954-41BE-8A96-9EFE1DF231C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parameter count</a:t>
            </a:r>
          </a:p>
        </p:txBody>
      </p:sp>
      <p:sp>
        <p:nvSpPr>
          <p:cNvPr id="2" name="title-accent-15">
            <a:extLst xmlns:a="http://schemas.openxmlformats.org/drawingml/2006/main">
              <a:ext uri="{FF2B5EF4-FFF2-40B4-BE49-F238E27FC236}">
                <a16:creationId xmlns:a16="http://schemas.microsoft.com/office/drawing/2014/main" id="{2709490A-2DA5-4E3D-94B6-E7D574E015F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5E713788-EE8B-4578-9023-E27158BA966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15">
            <a:extLst xmlns:a="http://schemas.openxmlformats.org/drawingml/2006/main">
              <a:ext uri="{FF2B5EF4-FFF2-40B4-BE49-F238E27FC236}">
                <a16:creationId xmlns:a16="http://schemas.microsoft.com/office/drawing/2014/main" id="{DDE5E34B-585C-41FA-8091-70C9C17ADA9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A63370A3-76BE-422D-B0C9-43C3975900D8}"/>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75E41F84-E389-4340-B828-E5DC20071027}"/>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How many free parameters does a full joint over 20 binary variables require, and why is one subtracted?</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8123406B-5419-45B6-BB1F-E1276E931502}"/>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2270DA58-B4AC-47FB-9E45-D3DA1432FA92}"/>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Count assignments.</a:t>
            </a:r>
          </a:p>
        </p:txBody>
      </p:sp>
      <p:sp>
        <p:nvSpPr>
          <p:cNvPr id="11" name="checkpoint-prompt-number-15-2">
            <a:extLst xmlns:a="http://schemas.openxmlformats.org/drawingml/2006/main">
              <a:ext uri="{FF2B5EF4-FFF2-40B4-BE49-F238E27FC236}">
                <a16:creationId xmlns:a16="http://schemas.microsoft.com/office/drawing/2014/main" id="{F6EE1EFA-5768-417A-9085-A1068C62CBCE}"/>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9379CDAC-D9FC-48C2-9074-C74540CDC3B6}"/>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Apply normalization.</a:t>
            </a:r>
          </a:p>
        </p:txBody>
      </p:sp>
      <p:sp>
        <p:nvSpPr>
          <p:cNvPr id="13" name="checkpoint-prompt-number-15-3">
            <a:extLst xmlns:a="http://schemas.openxmlformats.org/drawingml/2006/main">
              <a:ext uri="{FF2B5EF4-FFF2-40B4-BE49-F238E27FC236}">
                <a16:creationId xmlns:a16="http://schemas.microsoft.com/office/drawing/2014/main" id="{E1889526-DC78-4445-926E-AA7ECF9318E7}"/>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7A766082-B921-4A63-8AE5-109C2A666E7A}"/>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Compare with 20 independent Bernoulli roots.</a:t>
            </a:r>
          </a:p>
        </p:txBody>
      </p:sp>
    </p:spTree>
    <p:extLst>
      <p:ext uri="{BB962C8B-B14F-4D97-AF65-F5344CB8AC3E}">
        <p14:creationId xmlns:p14="http://schemas.microsoft.com/office/powerpoint/2010/main" val="17106341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770B4D7B-CF0E-4B55-8421-9BCEA2FDA5F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Validate both numbers and semantics</a:t>
            </a:r>
          </a:p>
        </p:txBody>
      </p:sp>
      <p:sp>
        <p:nvSpPr>
          <p:cNvPr id="2" name="title-accent-16">
            <a:extLst xmlns:a="http://schemas.openxmlformats.org/drawingml/2006/main">
              <a:ext uri="{FF2B5EF4-FFF2-40B4-BE49-F238E27FC236}">
                <a16:creationId xmlns:a16="http://schemas.microsoft.com/office/drawing/2014/main" id="{C21380BF-0325-4852-8AC9-414CE093F2C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1D12B89E-7C7B-4B0F-912A-EB071B0EAA12}"/>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16">
            <a:extLst xmlns:a="http://schemas.openxmlformats.org/drawingml/2006/main">
              <a:ext uri="{FF2B5EF4-FFF2-40B4-BE49-F238E27FC236}">
                <a16:creationId xmlns:a16="http://schemas.microsoft.com/office/drawing/2014/main" id="{BFCB748A-12B5-432C-8165-05A579D48ED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2C877F77-A858-457D-82C8-8783027C640C}"/>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syntactically valid DAG can still encode the wrong causal or conditional story.</a:t>
            </a:r>
          </a:p>
        </p:txBody>
      </p:sp>
      <p:sp>
        <p:nvSpPr>
          <p:cNvPr id="7" name="claim-panel-16">
            <a:extLst xmlns:a="http://schemas.openxmlformats.org/drawingml/2006/main">
              <a:ext uri="{FF2B5EF4-FFF2-40B4-BE49-F238E27FC236}">
                <a16:creationId xmlns:a16="http://schemas.microsoft.com/office/drawing/2014/main" id="{3B4C709B-4D46-4626-BBE8-926F39F280C3}"/>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FF86EBDE-EF9C-4262-BF19-093AD7B6DEDD}"/>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Audit</a:t>
            </a:r>
          </a:p>
        </p:txBody>
      </p:sp>
      <p:sp>
        <p:nvSpPr>
          <p:cNvPr id="9" name="claim-keyword-detail-16">
            <a:extLst xmlns:a="http://schemas.openxmlformats.org/drawingml/2006/main">
              <a:ext uri="{FF2B5EF4-FFF2-40B4-BE49-F238E27FC236}">
                <a16:creationId xmlns:a16="http://schemas.microsoft.com/office/drawing/2014/main" id="{D42DC991-6FD8-4FA4-81C1-7382BFA86295}"/>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Reviewers need normalized CPTs, graph assumptions, and tests on known conditional relationships.</a:t>
            </a:r>
          </a:p>
        </p:txBody>
      </p:sp>
      <p:sp>
        <p:nvSpPr>
          <p:cNvPr id="10" name="claim-detail-16-marker-1">
            <a:extLst xmlns:a="http://schemas.openxmlformats.org/drawingml/2006/main">
              <a:ext uri="{FF2B5EF4-FFF2-40B4-BE49-F238E27FC236}">
                <a16:creationId xmlns:a16="http://schemas.microsoft.com/office/drawing/2014/main" id="{2B067E7E-FC20-4157-B244-075F87B8DFED}"/>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1267CDBC-F926-49D8-8A25-E0EDEEC427E7}"/>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Check every CPT row sums to one.</a:t>
            </a:r>
          </a:p>
        </p:txBody>
      </p:sp>
      <p:sp>
        <p:nvSpPr>
          <p:cNvPr id="12" name="claim-detail-16-marker-2">
            <a:extLst xmlns:a="http://schemas.openxmlformats.org/drawingml/2006/main">
              <a:ext uri="{FF2B5EF4-FFF2-40B4-BE49-F238E27FC236}">
                <a16:creationId xmlns:a16="http://schemas.microsoft.com/office/drawing/2014/main" id="{88226748-0FCA-4E98-8EC7-35BCA0057F6C}"/>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64CCBB82-215E-406A-B3B1-68E184CC8E29}"/>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Generate samples and compare empirical marginals with analytic values.</a:t>
            </a:r>
          </a:p>
        </p:txBody>
      </p:sp>
      <p:sp>
        <p:nvSpPr>
          <p:cNvPr id="14" name="claim-detail-16-marker-3">
            <a:extLst xmlns:a="http://schemas.openxmlformats.org/drawingml/2006/main">
              <a:ext uri="{FF2B5EF4-FFF2-40B4-BE49-F238E27FC236}">
                <a16:creationId xmlns:a16="http://schemas.microsoft.com/office/drawing/2014/main" id="{A4367073-2E23-4EB1-9AEA-FECC9EAC0357}"/>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BCBDE83E-E576-4949-B105-A012402C3DFA}"/>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Document that edges represent probabilistic dependence, not automatically causation.</a:t>
            </a:r>
          </a:p>
        </p:txBody>
      </p:sp>
    </p:spTree>
    <p:extLst>
      <p:ext uri="{BB962C8B-B14F-4D97-AF65-F5344CB8AC3E}">
        <p14:creationId xmlns:p14="http://schemas.microsoft.com/office/powerpoint/2010/main" val="336478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1B12C991-E8C2-4C15-A442-CB4B9C9DAC0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70B8A42F-C26E-473C-8FE3-159E31B24C4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E25FFFCD-4DAF-47D3-9B18-FEEB1F47AA9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17">
            <a:extLst xmlns:a="http://schemas.openxmlformats.org/drawingml/2006/main">
              <a:ext uri="{FF2B5EF4-FFF2-40B4-BE49-F238E27FC236}">
                <a16:creationId xmlns:a16="http://schemas.microsoft.com/office/drawing/2014/main" id="{E9365CFA-01A3-4C3D-9105-DCC7095428BE}"/>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1A333941-941E-483B-9263-9605DDCBCA7B}"/>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388B2494-C6EF-4A60-9008-499712593231}"/>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Bayes' rule combines likelihood and prior.</a:t>
            </a:r>
          </a:p>
        </p:txBody>
      </p:sp>
      <p:sp>
        <p:nvSpPr>
          <p:cNvPr id="9" name="summary-number-17-2">
            <a:extLst xmlns:a="http://schemas.openxmlformats.org/drawingml/2006/main">
              <a:ext uri="{FF2B5EF4-FFF2-40B4-BE49-F238E27FC236}">
                <a16:creationId xmlns:a16="http://schemas.microsoft.com/office/drawing/2014/main" id="{10663B62-342E-498A-8A5B-9B400B6D73E2}"/>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14358012-1B82-414C-B0FE-915B33F59BF9}"/>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Conditional independence is context-specific.</a:t>
            </a:r>
          </a:p>
        </p:txBody>
      </p:sp>
      <p:sp>
        <p:nvSpPr>
          <p:cNvPr id="12" name="summary-number-17-3">
            <a:extLst xmlns:a="http://schemas.openxmlformats.org/drawingml/2006/main">
              <a:ext uri="{FF2B5EF4-FFF2-40B4-BE49-F238E27FC236}">
                <a16:creationId xmlns:a16="http://schemas.microsoft.com/office/drawing/2014/main" id="{7D051856-0039-44CD-BD50-6EA1609A7A9F}"/>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2D4A3ADB-78B5-407B-9B87-A0563E83D1A4}"/>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A Bayesian network factors a joint through parent sets.</a:t>
            </a:r>
          </a:p>
        </p:txBody>
      </p:sp>
      <p:sp>
        <p:nvSpPr>
          <p:cNvPr id="15" name="summary-number-17-4">
            <a:extLst xmlns:a="http://schemas.openxmlformats.org/drawingml/2006/main">
              <a:ext uri="{FF2B5EF4-FFF2-40B4-BE49-F238E27FC236}">
                <a16:creationId xmlns:a16="http://schemas.microsoft.com/office/drawing/2014/main" id="{4C78ED6C-0614-4E42-B142-182A2A8E62EE}"/>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CBD8CCC6-F936-4D8E-9FED-CC27B9333E6F}"/>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Sparse structure makes representation compact but creates an inference task.</a:t>
            </a:r>
          </a:p>
        </p:txBody>
      </p:sp>
      <p:sp>
        <p:nvSpPr>
          <p:cNvPr id="18" name="summary-next-17">
            <a:extLst xmlns:a="http://schemas.openxmlformats.org/drawingml/2006/main">
              <a:ext uri="{FF2B5EF4-FFF2-40B4-BE49-F238E27FC236}">
                <a16:creationId xmlns:a16="http://schemas.microsoft.com/office/drawing/2014/main" id="{C5D58C20-747B-4ED5-B245-C01639409AF5}"/>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Exact and approximate inference turn the factorized model into posterior answers.</a:t>
            </a:r>
          </a:p>
        </p:txBody>
      </p:sp>
    </p:spTree>
    <p:extLst>
      <p:ext uri="{BB962C8B-B14F-4D97-AF65-F5344CB8AC3E}">
        <p14:creationId xmlns:p14="http://schemas.microsoft.com/office/powerpoint/2010/main" val="179153119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B3615F44-6F1C-42DC-9D9C-B13BA5444E5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3969F7EA-06CB-4D73-9657-101CE6D0A71F}"/>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7C6973FD-3CF6-4128-895B-E3318902C68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7  |  Lesson 1</a:t>
            </a:r>
          </a:p>
        </p:txBody>
      </p:sp>
      <p:sp>
        <p:nvSpPr>
          <p:cNvPr id="5" name="footer-number-18">
            <a:extLst xmlns:a="http://schemas.openxmlformats.org/drawingml/2006/main">
              <a:ext uri="{FF2B5EF4-FFF2-40B4-BE49-F238E27FC236}">
                <a16:creationId xmlns:a16="http://schemas.microsoft.com/office/drawing/2014/main" id="{7C6DEC9C-DE61-4138-8A26-6FA07F77F62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31A46E6E-F3B5-4411-9FE6-2EA5C302A4D3}"/>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FFA51829-E166-4CAE-9811-9D0E17BD2D10}"/>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 a diagnostic posterior.</a:t>
            </a:r>
          </a:p>
        </p:txBody>
      </p:sp>
      <p:sp>
        <p:nvSpPr>
          <p:cNvPr id="8" name="question-number-18-2">
            <a:extLst xmlns:a="http://schemas.openxmlformats.org/drawingml/2006/main">
              <a:ext uri="{FF2B5EF4-FFF2-40B4-BE49-F238E27FC236}">
                <a16:creationId xmlns:a16="http://schemas.microsoft.com/office/drawing/2014/main" id="{349B6257-D95F-4900-95E6-E6B816C638FC}"/>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48AD324D-622C-4DD1-9210-3139F8D70D83}"/>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Distinguish a fork from a collider.</a:t>
            </a:r>
          </a:p>
        </p:txBody>
      </p:sp>
      <p:sp>
        <p:nvSpPr>
          <p:cNvPr id="10" name="question-number-18-3">
            <a:extLst xmlns:a="http://schemas.openxmlformats.org/drawingml/2006/main">
              <a:ext uri="{FF2B5EF4-FFF2-40B4-BE49-F238E27FC236}">
                <a16:creationId xmlns:a16="http://schemas.microsoft.com/office/drawing/2014/main" id="{060DFFB1-56E7-408D-B93C-89C9F8AF606C}"/>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F0ACFC14-C871-44AA-8844-DB08F8283AD3}"/>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Count full-joint parameters.</a:t>
            </a:r>
          </a:p>
        </p:txBody>
      </p:sp>
      <p:sp>
        <p:nvSpPr>
          <p:cNvPr id="12" name="question-number-18-4">
            <a:extLst xmlns:a="http://schemas.openxmlformats.org/drawingml/2006/main">
              <a:ext uri="{FF2B5EF4-FFF2-40B4-BE49-F238E27FC236}">
                <a16:creationId xmlns:a16="http://schemas.microsoft.com/office/drawing/2014/main" id="{DBD4641E-EFD8-424D-A261-6AB3C7C714C2}"/>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DABE89FE-58F6-4B19-B0D5-C528DCE4EDFC}"/>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Verify one CPT row.</a:t>
            </a:r>
          </a:p>
        </p:txBody>
      </p:sp>
      <p:sp>
        <p:nvSpPr>
          <p:cNvPr id="14" name="question-number-18-5">
            <a:extLst xmlns:a="http://schemas.openxmlformats.org/drawingml/2006/main">
              <a:ext uri="{FF2B5EF4-FFF2-40B4-BE49-F238E27FC236}">
                <a16:creationId xmlns:a16="http://schemas.microsoft.com/office/drawing/2014/main" id="{670D5811-C82D-4CE0-9882-2661B6CA0568}"/>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8595DB59-A2E8-4F6E-8D2A-A474A47C8D1D}"/>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 a complete assignment.</a:t>
            </a:r>
          </a:p>
        </p:txBody>
      </p:sp>
    </p:spTree>
    <p:extLst>
      <p:ext uri="{BB962C8B-B14F-4D97-AF65-F5344CB8AC3E}">
        <p14:creationId xmlns:p14="http://schemas.microsoft.com/office/powerpoint/2010/main" val="1362012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2026-07-27T10:44:28.5050000Z</dcterms:created>
  <dcterms:modified xsi:type="dcterms:W3CDTF">2026-07-27T10:44:28.5050000Z</dcterms:modified>
</coreProperties>
</file>