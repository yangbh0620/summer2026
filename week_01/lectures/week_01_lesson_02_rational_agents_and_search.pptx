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2c1c661acb44eb" /><Relationship Type="http://schemas.openxmlformats.org/officeDocument/2006/relationships/extended-properties" Target="/docProps/app.xml" Id="R992606ac7b614d79" /><Relationship Type="http://schemas.openxmlformats.org/officeDocument/2006/relationships/officeDocument" Target="/ppt/presentation.xml" Id="Rcaa44901b6be4250" /></Relationships>
</file>

<file path=ppt/presentation.xml><?xml version="1.0" encoding="utf-8"?>
<p:presentation xmlns:p="http://schemas.openxmlformats.org/presentationml/2006/main">
  <p:sldMasterIdLst>
    <p:sldMasterId xmlns:r="http://schemas.openxmlformats.org/officeDocument/2006/relationships" id="2147483648" r:id="Rcc8181dee65a44d4"/>
  </p:sldMasterIdLst>
  <p:notesMasterIdLst>
    <p:notesMasterId xmlns:r="http://schemas.openxmlformats.org/officeDocument/2006/relationships" r:id="R372102f6bb044f95"/>
  </p:notesMasterIdLst>
  <p:sldIdLst>
    <p:sldId xmlns:r="http://schemas.openxmlformats.org/officeDocument/2006/relationships" id="256" r:id="R57c51b137af941c7"/>
    <p:sldId xmlns:r="http://schemas.openxmlformats.org/officeDocument/2006/relationships" id="257" r:id="Re084ff9a94644272"/>
    <p:sldId xmlns:r="http://schemas.openxmlformats.org/officeDocument/2006/relationships" id="258" r:id="Rd1ecab42b3ce4f95"/>
    <p:sldId xmlns:r="http://schemas.openxmlformats.org/officeDocument/2006/relationships" id="259" r:id="R7cce3a945d7442e4"/>
    <p:sldId xmlns:r="http://schemas.openxmlformats.org/officeDocument/2006/relationships" id="260" r:id="R6aaf65f9f4fc4d80"/>
    <p:sldId xmlns:r="http://schemas.openxmlformats.org/officeDocument/2006/relationships" id="261" r:id="R0ee460a0245c4e10"/>
    <p:sldId xmlns:r="http://schemas.openxmlformats.org/officeDocument/2006/relationships" id="262" r:id="R6276132b228d4ebe"/>
    <p:sldId xmlns:r="http://schemas.openxmlformats.org/officeDocument/2006/relationships" id="263" r:id="R09d2bddb08b4408b"/>
    <p:sldId xmlns:r="http://schemas.openxmlformats.org/officeDocument/2006/relationships" id="264" r:id="R27ec4d12c3794f37"/>
    <p:sldId xmlns:r="http://schemas.openxmlformats.org/officeDocument/2006/relationships" id="265" r:id="Rdd12bc272a114dcf"/>
    <p:sldId xmlns:r="http://schemas.openxmlformats.org/officeDocument/2006/relationships" id="266" r:id="R247204dbbdce4dbb"/>
    <p:sldId xmlns:r="http://schemas.openxmlformats.org/officeDocument/2006/relationships" id="267" r:id="Rcd89f86028b64bab"/>
    <p:sldId xmlns:r="http://schemas.openxmlformats.org/officeDocument/2006/relationships" id="268" r:id="Ra502e33f150b41b2"/>
    <p:sldId xmlns:r="http://schemas.openxmlformats.org/officeDocument/2006/relationships" id="269" r:id="R440456f4e2cd48cd"/>
    <p:sldId xmlns:r="http://schemas.openxmlformats.org/officeDocument/2006/relationships" id="270" r:id="Reb09e95fce534009"/>
    <p:sldId xmlns:r="http://schemas.openxmlformats.org/officeDocument/2006/relationships" id="271" r:id="Rc8238015694647b3"/>
    <p:sldId xmlns:r="http://schemas.openxmlformats.org/officeDocument/2006/relationships" id="272" r:id="R8c4b6b5ad3c24928"/>
    <p:sldId xmlns:r="http://schemas.openxmlformats.org/officeDocument/2006/relationships" id="273" r:id="R325b6d1ed0bf4cc8"/>
    <p:sldId xmlns:r="http://schemas.openxmlformats.org/officeDocument/2006/relationships" id="274" r:id="Rbda573878fd2487e"/>
    <p:sldId xmlns:r="http://schemas.openxmlformats.org/officeDocument/2006/relationships" id="275" r:id="R4d83a2569a914709"/>
    <p:sldId xmlns:r="http://schemas.openxmlformats.org/officeDocument/2006/relationships" id="276" r:id="Re313c52a01d74b0e"/>
    <p:sldId xmlns:r="http://schemas.openxmlformats.org/officeDocument/2006/relationships" id="277" r:id="R2b4e196f96a348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496358c70341d4" /><Relationship Type="http://schemas.openxmlformats.org/officeDocument/2006/relationships/slideMaster" Target="/ppt/slideMasters/slideMaster1.xml" Id="Rcc8181dee65a44d4" /><Relationship Type="http://schemas.openxmlformats.org/officeDocument/2006/relationships/notesMaster" Target="/ppt/notesMasters/notesMaster1.xml" Id="R372102f6bb044f95" /><Relationship Type="http://schemas.openxmlformats.org/officeDocument/2006/relationships/presProps" Target="/ppt/presProps.xml" Id="Rf4a361ec746f4091" /><Relationship Type="http://schemas.openxmlformats.org/officeDocument/2006/relationships/tableStyles" Target="/ppt/tableStyles.xml" Id="Rd50f2b39fbb84030" /><Relationship Type="http://schemas.openxmlformats.org/officeDocument/2006/relationships/slide" Target="/ppt/slides/slide1.xml" Id="R57c51b137af941c7" /><Relationship Type="http://schemas.openxmlformats.org/officeDocument/2006/relationships/slide" Target="/ppt/slides/slide2.xml" Id="Re084ff9a94644272" /><Relationship Type="http://schemas.openxmlformats.org/officeDocument/2006/relationships/slide" Target="/ppt/slides/slide3.xml" Id="Rd1ecab42b3ce4f95" /><Relationship Type="http://schemas.openxmlformats.org/officeDocument/2006/relationships/slide" Target="/ppt/slides/slide4.xml" Id="R7cce3a945d7442e4" /><Relationship Type="http://schemas.openxmlformats.org/officeDocument/2006/relationships/slide" Target="/ppt/slides/slide5.xml" Id="R6aaf65f9f4fc4d80" /><Relationship Type="http://schemas.openxmlformats.org/officeDocument/2006/relationships/slide" Target="/ppt/slides/slide6.xml" Id="R0ee460a0245c4e10" /><Relationship Type="http://schemas.openxmlformats.org/officeDocument/2006/relationships/slide" Target="/ppt/slides/slide7.xml" Id="R6276132b228d4ebe" /><Relationship Type="http://schemas.openxmlformats.org/officeDocument/2006/relationships/slide" Target="/ppt/slides/slide8.xml" Id="R09d2bddb08b4408b" /><Relationship Type="http://schemas.openxmlformats.org/officeDocument/2006/relationships/slide" Target="/ppt/slides/slide9.xml" Id="R27ec4d12c3794f37" /><Relationship Type="http://schemas.openxmlformats.org/officeDocument/2006/relationships/slide" Target="/ppt/slides/slide10.xml" Id="Rdd12bc272a114dcf" /><Relationship Type="http://schemas.openxmlformats.org/officeDocument/2006/relationships/slide" Target="/ppt/slides/slide11.xml" Id="R247204dbbdce4dbb" /><Relationship Type="http://schemas.openxmlformats.org/officeDocument/2006/relationships/slide" Target="/ppt/slides/slide12.xml" Id="Rcd89f86028b64bab" /><Relationship Type="http://schemas.openxmlformats.org/officeDocument/2006/relationships/slide" Target="/ppt/slides/slide13.xml" Id="Ra502e33f150b41b2" /><Relationship Type="http://schemas.openxmlformats.org/officeDocument/2006/relationships/slide" Target="/ppt/slides/slide14.xml" Id="R440456f4e2cd48cd" /><Relationship Type="http://schemas.openxmlformats.org/officeDocument/2006/relationships/slide" Target="/ppt/slides/slide15.xml" Id="Reb09e95fce534009" /><Relationship Type="http://schemas.openxmlformats.org/officeDocument/2006/relationships/slide" Target="/ppt/slides/slide16.xml" Id="Rc8238015694647b3" /><Relationship Type="http://schemas.openxmlformats.org/officeDocument/2006/relationships/slide" Target="/ppt/slides/slide17.xml" Id="R8c4b6b5ad3c24928" /><Relationship Type="http://schemas.openxmlformats.org/officeDocument/2006/relationships/slide" Target="/ppt/slides/slide18.xml" Id="R325b6d1ed0bf4cc8" /><Relationship Type="http://schemas.openxmlformats.org/officeDocument/2006/relationships/slide" Target="/ppt/slides/slide19.xml" Id="Rbda573878fd2487e" /><Relationship Type="http://schemas.openxmlformats.org/officeDocument/2006/relationships/slide" Target="/ppt/slides/slide20.xml" Id="R4d83a2569a914709" /><Relationship Type="http://schemas.openxmlformats.org/officeDocument/2006/relationships/slide" Target="/ppt/slides/slide21.xml" Id="Re313c52a01d74b0e" /><Relationship Type="http://schemas.openxmlformats.org/officeDocument/2006/relationships/slide" Target="/ppt/slides/slide22.xml" Id="R2b4e196f96a348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81f28506dc47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9dcfa6adee43ed" /><Relationship Type="http://schemas.openxmlformats.org/officeDocument/2006/relationships/notesMaster" Target="/ppt/notesMasters/notesMaster1.xml" Id="R2ba499e7c8d74a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4457a4ff2a4d41" /><Relationship Type="http://schemas.openxmlformats.org/officeDocument/2006/relationships/notesMaster" Target="/ppt/notesMasters/notesMaster1.xml" Id="Rf45ccdc79d644c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5187606e664c66" /><Relationship Type="http://schemas.openxmlformats.org/officeDocument/2006/relationships/notesMaster" Target="/ppt/notesMasters/notesMaster1.xml" Id="Rc2fdbafd1a6447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ae0254336e4744" /><Relationship Type="http://schemas.openxmlformats.org/officeDocument/2006/relationships/notesMaster" Target="/ppt/notesMasters/notesMaster1.xml" Id="R39f41acd44434e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f3ad63708c429c" /><Relationship Type="http://schemas.openxmlformats.org/officeDocument/2006/relationships/notesMaster" Target="/ppt/notesMasters/notesMaster1.xml" Id="Rff1fbf20a5ea4f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3f6b5dd58b45f1" /><Relationship Type="http://schemas.openxmlformats.org/officeDocument/2006/relationships/notesMaster" Target="/ppt/notesMasters/notesMaster1.xml" Id="Rf2cbeb6062eb42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37735ec29a4c35" /><Relationship Type="http://schemas.openxmlformats.org/officeDocument/2006/relationships/notesMaster" Target="/ppt/notesMasters/notesMaster1.xml" Id="R03fef2f6b6e148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1ce9c159f045fc" /><Relationship Type="http://schemas.openxmlformats.org/officeDocument/2006/relationships/notesMaster" Target="/ppt/notesMasters/notesMaster1.xml" Id="R14eca6b6928743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6a786d46a34ce7" /><Relationship Type="http://schemas.openxmlformats.org/officeDocument/2006/relationships/notesMaster" Target="/ppt/notesMasters/notesMaster1.xml" Id="Rc656e5ecebe34f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731a97999d4603" /><Relationship Type="http://schemas.openxmlformats.org/officeDocument/2006/relationships/notesMaster" Target="/ppt/notesMasters/notesMaster1.xml" Id="R63340ae93d274a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0cac04f1e24f96" /><Relationship Type="http://schemas.openxmlformats.org/officeDocument/2006/relationships/notesMaster" Target="/ppt/notesMasters/notesMaster1.xml" Id="R9cee385dd47342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f41f5394394732" /><Relationship Type="http://schemas.openxmlformats.org/officeDocument/2006/relationships/notesMaster" Target="/ppt/notesMasters/notesMaster1.xml" Id="Ra2526515a3b846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c94873c67e46e3" /><Relationship Type="http://schemas.openxmlformats.org/officeDocument/2006/relationships/notesMaster" Target="/ppt/notesMasters/notesMaster1.xml" Id="R4e02917036c341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be851cb8748a6" /><Relationship Type="http://schemas.openxmlformats.org/officeDocument/2006/relationships/notesMaster" Target="/ppt/notesMasters/notesMaster1.xml" Id="R7f6432871e2443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d77b355aec4c19" /><Relationship Type="http://schemas.openxmlformats.org/officeDocument/2006/relationships/notesMaster" Target="/ppt/notesMasters/notesMaster1.xml" Id="R05e124f783944e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2777978dce4943" /><Relationship Type="http://schemas.openxmlformats.org/officeDocument/2006/relationships/notesMaster" Target="/ppt/notesMasters/notesMaster1.xml" Id="R9ccc7613f8534d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7e24af3a1549a8" /><Relationship Type="http://schemas.openxmlformats.org/officeDocument/2006/relationships/notesMaster" Target="/ppt/notesMasters/notesMaster1.xml" Id="R6726b33c60d547c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a43e8d9bb64ec7" /><Relationship Type="http://schemas.openxmlformats.org/officeDocument/2006/relationships/notesMaster" Target="/ppt/notesMasters/notesMaster1.xml" Id="R5b7f49c6986344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6aa2919a324fc4" /><Relationship Type="http://schemas.openxmlformats.org/officeDocument/2006/relationships/notesMaster" Target="/ppt/notesMasters/notesMaster1.xml" Id="Rfac4e84591fb47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94475d6cc54d1c" /><Relationship Type="http://schemas.openxmlformats.org/officeDocument/2006/relationships/notesMaster" Target="/ppt/notesMasters/notesMaster1.xml" Id="R74becd48f1a7412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9fff496bd424c62" /><Relationship Type="http://schemas.openxmlformats.org/officeDocument/2006/relationships/notesMaster" Target="/ppt/notesMasters/notesMaster1.xml" Id="R5309f972a5a546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c592e775d684b96" /><Relationship Type="http://schemas.openxmlformats.org/officeDocument/2006/relationships/notesMaster" Target="/ppt/notesMasters/notesMaster1.xml" Id="Rf28683cbf59d4d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establish the vocabulary and abstraction that will organize all of Module A. An intelligent system does not begin with a search algorithm. It begins with a task: what observations are available, what actions can change the environment, and what outcome counts as good performance? We will use the PEAS framework to make that task explicit. We will then classify the environment, select an appropriate agent architecture, and translate the resulting description into a formal search problem. That translation matters because breadth-first search, depth-first search, uniform-cost search, Greedy Best-First Search, A-star, minimax, and alpha-beta pruning all explore structured state spaces. Their differences become clearer once the common problem representation is stable. By the end of the lesson, you should be able to move from an informal product story to a precise Problem interface whose states, actions, transitions, goals, and costs can be implemented and tested.</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objective gives us a precise language for discussing behavior without treating intelligence as magic. The next two objectives concern task specification. PEAS records what success means and what interface connects the agent to its world, while environment properties identify uncertainty, time, and interaction constraints. The fourth objective concerns architecture: different agent types retain different internal information and optimize different kinds of criteria. The final two objectives make the engineering transition. You will express a search problem as a formal tuple and as methods with enforceable contracts, then recognize why a path tree can contain many copies of one world state. These objectives are cumulative. If the performance measure is vague, rationality is vague. If state equality is vague, graph search is unsafe. If transitions and costs are underspecified, no frontier policy can repair the model. We therefore move from specification to formalization before discussing algorithm details.</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an agent function maps every possible finite percept history to an action. A percept is the information delivered by sensors at one moment; a percept sequence records what has been observed so far. The agent program is the concrete implementation of this abstract function on an architecture with finite memory and computation. Rationality is evaluated relative to four things: the performance measure, the percept history, the agent's prior knowledge, and the actions it can take. A rational agent selects the action that maximizes expected performance under that information. It need not know the true future, and a poor outcome does not prove the earlier choice irrational. Omniscience would require knowing the actual consequences of every action before acting, which is unavailable in realistic environments. Key takeaway: always judge an agent against an explicit measure and information set, not against hindsight.</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PEAS stands for Performance measure, Environment, Actuators, and Sensors. The order matters. Begin with performance, because an agent cannot be rational until good behavior is defined. Include priorities and penalties rather than a single attractive metric. A delivery robot might value successful delivery, safety, timeliness, energy use, and avoidance of disruption. The environment lists the entities and processes that influence outcomes, including people and other agents. Actuators describe how the system can intervene; sensors describe what evidence is available and with what limitations. This specification exposes mismatches early. A performance requirement for avoiding fragile objects is not actionable if no sensor can detect them. A route planner cannot promise real-time response if observations arrive minutes late. Key takeaway: PEAS prevents an implementation from quietly inventing a different task than the one stakeholders intended.</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delivery robot is nontrivial because the performance measure is multi-objective and the environment changes. Correct delivery is necessary but insufficient. A robot that arrives quickly by endangering pedestrians is unacceptable, so safety must dominate ordinary efficiency. Energy, distance, and timeliness can be optimized subject to those constraints. The environment includes physical infrastructure and moving participants, but also network services and institutional rules. Those elements can affect available actions and observations. A closed door may remove a transition; a wireless outage may make authorization uncertain. Notice that PEAS is more specific than a product slogan such as deliver packages autonomously. It identifies quantities and constraints that later become costs, hard validity checks, or escalation conditions. Key takeaway: performance is a prioritized contract, while the environment defines the sources of state, change, and uncertainty that the contract must address.</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Actuators and sensors form the executable boundary of the agent. Driving and steering create motion, but braking and holding position are equally important actions because safe inaction may be rational. Signaling and escalation allow the robot to coordinate with people rather than treating every uncertainty as a path-planning problem. Sensors combine local physical measurements with network information. Each observation has accuracy, latency, and failure modes. GNSS can be unreliable near buildings; a camera can be occluded; a map can be stale; a message can arrive late. The agent therefore reasons over an estimate of the world rather than direct access to reality. The actuator list also reveals feasibility. A planner should not produce a transition through a locked door unless the platform can request access. Key takeaway: a specification is complete only when every planned decision can be supported by observations and every chosen action can be executed through a real interface.</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dimensions tell us whether a current percept is enough and whether a fixed plan can be trusted. In a fully observable environment, the sensors expose all state variables relevant to the next decision. Partial observability requires memory or a belief about hidden state. Deterministic transitions assign one successor to each legal state-action pair, whereas stochastic transitions assign a distribution. Strategic uncertainty is different: another decision maker chooses actions in response to ours, which motivates adversarial search. Static environments do not change while the agent deliberates. Dynamic ones do, so computation time becomes part of action quality. The delivery robot is partially observable because intent and occluded hazards are hidden, stochastic because motion and observation have uncertainty, and dynamic because people move during planning. Key takeaway: environment classification is not decoration; it identifies the information and temporal assumptions an algorithm must satisfy.</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episodic task allows each decision to be evaluated independently, as in classifying isolated images under a fixed distribution. A sequential task couples choices across time: entering a corridor changes which destinations remain reachable and how much battery remains. Discrete models have enumerable states or actions, while continuous models include real-valued quantities such as speed and steering angle. Engineers often discretize continuous variables, gaining tractability while introducing approximation error that must be acknowledged. Finally, multiple participants may cooperate or compete. A single-agent abstraction can still contain moving people, but it does not model them as optimizing against the agent. Minimax becomes appropriate only when opponent choices are represented strategically. Key takeaway: classification should follow the modeled decision process, not the superficial appearance of the application. The same physical system can support different models for different questions.</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classification is partially observable, stochastic, dynamic, and sequential. Nearby sensing does not reveal the complete relevant state. Motion noise makes the transition outcome uncertain. Pedestrians can change the environment while computation occurs. Each delivery consumes battery and changes later feasibility, so decisions are temporally coupled. The domain also mixes continuous physical motion with a discrete planning abstraction, so either discrete or continuous may be a defensible answer if the representation is stated. Multi-agent classification depends on whether pedestrians are modeled as strategic decision makers or as stochastic environment dynamics. This is the important reasoning habit: classifications are claims about a model. They should be justified from the variables, transition assumptions, and objectives in that model. A label without those assumptions is not yet an engineering decision.</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simple reflex agent selects actions from rules conditioned on the current percept. It can be appropriate when the relevant state is fully visible and the response is local. A model-based reflex agent maintains an internal estimate using knowledge of how the world changes and how observations relate to world state. This memory supports decisions under partial observability, although the action may still come from rules. A goal-based agent introduces an explicit set of desirable states and considers future consequences. Search becomes useful because the agent must compare action sequences that may or may not reach a goal. Each architecture strictly changes what information is represented and how decisions are justified. More expressive is not automatically better; additional models and planning require computation and introduce new failure modes. Key takeaway: select the least complex architecture that can represent the information and objective required by the task.</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goal test answers a Boolean question: is this state acceptable? That is enough when all successful outcomes are equivalent or when a separate path-cost model orders plans. Utility is more general. A utility function assigns relative value to outcomes, allowing the agent to trade timeliness against energy, comfort, risk, or other quantities. Under uncertainty, a utility-based agent can compare distributions through expected utility rather than pretending that one predicted outcome is certain. This power creates a specification burden. We must determine whose preferences the utility represents, how incompatible objectives are scaled, and which safety constraints remain hard rather than tradable. A robot should not exchange a large collision risk for a small time saving merely because weights were chosen carelessly. Key takeaway: goals identify acceptable destinations; utility represents preference among consequences, especially when quality varies or outcomes are uncertain.</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description is utility-based with a model-based state estimate. Heat loss and delayed actuator effects require a model of how temperature evolves. A simple reflex rule such as heat when cold can work in a limited setting, but it does not represent delayed dynamics, energy price, or the difference between several comfortable trajectories. A goal-based controller could maintain temperature inside a range, yet it would treat all in-range outcomes as equivalent unless cost is added. Utility can rank energy consumption, comfort deviation, and perhaps actuator wear while hard constraints prevent unsafe temperatures. Agent types are best understood as layers rather than exclusive product categories. A utility-based agent normally contains a state representation and a predictive model as part of its decision process.</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search problem converts an agent's planning task into five operational components over a state set S. The initial state s zero describes where planning begins. ACTIONS maps a state to its legal choices. RESULT maps a legal state-action pair to a successor state. The goal test decides whether a state satisfies the objective. The step-cost function assigns a positive cost to a legal transition, and path cost g is the sum of those steps from the initial state. Some texts combine actions and result into a successor function, but the engineering obligations remain the same. A state is not merely a snapshot of visible data. It must include enough information for future legality, goal status, and cost to depend only on that state and the chosen action. If battery level affects reachability, omitting battery from state makes the model inconsistent. Key takeaway: a valid state is a sufficient summary for the planning model.</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gridworld makes every component concrete. A state is an immutable coordinate tuple within the grid and not in the blocked set. The initial state is zero comma zero. The action function filters the four candidate directions so that a move neither leaves the grid nor enters the blocked cell. RESULT adds the action's displacement to the current coordinate. The goal test compares the state with two comma three. Unit step cost makes path cost equal the number of moves. The displayed route moves across the top row and then down twice, so its cost is five. Manhattan distance between start and goal is also five, and the obstacle does not block this route, proving that no shorter path exists under four-direction motion. Key takeaway: a worked formalization should let another engineer implement and test every operation without guessing an unstated rule.</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Week 1 code lab asks you to preserve the formal semantics in an executable interface. The initial state should be immutable and validated because search algorithms will store it in frontier or explored structures. ACTIONS should return legal actions in a documented deterministic order, which makes traces and tests reproducible. RESULT should create a new state and reject an action that is not legal for the supplied state; silently leaving the state unchanged would hide a caller defect. The goal test should return a Boolean, not an arbitrary truthy object, and should reject malformed states rather than treating them as ordinary non-goals. Step cost should validate that the proposed successor is the result of the action. Key takeaway: every mathematical noun becomes a data contract, and every mathematical function becomes behavior that can be challenged with normal, boundary, and invalid inputs.</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search-tree node represents a path, not only a world state. It normally stores a state, parent reference, generating action, depth, and accumulated path cost. Two different paths can therefore produce two different nodes with equal states. Without recognition, reversible actions can generate an infinite tree even when the underlying state graph is finite. Graph search uses state equality to avoid repeating work, typically with an explored set and some form of frontier membership tracking. This improves performance but introduces policy questions. If a state is rediscovered through a cheaper path, cost-based algorithms may need to replace or reopen a node. State keys must have stable equality and hashing; mutating a key after insertion can make membership incorrect. Key takeaway: the tree is a structure of candidate paths, while the graph is the domain's state connectivity. Correct code must not confuse those identities.</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preview intentionally leaves the frontier policy abstract. The Problem object supplies legal domain behavior. A node records one candidate path and its accumulated metadata. The frontier determines which node is removed next, while the explored set prevents repeated expansion of the same state under the chosen policy. The add-or-update operation signals an important issue for cost-based algorithms: rediscovering an existing state through a better path may require replacement rather than unconditional rejection. Different algorithms will refine these details, and adversarial search will use a different backup structure, but the separation remains useful. Failure must also be explicit so that it cannot be confused with the valid empty solution when the initial state is already a goal. Key takeaway: a reusable search engine depends on a precise Problem contract and makes ordering a policy rather than scattering it through domain code.</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algorithms ahead are not arbitrary names to memorize. Breadth-first search orders candidates by shallowest depth, while depth-first search follows the most recently generated path. Uniform-cost search prioritizes accumulated path cost g. Greedy Best-First Search prioritizes only a heuristic estimate h of remaining cost. A-star combines evidence already paid with an estimate still to come, using g plus h. Adversarial procedures explore game states and back up values according to who controls each choice; alpha-beta pruning avoids branches that cannot change the minimax decision. These procedures differ in guarantees and details, but each manages which part of a state space to examine and what information guides that order. Key takeaway: keep the domain model stable, then compare algorithms by frontier or backup policy, duplicate handling, information requirements, and resulting guarantees.</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Location alone is not sufficient because two visits to the same location can have different legal futures and costs. Time influences toll price and perhaps road availability; remaining charge determines which destinations are reachable. ACTIONS, RESULT, and step cost would therefore depend on hidden path history rather than only on the stored state. One valid discrete representation might be a tuple containing location identifier, time interval, and integer charge level. A continuous model could use real-valued time and energy, but hashing and equality would need careful design or discretization. The general test is Markov sufficiency for the planning abstraction: given the state and an action, can the model determine the successor distribution, goal status, and relevant cost without consulting the full prior path? If not, the state has omitted information or the model must explicitly retain history.</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terms precisely in assignments and design documents. A percept is one observation, whereas a percept sequence is the information history available to an agent function. Rationality is relative to expected performance under evidence, not guaranteed success. Utility ranks outcomes; it is not synonymous with reward unless the model defines that relationship. Environment labels describe the decision model. Observable does not mean every physical fact is visible, only that the state variables relevant to the modeled decision are available. Deterministic means the modeled successor is fixed by state and action. Sequential means an action changes later decision conditions. Dynamic means the world can change during deliberation. A concise definition should always be followed by the operational consequence: memory, probability, real-time response, or strategic reasoning.</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disciplined sequence is now visible. Begin with PEAS so that success, environment, actions, and observations are explicit. Classify the environment to determine whether the agent needs state estimation, uncertainty modeling, real-time response, or strategic reasoning. Select an architecture that can represent the objective without unnecessary complexity. For planning, define the initial state, legal actions, transition model, goal test, and costs. Ensure that state contains enough information for the model and has stable equality when graph search will deduplicate it. Keep node identity separate from state identity. Finally, view Module A algorithms as policies for exploring and evaluating the same underlying state-space abstraction. This perspective will let us compare guarantees rather than memorize disconnected procedures. Your Week 1 lab makes the abstraction executable; Week 2 will place concrete frontier policies on top of it.</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to test transfer rather than recognition. The first asks you to distinguish expected choice quality from realized luck. The PEAS question requires a complete task specification, including review quality, repository context, comment actions, and code or test observations. Online chess is fully observable with respect to the board, strategic rather than stochastic under the game model, sequential, semidynamic when clocks matter, discrete, and multi-agent. The vacuum-world formalization should define a compact state containing agent location and the cleanliness of both rooms, together with legal actions, transitions, a goal test, and costs. The search-tree question targets repeated paths and reversible actions. Safe explored-set use requires immutable state keys, stable value equality and hashing, and a duplicate policy consistent with the algorithm's cost guarantees. If any answer depends on an assumption, state it explicitly.</a:t>
            </a:r>
          </a:p>
          <a:p xmlns:a="http://schemas.openxmlformats.org/drawingml/2006/main">
            <a:r>
              <a:t/>
            </a:r>
          </a:p>
          <a:p xmlns:a="http://schemas.openxmlformats.org/drawingml/2006/main">
            <a:r>
              <a:t>[Sources]</a:t>
            </a:r>
          </a:p>
          <a:p xmlns:a="http://schemas.openxmlformats.org/drawingml/2006/main">
            <a:r>
              <a:t>- Repository prompt: week_01/Week_1_Lesson_2_Rational_Agents_and_Problem_Solving_as_Search.md</a:t>
            </a:r>
          </a:p>
          <a:p xmlns:a="http://schemas.openxmlformats.org/drawingml/2006/main">
            <a:r>
              <a:t>- Stuart Russell and Peter Norvig, Artificial Intelligence: A Modern Approach, 4th edition, Chapters 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5bc8bdee6542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79e9611c494392" /><Relationship Type="http://schemas.openxmlformats.org/officeDocument/2006/relationships/slideLayout" Target="/ppt/slideLayouts/slideLayout1.xml" Id="R455a87c51fa647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5a87c51fa647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ec45f7d3d1443e" /><Relationship Type="http://schemas.openxmlformats.org/officeDocument/2006/relationships/notesSlide" Target="/ppt/notesSlides/notesSlide1.xml" Id="R326656a64fd544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17f7a3848349fd" /><Relationship Type="http://schemas.openxmlformats.org/officeDocument/2006/relationships/notesSlide" Target="/ppt/notesSlides/notesSlide2.xml" Id="Re661dc5f83e94c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eb9c52d5524fbc" /><Relationship Type="http://schemas.openxmlformats.org/officeDocument/2006/relationships/notesSlide" Target="/ppt/notesSlides/notesSlide3.xml" Id="Rec163b1a66134b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2ca99e4477409d" /><Relationship Type="http://schemas.openxmlformats.org/officeDocument/2006/relationships/notesSlide" Target="/ppt/notesSlides/notesSlide4.xml" Id="R08dbb699daf745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35768dc3fc460d" /><Relationship Type="http://schemas.openxmlformats.org/officeDocument/2006/relationships/notesSlide" Target="/ppt/notesSlides/notesSlide5.xml" Id="R68bf58c962ad45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2b7437150e44ee" /><Relationship Type="http://schemas.openxmlformats.org/officeDocument/2006/relationships/notesSlide" Target="/ppt/notesSlides/notesSlide6.xml" Id="R362a2571942b4f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f23612e07240c7" /><Relationship Type="http://schemas.openxmlformats.org/officeDocument/2006/relationships/notesSlide" Target="/ppt/notesSlides/notesSlide7.xml" Id="R4d71aa44446e45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1b145f8d6d4ed3" /><Relationship Type="http://schemas.openxmlformats.org/officeDocument/2006/relationships/notesSlide" Target="/ppt/notesSlides/notesSlide8.xml" Id="R6fa9ca4bae6148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331a071e3743fe" /><Relationship Type="http://schemas.openxmlformats.org/officeDocument/2006/relationships/notesSlide" Target="/ppt/notesSlides/notesSlide9.xml" Id="R56aa9736581b4a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34067ccea9e45fb" /><Relationship Type="http://schemas.openxmlformats.org/officeDocument/2006/relationships/notesSlide" Target="/ppt/notesSlides/notesSlide10.xml" Id="R455a1d748e1240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ef24234cdf45d0" /><Relationship Type="http://schemas.openxmlformats.org/officeDocument/2006/relationships/notesSlide" Target="/ppt/notesSlides/notesSlide11.xml" Id="R126255941ec548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1e931279664343" /><Relationship Type="http://schemas.openxmlformats.org/officeDocument/2006/relationships/notesSlide" Target="/ppt/notesSlides/notesSlide12.xml" Id="Re3579701c5e04e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e82a102c74a4131" /><Relationship Type="http://schemas.openxmlformats.org/officeDocument/2006/relationships/notesSlide" Target="/ppt/notesSlides/notesSlide13.xml" Id="R5c11aa2fc5244b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0e15bb53184563" /><Relationship Type="http://schemas.openxmlformats.org/officeDocument/2006/relationships/notesSlide" Target="/ppt/notesSlides/notesSlide14.xml" Id="Rc9d583ef9a8e49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f9b20e8ad864a1b" /><Relationship Type="http://schemas.openxmlformats.org/officeDocument/2006/relationships/notesSlide" Target="/ppt/notesSlides/notesSlide15.xml" Id="Rd532388db7f34d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33f3742b2bd4d41" /><Relationship Type="http://schemas.openxmlformats.org/officeDocument/2006/relationships/notesSlide" Target="/ppt/notesSlides/notesSlide16.xml" Id="R37ef1777864641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9df3ca7534549ac" /><Relationship Type="http://schemas.openxmlformats.org/officeDocument/2006/relationships/notesSlide" Target="/ppt/notesSlides/notesSlide17.xml" Id="R3779d25cd90b4d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e41c1e2dc5469f" /><Relationship Type="http://schemas.openxmlformats.org/officeDocument/2006/relationships/notesSlide" Target="/ppt/notesSlides/notesSlide18.xml" Id="Rb9608a1c32aa4cd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e7fea0c72b34e8a" /><Relationship Type="http://schemas.openxmlformats.org/officeDocument/2006/relationships/notesSlide" Target="/ppt/notesSlides/notesSlide19.xml" Id="R1009f12885bb40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0c613cfebd84b2b" /><Relationship Type="http://schemas.openxmlformats.org/officeDocument/2006/relationships/notesSlide" Target="/ppt/notesSlides/notesSlide20.xml" Id="Rcac9cfb7f98641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4d2a0214e9b498f" /><Relationship Type="http://schemas.openxmlformats.org/officeDocument/2006/relationships/notesSlide" Target="/ppt/notesSlides/notesSlide21.xml" Id="R28dd225d1de64d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ed84abf9e4842ff" /><Relationship Type="http://schemas.openxmlformats.org/officeDocument/2006/relationships/notesSlide" Target="/ppt/notesSlides/notesSlide22.xml" Id="R63375bc8f9d0440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62CE92A6-1111-441F-A1D1-C18AD19723F1}"/>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01  |  LESSON 2</a:t>
            </a:r>
          </a:p>
        </p:txBody>
      </p:sp>
      <p:sp>
        <p:nvSpPr>
          <p:cNvPr id="2" name="title-accent-field">
            <a:extLst xmlns:a="http://schemas.openxmlformats.org/drawingml/2006/main">
              <a:ext uri="{FF2B5EF4-FFF2-40B4-BE49-F238E27FC236}">
                <a16:creationId xmlns:a16="http://schemas.microsoft.com/office/drawing/2014/main" id="{FFB46AE2-2F8F-424E-88DF-E1248668BF14}"/>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07D8CA66-66A5-4B36-8D9F-2C7E2306E195}"/>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Rational Agents and Problem Solving as Search</a:t>
            </a:r>
          </a:p>
        </p:txBody>
      </p:sp>
      <p:sp>
        <p:nvSpPr>
          <p:cNvPr id="4" name="deck-subtitle">
            <a:extLst xmlns:a="http://schemas.openxmlformats.org/drawingml/2006/main">
              <a:ext uri="{FF2B5EF4-FFF2-40B4-BE49-F238E27FC236}">
                <a16:creationId xmlns:a16="http://schemas.microsoft.com/office/drawing/2014/main" id="{50D31B69-EA71-4299-ADE0-01D72DF4758E}"/>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From PEAS specifications to executable state-space models</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8CB2649D-38D2-4112-9D25-E1D14FC5D4C6}"/>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F9F4B101-952C-474B-8922-B662B587BC93}"/>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10466313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0B3BA21D-B280-45C3-BC68-BF59DB997DD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DAFCCE56-2517-4FDF-81F4-E9263C9C4C5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B622E258-4C92-499B-8304-F8977EC5AAF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2">
            <a:extLst xmlns:a="http://schemas.openxmlformats.org/drawingml/2006/main">
              <a:ext uri="{FF2B5EF4-FFF2-40B4-BE49-F238E27FC236}">
                <a16:creationId xmlns:a16="http://schemas.microsoft.com/office/drawing/2014/main" id="{F814A106-F15D-4813-B29F-A5EA5CEDF6A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37AB2ECA-B1FF-46C0-88EF-28E78397DC89}"/>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97F2F201-432C-4B12-8503-DDF788624371}"/>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BFACA242-0ED1-4084-A3C9-7B6957A18E7A}"/>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an agent, agent function, rational action, percept, sensor, and actuator.</a:t>
            </a:r>
          </a:p>
        </p:txBody>
      </p:sp>
      <p:sp>
        <p:nvSpPr>
          <p:cNvPr id="10" name="objective-number-2">
            <a:extLst xmlns:a="http://schemas.openxmlformats.org/drawingml/2006/main">
              <a:ext uri="{FF2B5EF4-FFF2-40B4-BE49-F238E27FC236}">
                <a16:creationId xmlns:a16="http://schemas.microsoft.com/office/drawing/2014/main" id="{3945603A-DF2E-494F-94E8-D7571227394B}"/>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48629650-365E-4F56-B0D7-5E463C5311A9}"/>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Write a complete PEAS specification for a nontrivial task environment.</a:t>
            </a:r>
          </a:p>
        </p:txBody>
      </p:sp>
      <p:sp>
        <p:nvSpPr>
          <p:cNvPr id="13" name="objective-number-3">
            <a:extLst xmlns:a="http://schemas.openxmlformats.org/drawingml/2006/main">
              <a:ext uri="{FF2B5EF4-FFF2-40B4-BE49-F238E27FC236}">
                <a16:creationId xmlns:a16="http://schemas.microsoft.com/office/drawing/2014/main" id="{C72CB2B9-D465-4BBF-AB4D-F21C7959EE34}"/>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3F40E0F3-C9DA-4452-BDCF-9AFD4C680591}"/>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Classify the environment properties that constrain algorithm choice.</a:t>
            </a:r>
          </a:p>
        </p:txBody>
      </p:sp>
      <p:sp>
        <p:nvSpPr>
          <p:cNvPr id="16" name="objective-number-4">
            <a:extLst xmlns:a="http://schemas.openxmlformats.org/drawingml/2006/main">
              <a:ext uri="{FF2B5EF4-FFF2-40B4-BE49-F238E27FC236}">
                <a16:creationId xmlns:a16="http://schemas.microsoft.com/office/drawing/2014/main" id="{80BE161A-D75C-4EE6-834F-403383DA4B3E}"/>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DE58BC89-2FC1-4B6C-9845-68DC5CCE0D45}"/>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simple reflex, model-based, goal-based, and utility-based agents.</a:t>
            </a:r>
          </a:p>
        </p:txBody>
      </p:sp>
      <p:sp>
        <p:nvSpPr>
          <p:cNvPr id="19" name="objective-number-5">
            <a:extLst xmlns:a="http://schemas.openxmlformats.org/drawingml/2006/main">
              <a:ext uri="{FF2B5EF4-FFF2-40B4-BE49-F238E27FC236}">
                <a16:creationId xmlns:a16="http://schemas.microsoft.com/office/drawing/2014/main" id="{92C327BA-795A-44BF-B10A-FDF31D05BD8B}"/>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C40B912F-EC59-4055-A641-1A2E40D2D225}"/>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Formalize a domain as a five-component search problem and Python interface.</a:t>
            </a:r>
          </a:p>
        </p:txBody>
      </p:sp>
      <p:sp>
        <p:nvSpPr>
          <p:cNvPr id="22" name="objective-number-6">
            <a:extLst xmlns:a="http://schemas.openxmlformats.org/drawingml/2006/main">
              <a:ext uri="{FF2B5EF4-FFF2-40B4-BE49-F238E27FC236}">
                <a16:creationId xmlns:a16="http://schemas.microsoft.com/office/drawing/2014/main" id="{1F3ABAB3-29E9-4AD2-9AB4-6A079EA89D50}"/>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781708EB-7BE1-49CF-A30C-C073F36A41AA}"/>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Distinguish search trees from search graphs and compare exploration policies.</a:t>
            </a:r>
          </a:p>
        </p:txBody>
      </p:sp>
    </p:spTree>
    <p:extLst>
      <p:ext uri="{BB962C8B-B14F-4D97-AF65-F5344CB8AC3E}">
        <p14:creationId xmlns:p14="http://schemas.microsoft.com/office/powerpoint/2010/main" val="19888162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3">
            <a:extLst xmlns:a="http://schemas.openxmlformats.org/drawingml/2006/main">
              <a:ext uri="{FF2B5EF4-FFF2-40B4-BE49-F238E27FC236}">
                <a16:creationId xmlns:a16="http://schemas.microsoft.com/office/drawing/2014/main" id="{1E11AF85-3A15-4CDA-980B-DAC9D9D4FCD5}"/>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An agent maps percept history to action</a:t>
            </a:r>
          </a:p>
        </p:txBody>
      </p:sp>
      <p:sp>
        <p:nvSpPr>
          <p:cNvPr id="2" name="title-accent-3">
            <a:extLst xmlns:a="http://schemas.openxmlformats.org/drawingml/2006/main">
              <a:ext uri="{FF2B5EF4-FFF2-40B4-BE49-F238E27FC236}">
                <a16:creationId xmlns:a16="http://schemas.microsoft.com/office/drawing/2014/main" id="{69ABE2FF-0BE4-4CC5-9C6D-FE7E1BEB975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ECF55DBB-56BC-4511-8C89-85C48B1E7CA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3">
            <a:extLst xmlns:a="http://schemas.openxmlformats.org/drawingml/2006/main">
              <a:ext uri="{FF2B5EF4-FFF2-40B4-BE49-F238E27FC236}">
                <a16:creationId xmlns:a16="http://schemas.microsoft.com/office/drawing/2014/main" id="{0456BCCD-6EF0-4070-B916-A2E19D941EF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formula-panel-3">
            <a:extLst xmlns:a="http://schemas.openxmlformats.org/drawingml/2006/main">
              <a:ext uri="{FF2B5EF4-FFF2-40B4-BE49-F238E27FC236}">
                <a16:creationId xmlns:a16="http://schemas.microsoft.com/office/drawing/2014/main" id="{87B3A60D-7C60-4C2F-A864-20AAB49ADACD}"/>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3">
            <a:extLst xmlns:a="http://schemas.openxmlformats.org/drawingml/2006/main">
              <a:ext uri="{FF2B5EF4-FFF2-40B4-BE49-F238E27FC236}">
                <a16:creationId xmlns:a16="http://schemas.microsoft.com/office/drawing/2014/main" id="{AD11D07B-F6AF-487B-A18C-656CF011DA4A}"/>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f : P* -&gt; A        a_t = f(&lt;p_1, p_2, ..., p_t&gt;)</a:t>
            </a:r>
          </a:p>
        </p:txBody>
      </p:sp>
      <p:sp>
        <p:nvSpPr>
          <p:cNvPr id="8" name="formula-definition-3-marker-1">
            <a:extLst xmlns:a="http://schemas.openxmlformats.org/drawingml/2006/main">
              <a:ext uri="{FF2B5EF4-FFF2-40B4-BE49-F238E27FC236}">
                <a16:creationId xmlns:a16="http://schemas.microsoft.com/office/drawing/2014/main" id="{03C126EB-1CE8-4C7F-92FA-D839DA13E0C5}"/>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3-text-1">
            <a:extLst xmlns:a="http://schemas.openxmlformats.org/drawingml/2006/main">
              <a:ext uri="{FF2B5EF4-FFF2-40B4-BE49-F238E27FC236}">
                <a16:creationId xmlns:a16="http://schemas.microsoft.com/office/drawing/2014/main" id="{B228F05E-005A-4BF9-9C34-622F57AD6E76}"/>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 is the set of finite percept sequences, not merely the current sensor reading.</a:t>
            </a:r>
          </a:p>
        </p:txBody>
      </p:sp>
      <p:sp>
        <p:nvSpPr>
          <p:cNvPr id="10" name="formula-definition-3-marker-2">
            <a:extLst xmlns:a="http://schemas.openxmlformats.org/drawingml/2006/main">
              <a:ext uri="{FF2B5EF4-FFF2-40B4-BE49-F238E27FC236}">
                <a16:creationId xmlns:a16="http://schemas.microsoft.com/office/drawing/2014/main" id="{C01AC84F-9E3B-41FA-B6DC-35E3CD6B03C0}"/>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3-text-2">
            <a:extLst xmlns:a="http://schemas.openxmlformats.org/drawingml/2006/main">
              <a:ext uri="{FF2B5EF4-FFF2-40B4-BE49-F238E27FC236}">
                <a16:creationId xmlns:a16="http://schemas.microsoft.com/office/drawing/2014/main" id="{6F631FE0-7288-4719-A1C9-477731A4BC49}"/>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is the set of actions available through the agent's actuators.</a:t>
            </a:r>
          </a:p>
        </p:txBody>
      </p:sp>
      <p:sp>
        <p:nvSpPr>
          <p:cNvPr id="12" name="formula-definition-3-marker-3">
            <a:extLst xmlns:a="http://schemas.openxmlformats.org/drawingml/2006/main">
              <a:ext uri="{FF2B5EF4-FFF2-40B4-BE49-F238E27FC236}">
                <a16:creationId xmlns:a16="http://schemas.microsoft.com/office/drawing/2014/main" id="{CE9C0986-4309-448F-89C4-7456251CE640}"/>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3-text-3">
            <a:extLst xmlns:a="http://schemas.openxmlformats.org/drawingml/2006/main">
              <a:ext uri="{FF2B5EF4-FFF2-40B4-BE49-F238E27FC236}">
                <a16:creationId xmlns:a16="http://schemas.microsoft.com/office/drawing/2014/main" id="{2D1F44EE-AEE4-40A0-A64D-6D9F2371B154}"/>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An agent program implements f on a particular machine architecture.</a:t>
            </a:r>
          </a:p>
        </p:txBody>
      </p:sp>
      <p:sp>
        <p:nvSpPr>
          <p:cNvPr id="14" name="formula-implication-panel-3">
            <a:extLst xmlns:a="http://schemas.openxmlformats.org/drawingml/2006/main">
              <a:ext uri="{FF2B5EF4-FFF2-40B4-BE49-F238E27FC236}">
                <a16:creationId xmlns:a16="http://schemas.microsoft.com/office/drawing/2014/main" id="{4526C9C6-5D4A-4889-88BB-B2C653D4A398}"/>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formula-implication-label-3">
            <a:extLst xmlns:a="http://schemas.openxmlformats.org/drawingml/2006/main">
              <a:ext uri="{FF2B5EF4-FFF2-40B4-BE49-F238E27FC236}">
                <a16:creationId xmlns:a16="http://schemas.microsoft.com/office/drawing/2014/main" id="{2FF68CE4-74DD-4D5C-B756-35D1014CD45D}"/>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6" name="formula-implication-3">
            <a:extLst xmlns:a="http://schemas.openxmlformats.org/drawingml/2006/main">
              <a:ext uri="{FF2B5EF4-FFF2-40B4-BE49-F238E27FC236}">
                <a16:creationId xmlns:a16="http://schemas.microsoft.com/office/drawing/2014/main" id="{19C6F47A-5ED4-4683-A5CE-CB390474610C}"/>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Rational means selecting an action expected to maximize the stated performance measure, given available evidence and knowledge.</a:t>
            </a:r>
          </a:p>
        </p:txBody>
      </p:sp>
    </p:spTree>
    <p:extLst>
      <p:ext uri="{BB962C8B-B14F-4D97-AF65-F5344CB8AC3E}">
        <p14:creationId xmlns:p14="http://schemas.microsoft.com/office/powerpoint/2010/main" val="11277030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4">
            <a:extLst xmlns:a="http://schemas.openxmlformats.org/drawingml/2006/main">
              <a:ext uri="{FF2B5EF4-FFF2-40B4-BE49-F238E27FC236}">
                <a16:creationId xmlns:a16="http://schemas.microsoft.com/office/drawing/2014/main" id="{E2839351-D37F-4522-8438-BC67CB86CA1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PEAS specifies the task before the implementation</a:t>
            </a:r>
          </a:p>
        </p:txBody>
      </p:sp>
      <p:sp>
        <p:nvSpPr>
          <p:cNvPr id="2" name="title-accent-4">
            <a:extLst xmlns:a="http://schemas.openxmlformats.org/drawingml/2006/main">
              <a:ext uri="{FF2B5EF4-FFF2-40B4-BE49-F238E27FC236}">
                <a16:creationId xmlns:a16="http://schemas.microsoft.com/office/drawing/2014/main" id="{8467CC7D-4A4A-4411-9933-E79560EA70E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8"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7D7A841A-D1DC-4B21-80B0-B4F9EBC9BED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4">
            <a:extLst xmlns:a="http://schemas.openxmlformats.org/drawingml/2006/main">
              <a:ext uri="{FF2B5EF4-FFF2-40B4-BE49-F238E27FC236}">
                <a16:creationId xmlns:a16="http://schemas.microsoft.com/office/drawing/2014/main" id="{4206EC61-80F5-4D5B-B019-38914C4BCAD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cxnSp>
        <p:nvCxnSpPr>
          <p:cNvPr id="31" name="process-connector-4-1"/>
          <p:cNvCxnSpPr/>
          <p:nvPr/>
        </p:nvCxnSpPr>
        <p:spPr>
          <a:xfrm xmlns:a="http://schemas.openxmlformats.org/drawingml/2006/main">
            <a:off x="3105150"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2" name="process-connector-4-2"/>
          <p:cNvCxnSpPr/>
          <p:nvPr/>
        </p:nvCxnSpPr>
        <p:spPr>
          <a:xfrm xmlns:a="http://schemas.openxmlformats.org/drawingml/2006/main">
            <a:off x="601027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3" name="process-connector-4-3"/>
          <p:cNvCxnSpPr/>
          <p:nvPr/>
        </p:nvCxnSpPr>
        <p:spPr>
          <a:xfrm xmlns:a="http://schemas.openxmlformats.org/drawingml/2006/main">
            <a:off x="8915400"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9" name="process-node-4-1">
            <a:extLst xmlns:a="http://schemas.openxmlformats.org/drawingml/2006/main">
              <a:ext uri="{FF2B5EF4-FFF2-40B4-BE49-F238E27FC236}">
                <a16:creationId xmlns:a16="http://schemas.microsoft.com/office/drawing/2014/main" id="{9396A45C-543B-4BA3-8E28-B64D40FFABAF}"/>
              </a:ext>
            </a:extLst>
          </p:cNvPr>
          <p:cNvSpPr>
            <a:spLocks xmlns:a="http://schemas.openxmlformats.org/drawingml/2006/main" noGrp="1"/>
          </p:cNvSpPr>
          <p:nvPr/>
        </p:nvSpPr>
        <p:spPr>
          <a:xfrm xmlns:a="http://schemas.openxmlformats.org/drawingml/2006/main">
            <a:off x="400050" y="2238375"/>
            <a:ext cx="2676525"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0" name="process-number-4-1">
            <a:extLst xmlns:a="http://schemas.openxmlformats.org/drawingml/2006/main">
              <a:ext uri="{FF2B5EF4-FFF2-40B4-BE49-F238E27FC236}">
                <a16:creationId xmlns:a16="http://schemas.microsoft.com/office/drawing/2014/main" id="{3F9941DE-CA91-4C1D-87C4-B24221102B3E}"/>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1" name="process-title-4-1">
            <a:extLst xmlns:a="http://schemas.openxmlformats.org/drawingml/2006/main">
              <a:ext uri="{FF2B5EF4-FFF2-40B4-BE49-F238E27FC236}">
                <a16:creationId xmlns:a16="http://schemas.microsoft.com/office/drawing/2014/main" id="{7F0AC93C-764D-444A-BCEF-C872494D8F92}"/>
              </a:ext>
            </a:extLst>
          </p:cNvPr>
          <p:cNvSpPr>
            <a:spLocks xmlns:a="http://schemas.openxmlformats.org/drawingml/2006/main" noGrp="1"/>
          </p:cNvSpPr>
          <p:nvPr/>
        </p:nvSpPr>
        <p:spPr>
          <a:xfrm xmlns:a="http://schemas.openxmlformats.org/drawingml/2006/main">
            <a:off x="571500" y="28860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Performance</a:t>
            </a:r>
          </a:p>
        </p:txBody>
      </p:sp>
      <p:sp>
        <p:nvSpPr>
          <p:cNvPr id="12" name="process-detail-4-1">
            <a:extLst xmlns:a="http://schemas.openxmlformats.org/drawingml/2006/main">
              <a:ext uri="{FF2B5EF4-FFF2-40B4-BE49-F238E27FC236}">
                <a16:creationId xmlns:a16="http://schemas.microsoft.com/office/drawing/2014/main" id="{4825DA14-C6FB-43C9-A7D0-EF54B72B3874}"/>
              </a:ext>
            </a:extLst>
          </p:cNvPr>
          <p:cNvSpPr>
            <a:spLocks xmlns:a="http://schemas.openxmlformats.org/drawingml/2006/main" noGrp="1"/>
          </p:cNvSpPr>
          <p:nvPr/>
        </p:nvSpPr>
        <p:spPr>
          <a:xfrm xmlns:a="http://schemas.openxmlformats.org/drawingml/2006/main">
            <a:off x="571500" y="3590925"/>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Define observable success, priorities, penalties, and tradeoffs.</a:t>
            </a:r>
          </a:p>
        </p:txBody>
      </p:sp>
      <p:sp>
        <p:nvSpPr>
          <p:cNvPr id="13" name="process-node-4-2">
            <a:extLst xmlns:a="http://schemas.openxmlformats.org/drawingml/2006/main">
              <a:ext uri="{FF2B5EF4-FFF2-40B4-BE49-F238E27FC236}">
                <a16:creationId xmlns:a16="http://schemas.microsoft.com/office/drawing/2014/main" id="{95000D38-6DEF-470D-AE6D-D21F913AB18D}"/>
              </a:ext>
            </a:extLst>
          </p:cNvPr>
          <p:cNvSpPr>
            <a:spLocks xmlns:a="http://schemas.openxmlformats.org/drawingml/2006/main" noGrp="1"/>
          </p:cNvSpPr>
          <p:nvPr/>
        </p:nvSpPr>
        <p:spPr>
          <a:xfrm xmlns:a="http://schemas.openxmlformats.org/drawingml/2006/main">
            <a:off x="3305175" y="2238375"/>
            <a:ext cx="2676525"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4" name="process-number-4-2">
            <a:extLst xmlns:a="http://schemas.openxmlformats.org/drawingml/2006/main">
              <a:ext uri="{FF2B5EF4-FFF2-40B4-BE49-F238E27FC236}">
                <a16:creationId xmlns:a16="http://schemas.microsoft.com/office/drawing/2014/main" id="{0C3A8E85-4E61-4700-A9D8-BD3595C06064}"/>
              </a:ext>
            </a:extLst>
          </p:cNvPr>
          <p:cNvSpPr>
            <a:spLocks xmlns:a="http://schemas.openxmlformats.org/drawingml/2006/main" noGrp="1"/>
          </p:cNvSpPr>
          <p:nvPr/>
        </p:nvSpPr>
        <p:spPr>
          <a:xfrm xmlns:a="http://schemas.openxmlformats.org/drawingml/2006/main">
            <a:off x="3476625"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5" name="process-title-4-2">
            <a:extLst xmlns:a="http://schemas.openxmlformats.org/drawingml/2006/main">
              <a:ext uri="{FF2B5EF4-FFF2-40B4-BE49-F238E27FC236}">
                <a16:creationId xmlns:a16="http://schemas.microsoft.com/office/drawing/2014/main" id="{A32F3BF2-310C-41E4-81EB-9F2E315D9F38}"/>
              </a:ext>
            </a:extLst>
          </p:cNvPr>
          <p:cNvSpPr>
            <a:spLocks xmlns:a="http://schemas.openxmlformats.org/drawingml/2006/main" noGrp="1"/>
          </p:cNvSpPr>
          <p:nvPr/>
        </p:nvSpPr>
        <p:spPr>
          <a:xfrm xmlns:a="http://schemas.openxmlformats.org/drawingml/2006/main">
            <a:off x="3476625" y="28860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Environment</a:t>
            </a:r>
          </a:p>
        </p:txBody>
      </p:sp>
      <p:sp>
        <p:nvSpPr>
          <p:cNvPr id="16" name="process-detail-4-2">
            <a:extLst xmlns:a="http://schemas.openxmlformats.org/drawingml/2006/main">
              <a:ext uri="{FF2B5EF4-FFF2-40B4-BE49-F238E27FC236}">
                <a16:creationId xmlns:a16="http://schemas.microsoft.com/office/drawing/2014/main" id="{0C604DF3-5CD9-42BD-8A02-E008C686CBFF}"/>
              </a:ext>
            </a:extLst>
          </p:cNvPr>
          <p:cNvSpPr>
            <a:spLocks xmlns:a="http://schemas.openxmlformats.org/drawingml/2006/main" noGrp="1"/>
          </p:cNvSpPr>
          <p:nvPr/>
        </p:nvSpPr>
        <p:spPr>
          <a:xfrm xmlns:a="http://schemas.openxmlformats.org/drawingml/2006/main">
            <a:off x="3476625" y="3590925"/>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Name relevant entities, dynamics, constraints, and other agents.</a:t>
            </a:r>
          </a:p>
        </p:txBody>
      </p:sp>
      <p:sp>
        <p:nvSpPr>
          <p:cNvPr id="17" name="process-node-4-3">
            <a:extLst xmlns:a="http://schemas.openxmlformats.org/drawingml/2006/main">
              <a:ext uri="{FF2B5EF4-FFF2-40B4-BE49-F238E27FC236}">
                <a16:creationId xmlns:a16="http://schemas.microsoft.com/office/drawing/2014/main" id="{8F3C3EAB-8DAD-46B6-9460-EF4472212BFC}"/>
              </a:ext>
            </a:extLst>
          </p:cNvPr>
          <p:cNvSpPr>
            <a:spLocks xmlns:a="http://schemas.openxmlformats.org/drawingml/2006/main" noGrp="1"/>
          </p:cNvSpPr>
          <p:nvPr/>
        </p:nvSpPr>
        <p:spPr>
          <a:xfrm xmlns:a="http://schemas.openxmlformats.org/drawingml/2006/main">
            <a:off x="6210300" y="2238375"/>
            <a:ext cx="2676525"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8" name="process-number-4-3">
            <a:extLst xmlns:a="http://schemas.openxmlformats.org/drawingml/2006/main">
              <a:ext uri="{FF2B5EF4-FFF2-40B4-BE49-F238E27FC236}">
                <a16:creationId xmlns:a16="http://schemas.microsoft.com/office/drawing/2014/main" id="{87C658B8-24F0-405E-9ACA-D314F20BB6C0}"/>
              </a:ext>
            </a:extLst>
          </p:cNvPr>
          <p:cNvSpPr>
            <a:spLocks xmlns:a="http://schemas.openxmlformats.org/drawingml/2006/main" noGrp="1"/>
          </p:cNvSpPr>
          <p:nvPr/>
        </p:nvSpPr>
        <p:spPr>
          <a:xfrm xmlns:a="http://schemas.openxmlformats.org/drawingml/2006/main">
            <a:off x="638175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9" name="process-title-4-3">
            <a:extLst xmlns:a="http://schemas.openxmlformats.org/drawingml/2006/main">
              <a:ext uri="{FF2B5EF4-FFF2-40B4-BE49-F238E27FC236}">
                <a16:creationId xmlns:a16="http://schemas.microsoft.com/office/drawing/2014/main" id="{F1CCC86C-E42A-4872-BDD5-310E1212F682}"/>
              </a:ext>
            </a:extLst>
          </p:cNvPr>
          <p:cNvSpPr>
            <a:spLocks xmlns:a="http://schemas.openxmlformats.org/drawingml/2006/main" noGrp="1"/>
          </p:cNvSpPr>
          <p:nvPr/>
        </p:nvSpPr>
        <p:spPr>
          <a:xfrm xmlns:a="http://schemas.openxmlformats.org/drawingml/2006/main">
            <a:off x="6381750" y="28860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Actuators</a:t>
            </a:r>
          </a:p>
        </p:txBody>
      </p:sp>
      <p:sp>
        <p:nvSpPr>
          <p:cNvPr id="20" name="process-detail-4-3">
            <a:extLst xmlns:a="http://schemas.openxmlformats.org/drawingml/2006/main">
              <a:ext uri="{FF2B5EF4-FFF2-40B4-BE49-F238E27FC236}">
                <a16:creationId xmlns:a16="http://schemas.microsoft.com/office/drawing/2014/main" id="{72EEF851-C6FE-4300-B9D4-8A09AD321AD4}"/>
              </a:ext>
            </a:extLst>
          </p:cNvPr>
          <p:cNvSpPr>
            <a:spLocks xmlns:a="http://schemas.openxmlformats.org/drawingml/2006/main" noGrp="1"/>
          </p:cNvSpPr>
          <p:nvPr/>
        </p:nvSpPr>
        <p:spPr>
          <a:xfrm xmlns:a="http://schemas.openxmlformats.org/drawingml/2006/main">
            <a:off x="6381750" y="3590925"/>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List every channel through which the agent can change the world.</a:t>
            </a:r>
          </a:p>
        </p:txBody>
      </p:sp>
      <p:sp>
        <p:nvSpPr>
          <p:cNvPr id="21" name="process-node-4-4">
            <a:extLst xmlns:a="http://schemas.openxmlformats.org/drawingml/2006/main">
              <a:ext uri="{FF2B5EF4-FFF2-40B4-BE49-F238E27FC236}">
                <a16:creationId xmlns:a16="http://schemas.microsoft.com/office/drawing/2014/main" id="{1C7C6625-CA52-4994-994A-80B3CDC547A6}"/>
              </a:ext>
            </a:extLst>
          </p:cNvPr>
          <p:cNvSpPr>
            <a:spLocks xmlns:a="http://schemas.openxmlformats.org/drawingml/2006/main" noGrp="1"/>
          </p:cNvSpPr>
          <p:nvPr/>
        </p:nvSpPr>
        <p:spPr>
          <a:xfrm xmlns:a="http://schemas.openxmlformats.org/drawingml/2006/main">
            <a:off x="9115425" y="2238375"/>
            <a:ext cx="2676525"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process-number-4-4">
            <a:extLst xmlns:a="http://schemas.openxmlformats.org/drawingml/2006/main">
              <a:ext uri="{FF2B5EF4-FFF2-40B4-BE49-F238E27FC236}">
                <a16:creationId xmlns:a16="http://schemas.microsoft.com/office/drawing/2014/main" id="{E6717F74-F67C-4355-88BF-052E7EF874DD}"/>
              </a:ext>
            </a:extLst>
          </p:cNvPr>
          <p:cNvSpPr>
            <a:spLocks xmlns:a="http://schemas.openxmlformats.org/drawingml/2006/main" noGrp="1"/>
          </p:cNvSpPr>
          <p:nvPr/>
        </p:nvSpPr>
        <p:spPr>
          <a:xfrm xmlns:a="http://schemas.openxmlformats.org/drawingml/2006/main">
            <a:off x="9286875"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3" name="process-title-4-4">
            <a:extLst xmlns:a="http://schemas.openxmlformats.org/drawingml/2006/main">
              <a:ext uri="{FF2B5EF4-FFF2-40B4-BE49-F238E27FC236}">
                <a16:creationId xmlns:a16="http://schemas.microsoft.com/office/drawing/2014/main" id="{13BE4197-4C89-4EDA-88C7-617F1D7D6CE6}"/>
              </a:ext>
            </a:extLst>
          </p:cNvPr>
          <p:cNvSpPr>
            <a:spLocks xmlns:a="http://schemas.openxmlformats.org/drawingml/2006/main" noGrp="1"/>
          </p:cNvSpPr>
          <p:nvPr/>
        </p:nvSpPr>
        <p:spPr>
          <a:xfrm xmlns:a="http://schemas.openxmlformats.org/drawingml/2006/main">
            <a:off x="9286875" y="28860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Sensors</a:t>
            </a:r>
          </a:p>
        </p:txBody>
      </p:sp>
      <p:sp>
        <p:nvSpPr>
          <p:cNvPr id="24" name="process-detail-4-4">
            <a:extLst xmlns:a="http://schemas.openxmlformats.org/drawingml/2006/main">
              <a:ext uri="{FF2B5EF4-FFF2-40B4-BE49-F238E27FC236}">
                <a16:creationId xmlns:a16="http://schemas.microsoft.com/office/drawing/2014/main" id="{1555871F-544B-457F-AB8B-0860AFC48D65}"/>
              </a:ext>
            </a:extLst>
          </p:cNvPr>
          <p:cNvSpPr>
            <a:spLocks xmlns:a="http://schemas.openxmlformats.org/drawingml/2006/main" noGrp="1"/>
          </p:cNvSpPr>
          <p:nvPr/>
        </p:nvSpPr>
        <p:spPr>
          <a:xfrm xmlns:a="http://schemas.openxmlformats.org/drawingml/2006/main">
            <a:off x="9286875" y="3590925"/>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List observations, resolution, latency, noise, and missing data.</a:t>
            </a:r>
          </a:p>
        </p:txBody>
      </p:sp>
      <p:sp>
        <p:nvSpPr>
          <p:cNvPr id="25" name="process-takeaway-4">
            <a:extLst xmlns:a="http://schemas.openxmlformats.org/drawingml/2006/main">
              <a:ext uri="{FF2B5EF4-FFF2-40B4-BE49-F238E27FC236}">
                <a16:creationId xmlns:a16="http://schemas.microsoft.com/office/drawing/2014/main" id="{8BF6863A-9E90-4806-ADB0-D706B427FDC8}"/>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PEAS is a requirements artifact: it defines the decision problem before code narrows the design.</a:t>
            </a:r>
          </a:p>
        </p:txBody>
      </p:sp>
    </p:spTree>
    <p:extLst>
      <p:ext uri="{BB962C8B-B14F-4D97-AF65-F5344CB8AC3E}">
        <p14:creationId xmlns:p14="http://schemas.microsoft.com/office/powerpoint/2010/main" val="15507560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0C81DCAD-55D3-42BC-B5DC-95F4B13D114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PEAS: campus delivery robot, part I</a:t>
            </a:r>
          </a:p>
        </p:txBody>
      </p:sp>
      <p:sp>
        <p:nvSpPr>
          <p:cNvPr id="2" name="title-accent-5">
            <a:extLst xmlns:a="http://schemas.openxmlformats.org/drawingml/2006/main">
              <a:ext uri="{FF2B5EF4-FFF2-40B4-BE49-F238E27FC236}">
                <a16:creationId xmlns:a16="http://schemas.microsoft.com/office/drawing/2014/main" id="{75825755-942F-4D99-8E1C-A868614A0D6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373ED65F-7E09-4ECB-A271-8A31714A491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5">
            <a:extLst xmlns:a="http://schemas.openxmlformats.org/drawingml/2006/main">
              <a:ext uri="{FF2B5EF4-FFF2-40B4-BE49-F238E27FC236}">
                <a16:creationId xmlns:a16="http://schemas.microsoft.com/office/drawing/2014/main" id="{ACC65910-E729-4633-923D-F126C305BAB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B02DE52C-0916-4DE0-8657-1E5E9BE58108}"/>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B7A53"/>
                </a:solidFill>
                <a:latin typeface="Arial"/>
                <a:ea typeface="Arial"/>
                <a:cs typeface="Arial"/>
              </a:defRPr>
            </a:pPr>
            <a:r>
              <a:rPr sz="2100" b="1">
                <a:solidFill>
                  <a:srgbClr val="0B7A53"/>
                </a:solidFill>
                <a:latin typeface="Arial"/>
                <a:ea typeface="Arial"/>
                <a:cs typeface="Arial"/>
              </a:rPr>
              <a:t>Performance measure</a:t>
            </a:r>
          </a:p>
        </p:txBody>
      </p:sp>
      <p:sp>
        <p:nvSpPr>
          <p:cNvPr id="8" name="right-title-5">
            <a:extLst xmlns:a="http://schemas.openxmlformats.org/drawingml/2006/main">
              <a:ext uri="{FF2B5EF4-FFF2-40B4-BE49-F238E27FC236}">
                <a16:creationId xmlns:a16="http://schemas.microsoft.com/office/drawing/2014/main" id="{FD571BAC-1C02-456F-BEDD-1AA748A34523}"/>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Environment</a:t>
            </a:r>
          </a:p>
        </p:txBody>
      </p:sp>
      <p:sp>
        <p:nvSpPr>
          <p:cNvPr id="9" name="left-bullet-5-marker-1">
            <a:extLst xmlns:a="http://schemas.openxmlformats.org/drawingml/2006/main">
              <a:ext uri="{FF2B5EF4-FFF2-40B4-BE49-F238E27FC236}">
                <a16:creationId xmlns:a16="http://schemas.microsoft.com/office/drawing/2014/main" id="{6E649368-9E4B-40F8-A0E9-174EAA906779}"/>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46733874-C2BC-40CD-A571-4B767E7DF38C}"/>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Deliver the correct parcel to the authorized recipient.</a:t>
            </a:r>
          </a:p>
        </p:txBody>
      </p:sp>
      <p:sp>
        <p:nvSpPr>
          <p:cNvPr id="11" name="left-bullet-5-marker-2">
            <a:extLst xmlns:a="http://schemas.openxmlformats.org/drawingml/2006/main">
              <a:ext uri="{FF2B5EF4-FFF2-40B4-BE49-F238E27FC236}">
                <a16:creationId xmlns:a16="http://schemas.microsoft.com/office/drawing/2014/main" id="{3CAF4C61-2A5A-43D6-A951-076A191C111A}"/>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530BDA7A-6964-41FA-96F9-0975AC7B1515}"/>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Avoid collisions and respect pedestrian right-of-way.</a:t>
            </a:r>
          </a:p>
        </p:txBody>
      </p:sp>
      <p:sp>
        <p:nvSpPr>
          <p:cNvPr id="13" name="left-bullet-5-marker-3">
            <a:extLst xmlns:a="http://schemas.openxmlformats.org/drawingml/2006/main">
              <a:ext uri="{FF2B5EF4-FFF2-40B4-BE49-F238E27FC236}">
                <a16:creationId xmlns:a16="http://schemas.microsoft.com/office/drawing/2014/main" id="{5A835803-B978-485E-8246-0846F99D47A0}"/>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F28DF5CC-70C3-44A9-A8DA-A19C6D840F37}"/>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Meet delivery windows while limiting energy and route length.</a:t>
            </a:r>
          </a:p>
        </p:txBody>
      </p:sp>
      <p:sp>
        <p:nvSpPr>
          <p:cNvPr id="15" name="left-bullet-5-marker-4">
            <a:extLst xmlns:a="http://schemas.openxmlformats.org/drawingml/2006/main">
              <a:ext uri="{FF2B5EF4-FFF2-40B4-BE49-F238E27FC236}">
                <a16:creationId xmlns:a16="http://schemas.microsoft.com/office/drawing/2014/main" id="{0D43BA58-447A-4B8D-ADAB-DB772078BFB5}"/>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3A7D2842-7B50-4368-987E-36F6EE1496F9}"/>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Prefer safe stop and escalation when confidence is low.</a:t>
            </a:r>
          </a:p>
        </p:txBody>
      </p:sp>
      <p:sp>
        <p:nvSpPr>
          <p:cNvPr id="17" name="right-bullet-5-marker-1">
            <a:extLst xmlns:a="http://schemas.openxmlformats.org/drawingml/2006/main">
              <a:ext uri="{FF2B5EF4-FFF2-40B4-BE49-F238E27FC236}">
                <a16:creationId xmlns:a16="http://schemas.microsoft.com/office/drawing/2014/main" id="{4B4B350A-187F-4117-9425-0A3EC7A1D626}"/>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06359AFE-2872-4FFC-A588-9B15DAC10185}"/>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Sidewalks, crossings, ramps, doors, elevators, and charging stations.</a:t>
            </a:r>
          </a:p>
        </p:txBody>
      </p:sp>
      <p:sp>
        <p:nvSpPr>
          <p:cNvPr id="19" name="right-bullet-5-marker-2">
            <a:extLst xmlns:a="http://schemas.openxmlformats.org/drawingml/2006/main">
              <a:ext uri="{FF2B5EF4-FFF2-40B4-BE49-F238E27FC236}">
                <a16:creationId xmlns:a16="http://schemas.microsoft.com/office/drawing/2014/main" id="{218526BF-8A3A-4069-B891-3B988496EE5F}"/>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2A83E15B-4A35-4585-93E6-B69CA6B71B01}"/>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Pedestrians, cyclists, vehicles, animals, weather, and construction.</a:t>
            </a:r>
          </a:p>
        </p:txBody>
      </p:sp>
      <p:sp>
        <p:nvSpPr>
          <p:cNvPr id="21" name="right-bullet-5-marker-3">
            <a:extLst xmlns:a="http://schemas.openxmlformats.org/drawingml/2006/main">
              <a:ext uri="{FF2B5EF4-FFF2-40B4-BE49-F238E27FC236}">
                <a16:creationId xmlns:a16="http://schemas.microsoft.com/office/drawing/2014/main" id="{903618CA-5578-49FA-9202-4D025756EFBA}"/>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DA3A394A-E1A8-4DF5-B0DA-A7FCC3578789}"/>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Dispatch service, map service, recipients, and human supervisors.</a:t>
            </a:r>
          </a:p>
        </p:txBody>
      </p:sp>
      <p:sp>
        <p:nvSpPr>
          <p:cNvPr id="23" name="right-bullet-5-marker-4">
            <a:extLst xmlns:a="http://schemas.openxmlformats.org/drawingml/2006/main">
              <a:ext uri="{FF2B5EF4-FFF2-40B4-BE49-F238E27FC236}">
                <a16:creationId xmlns:a16="http://schemas.microsoft.com/office/drawing/2014/main" id="{D12F0A69-1416-4388-B038-5647BFFAAD1A}"/>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C0EAAA37-AA36-4D17-95B5-9604CD1E474F}"/>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Changing access rules, temporary obstacles, and wireless outages.</a:t>
            </a:r>
          </a:p>
        </p:txBody>
      </p:sp>
    </p:spTree>
    <p:extLst>
      <p:ext uri="{BB962C8B-B14F-4D97-AF65-F5344CB8AC3E}">
        <p14:creationId xmlns:p14="http://schemas.microsoft.com/office/powerpoint/2010/main" val="10373801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6">
            <a:extLst xmlns:a="http://schemas.openxmlformats.org/drawingml/2006/main">
              <a:ext uri="{FF2B5EF4-FFF2-40B4-BE49-F238E27FC236}">
                <a16:creationId xmlns:a16="http://schemas.microsoft.com/office/drawing/2014/main" id="{38A96CE0-4BEE-493D-B5CA-0EE1BBE9B6F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PEAS: campus delivery robot, part II</a:t>
            </a:r>
          </a:p>
        </p:txBody>
      </p:sp>
      <p:sp>
        <p:nvSpPr>
          <p:cNvPr id="2" name="title-accent-6">
            <a:extLst xmlns:a="http://schemas.openxmlformats.org/drawingml/2006/main">
              <a:ext uri="{FF2B5EF4-FFF2-40B4-BE49-F238E27FC236}">
                <a16:creationId xmlns:a16="http://schemas.microsoft.com/office/drawing/2014/main" id="{00BB645F-110D-4AD6-9AB7-B148FA9A505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77584E37-328D-4134-8A00-67217C89159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6">
            <a:extLst xmlns:a="http://schemas.openxmlformats.org/drawingml/2006/main">
              <a:ext uri="{FF2B5EF4-FFF2-40B4-BE49-F238E27FC236}">
                <a16:creationId xmlns:a16="http://schemas.microsoft.com/office/drawing/2014/main" id="{8D2AF3E1-7E18-4776-905F-9FC21F8826F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0" name="column-divider-6"/>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6">
            <a:extLst xmlns:a="http://schemas.openxmlformats.org/drawingml/2006/main">
              <a:ext uri="{FF2B5EF4-FFF2-40B4-BE49-F238E27FC236}">
                <a16:creationId xmlns:a16="http://schemas.microsoft.com/office/drawing/2014/main" id="{993742B8-C720-47AD-A9B1-AF395BF3F20F}"/>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Actuators</a:t>
            </a:r>
          </a:p>
        </p:txBody>
      </p:sp>
      <p:sp>
        <p:nvSpPr>
          <p:cNvPr id="8" name="right-title-6">
            <a:extLst xmlns:a="http://schemas.openxmlformats.org/drawingml/2006/main">
              <a:ext uri="{FF2B5EF4-FFF2-40B4-BE49-F238E27FC236}">
                <a16:creationId xmlns:a16="http://schemas.microsoft.com/office/drawing/2014/main" id="{41EE2448-4B55-4157-84E2-103EB56D5BEE}"/>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Sensors</a:t>
            </a:r>
          </a:p>
        </p:txBody>
      </p:sp>
      <p:sp>
        <p:nvSpPr>
          <p:cNvPr id="9" name="left-bullet-6-marker-1">
            <a:extLst xmlns:a="http://schemas.openxmlformats.org/drawingml/2006/main">
              <a:ext uri="{FF2B5EF4-FFF2-40B4-BE49-F238E27FC236}">
                <a16:creationId xmlns:a16="http://schemas.microsoft.com/office/drawing/2014/main" id="{07764DA3-FC52-4582-A5F9-A8DAA58FD798}"/>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6-text-1">
            <a:extLst xmlns:a="http://schemas.openxmlformats.org/drawingml/2006/main">
              <a:ext uri="{FF2B5EF4-FFF2-40B4-BE49-F238E27FC236}">
                <a16:creationId xmlns:a16="http://schemas.microsoft.com/office/drawing/2014/main" id="{C5C2ACE1-52B4-404E-AF72-33CD570BD268}"/>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Drive, steer, brake, and hold position.</a:t>
            </a:r>
          </a:p>
        </p:txBody>
      </p:sp>
      <p:sp>
        <p:nvSpPr>
          <p:cNvPr id="11" name="left-bullet-6-marker-2">
            <a:extLst xmlns:a="http://schemas.openxmlformats.org/drawingml/2006/main">
              <a:ext uri="{FF2B5EF4-FFF2-40B4-BE49-F238E27FC236}">
                <a16:creationId xmlns:a16="http://schemas.microsoft.com/office/drawing/2014/main" id="{628D62F5-509E-4421-8630-BB9C272DF435}"/>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6-text-2">
            <a:extLst xmlns:a="http://schemas.openxmlformats.org/drawingml/2006/main">
              <a:ext uri="{FF2B5EF4-FFF2-40B4-BE49-F238E27FC236}">
                <a16:creationId xmlns:a16="http://schemas.microsoft.com/office/drawing/2014/main" id="{D2D98894-AE50-492F-9A51-4478FBF5A4E3}"/>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Signal with lights, sound, and a display.</a:t>
            </a:r>
          </a:p>
        </p:txBody>
      </p:sp>
      <p:sp>
        <p:nvSpPr>
          <p:cNvPr id="13" name="left-bullet-6-marker-3">
            <a:extLst xmlns:a="http://schemas.openxmlformats.org/drawingml/2006/main">
              <a:ext uri="{FF2B5EF4-FFF2-40B4-BE49-F238E27FC236}">
                <a16:creationId xmlns:a16="http://schemas.microsoft.com/office/drawing/2014/main" id="{F1163284-C888-4210-A229-DA83DB86C1D4}"/>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6-text-3">
            <a:extLst xmlns:a="http://schemas.openxmlformats.org/drawingml/2006/main">
              <a:ext uri="{FF2B5EF4-FFF2-40B4-BE49-F238E27FC236}">
                <a16:creationId xmlns:a16="http://schemas.microsoft.com/office/drawing/2014/main" id="{EDD2FF3B-3BF3-41EC-AE15-FA5AB38291A9}"/>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Open or lock the parcel compartment.</a:t>
            </a:r>
          </a:p>
        </p:txBody>
      </p:sp>
      <p:sp>
        <p:nvSpPr>
          <p:cNvPr id="15" name="left-bullet-6-marker-4">
            <a:extLst xmlns:a="http://schemas.openxmlformats.org/drawingml/2006/main">
              <a:ext uri="{FF2B5EF4-FFF2-40B4-BE49-F238E27FC236}">
                <a16:creationId xmlns:a16="http://schemas.microsoft.com/office/drawing/2014/main" id="{33BCE2D2-DB5D-4BF4-9D02-91E258D79002}"/>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6-text-4">
            <a:extLst xmlns:a="http://schemas.openxmlformats.org/drawingml/2006/main">
              <a:ext uri="{FF2B5EF4-FFF2-40B4-BE49-F238E27FC236}">
                <a16:creationId xmlns:a16="http://schemas.microsoft.com/office/drawing/2014/main" id="{6A9948A8-53C0-4120-969E-D5429AD14AF5}"/>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Request assistance, replan, or enter a safe-stop mode.</a:t>
            </a:r>
          </a:p>
        </p:txBody>
      </p:sp>
      <p:sp>
        <p:nvSpPr>
          <p:cNvPr id="17" name="right-bullet-6-marker-1">
            <a:extLst xmlns:a="http://schemas.openxmlformats.org/drawingml/2006/main">
              <a:ext uri="{FF2B5EF4-FFF2-40B4-BE49-F238E27FC236}">
                <a16:creationId xmlns:a16="http://schemas.microsoft.com/office/drawing/2014/main" id="{9203607A-BC98-48FA-A3F5-83E6406E6E6B}"/>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6-text-1">
            <a:extLst xmlns:a="http://schemas.openxmlformats.org/drawingml/2006/main">
              <a:ext uri="{FF2B5EF4-FFF2-40B4-BE49-F238E27FC236}">
                <a16:creationId xmlns:a16="http://schemas.microsoft.com/office/drawing/2014/main" id="{45686EE9-E947-418C-8661-0C35E8BB7AF9}"/>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Cameras, depth sensing, wheel odometry, inertial sensing, and GNSS.</a:t>
            </a:r>
          </a:p>
        </p:txBody>
      </p:sp>
      <p:sp>
        <p:nvSpPr>
          <p:cNvPr id="19" name="right-bullet-6-marker-2">
            <a:extLst xmlns:a="http://schemas.openxmlformats.org/drawingml/2006/main">
              <a:ext uri="{FF2B5EF4-FFF2-40B4-BE49-F238E27FC236}">
                <a16:creationId xmlns:a16="http://schemas.microsoft.com/office/drawing/2014/main" id="{E31D49A8-6BD7-46DE-BA09-33834A624F3C}"/>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6-text-2">
            <a:extLst xmlns:a="http://schemas.openxmlformats.org/drawingml/2006/main">
              <a:ext uri="{FF2B5EF4-FFF2-40B4-BE49-F238E27FC236}">
                <a16:creationId xmlns:a16="http://schemas.microsoft.com/office/drawing/2014/main" id="{4AB10B86-2907-44BA-BBD2-C65CEF2D511D}"/>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Battery, motor, compartment, and bumper telemetry.</a:t>
            </a:r>
          </a:p>
        </p:txBody>
      </p:sp>
      <p:sp>
        <p:nvSpPr>
          <p:cNvPr id="21" name="right-bullet-6-marker-3">
            <a:extLst xmlns:a="http://schemas.openxmlformats.org/drawingml/2006/main">
              <a:ext uri="{FF2B5EF4-FFF2-40B4-BE49-F238E27FC236}">
                <a16:creationId xmlns:a16="http://schemas.microsoft.com/office/drawing/2014/main" id="{8DAC001F-0BC8-447A-A402-CDEBA48161A6}"/>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6-text-3">
            <a:extLst xmlns:a="http://schemas.openxmlformats.org/drawingml/2006/main">
              <a:ext uri="{FF2B5EF4-FFF2-40B4-BE49-F238E27FC236}">
                <a16:creationId xmlns:a16="http://schemas.microsoft.com/office/drawing/2014/main" id="{7B76C047-2C19-41C3-886E-161A104AC60D}"/>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Digital maps, traffic controls, dispatch messages, and access credentials.</a:t>
            </a:r>
          </a:p>
        </p:txBody>
      </p:sp>
      <p:sp>
        <p:nvSpPr>
          <p:cNvPr id="23" name="right-bullet-6-marker-4">
            <a:extLst xmlns:a="http://schemas.openxmlformats.org/drawingml/2006/main">
              <a:ext uri="{FF2B5EF4-FFF2-40B4-BE49-F238E27FC236}">
                <a16:creationId xmlns:a16="http://schemas.microsoft.com/office/drawing/2014/main" id="{5BB16C2B-234B-43BF-84AF-AD4ED5BB105D}"/>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6-text-4">
            <a:extLst xmlns:a="http://schemas.openxmlformats.org/drawingml/2006/main">
              <a:ext uri="{FF2B5EF4-FFF2-40B4-BE49-F238E27FC236}">
                <a16:creationId xmlns:a16="http://schemas.microsoft.com/office/drawing/2014/main" id="{9577A9F4-A661-43EF-A63F-FF6345FC9E7C}"/>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Recipient authentication and supervisor commands.</a:t>
            </a:r>
          </a:p>
        </p:txBody>
      </p:sp>
    </p:spTree>
    <p:extLst>
      <p:ext uri="{BB962C8B-B14F-4D97-AF65-F5344CB8AC3E}">
        <p14:creationId xmlns:p14="http://schemas.microsoft.com/office/powerpoint/2010/main" val="12699700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lide-title-7">
            <a:extLst xmlns:a="http://schemas.openxmlformats.org/drawingml/2006/main">
              <a:ext uri="{FF2B5EF4-FFF2-40B4-BE49-F238E27FC236}">
                <a16:creationId xmlns:a16="http://schemas.microsoft.com/office/drawing/2014/main" id="{1F3799B5-891E-451C-B760-0E677AED259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Environment properties determine what memory is needed</a:t>
            </a:r>
          </a:p>
        </p:txBody>
      </p:sp>
      <p:sp>
        <p:nvSpPr>
          <p:cNvPr id="2" name="title-accent-7">
            <a:extLst xmlns:a="http://schemas.openxmlformats.org/drawingml/2006/main">
              <a:ext uri="{FF2B5EF4-FFF2-40B4-BE49-F238E27FC236}">
                <a16:creationId xmlns:a16="http://schemas.microsoft.com/office/drawing/2014/main" id="{CF402598-C82E-4952-B574-961840B150D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4"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B86ADCC0-F2CF-42A3-B5E3-F32CA7E977E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7">
            <a:extLst xmlns:a="http://schemas.openxmlformats.org/drawingml/2006/main">
              <a:ext uri="{FF2B5EF4-FFF2-40B4-BE49-F238E27FC236}">
                <a16:creationId xmlns:a16="http://schemas.microsoft.com/office/drawing/2014/main" id="{9F6CEE9A-B3E9-435C-AEC9-AC0F96533D9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mparison-title-7-1">
            <a:extLst xmlns:a="http://schemas.openxmlformats.org/drawingml/2006/main">
              <a:ext uri="{FF2B5EF4-FFF2-40B4-BE49-F238E27FC236}">
                <a16:creationId xmlns:a16="http://schemas.microsoft.com/office/drawing/2014/main" id="{AD505184-A61D-4640-AA7D-C9EC2DD8211B}"/>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Observability</a:t>
            </a:r>
          </a:p>
        </p:txBody>
      </p:sp>
      <p:sp>
        <p:nvSpPr>
          <p:cNvPr id="7" name="comparison-tagline-7-1">
            <a:extLst xmlns:a="http://schemas.openxmlformats.org/drawingml/2006/main">
              <a:ext uri="{FF2B5EF4-FFF2-40B4-BE49-F238E27FC236}">
                <a16:creationId xmlns:a16="http://schemas.microsoft.com/office/drawing/2014/main" id="{5625ADEB-140E-43D1-BEC1-0B21578E2EDA}"/>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What does the percept reveal?</a:t>
            </a:r>
          </a:p>
        </p:txBody>
      </p:sp>
      <p:sp>
        <p:nvSpPr>
          <p:cNvPr id="8" name="comparison-bullet-7-1-marker-1">
            <a:extLst xmlns:a="http://schemas.openxmlformats.org/drawingml/2006/main">
              <a:ext uri="{FF2B5EF4-FFF2-40B4-BE49-F238E27FC236}">
                <a16:creationId xmlns:a16="http://schemas.microsoft.com/office/drawing/2014/main" id="{D6D49E48-5087-482D-9622-DF4743DF9EF8}"/>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7-1-text-1">
            <a:extLst xmlns:a="http://schemas.openxmlformats.org/drawingml/2006/main">
              <a:ext uri="{FF2B5EF4-FFF2-40B4-BE49-F238E27FC236}">
                <a16:creationId xmlns:a16="http://schemas.microsoft.com/office/drawing/2014/main" id="{90C2EC26-0DF4-41EF-92BF-034E00849E1E}"/>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Fully observable: relevant state is available.</a:t>
            </a:r>
          </a:p>
        </p:txBody>
      </p:sp>
      <p:sp>
        <p:nvSpPr>
          <p:cNvPr id="10" name="comparison-bullet-7-1-marker-2">
            <a:extLst xmlns:a="http://schemas.openxmlformats.org/drawingml/2006/main">
              <a:ext uri="{FF2B5EF4-FFF2-40B4-BE49-F238E27FC236}">
                <a16:creationId xmlns:a16="http://schemas.microsoft.com/office/drawing/2014/main" id="{2DF1409C-AFCE-4066-AF67-9E71481E001D}"/>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7-1-text-2">
            <a:extLst xmlns:a="http://schemas.openxmlformats.org/drawingml/2006/main">
              <a:ext uri="{FF2B5EF4-FFF2-40B4-BE49-F238E27FC236}">
                <a16:creationId xmlns:a16="http://schemas.microsoft.com/office/drawing/2014/main" id="{38826D46-A5B6-404A-A000-045223530B7C}"/>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Partially observable: state must be estimated.</a:t>
            </a:r>
          </a:p>
        </p:txBody>
      </p:sp>
      <p:sp>
        <p:nvSpPr>
          <p:cNvPr id="12" name="comparison-bullet-7-1-marker-3">
            <a:extLst xmlns:a="http://schemas.openxmlformats.org/drawingml/2006/main">
              <a:ext uri="{FF2B5EF4-FFF2-40B4-BE49-F238E27FC236}">
                <a16:creationId xmlns:a16="http://schemas.microsoft.com/office/drawing/2014/main" id="{7E2BE772-FCA3-4F56-AD5F-70B4D4AFF1E5}"/>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7-1-text-3">
            <a:extLst xmlns:a="http://schemas.openxmlformats.org/drawingml/2006/main">
              <a:ext uri="{FF2B5EF4-FFF2-40B4-BE49-F238E27FC236}">
                <a16:creationId xmlns:a16="http://schemas.microsoft.com/office/drawing/2014/main" id="{EAFC998D-4308-4E49-977B-2D7A37DCDDB4}"/>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Sensor noise can make a nominally visible variable uncertain.</a:t>
            </a:r>
          </a:p>
        </p:txBody>
      </p:sp>
      <p:cxnSp>
        <p:nvCxnSpPr>
          <p:cNvPr id="45" name="comparison-divider-7-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5" name="comparison-title-7-2">
            <a:extLst xmlns:a="http://schemas.openxmlformats.org/drawingml/2006/main">
              <a:ext uri="{FF2B5EF4-FFF2-40B4-BE49-F238E27FC236}">
                <a16:creationId xmlns:a16="http://schemas.microsoft.com/office/drawing/2014/main" id="{1FB74F04-5B45-400F-B5DF-C73D7E8979D5}"/>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Dynamics</a:t>
            </a:r>
          </a:p>
        </p:txBody>
      </p:sp>
      <p:sp>
        <p:nvSpPr>
          <p:cNvPr id="16" name="comparison-tagline-7-2">
            <a:extLst xmlns:a="http://schemas.openxmlformats.org/drawingml/2006/main">
              <a:ext uri="{FF2B5EF4-FFF2-40B4-BE49-F238E27FC236}">
                <a16:creationId xmlns:a16="http://schemas.microsoft.com/office/drawing/2014/main" id="{80A66624-E252-41E4-94EC-1E0BDE64B93C}"/>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How predictable are transitions?</a:t>
            </a:r>
          </a:p>
        </p:txBody>
      </p:sp>
      <p:sp>
        <p:nvSpPr>
          <p:cNvPr id="17" name="comparison-bullet-7-2-marker-1">
            <a:extLst xmlns:a="http://schemas.openxmlformats.org/drawingml/2006/main">
              <a:ext uri="{FF2B5EF4-FFF2-40B4-BE49-F238E27FC236}">
                <a16:creationId xmlns:a16="http://schemas.microsoft.com/office/drawing/2014/main" id="{11B29C2D-66AB-4EDB-8B41-5A0B0D327D05}"/>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8" name="comparison-bullet-7-2-text-1">
            <a:extLst xmlns:a="http://schemas.openxmlformats.org/drawingml/2006/main">
              <a:ext uri="{FF2B5EF4-FFF2-40B4-BE49-F238E27FC236}">
                <a16:creationId xmlns:a16="http://schemas.microsoft.com/office/drawing/2014/main" id="{D548E853-4EFB-4BE9-AEE5-5EF7A9F5CC83}"/>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Deterministic: action and state fix the successor.</a:t>
            </a:r>
          </a:p>
        </p:txBody>
      </p:sp>
      <p:sp>
        <p:nvSpPr>
          <p:cNvPr id="19" name="comparison-bullet-7-2-marker-2">
            <a:extLst xmlns:a="http://schemas.openxmlformats.org/drawingml/2006/main">
              <a:ext uri="{FF2B5EF4-FFF2-40B4-BE49-F238E27FC236}">
                <a16:creationId xmlns:a16="http://schemas.microsoft.com/office/drawing/2014/main" id="{D9B9AE23-02C1-4463-B033-D7D23F4A4EF5}"/>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7-2-text-2">
            <a:extLst xmlns:a="http://schemas.openxmlformats.org/drawingml/2006/main">
              <a:ext uri="{FF2B5EF4-FFF2-40B4-BE49-F238E27FC236}">
                <a16:creationId xmlns:a16="http://schemas.microsoft.com/office/drawing/2014/main" id="{FC81207C-B94C-4991-B80C-5DDFBD908F2F}"/>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Stochastic: transitions have outcome probabilities.</a:t>
            </a:r>
          </a:p>
        </p:txBody>
      </p:sp>
      <p:sp>
        <p:nvSpPr>
          <p:cNvPr id="21" name="comparison-bullet-7-2-marker-3">
            <a:extLst xmlns:a="http://schemas.openxmlformats.org/drawingml/2006/main">
              <a:ext uri="{FF2B5EF4-FFF2-40B4-BE49-F238E27FC236}">
                <a16:creationId xmlns:a16="http://schemas.microsoft.com/office/drawing/2014/main" id="{6E9800D5-24C0-4389-8BA6-DD04BA2AA36E}"/>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7-2-text-3">
            <a:extLst xmlns:a="http://schemas.openxmlformats.org/drawingml/2006/main">
              <a:ext uri="{FF2B5EF4-FFF2-40B4-BE49-F238E27FC236}">
                <a16:creationId xmlns:a16="http://schemas.microsoft.com/office/drawing/2014/main" id="{A8C16A51-E0FE-455D-8B37-759DB9AE9DD7}"/>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Strategic: another agent selects consequential actions.</a:t>
            </a:r>
          </a:p>
        </p:txBody>
      </p:sp>
      <p:cxnSp>
        <p:nvCxnSpPr>
          <p:cNvPr id="54" name="comparison-divider-7-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4" name="comparison-title-7-3">
            <a:extLst xmlns:a="http://schemas.openxmlformats.org/drawingml/2006/main">
              <a:ext uri="{FF2B5EF4-FFF2-40B4-BE49-F238E27FC236}">
                <a16:creationId xmlns:a16="http://schemas.microsoft.com/office/drawing/2014/main" id="{92F64165-1144-4E42-9970-C2CBE39B6346}"/>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B3261E"/>
                </a:solidFill>
                <a:latin typeface="Arial"/>
                <a:ea typeface="Arial"/>
                <a:cs typeface="Arial"/>
              </a:defRPr>
            </a:pPr>
            <a:r>
              <a:rPr sz="2025" b="1">
                <a:solidFill>
                  <a:srgbClr val="B3261E"/>
                </a:solidFill>
                <a:latin typeface="Arial"/>
                <a:ea typeface="Arial"/>
                <a:cs typeface="Arial"/>
              </a:rPr>
              <a:t>Time</a:t>
            </a:r>
          </a:p>
        </p:txBody>
      </p:sp>
      <p:sp>
        <p:nvSpPr>
          <p:cNvPr id="25" name="comparison-tagline-7-3">
            <a:extLst xmlns:a="http://schemas.openxmlformats.org/drawingml/2006/main">
              <a:ext uri="{FF2B5EF4-FFF2-40B4-BE49-F238E27FC236}">
                <a16:creationId xmlns:a16="http://schemas.microsoft.com/office/drawing/2014/main" id="{ADF327DA-D02A-4E47-B7F6-3E7723694529}"/>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Can the world change while deciding?</a:t>
            </a:r>
          </a:p>
        </p:txBody>
      </p:sp>
      <p:sp>
        <p:nvSpPr>
          <p:cNvPr id="26" name="comparison-bullet-7-3-marker-1">
            <a:extLst xmlns:a="http://schemas.openxmlformats.org/drawingml/2006/main">
              <a:ext uri="{FF2B5EF4-FFF2-40B4-BE49-F238E27FC236}">
                <a16:creationId xmlns:a16="http://schemas.microsoft.com/office/drawing/2014/main" id="{C34E0299-6FE8-4A18-A9D4-830C3F127B5F}"/>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27" name="comparison-bullet-7-3-text-1">
            <a:extLst xmlns:a="http://schemas.openxmlformats.org/drawingml/2006/main">
              <a:ext uri="{FF2B5EF4-FFF2-40B4-BE49-F238E27FC236}">
                <a16:creationId xmlns:a16="http://schemas.microsoft.com/office/drawing/2014/main" id="{6A0F2F0C-B448-4388-A769-AEE2A4BA3596}"/>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Static: world waits during deliberation.</a:t>
            </a:r>
          </a:p>
        </p:txBody>
      </p:sp>
      <p:sp>
        <p:nvSpPr>
          <p:cNvPr id="28" name="comparison-bullet-7-3-marker-2">
            <a:extLst xmlns:a="http://schemas.openxmlformats.org/drawingml/2006/main">
              <a:ext uri="{FF2B5EF4-FFF2-40B4-BE49-F238E27FC236}">
                <a16:creationId xmlns:a16="http://schemas.microsoft.com/office/drawing/2014/main" id="{87C6911F-EAC4-49A8-944D-D076F7A222C4}"/>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29" name="comparison-bullet-7-3-text-2">
            <a:extLst xmlns:a="http://schemas.openxmlformats.org/drawingml/2006/main">
              <a:ext uri="{FF2B5EF4-FFF2-40B4-BE49-F238E27FC236}">
                <a16:creationId xmlns:a16="http://schemas.microsoft.com/office/drawing/2014/main" id="{58D2FB14-9904-4724-BE4A-84DFD5CF7BA7}"/>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Dynamic: state may change before action.</a:t>
            </a:r>
          </a:p>
        </p:txBody>
      </p:sp>
      <p:sp>
        <p:nvSpPr>
          <p:cNvPr id="30" name="comparison-bullet-7-3-marker-3">
            <a:extLst xmlns:a="http://schemas.openxmlformats.org/drawingml/2006/main">
              <a:ext uri="{FF2B5EF4-FFF2-40B4-BE49-F238E27FC236}">
                <a16:creationId xmlns:a16="http://schemas.microsoft.com/office/drawing/2014/main" id="{27B6B165-007F-43A5-ADF7-F902A92B24C2}"/>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31" name="comparison-bullet-7-3-text-3">
            <a:extLst xmlns:a="http://schemas.openxmlformats.org/drawingml/2006/main">
              <a:ext uri="{FF2B5EF4-FFF2-40B4-BE49-F238E27FC236}">
                <a16:creationId xmlns:a16="http://schemas.microsoft.com/office/drawing/2014/main" id="{F326E444-86E9-44D7-9C96-27A21A818CCD}"/>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Semidynamic: world fixed, but performance changes with time.</a:t>
            </a:r>
          </a:p>
        </p:txBody>
      </p:sp>
    </p:spTree>
    <p:extLst>
      <p:ext uri="{BB962C8B-B14F-4D97-AF65-F5344CB8AC3E}">
        <p14:creationId xmlns:p14="http://schemas.microsoft.com/office/powerpoint/2010/main" val="8215773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lide-title-8">
            <a:extLst xmlns:a="http://schemas.openxmlformats.org/drawingml/2006/main">
              <a:ext uri="{FF2B5EF4-FFF2-40B4-BE49-F238E27FC236}">
                <a16:creationId xmlns:a16="http://schemas.microsoft.com/office/drawing/2014/main" id="{D3079834-CB61-439F-A2B5-A3685FF1AAF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Environment properties also shape the objective</a:t>
            </a:r>
          </a:p>
        </p:txBody>
      </p:sp>
      <p:sp>
        <p:nvSpPr>
          <p:cNvPr id="2" name="title-accent-8">
            <a:extLst xmlns:a="http://schemas.openxmlformats.org/drawingml/2006/main">
              <a:ext uri="{FF2B5EF4-FFF2-40B4-BE49-F238E27FC236}">
                <a16:creationId xmlns:a16="http://schemas.microsoft.com/office/drawing/2014/main" id="{29C807CD-7B16-4D15-AA57-3C63F573C66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4"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C92A4FB8-F5CF-4700-B5C2-CC0AFC7DE3E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8">
            <a:extLst xmlns:a="http://schemas.openxmlformats.org/drawingml/2006/main">
              <a:ext uri="{FF2B5EF4-FFF2-40B4-BE49-F238E27FC236}">
                <a16:creationId xmlns:a16="http://schemas.microsoft.com/office/drawing/2014/main" id="{F8FBE5B6-DA9D-43C9-B47F-39660AF55F5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comparison-title-8-1">
            <a:extLst xmlns:a="http://schemas.openxmlformats.org/drawingml/2006/main">
              <a:ext uri="{FF2B5EF4-FFF2-40B4-BE49-F238E27FC236}">
                <a16:creationId xmlns:a16="http://schemas.microsoft.com/office/drawing/2014/main" id="{F5457AF2-B086-4C7D-BD55-C1684DDB9A5B}"/>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Temporal coupling</a:t>
            </a:r>
          </a:p>
        </p:txBody>
      </p:sp>
      <p:sp>
        <p:nvSpPr>
          <p:cNvPr id="7" name="comparison-tagline-8-1">
            <a:extLst xmlns:a="http://schemas.openxmlformats.org/drawingml/2006/main">
              <a:ext uri="{FF2B5EF4-FFF2-40B4-BE49-F238E27FC236}">
                <a16:creationId xmlns:a16="http://schemas.microsoft.com/office/drawing/2014/main" id="{C68BFBE9-1547-4E31-A47B-70379C9D0CDF}"/>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Does one decision affect the next?</a:t>
            </a:r>
          </a:p>
        </p:txBody>
      </p:sp>
      <p:sp>
        <p:nvSpPr>
          <p:cNvPr id="8" name="comparison-bullet-8-1-marker-1">
            <a:extLst xmlns:a="http://schemas.openxmlformats.org/drawingml/2006/main">
              <a:ext uri="{FF2B5EF4-FFF2-40B4-BE49-F238E27FC236}">
                <a16:creationId xmlns:a16="http://schemas.microsoft.com/office/drawing/2014/main" id="{07E327BD-D81B-4E38-9BE0-161EA37F94C0}"/>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8-1-text-1">
            <a:extLst xmlns:a="http://schemas.openxmlformats.org/drawingml/2006/main">
              <a:ext uri="{FF2B5EF4-FFF2-40B4-BE49-F238E27FC236}">
                <a16:creationId xmlns:a16="http://schemas.microsoft.com/office/drawing/2014/main" id="{501AF5D6-5633-4E12-9D58-7B707321E89C}"/>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Episodic tasks contain independent decisions.</a:t>
            </a:r>
          </a:p>
        </p:txBody>
      </p:sp>
      <p:sp>
        <p:nvSpPr>
          <p:cNvPr id="10" name="comparison-bullet-8-1-marker-2">
            <a:extLst xmlns:a="http://schemas.openxmlformats.org/drawingml/2006/main">
              <a:ext uri="{FF2B5EF4-FFF2-40B4-BE49-F238E27FC236}">
                <a16:creationId xmlns:a16="http://schemas.microsoft.com/office/drawing/2014/main" id="{4BF7CEF1-9822-4FF0-9D9B-09FEC291152E}"/>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8-1-text-2">
            <a:extLst xmlns:a="http://schemas.openxmlformats.org/drawingml/2006/main">
              <a:ext uri="{FF2B5EF4-FFF2-40B4-BE49-F238E27FC236}">
                <a16:creationId xmlns:a16="http://schemas.microsoft.com/office/drawing/2014/main" id="{D36D7190-FCA4-411B-9863-6D01019E7565}"/>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Sequential tasks make present actions alter future options.</a:t>
            </a:r>
          </a:p>
        </p:txBody>
      </p:sp>
      <p:sp>
        <p:nvSpPr>
          <p:cNvPr id="12" name="comparison-bullet-8-1-marker-3">
            <a:extLst xmlns:a="http://schemas.openxmlformats.org/drawingml/2006/main">
              <a:ext uri="{FF2B5EF4-FFF2-40B4-BE49-F238E27FC236}">
                <a16:creationId xmlns:a16="http://schemas.microsoft.com/office/drawing/2014/main" id="{36EC2983-88E4-4C1E-BC73-7AC338370D01}"/>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8-1-text-3">
            <a:extLst xmlns:a="http://schemas.openxmlformats.org/drawingml/2006/main">
              <a:ext uri="{FF2B5EF4-FFF2-40B4-BE49-F238E27FC236}">
                <a16:creationId xmlns:a16="http://schemas.microsoft.com/office/drawing/2014/main" id="{353B7D8E-6764-43BA-9ED9-264D7190E774}"/>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Credit assignment matters when consequences are delayed.</a:t>
            </a:r>
          </a:p>
        </p:txBody>
      </p:sp>
      <p:cxnSp>
        <p:nvCxnSpPr>
          <p:cNvPr id="45" name="comparison-divider-8-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5" name="comparison-title-8-2">
            <a:extLst xmlns:a="http://schemas.openxmlformats.org/drawingml/2006/main">
              <a:ext uri="{FF2B5EF4-FFF2-40B4-BE49-F238E27FC236}">
                <a16:creationId xmlns:a16="http://schemas.microsoft.com/office/drawing/2014/main" id="{06E2F3F8-4A69-402F-A475-9D2DF5044234}"/>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Representation</a:t>
            </a:r>
          </a:p>
        </p:txBody>
      </p:sp>
      <p:sp>
        <p:nvSpPr>
          <p:cNvPr id="16" name="comparison-tagline-8-2">
            <a:extLst xmlns:a="http://schemas.openxmlformats.org/drawingml/2006/main">
              <a:ext uri="{FF2B5EF4-FFF2-40B4-BE49-F238E27FC236}">
                <a16:creationId xmlns:a16="http://schemas.microsoft.com/office/drawing/2014/main" id="{66C76C1D-1542-42ED-96A9-588DE02AAB5B}"/>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Are states and actions countable?</a:t>
            </a:r>
          </a:p>
        </p:txBody>
      </p:sp>
      <p:sp>
        <p:nvSpPr>
          <p:cNvPr id="17" name="comparison-bullet-8-2-marker-1">
            <a:extLst xmlns:a="http://schemas.openxmlformats.org/drawingml/2006/main">
              <a:ext uri="{FF2B5EF4-FFF2-40B4-BE49-F238E27FC236}">
                <a16:creationId xmlns:a16="http://schemas.microsoft.com/office/drawing/2014/main" id="{5E152716-3668-4216-8C80-D31C6E75472D}"/>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8" name="comparison-bullet-8-2-text-1">
            <a:extLst xmlns:a="http://schemas.openxmlformats.org/drawingml/2006/main">
              <a:ext uri="{FF2B5EF4-FFF2-40B4-BE49-F238E27FC236}">
                <a16:creationId xmlns:a16="http://schemas.microsoft.com/office/drawing/2014/main" id="{C3E5319A-EA1D-48D0-994F-4877DCBD1B2A}"/>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Discrete models enumerate symbols or finite choices.</a:t>
            </a:r>
          </a:p>
        </p:txBody>
      </p:sp>
      <p:sp>
        <p:nvSpPr>
          <p:cNvPr id="19" name="comparison-bullet-8-2-marker-2">
            <a:extLst xmlns:a="http://schemas.openxmlformats.org/drawingml/2006/main">
              <a:ext uri="{FF2B5EF4-FFF2-40B4-BE49-F238E27FC236}">
                <a16:creationId xmlns:a16="http://schemas.microsoft.com/office/drawing/2014/main" id="{ABEEDAFB-8EDE-4BC4-A5FB-70B70EFF8A38}"/>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8-2-text-2">
            <a:extLst xmlns:a="http://schemas.openxmlformats.org/drawingml/2006/main">
              <a:ext uri="{FF2B5EF4-FFF2-40B4-BE49-F238E27FC236}">
                <a16:creationId xmlns:a16="http://schemas.microsoft.com/office/drawing/2014/main" id="{5768834A-4853-4ADA-8511-7963E3FAE830}"/>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Continuous models use real-valued state or control.</a:t>
            </a:r>
          </a:p>
        </p:txBody>
      </p:sp>
      <p:sp>
        <p:nvSpPr>
          <p:cNvPr id="21" name="comparison-bullet-8-2-marker-3">
            <a:extLst xmlns:a="http://schemas.openxmlformats.org/drawingml/2006/main">
              <a:ext uri="{FF2B5EF4-FFF2-40B4-BE49-F238E27FC236}">
                <a16:creationId xmlns:a16="http://schemas.microsoft.com/office/drawing/2014/main" id="{237F25ED-1A35-4170-BC9B-8E8104C227FA}"/>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8-2-text-3">
            <a:extLst xmlns:a="http://schemas.openxmlformats.org/drawingml/2006/main">
              <a:ext uri="{FF2B5EF4-FFF2-40B4-BE49-F238E27FC236}">
                <a16:creationId xmlns:a16="http://schemas.microsoft.com/office/drawing/2014/main" id="{8277A5A9-92C7-43B8-8BFD-8F821ECA1F78}"/>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 software abstraction may discretize a continuous world.</a:t>
            </a:r>
          </a:p>
        </p:txBody>
      </p:sp>
      <p:cxnSp>
        <p:nvCxnSpPr>
          <p:cNvPr id="54" name="comparison-divider-8-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4" name="comparison-title-8-3">
            <a:extLst xmlns:a="http://schemas.openxmlformats.org/drawingml/2006/main">
              <a:ext uri="{FF2B5EF4-FFF2-40B4-BE49-F238E27FC236}">
                <a16:creationId xmlns:a16="http://schemas.microsoft.com/office/drawing/2014/main" id="{A93A9D08-C211-4513-9CB6-54C5F3B666AD}"/>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B3261E"/>
                </a:solidFill>
                <a:latin typeface="Arial"/>
                <a:ea typeface="Arial"/>
                <a:cs typeface="Arial"/>
              </a:defRPr>
            </a:pPr>
            <a:r>
              <a:rPr sz="2025" b="1">
                <a:solidFill>
                  <a:srgbClr val="B3261E"/>
                </a:solidFill>
                <a:latin typeface="Arial"/>
                <a:ea typeface="Arial"/>
                <a:cs typeface="Arial"/>
              </a:rPr>
              <a:t>Participants</a:t>
            </a:r>
          </a:p>
        </p:txBody>
      </p:sp>
      <p:sp>
        <p:nvSpPr>
          <p:cNvPr id="25" name="comparison-tagline-8-3">
            <a:extLst xmlns:a="http://schemas.openxmlformats.org/drawingml/2006/main">
              <a:ext uri="{FF2B5EF4-FFF2-40B4-BE49-F238E27FC236}">
                <a16:creationId xmlns:a16="http://schemas.microsoft.com/office/drawing/2014/main" id="{7B6A5BBA-FE86-4B20-B8D3-4550E87AEFF7}"/>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Whose choices affect performance?</a:t>
            </a:r>
          </a:p>
        </p:txBody>
      </p:sp>
      <p:sp>
        <p:nvSpPr>
          <p:cNvPr id="26" name="comparison-bullet-8-3-marker-1">
            <a:extLst xmlns:a="http://schemas.openxmlformats.org/drawingml/2006/main">
              <a:ext uri="{FF2B5EF4-FFF2-40B4-BE49-F238E27FC236}">
                <a16:creationId xmlns:a16="http://schemas.microsoft.com/office/drawing/2014/main" id="{CFCACC77-BC5F-429C-B105-593EBD597395}"/>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27" name="comparison-bullet-8-3-text-1">
            <a:extLst xmlns:a="http://schemas.openxmlformats.org/drawingml/2006/main">
              <a:ext uri="{FF2B5EF4-FFF2-40B4-BE49-F238E27FC236}">
                <a16:creationId xmlns:a16="http://schemas.microsoft.com/office/drawing/2014/main" id="{7B78473A-AC7D-47B7-946A-8BB403C880CF}"/>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Single-agent models treat others as environment dynamics.</a:t>
            </a:r>
          </a:p>
        </p:txBody>
      </p:sp>
      <p:sp>
        <p:nvSpPr>
          <p:cNvPr id="28" name="comparison-bullet-8-3-marker-2">
            <a:extLst xmlns:a="http://schemas.openxmlformats.org/drawingml/2006/main">
              <a:ext uri="{FF2B5EF4-FFF2-40B4-BE49-F238E27FC236}">
                <a16:creationId xmlns:a16="http://schemas.microsoft.com/office/drawing/2014/main" id="{C51A88CE-B78A-488D-8EA0-252384E7E299}"/>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29" name="comparison-bullet-8-3-text-2">
            <a:extLst xmlns:a="http://schemas.openxmlformats.org/drawingml/2006/main">
              <a:ext uri="{FF2B5EF4-FFF2-40B4-BE49-F238E27FC236}">
                <a16:creationId xmlns:a16="http://schemas.microsoft.com/office/drawing/2014/main" id="{EDC9BAB7-2B7D-479A-A6EA-DD6D462DC8FA}"/>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Cooperative agents share objectives.</a:t>
            </a:r>
          </a:p>
        </p:txBody>
      </p:sp>
      <p:sp>
        <p:nvSpPr>
          <p:cNvPr id="30" name="comparison-bullet-8-3-marker-3">
            <a:extLst xmlns:a="http://schemas.openxmlformats.org/drawingml/2006/main">
              <a:ext uri="{FF2B5EF4-FFF2-40B4-BE49-F238E27FC236}">
                <a16:creationId xmlns:a16="http://schemas.microsoft.com/office/drawing/2014/main" id="{037EEE81-C61F-4736-A79A-A682469CB549}"/>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31" name="comparison-bullet-8-3-text-3">
            <a:extLst xmlns:a="http://schemas.openxmlformats.org/drawingml/2006/main">
              <a:ext uri="{FF2B5EF4-FFF2-40B4-BE49-F238E27FC236}">
                <a16:creationId xmlns:a16="http://schemas.microsoft.com/office/drawing/2014/main" id="{EDC2985A-6A5E-4871-8FB5-323F0D95F269}"/>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Competitive agents create adversarial choices.</a:t>
            </a:r>
          </a:p>
        </p:txBody>
      </p:sp>
    </p:spTree>
    <p:extLst>
      <p:ext uri="{BB962C8B-B14F-4D97-AF65-F5344CB8AC3E}">
        <p14:creationId xmlns:p14="http://schemas.microsoft.com/office/powerpoint/2010/main" val="20747873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9">
            <a:extLst xmlns:a="http://schemas.openxmlformats.org/drawingml/2006/main">
              <a:ext uri="{FF2B5EF4-FFF2-40B4-BE49-F238E27FC236}">
                <a16:creationId xmlns:a16="http://schemas.microsoft.com/office/drawing/2014/main" id="{AB930749-CEF0-47A8-B563-2F9B673AC06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classify the robot's environment</a:t>
            </a:r>
          </a:p>
        </p:txBody>
      </p:sp>
      <p:sp>
        <p:nvSpPr>
          <p:cNvPr id="2" name="title-accent-9">
            <a:extLst xmlns:a="http://schemas.openxmlformats.org/drawingml/2006/main">
              <a:ext uri="{FF2B5EF4-FFF2-40B4-BE49-F238E27FC236}">
                <a16:creationId xmlns:a16="http://schemas.microsoft.com/office/drawing/2014/main" id="{CA3A6D5C-BBED-4524-ABEA-E6DA8E77881F}"/>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BBA179ED-1546-413F-B47B-F2BF14CFA79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9">
            <a:extLst xmlns:a="http://schemas.openxmlformats.org/drawingml/2006/main">
              <a:ext uri="{FF2B5EF4-FFF2-40B4-BE49-F238E27FC236}">
                <a16:creationId xmlns:a16="http://schemas.microsoft.com/office/drawing/2014/main" id="{6AFAA48F-F01A-4803-B0E8-00840717843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heckpoint-label-9">
            <a:extLst xmlns:a="http://schemas.openxmlformats.org/drawingml/2006/main">
              <a:ext uri="{FF2B5EF4-FFF2-40B4-BE49-F238E27FC236}">
                <a16:creationId xmlns:a16="http://schemas.microsoft.com/office/drawing/2014/main" id="{5D5D0FED-1DE6-4EC4-97F7-12633B1538F1}"/>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9">
            <a:extLst xmlns:a="http://schemas.openxmlformats.org/drawingml/2006/main">
              <a:ext uri="{FF2B5EF4-FFF2-40B4-BE49-F238E27FC236}">
                <a16:creationId xmlns:a16="http://schemas.microsoft.com/office/drawing/2014/main" id="{C54CC2C8-8C29-4C84-9137-BED0257EE7DA}"/>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625" b="1">
                <a:solidFill>
                  <a:srgbClr val="111111"/>
                </a:solidFill>
                <a:latin typeface="Arial"/>
                <a:ea typeface="Arial"/>
                <a:cs typeface="Arial"/>
              </a:defRPr>
            </a:pPr>
            <a:r>
              <a:rPr sz="2625" b="1">
                <a:solidFill>
                  <a:srgbClr val="111111"/>
                </a:solidFill>
                <a:latin typeface="Arial"/>
                <a:ea typeface="Arial"/>
                <a:cs typeface="Arial"/>
              </a:rPr>
              <a:t>A robot sees only nearby corridors, motion is noisy, pedestrians move during planning, and deliveries affect its remaining battery. How should the task be classified?</a:t>
            </a:r>
          </a:p>
        </p:txBody>
      </p:sp>
      <p:cxnSp>
        <p:nvCxnSpPr>
          <p:cNvPr id="22" name="checkpoint-rule-9"/>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9-1">
            <a:extLst xmlns:a="http://schemas.openxmlformats.org/drawingml/2006/main">
              <a:ext uri="{FF2B5EF4-FFF2-40B4-BE49-F238E27FC236}">
                <a16:creationId xmlns:a16="http://schemas.microsoft.com/office/drawing/2014/main" id="{E7F96C23-6A73-4DDA-BE88-914B96E8C81D}"/>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9-1">
            <a:extLst xmlns:a="http://schemas.openxmlformats.org/drawingml/2006/main">
              <a:ext uri="{FF2B5EF4-FFF2-40B4-BE49-F238E27FC236}">
                <a16:creationId xmlns:a16="http://schemas.microsoft.com/office/drawing/2014/main" id="{549E8533-CC94-40D2-872D-04799650CE7C}"/>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the observability and transition properties.</a:t>
            </a:r>
          </a:p>
        </p:txBody>
      </p:sp>
      <p:sp>
        <p:nvSpPr>
          <p:cNvPr id="11" name="checkpoint-prompt-number-9-2">
            <a:extLst xmlns:a="http://schemas.openxmlformats.org/drawingml/2006/main">
              <a:ext uri="{FF2B5EF4-FFF2-40B4-BE49-F238E27FC236}">
                <a16:creationId xmlns:a16="http://schemas.microsoft.com/office/drawing/2014/main" id="{4948F647-665F-4DFC-83B4-0788B1C423C3}"/>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9-2">
            <a:extLst xmlns:a="http://schemas.openxmlformats.org/drawingml/2006/main">
              <a:ext uri="{FF2B5EF4-FFF2-40B4-BE49-F238E27FC236}">
                <a16:creationId xmlns:a16="http://schemas.microsoft.com/office/drawing/2014/main" id="{53A6F503-F950-4469-89B1-EF169F3E6830}"/>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the time and temporal-coupling properties.</a:t>
            </a:r>
          </a:p>
        </p:txBody>
      </p:sp>
      <p:sp>
        <p:nvSpPr>
          <p:cNvPr id="13" name="checkpoint-prompt-number-9-3">
            <a:extLst xmlns:a="http://schemas.openxmlformats.org/drawingml/2006/main">
              <a:ext uri="{FF2B5EF4-FFF2-40B4-BE49-F238E27FC236}">
                <a16:creationId xmlns:a16="http://schemas.microsoft.com/office/drawing/2014/main" id="{E57EDE6D-E8F7-4E45-AC17-316BA971EBB9}"/>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9-3">
            <a:extLst xmlns:a="http://schemas.openxmlformats.org/drawingml/2006/main">
              <a:ext uri="{FF2B5EF4-FFF2-40B4-BE49-F238E27FC236}">
                <a16:creationId xmlns:a16="http://schemas.microsoft.com/office/drawing/2014/main" id="{E401B230-991D-4189-87DD-8740F8BB8EEF}"/>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Identify one modeling choice that could change a classification.</a:t>
            </a:r>
          </a:p>
        </p:txBody>
      </p:sp>
    </p:spTree>
    <p:extLst>
      <p:ext uri="{BB962C8B-B14F-4D97-AF65-F5344CB8AC3E}">
        <p14:creationId xmlns:p14="http://schemas.microsoft.com/office/powerpoint/2010/main" val="10704954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lide-title-10">
            <a:extLst xmlns:a="http://schemas.openxmlformats.org/drawingml/2006/main">
              <a:ext uri="{FF2B5EF4-FFF2-40B4-BE49-F238E27FC236}">
                <a16:creationId xmlns:a16="http://schemas.microsoft.com/office/drawing/2014/main" id="{AC48B4CD-2483-4F4B-82D9-0219645C3CB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Agent architectures add information and decision power</a:t>
            </a:r>
          </a:p>
        </p:txBody>
      </p:sp>
      <p:sp>
        <p:nvSpPr>
          <p:cNvPr id="2" name="title-accent-10">
            <a:extLst xmlns:a="http://schemas.openxmlformats.org/drawingml/2006/main">
              <a:ext uri="{FF2B5EF4-FFF2-40B4-BE49-F238E27FC236}">
                <a16:creationId xmlns:a16="http://schemas.microsoft.com/office/drawing/2014/main" id="{4092674F-18CF-484E-A987-8BAC9C8ECB6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4"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F6ABDBCA-F536-43BD-B053-12E6C163490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0">
            <a:extLst xmlns:a="http://schemas.openxmlformats.org/drawingml/2006/main">
              <a:ext uri="{FF2B5EF4-FFF2-40B4-BE49-F238E27FC236}">
                <a16:creationId xmlns:a16="http://schemas.microsoft.com/office/drawing/2014/main" id="{D59EE6AE-A0A1-4E5D-8FFE-2458437AFA7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omparison-title-10-1">
            <a:extLst xmlns:a="http://schemas.openxmlformats.org/drawingml/2006/main">
              <a:ext uri="{FF2B5EF4-FFF2-40B4-BE49-F238E27FC236}">
                <a16:creationId xmlns:a16="http://schemas.microsoft.com/office/drawing/2014/main" id="{5C8C3049-9C59-441D-BF06-F9E146BE4E63}"/>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Simple reflex</a:t>
            </a:r>
          </a:p>
        </p:txBody>
      </p:sp>
      <p:sp>
        <p:nvSpPr>
          <p:cNvPr id="7" name="comparison-tagline-10-1">
            <a:extLst xmlns:a="http://schemas.openxmlformats.org/drawingml/2006/main">
              <a:ext uri="{FF2B5EF4-FFF2-40B4-BE49-F238E27FC236}">
                <a16:creationId xmlns:a16="http://schemas.microsoft.com/office/drawing/2014/main" id="{21D685CF-3A7C-414B-8C59-A54BE3B91B02}"/>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Current percept -&gt; rule</a:t>
            </a:r>
          </a:p>
        </p:txBody>
      </p:sp>
      <p:sp>
        <p:nvSpPr>
          <p:cNvPr id="8" name="comparison-bullet-10-1-marker-1">
            <a:extLst xmlns:a="http://schemas.openxmlformats.org/drawingml/2006/main">
              <a:ext uri="{FF2B5EF4-FFF2-40B4-BE49-F238E27FC236}">
                <a16:creationId xmlns:a16="http://schemas.microsoft.com/office/drawing/2014/main" id="{2D1090B5-EE16-47DF-B59F-13DE7B00F55D}"/>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9" name="comparison-bullet-10-1-text-1">
            <a:extLst xmlns:a="http://schemas.openxmlformats.org/drawingml/2006/main">
              <a:ext uri="{FF2B5EF4-FFF2-40B4-BE49-F238E27FC236}">
                <a16:creationId xmlns:a16="http://schemas.microsoft.com/office/drawing/2014/main" id="{E53B4620-8E8D-4A47-B92E-9E1F3D9BA247}"/>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Condition-action rules only.</a:t>
            </a:r>
          </a:p>
        </p:txBody>
      </p:sp>
      <p:sp>
        <p:nvSpPr>
          <p:cNvPr id="10" name="comparison-bullet-10-1-marker-2">
            <a:extLst xmlns:a="http://schemas.openxmlformats.org/drawingml/2006/main">
              <a:ext uri="{FF2B5EF4-FFF2-40B4-BE49-F238E27FC236}">
                <a16:creationId xmlns:a16="http://schemas.microsoft.com/office/drawing/2014/main" id="{DC67F7F3-B457-4D71-B395-E8BF448FDDE1}"/>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1" name="comparison-bullet-10-1-text-2">
            <a:extLst xmlns:a="http://schemas.openxmlformats.org/drawingml/2006/main">
              <a:ext uri="{FF2B5EF4-FFF2-40B4-BE49-F238E27FC236}">
                <a16:creationId xmlns:a16="http://schemas.microsoft.com/office/drawing/2014/main" id="{F2502F0B-136D-4C94-851F-F838C1F056CF}"/>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 internal history or world state.</a:t>
            </a:r>
          </a:p>
        </p:txBody>
      </p:sp>
      <p:sp>
        <p:nvSpPr>
          <p:cNvPr id="12" name="comparison-bullet-10-1-marker-3">
            <a:extLst xmlns:a="http://schemas.openxmlformats.org/drawingml/2006/main">
              <a:ext uri="{FF2B5EF4-FFF2-40B4-BE49-F238E27FC236}">
                <a16:creationId xmlns:a16="http://schemas.microsoft.com/office/drawing/2014/main" id="{0DF4B817-C401-4EB2-A389-7CC80E924F6F}"/>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3" name="comparison-bullet-10-1-text-3">
            <a:extLst xmlns:a="http://schemas.openxmlformats.org/drawingml/2006/main">
              <a:ext uri="{FF2B5EF4-FFF2-40B4-BE49-F238E27FC236}">
                <a16:creationId xmlns:a16="http://schemas.microsoft.com/office/drawing/2014/main" id="{EEB14BCD-F327-4FB5-9A00-B79A1DB0A726}"/>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Fast, but brittle under hidden state.</a:t>
            </a:r>
          </a:p>
        </p:txBody>
      </p:sp>
      <p:cxnSp>
        <p:nvCxnSpPr>
          <p:cNvPr id="45" name="comparison-divider-10-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5" name="comparison-title-10-2">
            <a:extLst xmlns:a="http://schemas.openxmlformats.org/drawingml/2006/main">
              <a:ext uri="{FF2B5EF4-FFF2-40B4-BE49-F238E27FC236}">
                <a16:creationId xmlns:a16="http://schemas.microsoft.com/office/drawing/2014/main" id="{E048064D-1741-4E94-9D28-DEED4B371CB5}"/>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Model-based reflex</a:t>
            </a:r>
          </a:p>
        </p:txBody>
      </p:sp>
      <p:sp>
        <p:nvSpPr>
          <p:cNvPr id="16" name="comparison-tagline-10-2">
            <a:extLst xmlns:a="http://schemas.openxmlformats.org/drawingml/2006/main">
              <a:ext uri="{FF2B5EF4-FFF2-40B4-BE49-F238E27FC236}">
                <a16:creationId xmlns:a16="http://schemas.microsoft.com/office/drawing/2014/main" id="{3F12CEA9-2EC2-487A-A71D-76A599CC8A16}"/>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Percept + model -&gt; state -&gt; rule</a:t>
            </a:r>
          </a:p>
        </p:txBody>
      </p:sp>
      <p:sp>
        <p:nvSpPr>
          <p:cNvPr id="17" name="comparison-bullet-10-2-marker-1">
            <a:extLst xmlns:a="http://schemas.openxmlformats.org/drawingml/2006/main">
              <a:ext uri="{FF2B5EF4-FFF2-40B4-BE49-F238E27FC236}">
                <a16:creationId xmlns:a16="http://schemas.microsoft.com/office/drawing/2014/main" id="{79907C90-0000-4E82-AFB2-56173129F081}"/>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comparison-bullet-10-2-text-1">
            <a:extLst xmlns:a="http://schemas.openxmlformats.org/drawingml/2006/main">
              <a:ext uri="{FF2B5EF4-FFF2-40B4-BE49-F238E27FC236}">
                <a16:creationId xmlns:a16="http://schemas.microsoft.com/office/drawing/2014/main" id="{83967BD4-3683-45AE-AE16-3F90B96FDF70}"/>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Maintains an internal state estimate.</a:t>
            </a:r>
          </a:p>
        </p:txBody>
      </p:sp>
      <p:sp>
        <p:nvSpPr>
          <p:cNvPr id="19" name="comparison-bullet-10-2-marker-2">
            <a:extLst xmlns:a="http://schemas.openxmlformats.org/drawingml/2006/main">
              <a:ext uri="{FF2B5EF4-FFF2-40B4-BE49-F238E27FC236}">
                <a16:creationId xmlns:a16="http://schemas.microsoft.com/office/drawing/2014/main" id="{687ABB43-56C8-42DB-899D-288A4EA5DEC3}"/>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comparison-bullet-10-2-text-2">
            <a:extLst xmlns:a="http://schemas.openxmlformats.org/drawingml/2006/main">
              <a:ext uri="{FF2B5EF4-FFF2-40B4-BE49-F238E27FC236}">
                <a16:creationId xmlns:a16="http://schemas.microsoft.com/office/drawing/2014/main" id="{20196CA8-ABE8-48EB-895F-29F071C60CEA}"/>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Uses transition and sensor models.</a:t>
            </a:r>
          </a:p>
        </p:txBody>
      </p:sp>
      <p:sp>
        <p:nvSpPr>
          <p:cNvPr id="21" name="comparison-bullet-10-2-marker-3">
            <a:extLst xmlns:a="http://schemas.openxmlformats.org/drawingml/2006/main">
              <a:ext uri="{FF2B5EF4-FFF2-40B4-BE49-F238E27FC236}">
                <a16:creationId xmlns:a16="http://schemas.microsoft.com/office/drawing/2014/main" id="{D56C6F77-A24A-453C-AA4F-3FFCF6115360}"/>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comparison-bullet-10-2-text-3">
            <a:extLst xmlns:a="http://schemas.openxmlformats.org/drawingml/2006/main">
              <a:ext uri="{FF2B5EF4-FFF2-40B4-BE49-F238E27FC236}">
                <a16:creationId xmlns:a16="http://schemas.microsoft.com/office/drawing/2014/main" id="{C5C221BD-7C06-4B93-8505-6443069A03C5}"/>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Handles some partial observability.</a:t>
            </a:r>
          </a:p>
        </p:txBody>
      </p:sp>
      <p:cxnSp>
        <p:nvCxnSpPr>
          <p:cNvPr id="54" name="comparison-divider-10-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4" name="comparison-title-10-3">
            <a:extLst xmlns:a="http://schemas.openxmlformats.org/drawingml/2006/main">
              <a:ext uri="{FF2B5EF4-FFF2-40B4-BE49-F238E27FC236}">
                <a16:creationId xmlns:a16="http://schemas.microsoft.com/office/drawing/2014/main" id="{323E1219-EE06-49A1-ABAC-933AA01C8772}"/>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Goal-based</a:t>
            </a:r>
          </a:p>
        </p:txBody>
      </p:sp>
      <p:sp>
        <p:nvSpPr>
          <p:cNvPr id="25" name="comparison-tagline-10-3">
            <a:extLst xmlns:a="http://schemas.openxmlformats.org/drawingml/2006/main">
              <a:ext uri="{FF2B5EF4-FFF2-40B4-BE49-F238E27FC236}">
                <a16:creationId xmlns:a16="http://schemas.microsoft.com/office/drawing/2014/main" id="{71008D0E-6B75-477F-A598-C4D0D5582237}"/>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State + goal -&gt; plan</a:t>
            </a:r>
          </a:p>
        </p:txBody>
      </p:sp>
      <p:sp>
        <p:nvSpPr>
          <p:cNvPr id="26" name="comparison-bullet-10-3-marker-1">
            <a:extLst xmlns:a="http://schemas.openxmlformats.org/drawingml/2006/main">
              <a:ext uri="{FF2B5EF4-FFF2-40B4-BE49-F238E27FC236}">
                <a16:creationId xmlns:a16="http://schemas.microsoft.com/office/drawing/2014/main" id="{9FC0BCBC-C3F9-42D4-AEB0-D9DCC4CE683E}"/>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7" name="comparison-bullet-10-3-text-1">
            <a:extLst xmlns:a="http://schemas.openxmlformats.org/drawingml/2006/main">
              <a:ext uri="{FF2B5EF4-FFF2-40B4-BE49-F238E27FC236}">
                <a16:creationId xmlns:a16="http://schemas.microsoft.com/office/drawing/2014/main" id="{CC1212E0-D214-48E9-B499-0E072F406876}"/>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Tests whether candidate states satisfy a goal.</a:t>
            </a:r>
          </a:p>
        </p:txBody>
      </p:sp>
      <p:sp>
        <p:nvSpPr>
          <p:cNvPr id="28" name="comparison-bullet-10-3-marker-2">
            <a:extLst xmlns:a="http://schemas.openxmlformats.org/drawingml/2006/main">
              <a:ext uri="{FF2B5EF4-FFF2-40B4-BE49-F238E27FC236}">
                <a16:creationId xmlns:a16="http://schemas.microsoft.com/office/drawing/2014/main" id="{9F2E6C63-82C8-4A2D-8E74-F19DF2C5CE8A}"/>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9" name="comparison-bullet-10-3-text-2">
            <a:extLst xmlns:a="http://schemas.openxmlformats.org/drawingml/2006/main">
              <a:ext uri="{FF2B5EF4-FFF2-40B4-BE49-F238E27FC236}">
                <a16:creationId xmlns:a16="http://schemas.microsoft.com/office/drawing/2014/main" id="{30FCFC0E-A1A4-4132-9B28-2B2B415AE30F}"/>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Searches or plans over future consequences.</a:t>
            </a:r>
          </a:p>
        </p:txBody>
      </p:sp>
      <p:sp>
        <p:nvSpPr>
          <p:cNvPr id="30" name="comparison-bullet-10-3-marker-3">
            <a:extLst xmlns:a="http://schemas.openxmlformats.org/drawingml/2006/main">
              <a:ext uri="{FF2B5EF4-FFF2-40B4-BE49-F238E27FC236}">
                <a16:creationId xmlns:a16="http://schemas.microsoft.com/office/drawing/2014/main" id="{1F377C39-1E24-408A-92FF-17CD576FD6C8}"/>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0-3-text-3">
            <a:extLst xmlns:a="http://schemas.openxmlformats.org/drawingml/2006/main">
              <a:ext uri="{FF2B5EF4-FFF2-40B4-BE49-F238E27FC236}">
                <a16:creationId xmlns:a16="http://schemas.microsoft.com/office/drawing/2014/main" id="{2AB8179E-5A12-45AD-9D4A-3544F5DC91CD}"/>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Needs a transition model and goal test.</a:t>
            </a:r>
          </a:p>
        </p:txBody>
      </p:sp>
    </p:spTree>
    <p:extLst>
      <p:ext uri="{BB962C8B-B14F-4D97-AF65-F5344CB8AC3E}">
        <p14:creationId xmlns:p14="http://schemas.microsoft.com/office/powerpoint/2010/main" val="10462115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E89A9C89-19B6-4FF1-97F8-020A97AA270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Utility resolves tradeoffs that a goal test cannot</a:t>
            </a:r>
          </a:p>
        </p:txBody>
      </p:sp>
      <p:sp>
        <p:nvSpPr>
          <p:cNvPr id="2" name="title-accent-11">
            <a:extLst xmlns:a="http://schemas.openxmlformats.org/drawingml/2006/main">
              <a:ext uri="{FF2B5EF4-FFF2-40B4-BE49-F238E27FC236}">
                <a16:creationId xmlns:a16="http://schemas.microsoft.com/office/drawing/2014/main" id="{3D613B1F-E5B4-4DB8-ADA4-019A42C68FE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D4707B0A-E77F-4134-8EB5-1AFC565FB97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1">
            <a:extLst xmlns:a="http://schemas.openxmlformats.org/drawingml/2006/main">
              <a:ext uri="{FF2B5EF4-FFF2-40B4-BE49-F238E27FC236}">
                <a16:creationId xmlns:a16="http://schemas.microsoft.com/office/drawing/2014/main" id="{23139D94-87D2-4E7F-B193-71252BF2603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495344DF-9CDF-4298-A381-B76AD3E7C812}"/>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Goal-based agent</a:t>
            </a:r>
          </a:p>
        </p:txBody>
      </p:sp>
      <p:sp>
        <p:nvSpPr>
          <p:cNvPr id="8" name="right-title-11">
            <a:extLst xmlns:a="http://schemas.openxmlformats.org/drawingml/2006/main">
              <a:ext uri="{FF2B5EF4-FFF2-40B4-BE49-F238E27FC236}">
                <a16:creationId xmlns:a16="http://schemas.microsoft.com/office/drawing/2014/main" id="{3B9492FB-B680-43D3-92C2-3F280E6C5076}"/>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Utility-based agent</a:t>
            </a:r>
          </a:p>
        </p:txBody>
      </p:sp>
      <p:sp>
        <p:nvSpPr>
          <p:cNvPr id="9" name="left-bullet-11-marker-1">
            <a:extLst xmlns:a="http://schemas.openxmlformats.org/drawingml/2006/main">
              <a:ext uri="{FF2B5EF4-FFF2-40B4-BE49-F238E27FC236}">
                <a16:creationId xmlns:a16="http://schemas.microsoft.com/office/drawing/2014/main" id="{CE091855-0E41-4C6A-AADE-296085FFB4B9}"/>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5B540B0F-1B49-4F3B-B9DB-74B55D6F2AD6}"/>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Classifies states as goal or non-goal.</a:t>
            </a:r>
          </a:p>
        </p:txBody>
      </p:sp>
      <p:sp>
        <p:nvSpPr>
          <p:cNvPr id="11" name="left-bullet-11-marker-2">
            <a:extLst xmlns:a="http://schemas.openxmlformats.org/drawingml/2006/main">
              <a:ext uri="{FF2B5EF4-FFF2-40B4-BE49-F238E27FC236}">
                <a16:creationId xmlns:a16="http://schemas.microsoft.com/office/drawing/2014/main" id="{9D138370-EC62-4E4E-83A5-E1BA841E71FF}"/>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30A20DC9-F278-4617-A23F-6D5AC0BB4095}"/>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Any goal-reaching plan may be acceptable.</a:t>
            </a:r>
          </a:p>
        </p:txBody>
      </p:sp>
      <p:sp>
        <p:nvSpPr>
          <p:cNvPr id="13" name="left-bullet-11-marker-3">
            <a:extLst xmlns:a="http://schemas.openxmlformats.org/drawingml/2006/main">
              <a:ext uri="{FF2B5EF4-FFF2-40B4-BE49-F238E27FC236}">
                <a16:creationId xmlns:a16="http://schemas.microsoft.com/office/drawing/2014/main" id="{07C832CD-81E6-43D3-933A-32FF9A52A956}"/>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59C6242B-E1EC-4E81-83A0-C49CE30F9448}"/>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Path cost can prefer one solution when explicitly modeled.</a:t>
            </a:r>
          </a:p>
        </p:txBody>
      </p:sp>
      <p:sp>
        <p:nvSpPr>
          <p:cNvPr id="15" name="left-bullet-11-marker-4">
            <a:extLst xmlns:a="http://schemas.openxmlformats.org/drawingml/2006/main">
              <a:ext uri="{FF2B5EF4-FFF2-40B4-BE49-F238E27FC236}">
                <a16:creationId xmlns:a16="http://schemas.microsoft.com/office/drawing/2014/main" id="{23DD7037-AD29-4486-90E6-154BF2A3EF1B}"/>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3C10730E-7C06-4257-A9A2-E813BDF09754}"/>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Does not generally rank uncertain outcome distributions.</a:t>
            </a:r>
          </a:p>
        </p:txBody>
      </p:sp>
      <p:sp>
        <p:nvSpPr>
          <p:cNvPr id="17" name="right-bullet-11-marker-1">
            <a:extLst xmlns:a="http://schemas.openxmlformats.org/drawingml/2006/main">
              <a:ext uri="{FF2B5EF4-FFF2-40B4-BE49-F238E27FC236}">
                <a16:creationId xmlns:a16="http://schemas.microsoft.com/office/drawing/2014/main" id="{CAC9A137-D781-4043-87BC-235190AD11B2}"/>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A28CD58B-1D77-4B64-B079-F8B7B81BD86B}"/>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Assigns utility to outcomes or histories.</a:t>
            </a:r>
          </a:p>
        </p:txBody>
      </p:sp>
      <p:sp>
        <p:nvSpPr>
          <p:cNvPr id="19" name="right-bullet-11-marker-2">
            <a:extLst xmlns:a="http://schemas.openxmlformats.org/drawingml/2006/main">
              <a:ext uri="{FF2B5EF4-FFF2-40B4-BE49-F238E27FC236}">
                <a16:creationId xmlns:a16="http://schemas.microsoft.com/office/drawing/2014/main" id="{BCAF7C29-B453-4A75-88C9-96E5A23C7E2D}"/>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F2F67D31-8B88-41E6-88B2-915338A7EAFB}"/>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Ranks speed, safety, energy, comfort, or other tradeoffs.</a:t>
            </a:r>
          </a:p>
        </p:txBody>
      </p:sp>
      <p:sp>
        <p:nvSpPr>
          <p:cNvPr id="21" name="right-bullet-11-marker-3">
            <a:extLst xmlns:a="http://schemas.openxmlformats.org/drawingml/2006/main">
              <a:ext uri="{FF2B5EF4-FFF2-40B4-BE49-F238E27FC236}">
                <a16:creationId xmlns:a16="http://schemas.microsoft.com/office/drawing/2014/main" id="{A4901938-4244-4A61-BE8B-3612635AC593}"/>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FB446707-36E5-44DA-8DF2-D383593707BE}"/>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Chooses maximum expected utility under uncertainty.</a:t>
            </a:r>
          </a:p>
        </p:txBody>
      </p:sp>
      <p:sp>
        <p:nvSpPr>
          <p:cNvPr id="23" name="right-bullet-11-marker-4">
            <a:extLst xmlns:a="http://schemas.openxmlformats.org/drawingml/2006/main">
              <a:ext uri="{FF2B5EF4-FFF2-40B4-BE49-F238E27FC236}">
                <a16:creationId xmlns:a16="http://schemas.microsoft.com/office/drawing/2014/main" id="{F728B0F7-0850-4F52-84E8-0D822F1BA76D}"/>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B8AC79FF-710C-41E6-AF32-21D6342E386D}"/>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Requires calibrated preferences, not merely a destination.</a:t>
            </a:r>
          </a:p>
        </p:txBody>
      </p:sp>
    </p:spTree>
    <p:extLst>
      <p:ext uri="{BB962C8B-B14F-4D97-AF65-F5344CB8AC3E}">
        <p14:creationId xmlns:p14="http://schemas.microsoft.com/office/powerpoint/2010/main" val="6808361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2">
            <a:extLst xmlns:a="http://schemas.openxmlformats.org/drawingml/2006/main">
              <a:ext uri="{FF2B5EF4-FFF2-40B4-BE49-F238E27FC236}">
                <a16:creationId xmlns:a16="http://schemas.microsoft.com/office/drawing/2014/main" id="{5806BD3B-3A43-4F96-ACA7-FFAE5E3D351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choose an agent architecture</a:t>
            </a:r>
          </a:p>
        </p:txBody>
      </p:sp>
      <p:sp>
        <p:nvSpPr>
          <p:cNvPr id="2" name="title-accent-12">
            <a:extLst xmlns:a="http://schemas.openxmlformats.org/drawingml/2006/main">
              <a:ext uri="{FF2B5EF4-FFF2-40B4-BE49-F238E27FC236}">
                <a16:creationId xmlns:a16="http://schemas.microsoft.com/office/drawing/2014/main" id="{096F4C55-4E83-48B3-BF52-252353CD209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D9DBFD8A-B7D6-45DF-9B94-85375C5DE1E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2">
            <a:extLst xmlns:a="http://schemas.openxmlformats.org/drawingml/2006/main">
              <a:ext uri="{FF2B5EF4-FFF2-40B4-BE49-F238E27FC236}">
                <a16:creationId xmlns:a16="http://schemas.microsoft.com/office/drawing/2014/main" id="{08FA9461-6913-4608-A4A1-161E6734233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checkpoint-label-12">
            <a:extLst xmlns:a="http://schemas.openxmlformats.org/drawingml/2006/main">
              <a:ext uri="{FF2B5EF4-FFF2-40B4-BE49-F238E27FC236}">
                <a16:creationId xmlns:a16="http://schemas.microsoft.com/office/drawing/2014/main" id="{C32FB34D-0BF4-4EE4-A661-5C9863DCA32F}"/>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2">
            <a:extLst xmlns:a="http://schemas.openxmlformats.org/drawingml/2006/main">
              <a:ext uri="{FF2B5EF4-FFF2-40B4-BE49-F238E27FC236}">
                <a16:creationId xmlns:a16="http://schemas.microsoft.com/office/drawing/2014/main" id="{08FCCE1B-A03E-4642-9A7B-14EA5D7BECA7}"/>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625" b="1">
                <a:solidFill>
                  <a:srgbClr val="111111"/>
                </a:solidFill>
                <a:latin typeface="Arial"/>
                <a:ea typeface="Arial"/>
                <a:cs typeface="Arial"/>
              </a:defRPr>
            </a:pPr>
            <a:r>
              <a:rPr sz="2625" b="1">
                <a:solidFill>
                  <a:srgbClr val="111111"/>
                </a:solidFill>
                <a:latin typeface="Arial"/>
                <a:ea typeface="Arial"/>
                <a:cs typeface="Arial"/>
              </a:rPr>
              <a:t>A thermostat observes current temperature, estimates room heat loss, and chooses actions to minimize energy while maintaining a comfort range. Which agent type is the best description?</a:t>
            </a:r>
          </a:p>
        </p:txBody>
      </p:sp>
      <p:cxnSp>
        <p:nvCxnSpPr>
          <p:cNvPr id="22" name="checkpoint-rule-12"/>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2-1">
            <a:extLst xmlns:a="http://schemas.openxmlformats.org/drawingml/2006/main">
              <a:ext uri="{FF2B5EF4-FFF2-40B4-BE49-F238E27FC236}">
                <a16:creationId xmlns:a16="http://schemas.microsoft.com/office/drawing/2014/main" id="{FA633C97-166D-484C-8CA1-DE2F270276B0}"/>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2-1">
            <a:extLst xmlns:a="http://schemas.openxmlformats.org/drawingml/2006/main">
              <a:ext uri="{FF2B5EF4-FFF2-40B4-BE49-F238E27FC236}">
                <a16:creationId xmlns:a16="http://schemas.microsoft.com/office/drawing/2014/main" id="{5A3CA503-6946-41AF-B8FF-C46F393428B6}"/>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What internal state or model is required?</a:t>
            </a:r>
          </a:p>
        </p:txBody>
      </p:sp>
      <p:sp>
        <p:nvSpPr>
          <p:cNvPr id="11" name="checkpoint-prompt-number-12-2">
            <a:extLst xmlns:a="http://schemas.openxmlformats.org/drawingml/2006/main">
              <a:ext uri="{FF2B5EF4-FFF2-40B4-BE49-F238E27FC236}">
                <a16:creationId xmlns:a16="http://schemas.microsoft.com/office/drawing/2014/main" id="{B4F1E4AD-E379-4363-B365-E5D9D971280E}"/>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2-2">
            <a:extLst xmlns:a="http://schemas.openxmlformats.org/drawingml/2006/main">
              <a:ext uri="{FF2B5EF4-FFF2-40B4-BE49-F238E27FC236}">
                <a16:creationId xmlns:a16="http://schemas.microsoft.com/office/drawing/2014/main" id="{CE99B1BA-7FAC-4ADE-A48B-1160D206ADF9}"/>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Why is a simple reflex label incomplete?</a:t>
            </a:r>
          </a:p>
        </p:txBody>
      </p:sp>
      <p:sp>
        <p:nvSpPr>
          <p:cNvPr id="13" name="checkpoint-prompt-number-12-3">
            <a:extLst xmlns:a="http://schemas.openxmlformats.org/drawingml/2006/main">
              <a:ext uri="{FF2B5EF4-FFF2-40B4-BE49-F238E27FC236}">
                <a16:creationId xmlns:a16="http://schemas.microsoft.com/office/drawing/2014/main" id="{6DCFBAA3-0088-4619-A128-1C8CC6A6981C}"/>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2-3">
            <a:extLst xmlns:a="http://schemas.openxmlformats.org/drawingml/2006/main">
              <a:ext uri="{FF2B5EF4-FFF2-40B4-BE49-F238E27FC236}">
                <a16:creationId xmlns:a16="http://schemas.microsoft.com/office/drawing/2014/main" id="{882DA93B-EBC4-4779-AA95-5AA01E70AFF5}"/>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What does utility add beyond a Boolean comfort goal?</a:t>
            </a:r>
          </a:p>
        </p:txBody>
      </p:sp>
    </p:spTree>
    <p:extLst>
      <p:ext uri="{BB962C8B-B14F-4D97-AF65-F5344CB8AC3E}">
        <p14:creationId xmlns:p14="http://schemas.microsoft.com/office/powerpoint/2010/main" val="4946148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9F163CED-858E-4EE9-AA86-DBEAF5570655}"/>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search problem has five operational components</a:t>
            </a:r>
          </a:p>
        </p:txBody>
      </p:sp>
      <p:sp>
        <p:nvSpPr>
          <p:cNvPr id="2" name="title-accent-13">
            <a:extLst xmlns:a="http://schemas.openxmlformats.org/drawingml/2006/main">
              <a:ext uri="{FF2B5EF4-FFF2-40B4-BE49-F238E27FC236}">
                <a16:creationId xmlns:a16="http://schemas.microsoft.com/office/drawing/2014/main" id="{9F172DB4-8C49-4FC4-90AD-472D0DE34F1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959A1F1A-3FCF-4318-A9B9-EA02AE8676D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3">
            <a:extLst xmlns:a="http://schemas.openxmlformats.org/drawingml/2006/main">
              <a:ext uri="{FF2B5EF4-FFF2-40B4-BE49-F238E27FC236}">
                <a16:creationId xmlns:a16="http://schemas.microsoft.com/office/drawing/2014/main" id="{259D2461-D556-47D8-8E6B-F2485037FFD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formula-panel-13">
            <a:extLst xmlns:a="http://schemas.openxmlformats.org/drawingml/2006/main">
              <a:ext uri="{FF2B5EF4-FFF2-40B4-BE49-F238E27FC236}">
                <a16:creationId xmlns:a16="http://schemas.microsoft.com/office/drawing/2014/main" id="{61A6B7EB-DC80-4314-94B0-2EAC8DE8C188}"/>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3">
            <a:extLst xmlns:a="http://schemas.openxmlformats.org/drawingml/2006/main">
              <a:ext uri="{FF2B5EF4-FFF2-40B4-BE49-F238E27FC236}">
                <a16:creationId xmlns:a16="http://schemas.microsoft.com/office/drawing/2014/main" id="{B59B567B-2687-4787-BE37-AD25F2182BEA}"/>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Problem = &lt;s0, ACTIONS, RESULT, GOAL-TEST, c&gt;</a:t>
            </a:r>
          </a:p>
        </p:txBody>
      </p:sp>
      <p:sp>
        <p:nvSpPr>
          <p:cNvPr id="8" name="formula-definition-13-marker-1">
            <a:extLst xmlns:a="http://schemas.openxmlformats.org/drawingml/2006/main">
              <a:ext uri="{FF2B5EF4-FFF2-40B4-BE49-F238E27FC236}">
                <a16:creationId xmlns:a16="http://schemas.microsoft.com/office/drawing/2014/main" id="{AFCE8A1D-9596-4844-9D02-30DE1B5CA1FE}"/>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3-text-1">
            <a:extLst xmlns:a="http://schemas.openxmlformats.org/drawingml/2006/main">
              <a:ext uri="{FF2B5EF4-FFF2-40B4-BE49-F238E27FC236}">
                <a16:creationId xmlns:a16="http://schemas.microsoft.com/office/drawing/2014/main" id="{BC2939A6-9807-4A85-88E8-91F877B9DFBC}"/>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s0 in S is the initial state.</a:t>
            </a:r>
          </a:p>
        </p:txBody>
      </p:sp>
      <p:sp>
        <p:nvSpPr>
          <p:cNvPr id="10" name="formula-definition-13-marker-2">
            <a:extLst xmlns:a="http://schemas.openxmlformats.org/drawingml/2006/main">
              <a:ext uri="{FF2B5EF4-FFF2-40B4-BE49-F238E27FC236}">
                <a16:creationId xmlns:a16="http://schemas.microsoft.com/office/drawing/2014/main" id="{9ECEDCB9-4589-41F7-9097-2E7E2684DF04}"/>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3-text-2">
            <a:extLst xmlns:a="http://schemas.openxmlformats.org/drawingml/2006/main">
              <a:ext uri="{FF2B5EF4-FFF2-40B4-BE49-F238E27FC236}">
                <a16:creationId xmlns:a16="http://schemas.microsoft.com/office/drawing/2014/main" id="{B6BFF361-AF3B-49AD-AA92-82D8B1D4DCCA}"/>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ACTIONS(s) returns the legal actions available in state s.</a:t>
            </a:r>
          </a:p>
        </p:txBody>
      </p:sp>
      <p:sp>
        <p:nvSpPr>
          <p:cNvPr id="12" name="formula-definition-13-marker-3">
            <a:extLst xmlns:a="http://schemas.openxmlformats.org/drawingml/2006/main">
              <a:ext uri="{FF2B5EF4-FFF2-40B4-BE49-F238E27FC236}">
                <a16:creationId xmlns:a16="http://schemas.microsoft.com/office/drawing/2014/main" id="{2824F7A9-34F1-4021-B30C-4AA75773D06C}"/>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3-text-3">
            <a:extLst xmlns:a="http://schemas.openxmlformats.org/drawingml/2006/main">
              <a:ext uri="{FF2B5EF4-FFF2-40B4-BE49-F238E27FC236}">
                <a16:creationId xmlns:a16="http://schemas.microsoft.com/office/drawing/2014/main" id="{4E9DBA1E-A56E-4E19-B72D-A437A38F1BFE}"/>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RESULT(s, a) -&gt; s' defines the successor; GOAL-TEST(s) -&gt; Boolean.</a:t>
            </a:r>
          </a:p>
        </p:txBody>
      </p:sp>
      <p:sp>
        <p:nvSpPr>
          <p:cNvPr id="14" name="formula-definition-13-marker-4">
            <a:extLst xmlns:a="http://schemas.openxmlformats.org/drawingml/2006/main">
              <a:ext uri="{FF2B5EF4-FFF2-40B4-BE49-F238E27FC236}">
                <a16:creationId xmlns:a16="http://schemas.microsoft.com/office/drawing/2014/main" id="{E04AA50C-8266-4C1F-94F3-89FB6DCD17EE}"/>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3-text-4">
            <a:extLst xmlns:a="http://schemas.openxmlformats.org/drawingml/2006/main">
              <a:ext uri="{FF2B5EF4-FFF2-40B4-BE49-F238E27FC236}">
                <a16:creationId xmlns:a16="http://schemas.microsoft.com/office/drawing/2014/main" id="{AFA3434E-5347-42AE-BB34-1B12A1F464D0}"/>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c(s, a, s') &gt; 0 is step cost; path cost g is the sum over a path.</a:t>
            </a:r>
          </a:p>
        </p:txBody>
      </p:sp>
      <p:sp>
        <p:nvSpPr>
          <p:cNvPr id="16" name="formula-implication-panel-13">
            <a:extLst xmlns:a="http://schemas.openxmlformats.org/drawingml/2006/main">
              <a:ext uri="{FF2B5EF4-FFF2-40B4-BE49-F238E27FC236}">
                <a16:creationId xmlns:a16="http://schemas.microsoft.com/office/drawing/2014/main" id="{688C6ABD-401F-4A3B-8253-6DBC2DF26D0F}"/>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3">
            <a:extLst xmlns:a="http://schemas.openxmlformats.org/drawingml/2006/main">
              <a:ext uri="{FF2B5EF4-FFF2-40B4-BE49-F238E27FC236}">
                <a16:creationId xmlns:a16="http://schemas.microsoft.com/office/drawing/2014/main" id="{67597830-D89A-4520-8BB9-9BE4E884E620}"/>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3">
            <a:extLst xmlns:a="http://schemas.openxmlformats.org/drawingml/2006/main">
              <a:ext uri="{FF2B5EF4-FFF2-40B4-BE49-F238E27FC236}">
                <a16:creationId xmlns:a16="http://schemas.microsoft.com/office/drawing/2014/main" id="{EB1E00B1-A0D4-4D29-8740-5A4C8C1810E9}"/>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The state representation must contain enough information to predict legal successors, goal status, and future cost.</a:t>
            </a:r>
          </a:p>
        </p:txBody>
      </p:sp>
    </p:spTree>
    <p:extLst>
      <p:ext uri="{BB962C8B-B14F-4D97-AF65-F5344CB8AC3E}">
        <p14:creationId xmlns:p14="http://schemas.microsoft.com/office/powerpoint/2010/main" val="17840337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4">
            <a:extLst xmlns:a="http://schemas.openxmlformats.org/drawingml/2006/main">
              <a:ext uri="{FF2B5EF4-FFF2-40B4-BE49-F238E27FC236}">
                <a16:creationId xmlns:a16="http://schemas.microsoft.com/office/drawing/2014/main" id="{B798F1A5-C5DE-4A96-A1C9-BB0BBF82880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formalization: blocked gridworld</a:t>
            </a:r>
          </a:p>
        </p:txBody>
      </p:sp>
      <p:sp>
        <p:nvSpPr>
          <p:cNvPr id="2" name="title-accent-14">
            <a:extLst xmlns:a="http://schemas.openxmlformats.org/drawingml/2006/main">
              <a:ext uri="{FF2B5EF4-FFF2-40B4-BE49-F238E27FC236}">
                <a16:creationId xmlns:a16="http://schemas.microsoft.com/office/drawing/2014/main" id="{B3C05C2C-49A7-411E-B483-572505EAE03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51B30A73-D399-440B-8BF4-A5C0D31C57C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4">
            <a:extLst xmlns:a="http://schemas.openxmlformats.org/drawingml/2006/main">
              <a:ext uri="{FF2B5EF4-FFF2-40B4-BE49-F238E27FC236}">
                <a16:creationId xmlns:a16="http://schemas.microsoft.com/office/drawing/2014/main" id="{9B8C79CA-4A44-4975-8835-D8C5C04F390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example-label-14">
            <a:extLst xmlns:a="http://schemas.openxmlformats.org/drawingml/2006/main">
              <a:ext uri="{FF2B5EF4-FFF2-40B4-BE49-F238E27FC236}">
                <a16:creationId xmlns:a16="http://schemas.microsoft.com/office/drawing/2014/main" id="{AAE6BEFA-7CC1-4AF1-9EFA-D8601482E127}"/>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4">
            <a:extLst xmlns:a="http://schemas.openxmlformats.org/drawingml/2006/main">
              <a:ext uri="{FF2B5EF4-FFF2-40B4-BE49-F238E27FC236}">
                <a16:creationId xmlns:a16="http://schemas.microsoft.com/office/drawing/2014/main" id="{BA106221-EE48-4FD3-9A14-0C9B1F9BE577}"/>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 3 by 4 grid starts at (0,0), targets (2,3), blocks (1,1), and permits four unit moves.</a:t>
            </a:r>
          </a:p>
        </p:txBody>
      </p:sp>
      <p:cxnSp>
        <p:nvCxnSpPr>
          <p:cNvPr id="26" name="example-divider-14"/>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4-marker-1">
            <a:extLst xmlns:a="http://schemas.openxmlformats.org/drawingml/2006/main">
              <a:ext uri="{FF2B5EF4-FFF2-40B4-BE49-F238E27FC236}">
                <a16:creationId xmlns:a16="http://schemas.microsoft.com/office/drawing/2014/main" id="{C07D8B0E-FDE1-4905-A2CC-78AB16F13616}"/>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4-text-1">
            <a:extLst xmlns:a="http://schemas.openxmlformats.org/drawingml/2006/main">
              <a:ext uri="{FF2B5EF4-FFF2-40B4-BE49-F238E27FC236}">
                <a16:creationId xmlns:a16="http://schemas.microsoft.com/office/drawing/2014/main" id="{6793480B-E8C7-4136-9211-0844DC3E9470}"/>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 = all in-bounds unblocked (row, column) tuples; s0 = (0,0).</a:t>
            </a:r>
          </a:p>
        </p:txBody>
      </p:sp>
      <p:sp>
        <p:nvSpPr>
          <p:cNvPr id="11" name="example-step-14-marker-2">
            <a:extLst xmlns:a="http://schemas.openxmlformats.org/drawingml/2006/main">
              <a:ext uri="{FF2B5EF4-FFF2-40B4-BE49-F238E27FC236}">
                <a16:creationId xmlns:a16="http://schemas.microsoft.com/office/drawing/2014/main" id="{9D135D17-BE0B-419C-955F-D833B2163C14}"/>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4-text-2">
            <a:extLst xmlns:a="http://schemas.openxmlformats.org/drawingml/2006/main">
              <a:ext uri="{FF2B5EF4-FFF2-40B4-BE49-F238E27FC236}">
                <a16:creationId xmlns:a16="http://schemas.microsoft.com/office/drawing/2014/main" id="{767EC1C5-83E4-414F-AA53-9F39C78D30D9}"/>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ACTIONS(s) = moves whose destinations remain in S.</a:t>
            </a:r>
          </a:p>
        </p:txBody>
      </p:sp>
      <p:sp>
        <p:nvSpPr>
          <p:cNvPr id="13" name="example-step-14-marker-3">
            <a:extLst xmlns:a="http://schemas.openxmlformats.org/drawingml/2006/main">
              <a:ext uri="{FF2B5EF4-FFF2-40B4-BE49-F238E27FC236}">
                <a16:creationId xmlns:a16="http://schemas.microsoft.com/office/drawing/2014/main" id="{23F04ED8-B3D9-472C-B64F-D75D0BF9AD56}"/>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4-text-3">
            <a:extLst xmlns:a="http://schemas.openxmlformats.org/drawingml/2006/main">
              <a:ext uri="{FF2B5EF4-FFF2-40B4-BE49-F238E27FC236}">
                <a16:creationId xmlns:a16="http://schemas.microsoft.com/office/drawing/2014/main" id="{60D9A453-E2F7-4209-B921-0F39AE37F8C7}"/>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RESULT((r,c), move) adds the move's row and column delta.</a:t>
            </a:r>
          </a:p>
        </p:txBody>
      </p:sp>
      <p:sp>
        <p:nvSpPr>
          <p:cNvPr id="15" name="example-step-14-marker-4">
            <a:extLst xmlns:a="http://schemas.openxmlformats.org/drawingml/2006/main">
              <a:ext uri="{FF2B5EF4-FFF2-40B4-BE49-F238E27FC236}">
                <a16:creationId xmlns:a16="http://schemas.microsoft.com/office/drawing/2014/main" id="{CDD28925-FB64-43EA-9B39-12FE155864E0}"/>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4-text-4">
            <a:extLst xmlns:a="http://schemas.openxmlformats.org/drawingml/2006/main">
              <a:ext uri="{FF2B5EF4-FFF2-40B4-BE49-F238E27FC236}">
                <a16:creationId xmlns:a16="http://schemas.microsoft.com/office/drawing/2014/main" id="{40BF1C2D-8E2E-4028-B6F0-94297A586A35}"/>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GOAL-TEST(s) is s = (2,3); every legal step has cost 1.</a:t>
            </a:r>
          </a:p>
        </p:txBody>
      </p:sp>
      <p:sp>
        <p:nvSpPr>
          <p:cNvPr id="17" name="example-result-panel-14">
            <a:extLst xmlns:a="http://schemas.openxmlformats.org/drawingml/2006/main">
              <a:ext uri="{FF2B5EF4-FFF2-40B4-BE49-F238E27FC236}">
                <a16:creationId xmlns:a16="http://schemas.microsoft.com/office/drawing/2014/main" id="{01B065FF-F323-45B0-BD44-710A4B302136}"/>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4">
            <a:extLst xmlns:a="http://schemas.openxmlformats.org/drawingml/2006/main">
              <a:ext uri="{FF2B5EF4-FFF2-40B4-BE49-F238E27FC236}">
                <a16:creationId xmlns:a16="http://schemas.microsoft.com/office/drawing/2014/main" id="{24BBB9FF-9552-4540-94C3-60DD3A5BFDE8}"/>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One legal solution is Right, Right, Right, Down, Down with path cost g = 5.</a:t>
            </a:r>
          </a:p>
        </p:txBody>
      </p:sp>
    </p:spTree>
    <p:extLst>
      <p:ext uri="{BB962C8B-B14F-4D97-AF65-F5344CB8AC3E}">
        <p14:creationId xmlns:p14="http://schemas.microsoft.com/office/powerpoint/2010/main" val="3887246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5">
            <a:extLst xmlns:a="http://schemas.openxmlformats.org/drawingml/2006/main">
              <a:ext uri="{FF2B5EF4-FFF2-40B4-BE49-F238E27FC236}">
                <a16:creationId xmlns:a16="http://schemas.microsoft.com/office/drawing/2014/main" id="{237FC020-1DBE-4DB8-AA45-6B6909B4737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formal tuple becomes a Problem interface</a:t>
            </a:r>
          </a:p>
        </p:txBody>
      </p:sp>
      <p:sp>
        <p:nvSpPr>
          <p:cNvPr id="2" name="title-accent-15">
            <a:extLst xmlns:a="http://schemas.openxmlformats.org/drawingml/2006/main">
              <a:ext uri="{FF2B5EF4-FFF2-40B4-BE49-F238E27FC236}">
                <a16:creationId xmlns:a16="http://schemas.microsoft.com/office/drawing/2014/main" id="{0E9E564D-11B1-4C9A-A881-B61F7FA8E4B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14F7813B-4CD3-406E-B445-901262A73939}"/>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5">
            <a:extLst xmlns:a="http://schemas.openxmlformats.org/drawingml/2006/main">
              <a:ext uri="{FF2B5EF4-FFF2-40B4-BE49-F238E27FC236}">
                <a16:creationId xmlns:a16="http://schemas.microsoft.com/office/drawing/2014/main" id="{1771BAA4-A0EA-4CDD-B867-238B01CBD31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cxnSp>
        <p:nvCxnSpPr>
          <p:cNvPr id="30" name="column-divider-1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5">
            <a:extLst xmlns:a="http://schemas.openxmlformats.org/drawingml/2006/main">
              <a:ext uri="{FF2B5EF4-FFF2-40B4-BE49-F238E27FC236}">
                <a16:creationId xmlns:a16="http://schemas.microsoft.com/office/drawing/2014/main" id="{AC3ED315-0CE0-4D38-8D73-84BA3E86975D}"/>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Mathematical component</a:t>
            </a:r>
          </a:p>
        </p:txBody>
      </p:sp>
      <p:sp>
        <p:nvSpPr>
          <p:cNvPr id="8" name="right-title-15">
            <a:extLst xmlns:a="http://schemas.openxmlformats.org/drawingml/2006/main">
              <a:ext uri="{FF2B5EF4-FFF2-40B4-BE49-F238E27FC236}">
                <a16:creationId xmlns:a16="http://schemas.microsoft.com/office/drawing/2014/main" id="{8C0C55C0-9624-43E5-BE34-E2F67DD567C3}"/>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Executable contract</a:t>
            </a:r>
          </a:p>
        </p:txBody>
      </p:sp>
      <p:sp>
        <p:nvSpPr>
          <p:cNvPr id="9" name="left-bullet-15-marker-1">
            <a:extLst xmlns:a="http://schemas.openxmlformats.org/drawingml/2006/main">
              <a:ext uri="{FF2B5EF4-FFF2-40B4-BE49-F238E27FC236}">
                <a16:creationId xmlns:a16="http://schemas.microsoft.com/office/drawing/2014/main" id="{2798E604-3774-4E39-B572-E1A6A2ADC7A9}"/>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5-text-1">
            <a:extLst xmlns:a="http://schemas.openxmlformats.org/drawingml/2006/main">
              <a:ext uri="{FF2B5EF4-FFF2-40B4-BE49-F238E27FC236}">
                <a16:creationId xmlns:a16="http://schemas.microsoft.com/office/drawing/2014/main" id="{914FBF2B-8B7F-4B8B-A41E-04163EE374BB}"/>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Initial state s0</a:t>
            </a:r>
          </a:p>
        </p:txBody>
      </p:sp>
      <p:sp>
        <p:nvSpPr>
          <p:cNvPr id="11" name="left-bullet-15-marker-2">
            <a:extLst xmlns:a="http://schemas.openxmlformats.org/drawingml/2006/main">
              <a:ext uri="{FF2B5EF4-FFF2-40B4-BE49-F238E27FC236}">
                <a16:creationId xmlns:a16="http://schemas.microsoft.com/office/drawing/2014/main" id="{C96DFA1C-09F2-41FC-A902-BDCA0EAC1105}"/>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5-text-2">
            <a:extLst xmlns:a="http://schemas.openxmlformats.org/drawingml/2006/main">
              <a:ext uri="{FF2B5EF4-FFF2-40B4-BE49-F238E27FC236}">
                <a16:creationId xmlns:a16="http://schemas.microsoft.com/office/drawing/2014/main" id="{790402CA-24B4-4DE3-87CF-353D08EEC543}"/>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ACTIONS(s) and RESULT(s,a)</a:t>
            </a:r>
          </a:p>
        </p:txBody>
      </p:sp>
      <p:sp>
        <p:nvSpPr>
          <p:cNvPr id="13" name="left-bullet-15-marker-3">
            <a:extLst xmlns:a="http://schemas.openxmlformats.org/drawingml/2006/main">
              <a:ext uri="{FF2B5EF4-FFF2-40B4-BE49-F238E27FC236}">
                <a16:creationId xmlns:a16="http://schemas.microsoft.com/office/drawing/2014/main" id="{73B658C9-E48B-47C0-B5D1-995098B7C8C3}"/>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5-text-3">
            <a:extLst xmlns:a="http://schemas.openxmlformats.org/drawingml/2006/main">
              <a:ext uri="{FF2B5EF4-FFF2-40B4-BE49-F238E27FC236}">
                <a16:creationId xmlns:a16="http://schemas.microsoft.com/office/drawing/2014/main" id="{FF3F2ED6-C78B-47F5-B99C-DEA251A8EF20}"/>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GOAL-TEST(s)</a:t>
            </a:r>
          </a:p>
        </p:txBody>
      </p:sp>
      <p:sp>
        <p:nvSpPr>
          <p:cNvPr id="15" name="left-bullet-15-marker-4">
            <a:extLst xmlns:a="http://schemas.openxmlformats.org/drawingml/2006/main">
              <a:ext uri="{FF2B5EF4-FFF2-40B4-BE49-F238E27FC236}">
                <a16:creationId xmlns:a16="http://schemas.microsoft.com/office/drawing/2014/main" id="{7AAD2BF6-7A4A-4B07-9F32-E5CA5C0AB427}"/>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5-text-4">
            <a:extLst xmlns:a="http://schemas.openxmlformats.org/drawingml/2006/main">
              <a:ext uri="{FF2B5EF4-FFF2-40B4-BE49-F238E27FC236}">
                <a16:creationId xmlns:a16="http://schemas.microsoft.com/office/drawing/2014/main" id="{23A531F8-3353-4978-BD9F-604B96BB89F7}"/>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Step cost c(s,a,s')</a:t>
            </a:r>
          </a:p>
        </p:txBody>
      </p:sp>
      <p:sp>
        <p:nvSpPr>
          <p:cNvPr id="17" name="right-bullet-15-marker-1">
            <a:extLst xmlns:a="http://schemas.openxmlformats.org/drawingml/2006/main">
              <a:ext uri="{FF2B5EF4-FFF2-40B4-BE49-F238E27FC236}">
                <a16:creationId xmlns:a16="http://schemas.microsoft.com/office/drawing/2014/main" id="{41CFF142-1EE5-4311-A64A-63A23AF2E7CE}"/>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5-text-1">
            <a:extLst xmlns:a="http://schemas.openxmlformats.org/drawingml/2006/main">
              <a:ext uri="{FF2B5EF4-FFF2-40B4-BE49-F238E27FC236}">
                <a16:creationId xmlns:a16="http://schemas.microsoft.com/office/drawing/2014/main" id="{0CF698F4-0D64-4886-B64C-9350BD6ABFE1}"/>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initial_state() returns an immutable, validated State.</a:t>
            </a:r>
          </a:p>
        </p:txBody>
      </p:sp>
      <p:sp>
        <p:nvSpPr>
          <p:cNvPr id="19" name="right-bullet-15-marker-2">
            <a:extLst xmlns:a="http://schemas.openxmlformats.org/drawingml/2006/main">
              <a:ext uri="{FF2B5EF4-FFF2-40B4-BE49-F238E27FC236}">
                <a16:creationId xmlns:a16="http://schemas.microsoft.com/office/drawing/2014/main" id="{519919A1-6E58-449A-A7F8-D6CBC23F2B73}"/>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5-text-2">
            <a:extLst xmlns:a="http://schemas.openxmlformats.org/drawingml/2006/main">
              <a:ext uri="{FF2B5EF4-FFF2-40B4-BE49-F238E27FC236}">
                <a16:creationId xmlns:a16="http://schemas.microsoft.com/office/drawing/2014/main" id="{C97E20A9-191E-44D9-8C6D-D08AD875B44F}"/>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actions(state) is deterministic; result rejects illegal actions.</a:t>
            </a:r>
          </a:p>
        </p:txBody>
      </p:sp>
      <p:sp>
        <p:nvSpPr>
          <p:cNvPr id="21" name="right-bullet-15-marker-3">
            <a:extLst xmlns:a="http://schemas.openxmlformats.org/drawingml/2006/main">
              <a:ext uri="{FF2B5EF4-FFF2-40B4-BE49-F238E27FC236}">
                <a16:creationId xmlns:a16="http://schemas.microsoft.com/office/drawing/2014/main" id="{9B07ADA8-CEAA-4585-8984-201C78DD83B4}"/>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5-text-3">
            <a:extLst xmlns:a="http://schemas.openxmlformats.org/drawingml/2006/main">
              <a:ext uri="{FF2B5EF4-FFF2-40B4-BE49-F238E27FC236}">
                <a16:creationId xmlns:a16="http://schemas.microsoft.com/office/drawing/2014/main" id="{39FE40C8-56E0-48B7-B635-DA3D8B96F20A}"/>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goal_test(state) returns a real Boolean after validation.</a:t>
            </a:r>
          </a:p>
        </p:txBody>
      </p:sp>
      <p:sp>
        <p:nvSpPr>
          <p:cNvPr id="23" name="right-bullet-15-marker-4">
            <a:extLst xmlns:a="http://schemas.openxmlformats.org/drawingml/2006/main">
              <a:ext uri="{FF2B5EF4-FFF2-40B4-BE49-F238E27FC236}">
                <a16:creationId xmlns:a16="http://schemas.microsoft.com/office/drawing/2014/main" id="{55A15E0A-F318-47CE-B6E1-ACCF8F54B1DA}"/>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5-text-4">
            <a:extLst xmlns:a="http://schemas.openxmlformats.org/drawingml/2006/main">
              <a:ext uri="{FF2B5EF4-FFF2-40B4-BE49-F238E27FC236}">
                <a16:creationId xmlns:a16="http://schemas.microsoft.com/office/drawing/2014/main" id="{FCCE122B-9CDD-4590-85AA-C98CC6FA3FF3}"/>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step_cost validates the transition and returns a positive number.</a:t>
            </a:r>
          </a:p>
        </p:txBody>
      </p:sp>
    </p:spTree>
    <p:extLst>
      <p:ext uri="{BB962C8B-B14F-4D97-AF65-F5344CB8AC3E}">
        <p14:creationId xmlns:p14="http://schemas.microsoft.com/office/powerpoint/2010/main" val="3542665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6">
            <a:extLst xmlns:a="http://schemas.openxmlformats.org/drawingml/2006/main">
              <a:ext uri="{FF2B5EF4-FFF2-40B4-BE49-F238E27FC236}">
                <a16:creationId xmlns:a16="http://schemas.microsoft.com/office/drawing/2014/main" id="{D1C3D5BB-04E3-45A9-9F04-BD4A88B1AAE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Search trees represent paths; search graphs deduplicate states</a:t>
            </a:r>
          </a:p>
        </p:txBody>
      </p:sp>
      <p:sp>
        <p:nvSpPr>
          <p:cNvPr id="2" name="title-accent-16">
            <a:extLst xmlns:a="http://schemas.openxmlformats.org/drawingml/2006/main">
              <a:ext uri="{FF2B5EF4-FFF2-40B4-BE49-F238E27FC236}">
                <a16:creationId xmlns:a16="http://schemas.microsoft.com/office/drawing/2014/main" id="{65A66AB1-CF21-4D1B-AEBE-E9A082ED47B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84E7414E-1624-4FBC-8EE7-9030B0C9143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6">
            <a:extLst xmlns:a="http://schemas.openxmlformats.org/drawingml/2006/main">
              <a:ext uri="{FF2B5EF4-FFF2-40B4-BE49-F238E27FC236}">
                <a16:creationId xmlns:a16="http://schemas.microsoft.com/office/drawing/2014/main" id="{72CFB3E9-12C0-4BAE-9EAC-80405C1ED36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omparison-title-16-1">
            <a:extLst xmlns:a="http://schemas.openxmlformats.org/drawingml/2006/main">
              <a:ext uri="{FF2B5EF4-FFF2-40B4-BE49-F238E27FC236}">
                <a16:creationId xmlns:a16="http://schemas.microsoft.com/office/drawing/2014/main" id="{B15632BA-03FF-4877-BB2C-70AC61D951F8}"/>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Search tree</a:t>
            </a:r>
          </a:p>
        </p:txBody>
      </p:sp>
      <p:sp>
        <p:nvSpPr>
          <p:cNvPr id="7" name="comparison-tagline-16-1">
            <a:extLst xmlns:a="http://schemas.openxmlformats.org/drawingml/2006/main">
              <a:ext uri="{FF2B5EF4-FFF2-40B4-BE49-F238E27FC236}">
                <a16:creationId xmlns:a16="http://schemas.microsoft.com/office/drawing/2014/main" id="{C4A85D8E-154C-40C0-8AD5-4C7A18C172A6}"/>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 node identifies a path</a:t>
            </a:r>
          </a:p>
        </p:txBody>
      </p:sp>
      <p:sp>
        <p:nvSpPr>
          <p:cNvPr id="8" name="comparison-bullet-16-1-marker-1">
            <a:extLst xmlns:a="http://schemas.openxmlformats.org/drawingml/2006/main">
              <a:ext uri="{FF2B5EF4-FFF2-40B4-BE49-F238E27FC236}">
                <a16:creationId xmlns:a16="http://schemas.microsoft.com/office/drawing/2014/main" id="{CB1F782F-7A58-44B1-B07A-8E3FFAEA004A}"/>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9" name="comparison-bullet-16-1-text-1">
            <a:extLst xmlns:a="http://schemas.openxmlformats.org/drawingml/2006/main">
              <a:ext uri="{FF2B5EF4-FFF2-40B4-BE49-F238E27FC236}">
                <a16:creationId xmlns:a16="http://schemas.microsoft.com/office/drawing/2014/main" id="{87BBC525-9316-461A-A9E5-090BC9896B05}"/>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Root is the initial-state node.</a:t>
            </a:r>
          </a:p>
        </p:txBody>
      </p:sp>
      <p:sp>
        <p:nvSpPr>
          <p:cNvPr id="10" name="comparison-bullet-16-1-marker-2">
            <a:extLst xmlns:a="http://schemas.openxmlformats.org/drawingml/2006/main">
              <a:ext uri="{FF2B5EF4-FFF2-40B4-BE49-F238E27FC236}">
                <a16:creationId xmlns:a16="http://schemas.microsoft.com/office/drawing/2014/main" id="{7CCA99D8-BDD0-4128-9EBD-5A5FAC9B7958}"/>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1" name="comparison-bullet-16-1-text-2">
            <a:extLst xmlns:a="http://schemas.openxmlformats.org/drawingml/2006/main">
              <a:ext uri="{FF2B5EF4-FFF2-40B4-BE49-F238E27FC236}">
                <a16:creationId xmlns:a16="http://schemas.microsoft.com/office/drawing/2014/main" id="{7A1E7C15-4391-41A9-890F-9F847758A90C}"/>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Children extend one path by one action.</a:t>
            </a:r>
          </a:p>
        </p:txBody>
      </p:sp>
      <p:sp>
        <p:nvSpPr>
          <p:cNvPr id="12" name="comparison-bullet-16-1-marker-3">
            <a:extLst xmlns:a="http://schemas.openxmlformats.org/drawingml/2006/main">
              <a:ext uri="{FF2B5EF4-FFF2-40B4-BE49-F238E27FC236}">
                <a16:creationId xmlns:a16="http://schemas.microsoft.com/office/drawing/2014/main" id="{EBB88C06-09A8-499D-8D70-F49C6275D6EE}"/>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3" name="comparison-bullet-16-1-text-3">
            <a:extLst xmlns:a="http://schemas.openxmlformats.org/drawingml/2006/main">
              <a:ext uri="{FF2B5EF4-FFF2-40B4-BE49-F238E27FC236}">
                <a16:creationId xmlns:a16="http://schemas.microsoft.com/office/drawing/2014/main" id="{3013A8C3-0EE8-433D-9063-FE23EEDF5CD2}"/>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The same state may appear in many nodes.</a:t>
            </a:r>
          </a:p>
        </p:txBody>
      </p:sp>
      <p:sp>
        <p:nvSpPr>
          <p:cNvPr id="14" name="comparison-bullet-16-1-marker-4">
            <a:extLst xmlns:a="http://schemas.openxmlformats.org/drawingml/2006/main">
              <a:ext uri="{FF2B5EF4-FFF2-40B4-BE49-F238E27FC236}">
                <a16:creationId xmlns:a16="http://schemas.microsoft.com/office/drawing/2014/main" id="{FF3E08CD-71E1-445B-B8E6-CB7B0F3C2ABD}"/>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5" name="comparison-bullet-16-1-text-4">
            <a:extLst xmlns:a="http://schemas.openxmlformats.org/drawingml/2006/main">
              <a:ext uri="{FF2B5EF4-FFF2-40B4-BE49-F238E27FC236}">
                <a16:creationId xmlns:a16="http://schemas.microsoft.com/office/drawing/2014/main" id="{94D86CFD-7112-4AF3-8FB6-95C82766DAEC}"/>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Cycles can produce infinite depth.</a:t>
            </a:r>
          </a:p>
        </p:txBody>
      </p:sp>
      <p:cxnSp>
        <p:nvCxnSpPr>
          <p:cNvPr id="53" name="comparison-divider-16-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6-2">
            <a:extLst xmlns:a="http://schemas.openxmlformats.org/drawingml/2006/main">
              <a:ext uri="{FF2B5EF4-FFF2-40B4-BE49-F238E27FC236}">
                <a16:creationId xmlns:a16="http://schemas.microsoft.com/office/drawing/2014/main" id="{AF53284A-6869-4634-A1AA-16B34BDAC22F}"/>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Search graph</a:t>
            </a:r>
          </a:p>
        </p:txBody>
      </p:sp>
      <p:sp>
        <p:nvSpPr>
          <p:cNvPr id="18" name="comparison-tagline-16-2">
            <a:extLst xmlns:a="http://schemas.openxmlformats.org/drawingml/2006/main">
              <a:ext uri="{FF2B5EF4-FFF2-40B4-BE49-F238E27FC236}">
                <a16:creationId xmlns:a16="http://schemas.microsoft.com/office/drawing/2014/main" id="{A8043721-26AE-4F2E-94DD-D0CDC64B491E}"/>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States are recognized across paths</a:t>
            </a:r>
          </a:p>
        </p:txBody>
      </p:sp>
      <p:sp>
        <p:nvSpPr>
          <p:cNvPr id="19" name="comparison-bullet-16-2-marker-1">
            <a:extLst xmlns:a="http://schemas.openxmlformats.org/drawingml/2006/main">
              <a:ext uri="{FF2B5EF4-FFF2-40B4-BE49-F238E27FC236}">
                <a16:creationId xmlns:a16="http://schemas.microsoft.com/office/drawing/2014/main" id="{4286B67F-FAF4-4AE5-8CDD-9B36F3374DE9}"/>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comparison-bullet-16-2-text-1">
            <a:extLst xmlns:a="http://schemas.openxmlformats.org/drawingml/2006/main">
              <a:ext uri="{FF2B5EF4-FFF2-40B4-BE49-F238E27FC236}">
                <a16:creationId xmlns:a16="http://schemas.microsoft.com/office/drawing/2014/main" id="{1C80CCF5-99AE-489A-B89F-6E706C18861E}"/>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Equal states are deduplicated.</a:t>
            </a:r>
          </a:p>
        </p:txBody>
      </p:sp>
      <p:sp>
        <p:nvSpPr>
          <p:cNvPr id="21" name="comparison-bullet-16-2-marker-2">
            <a:extLst xmlns:a="http://schemas.openxmlformats.org/drawingml/2006/main">
              <a:ext uri="{FF2B5EF4-FFF2-40B4-BE49-F238E27FC236}">
                <a16:creationId xmlns:a16="http://schemas.microsoft.com/office/drawing/2014/main" id="{CCEB6C43-29FA-4C2B-9F38-3AE9D4347179}"/>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comparison-bullet-16-2-text-2">
            <a:extLst xmlns:a="http://schemas.openxmlformats.org/drawingml/2006/main">
              <a:ext uri="{FF2B5EF4-FFF2-40B4-BE49-F238E27FC236}">
                <a16:creationId xmlns:a16="http://schemas.microsoft.com/office/drawing/2014/main" id="{148DB2C4-676C-49FF-90C2-2C679B5451ED}"/>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An explored set records processed states.</a:t>
            </a:r>
          </a:p>
        </p:txBody>
      </p:sp>
      <p:sp>
        <p:nvSpPr>
          <p:cNvPr id="23" name="comparison-bullet-16-2-marker-3">
            <a:extLst xmlns:a="http://schemas.openxmlformats.org/drawingml/2006/main">
              <a:ext uri="{FF2B5EF4-FFF2-40B4-BE49-F238E27FC236}">
                <a16:creationId xmlns:a16="http://schemas.microsoft.com/office/drawing/2014/main" id="{F7943726-ABE5-44DC-B85E-55554D06FFBE}"/>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comparison-bullet-16-2-text-3">
            <a:extLst xmlns:a="http://schemas.openxmlformats.org/drawingml/2006/main">
              <a:ext uri="{FF2B5EF4-FFF2-40B4-BE49-F238E27FC236}">
                <a16:creationId xmlns:a16="http://schemas.microsoft.com/office/drawing/2014/main" id="{1F9DDE8F-92E4-40AC-BED6-CE88664864B0}"/>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Frontier membership may prevent duplicate work.</a:t>
            </a:r>
          </a:p>
        </p:txBody>
      </p:sp>
      <p:sp>
        <p:nvSpPr>
          <p:cNvPr id="25" name="comparison-bullet-16-2-marker-4">
            <a:extLst xmlns:a="http://schemas.openxmlformats.org/drawingml/2006/main">
              <a:ext uri="{FF2B5EF4-FFF2-40B4-BE49-F238E27FC236}">
                <a16:creationId xmlns:a16="http://schemas.microsoft.com/office/drawing/2014/main" id="{98208386-168F-4778-8555-2D11FF24454C}"/>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comparison-bullet-16-2-text-4">
            <a:extLst xmlns:a="http://schemas.openxmlformats.org/drawingml/2006/main">
              <a:ext uri="{FF2B5EF4-FFF2-40B4-BE49-F238E27FC236}">
                <a16:creationId xmlns:a16="http://schemas.microsoft.com/office/drawing/2014/main" id="{5609A5BC-87C1-4D8D-AAD3-D188CEF93DBC}"/>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Cheaper rediscovery may require an update.</a:t>
            </a:r>
          </a:p>
        </p:txBody>
      </p:sp>
      <p:cxnSp>
        <p:nvCxnSpPr>
          <p:cNvPr id="64" name="comparison-divider-16-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6-3">
            <a:extLst xmlns:a="http://schemas.openxmlformats.org/drawingml/2006/main">
              <a:ext uri="{FF2B5EF4-FFF2-40B4-BE49-F238E27FC236}">
                <a16:creationId xmlns:a16="http://schemas.microsoft.com/office/drawing/2014/main" id="{44ADECDD-4DE7-4673-8CAF-1886A62CE454}"/>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Engineering effect</a:t>
            </a:r>
          </a:p>
        </p:txBody>
      </p:sp>
      <p:sp>
        <p:nvSpPr>
          <p:cNvPr id="29" name="comparison-tagline-16-3">
            <a:extLst xmlns:a="http://schemas.openxmlformats.org/drawingml/2006/main">
              <a:ext uri="{FF2B5EF4-FFF2-40B4-BE49-F238E27FC236}">
                <a16:creationId xmlns:a16="http://schemas.microsoft.com/office/drawing/2014/main" id="{43422437-0A42-4DCF-AD5C-95DB4429CE95}"/>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Equality controls performance</a:t>
            </a:r>
          </a:p>
        </p:txBody>
      </p:sp>
      <p:sp>
        <p:nvSpPr>
          <p:cNvPr id="30" name="comparison-bullet-16-3-marker-1">
            <a:extLst xmlns:a="http://schemas.openxmlformats.org/drawingml/2006/main">
              <a:ext uri="{FF2B5EF4-FFF2-40B4-BE49-F238E27FC236}">
                <a16:creationId xmlns:a16="http://schemas.microsoft.com/office/drawing/2014/main" id="{3DB4979E-FE74-412C-BF9A-918244B12ACC}"/>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6-3-text-1">
            <a:extLst xmlns:a="http://schemas.openxmlformats.org/drawingml/2006/main">
              <a:ext uri="{FF2B5EF4-FFF2-40B4-BE49-F238E27FC236}">
                <a16:creationId xmlns:a16="http://schemas.microsoft.com/office/drawing/2014/main" id="{EFB325A5-4563-42AA-91AD-4BC0C887C73D}"/>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Stable hashing enables near-constant membership.</a:t>
            </a:r>
          </a:p>
        </p:txBody>
      </p:sp>
      <p:sp>
        <p:nvSpPr>
          <p:cNvPr id="32" name="comparison-bullet-16-3-marker-2">
            <a:extLst xmlns:a="http://schemas.openxmlformats.org/drawingml/2006/main">
              <a:ext uri="{FF2B5EF4-FFF2-40B4-BE49-F238E27FC236}">
                <a16:creationId xmlns:a16="http://schemas.microsoft.com/office/drawing/2014/main" id="{E5F5A1A1-2335-40A8-8220-5A9867CA106C}"/>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16-3-text-2">
            <a:extLst xmlns:a="http://schemas.openxmlformats.org/drawingml/2006/main">
              <a:ext uri="{FF2B5EF4-FFF2-40B4-BE49-F238E27FC236}">
                <a16:creationId xmlns:a16="http://schemas.microsoft.com/office/drawing/2014/main" id="{F0E353CC-7D35-4750-858D-3AB336BA1C9D}"/>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Mutable state keys corrupt deduplication.</a:t>
            </a:r>
          </a:p>
        </p:txBody>
      </p:sp>
      <p:sp>
        <p:nvSpPr>
          <p:cNvPr id="34" name="comparison-bullet-16-3-marker-3">
            <a:extLst xmlns:a="http://schemas.openxmlformats.org/drawingml/2006/main">
              <a:ext uri="{FF2B5EF4-FFF2-40B4-BE49-F238E27FC236}">
                <a16:creationId xmlns:a16="http://schemas.microsoft.com/office/drawing/2014/main" id="{C4D61296-C0B4-445C-9841-1A6B2A3DBB2D}"/>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16-3-text-3">
            <a:extLst xmlns:a="http://schemas.openxmlformats.org/drawingml/2006/main">
              <a:ext uri="{FF2B5EF4-FFF2-40B4-BE49-F238E27FC236}">
                <a16:creationId xmlns:a16="http://schemas.microsoft.com/office/drawing/2014/main" id="{189C6977-3D12-4581-958D-5F0E661A564F}"/>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Node identity is not state identity.</a:t>
            </a:r>
          </a:p>
        </p:txBody>
      </p:sp>
      <p:sp>
        <p:nvSpPr>
          <p:cNvPr id="36" name="comparison-bullet-16-3-marker-4">
            <a:extLst xmlns:a="http://schemas.openxmlformats.org/drawingml/2006/main">
              <a:ext uri="{FF2B5EF4-FFF2-40B4-BE49-F238E27FC236}">
                <a16:creationId xmlns:a16="http://schemas.microsoft.com/office/drawing/2014/main" id="{453A8FBD-C2A3-4EBE-BCB9-5F876B244CC2}"/>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16-3-text-4">
            <a:extLst xmlns:a="http://schemas.openxmlformats.org/drawingml/2006/main">
              <a:ext uri="{FF2B5EF4-FFF2-40B4-BE49-F238E27FC236}">
                <a16:creationId xmlns:a16="http://schemas.microsoft.com/office/drawing/2014/main" id="{1F5B09B1-1AF3-4F12-BBE7-4220ED80A1AC}"/>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Memory trades against repeated expansion.</a:t>
            </a:r>
          </a:p>
        </p:txBody>
      </p:sp>
    </p:spTree>
    <p:extLst>
      <p:ext uri="{BB962C8B-B14F-4D97-AF65-F5344CB8AC3E}">
        <p14:creationId xmlns:p14="http://schemas.microsoft.com/office/powerpoint/2010/main" val="9897039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17">
            <a:extLst xmlns:a="http://schemas.openxmlformats.org/drawingml/2006/main">
              <a:ext uri="{FF2B5EF4-FFF2-40B4-BE49-F238E27FC236}">
                <a16:creationId xmlns:a16="http://schemas.microsoft.com/office/drawing/2014/main" id="{14FFB925-F575-4020-9DCC-5404ADC3DEF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Generic graph search separates control from ordering</a:t>
            </a:r>
          </a:p>
        </p:txBody>
      </p:sp>
      <p:sp>
        <p:nvSpPr>
          <p:cNvPr id="2" name="title-accent-17">
            <a:extLst xmlns:a="http://schemas.openxmlformats.org/drawingml/2006/main">
              <a:ext uri="{FF2B5EF4-FFF2-40B4-BE49-F238E27FC236}">
                <a16:creationId xmlns:a16="http://schemas.microsoft.com/office/drawing/2014/main" id="{433B471A-6719-4DEF-BEC4-1F86FAE7E3D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BE456AFC-8F4B-4962-8AB5-A42BCFE18CB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7">
            <a:extLst xmlns:a="http://schemas.openxmlformats.org/drawingml/2006/main">
              <a:ext uri="{FF2B5EF4-FFF2-40B4-BE49-F238E27FC236}">
                <a16:creationId xmlns:a16="http://schemas.microsoft.com/office/drawing/2014/main" id="{381F3DD3-ACF4-4A1B-995D-6B4083CB07B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code-panel-17">
            <a:extLst xmlns:a="http://schemas.openxmlformats.org/drawingml/2006/main">
              <a:ext uri="{FF2B5EF4-FFF2-40B4-BE49-F238E27FC236}">
                <a16:creationId xmlns:a16="http://schemas.microsoft.com/office/drawing/2014/main" id="{68F01E11-3E4E-4671-A7CC-3F2F33DF0FA2}"/>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17">
            <a:extLst xmlns:a="http://schemas.openxmlformats.org/drawingml/2006/main">
              <a:ext uri="{FF2B5EF4-FFF2-40B4-BE49-F238E27FC236}">
                <a16:creationId xmlns:a16="http://schemas.microsoft.com/office/drawing/2014/main" id="{E5DCEC3E-0235-44B1-84F6-988B3ABF8FEA}"/>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function GRAPH_SEARCH(problem, frontier):</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frontier.add(node(problem.initial_state))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explored = empty set</a:t>
            </a:r>
          </a:p>
          <a:p xmlns:a="http://schemas.openxmlformats.org/drawingml/2006/main">
            <a:r>
              <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while not frontier.empty():</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node = frontier.remove()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if problem.goal_test(node.state):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return reconstruct(node)</a:t>
            </a:r>
          </a:p>
          <a:p xmlns:a="http://schemas.openxmlformats.org/drawingml/2006/main">
            <a:r>
              <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if node.state in explored:</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continue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explored.add(node.state)</a:t>
            </a:r>
          </a:p>
          <a:p xmlns:a="http://schemas.openxmlformats.org/drawingml/2006/main">
            <a:r>
              <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for action in problem.actions(node.state):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child = make_child(problem, node, action)</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frontier.add_or_update(child)</a:t>
            </a:r>
          </a:p>
          <a:p xmlns:a="http://schemas.openxmlformats.org/drawingml/2006/main">
            <a:r>
              <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return failure</a:t>
            </a:r>
          </a:p>
        </p:txBody>
      </p:sp>
      <p:sp>
        <p:nvSpPr>
          <p:cNvPr id="8" name="code-rail-title-17">
            <a:extLst xmlns:a="http://schemas.openxmlformats.org/drawingml/2006/main">
              <a:ext uri="{FF2B5EF4-FFF2-40B4-BE49-F238E27FC236}">
                <a16:creationId xmlns:a16="http://schemas.microsoft.com/office/drawing/2014/main" id="{4410C57D-C6AC-4731-9170-B4E56B72CE49}"/>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Stable abstractions</a:t>
            </a:r>
          </a:p>
        </p:txBody>
      </p:sp>
      <p:sp>
        <p:nvSpPr>
          <p:cNvPr id="9" name="code-rail-17-marker-1">
            <a:extLst xmlns:a="http://schemas.openxmlformats.org/drawingml/2006/main">
              <a:ext uri="{FF2B5EF4-FFF2-40B4-BE49-F238E27FC236}">
                <a16:creationId xmlns:a16="http://schemas.microsoft.com/office/drawing/2014/main" id="{823EC9A8-CB81-405B-A91E-AD0DB1DCD535}"/>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17-text-1">
            <a:extLst xmlns:a="http://schemas.openxmlformats.org/drawingml/2006/main">
              <a:ext uri="{FF2B5EF4-FFF2-40B4-BE49-F238E27FC236}">
                <a16:creationId xmlns:a16="http://schemas.microsoft.com/office/drawing/2014/main" id="{AC5AAF0B-41C4-4F82-9D23-54D84C86A421}"/>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Problem defines the state space.</a:t>
            </a:r>
          </a:p>
        </p:txBody>
      </p:sp>
      <p:sp>
        <p:nvSpPr>
          <p:cNvPr id="11" name="code-rail-17-marker-2">
            <a:extLst xmlns:a="http://schemas.openxmlformats.org/drawingml/2006/main">
              <a:ext uri="{FF2B5EF4-FFF2-40B4-BE49-F238E27FC236}">
                <a16:creationId xmlns:a16="http://schemas.microsoft.com/office/drawing/2014/main" id="{791BF59F-2DE5-4223-830C-6FF74892FD61}"/>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17-text-2">
            <a:extLst xmlns:a="http://schemas.openxmlformats.org/drawingml/2006/main">
              <a:ext uri="{FF2B5EF4-FFF2-40B4-BE49-F238E27FC236}">
                <a16:creationId xmlns:a16="http://schemas.microsoft.com/office/drawing/2014/main" id="{31651618-2CD2-426C-A6DB-E6F48C126C58}"/>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Node records one path.</a:t>
            </a:r>
          </a:p>
        </p:txBody>
      </p:sp>
      <p:sp>
        <p:nvSpPr>
          <p:cNvPr id="13" name="code-rail-17-marker-3">
            <a:extLst xmlns:a="http://schemas.openxmlformats.org/drawingml/2006/main">
              <a:ext uri="{FF2B5EF4-FFF2-40B4-BE49-F238E27FC236}">
                <a16:creationId xmlns:a16="http://schemas.microsoft.com/office/drawing/2014/main" id="{88060425-1040-4388-8D9A-DF19253D0E30}"/>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17-text-3">
            <a:extLst xmlns:a="http://schemas.openxmlformats.org/drawingml/2006/main">
              <a:ext uri="{FF2B5EF4-FFF2-40B4-BE49-F238E27FC236}">
                <a16:creationId xmlns:a16="http://schemas.microsoft.com/office/drawing/2014/main" id="{BE38F3F2-7AB7-4EFD-8CE1-B1EF0CE93079}"/>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Frontier defines removal priority.</a:t>
            </a:r>
          </a:p>
        </p:txBody>
      </p:sp>
      <p:sp>
        <p:nvSpPr>
          <p:cNvPr id="15" name="code-rail-17-marker-4">
            <a:extLst xmlns:a="http://schemas.openxmlformats.org/drawingml/2006/main">
              <a:ext uri="{FF2B5EF4-FFF2-40B4-BE49-F238E27FC236}">
                <a16:creationId xmlns:a16="http://schemas.microsoft.com/office/drawing/2014/main" id="{90ACAA6F-1B16-4810-952E-891CD8C317FE}"/>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17-text-4">
            <a:extLst xmlns:a="http://schemas.openxmlformats.org/drawingml/2006/main">
              <a:ext uri="{FF2B5EF4-FFF2-40B4-BE49-F238E27FC236}">
                <a16:creationId xmlns:a16="http://schemas.microsoft.com/office/drawing/2014/main" id="{13E2A7A5-DAA4-4ACB-856A-6381FFEB226A}"/>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Explored prevents repeated expansion.</a:t>
            </a:r>
          </a:p>
        </p:txBody>
      </p:sp>
    </p:spTree>
    <p:extLst>
      <p:ext uri="{BB962C8B-B14F-4D97-AF65-F5344CB8AC3E}">
        <p14:creationId xmlns:p14="http://schemas.microsoft.com/office/powerpoint/2010/main" val="64050486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lide-title-18">
            <a:extLst xmlns:a="http://schemas.openxmlformats.org/drawingml/2006/main">
              <a:ext uri="{FF2B5EF4-FFF2-40B4-BE49-F238E27FC236}">
                <a16:creationId xmlns:a16="http://schemas.microsoft.com/office/drawing/2014/main" id="{B25A966B-2DD4-45DC-8874-F1FB04D1E27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Frontier policy is the unifying thread of Module A</a:t>
            </a:r>
          </a:p>
        </p:txBody>
      </p:sp>
      <p:sp>
        <p:nvSpPr>
          <p:cNvPr id="2" name="title-accent-18">
            <a:extLst xmlns:a="http://schemas.openxmlformats.org/drawingml/2006/main">
              <a:ext uri="{FF2B5EF4-FFF2-40B4-BE49-F238E27FC236}">
                <a16:creationId xmlns:a16="http://schemas.microsoft.com/office/drawing/2014/main" id="{CC52E90A-A27D-4928-BA31-9F40332B94A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4"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31E283A7-FC85-4697-997A-A0C60A99226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8">
            <a:extLst xmlns:a="http://schemas.openxmlformats.org/drawingml/2006/main">
              <a:ext uri="{FF2B5EF4-FFF2-40B4-BE49-F238E27FC236}">
                <a16:creationId xmlns:a16="http://schemas.microsoft.com/office/drawing/2014/main" id="{0CBF0758-4524-4956-A63B-2AE25B506D6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comparison-title-18-1">
            <a:extLst xmlns:a="http://schemas.openxmlformats.org/drawingml/2006/main">
              <a:ext uri="{FF2B5EF4-FFF2-40B4-BE49-F238E27FC236}">
                <a16:creationId xmlns:a16="http://schemas.microsoft.com/office/drawing/2014/main" id="{88B0F04C-6915-40ED-A6F1-7FD229BCB5F6}"/>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Depth or breadth</a:t>
            </a:r>
          </a:p>
        </p:txBody>
      </p:sp>
      <p:sp>
        <p:nvSpPr>
          <p:cNvPr id="7" name="comparison-tagline-18-1">
            <a:extLst xmlns:a="http://schemas.openxmlformats.org/drawingml/2006/main">
              <a:ext uri="{FF2B5EF4-FFF2-40B4-BE49-F238E27FC236}">
                <a16:creationId xmlns:a16="http://schemas.microsoft.com/office/drawing/2014/main" id="{BB4C7D27-1609-48D2-B101-F1F376566E8B}"/>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Order by structural position</a:t>
            </a:r>
          </a:p>
        </p:txBody>
      </p:sp>
      <p:sp>
        <p:nvSpPr>
          <p:cNvPr id="8" name="comparison-bullet-18-1-marker-1">
            <a:extLst xmlns:a="http://schemas.openxmlformats.org/drawingml/2006/main">
              <a:ext uri="{FF2B5EF4-FFF2-40B4-BE49-F238E27FC236}">
                <a16:creationId xmlns:a16="http://schemas.microsoft.com/office/drawing/2014/main" id="{CC925FA8-A4DD-491F-B8CD-D45153426049}"/>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9" name="comparison-bullet-18-1-text-1">
            <a:extLst xmlns:a="http://schemas.openxmlformats.org/drawingml/2006/main">
              <a:ext uri="{FF2B5EF4-FFF2-40B4-BE49-F238E27FC236}">
                <a16:creationId xmlns:a16="http://schemas.microsoft.com/office/drawing/2014/main" id="{6DC33C5F-874B-46A1-9EC5-B69962D1C500}"/>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BFS removes minimum depth first.</a:t>
            </a:r>
          </a:p>
        </p:txBody>
      </p:sp>
      <p:sp>
        <p:nvSpPr>
          <p:cNvPr id="10" name="comparison-bullet-18-1-marker-2">
            <a:extLst xmlns:a="http://schemas.openxmlformats.org/drawingml/2006/main">
              <a:ext uri="{FF2B5EF4-FFF2-40B4-BE49-F238E27FC236}">
                <a16:creationId xmlns:a16="http://schemas.microsoft.com/office/drawing/2014/main" id="{DAF907A7-2495-4DA7-BDDA-F38C41E9576C}"/>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1" name="comparison-bullet-18-1-text-2">
            <a:extLst xmlns:a="http://schemas.openxmlformats.org/drawingml/2006/main">
              <a:ext uri="{FF2B5EF4-FFF2-40B4-BE49-F238E27FC236}">
                <a16:creationId xmlns:a16="http://schemas.microsoft.com/office/drawing/2014/main" id="{B3C085E4-E726-41D8-A632-78A1A9C8FE41}"/>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DFS removes the most recently added path.</a:t>
            </a:r>
          </a:p>
        </p:txBody>
      </p:sp>
      <p:sp>
        <p:nvSpPr>
          <p:cNvPr id="12" name="comparison-bullet-18-1-marker-3">
            <a:extLst xmlns:a="http://schemas.openxmlformats.org/drawingml/2006/main">
              <a:ext uri="{FF2B5EF4-FFF2-40B4-BE49-F238E27FC236}">
                <a16:creationId xmlns:a16="http://schemas.microsoft.com/office/drawing/2014/main" id="{5B99A939-54C0-4913-AFA6-09B1CCCC7663}"/>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3" name="comparison-bullet-18-1-text-3">
            <a:extLst xmlns:a="http://schemas.openxmlformats.org/drawingml/2006/main">
              <a:ext uri="{FF2B5EF4-FFF2-40B4-BE49-F238E27FC236}">
                <a16:creationId xmlns:a16="http://schemas.microsoft.com/office/drawing/2014/main" id="{08C7C2A7-F2DE-4E5D-9059-F769A7D833E4}"/>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Completeness and memory differ sharply.</a:t>
            </a:r>
          </a:p>
        </p:txBody>
      </p:sp>
      <p:cxnSp>
        <p:nvCxnSpPr>
          <p:cNvPr id="45" name="comparison-divider-18-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5" name="comparison-title-18-2">
            <a:extLst xmlns:a="http://schemas.openxmlformats.org/drawingml/2006/main">
              <a:ext uri="{FF2B5EF4-FFF2-40B4-BE49-F238E27FC236}">
                <a16:creationId xmlns:a16="http://schemas.microsoft.com/office/drawing/2014/main" id="{849E526D-FD26-4684-8B75-950DFBF97BCF}"/>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Cost or estimate</a:t>
            </a:r>
          </a:p>
        </p:txBody>
      </p:sp>
      <p:sp>
        <p:nvSpPr>
          <p:cNvPr id="16" name="comparison-tagline-18-2">
            <a:extLst xmlns:a="http://schemas.openxmlformats.org/drawingml/2006/main">
              <a:ext uri="{FF2B5EF4-FFF2-40B4-BE49-F238E27FC236}">
                <a16:creationId xmlns:a16="http://schemas.microsoft.com/office/drawing/2014/main" id="{E43BC1F1-4D09-4D32-9439-B8499EDFED5D}"/>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Order by numeric priority</a:t>
            </a:r>
          </a:p>
        </p:txBody>
      </p:sp>
      <p:sp>
        <p:nvSpPr>
          <p:cNvPr id="17" name="comparison-bullet-18-2-marker-1">
            <a:extLst xmlns:a="http://schemas.openxmlformats.org/drawingml/2006/main">
              <a:ext uri="{FF2B5EF4-FFF2-40B4-BE49-F238E27FC236}">
                <a16:creationId xmlns:a16="http://schemas.microsoft.com/office/drawing/2014/main" id="{ACBFD842-2EC6-4AB5-8338-CD118B463A00}"/>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comparison-bullet-18-2-text-1">
            <a:extLst xmlns:a="http://schemas.openxmlformats.org/drawingml/2006/main">
              <a:ext uri="{FF2B5EF4-FFF2-40B4-BE49-F238E27FC236}">
                <a16:creationId xmlns:a16="http://schemas.microsoft.com/office/drawing/2014/main" id="{3664D740-BAE5-4D17-A873-4BCD8A2E3564}"/>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UCS orders by g(n).</a:t>
            </a:r>
          </a:p>
        </p:txBody>
      </p:sp>
      <p:sp>
        <p:nvSpPr>
          <p:cNvPr id="19" name="comparison-bullet-18-2-marker-2">
            <a:extLst xmlns:a="http://schemas.openxmlformats.org/drawingml/2006/main">
              <a:ext uri="{FF2B5EF4-FFF2-40B4-BE49-F238E27FC236}">
                <a16:creationId xmlns:a16="http://schemas.microsoft.com/office/drawing/2014/main" id="{922DD2D0-7FF6-42C8-BFC3-7BE9B05CFE3F}"/>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comparison-bullet-18-2-text-2">
            <a:extLst xmlns:a="http://schemas.openxmlformats.org/drawingml/2006/main">
              <a:ext uri="{FF2B5EF4-FFF2-40B4-BE49-F238E27FC236}">
                <a16:creationId xmlns:a16="http://schemas.microsoft.com/office/drawing/2014/main" id="{F17684E7-B73B-4555-A705-467E19D4C398}"/>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Greedy orders by h(n).</a:t>
            </a:r>
          </a:p>
        </p:txBody>
      </p:sp>
      <p:sp>
        <p:nvSpPr>
          <p:cNvPr id="21" name="comparison-bullet-18-2-marker-3">
            <a:extLst xmlns:a="http://schemas.openxmlformats.org/drawingml/2006/main">
              <a:ext uri="{FF2B5EF4-FFF2-40B4-BE49-F238E27FC236}">
                <a16:creationId xmlns:a16="http://schemas.microsoft.com/office/drawing/2014/main" id="{CF33D54A-7F8B-4F13-9EEB-D4F692013338}"/>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comparison-bullet-18-2-text-3">
            <a:extLst xmlns:a="http://schemas.openxmlformats.org/drawingml/2006/main">
              <a:ext uri="{FF2B5EF4-FFF2-40B4-BE49-F238E27FC236}">
                <a16:creationId xmlns:a16="http://schemas.microsoft.com/office/drawing/2014/main" id="{9370A72F-0BC0-4E30-A70C-3B566C849A05}"/>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A-star orders by g(n) + h(n).</a:t>
            </a:r>
          </a:p>
        </p:txBody>
      </p:sp>
      <p:cxnSp>
        <p:nvCxnSpPr>
          <p:cNvPr id="54" name="comparison-divider-18-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4" name="comparison-title-18-3">
            <a:extLst xmlns:a="http://schemas.openxmlformats.org/drawingml/2006/main">
              <a:ext uri="{FF2B5EF4-FFF2-40B4-BE49-F238E27FC236}">
                <a16:creationId xmlns:a16="http://schemas.microsoft.com/office/drawing/2014/main" id="{27F7BA1D-4B24-4177-AA07-6EEDD4A1659A}"/>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Adversarial choice</a:t>
            </a:r>
          </a:p>
        </p:txBody>
      </p:sp>
      <p:sp>
        <p:nvSpPr>
          <p:cNvPr id="25" name="comparison-tagline-18-3">
            <a:extLst xmlns:a="http://schemas.openxmlformats.org/drawingml/2006/main">
              <a:ext uri="{FF2B5EF4-FFF2-40B4-BE49-F238E27FC236}">
                <a16:creationId xmlns:a16="http://schemas.microsoft.com/office/drawing/2014/main" id="{C6ACAD75-5524-4E9A-9AE0-B342A5A967AB}"/>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Back up values through a game tree</a:t>
            </a:r>
          </a:p>
        </p:txBody>
      </p:sp>
      <p:sp>
        <p:nvSpPr>
          <p:cNvPr id="26" name="comparison-bullet-18-3-marker-1">
            <a:extLst xmlns:a="http://schemas.openxmlformats.org/drawingml/2006/main">
              <a:ext uri="{FF2B5EF4-FFF2-40B4-BE49-F238E27FC236}">
                <a16:creationId xmlns:a16="http://schemas.microsoft.com/office/drawing/2014/main" id="{AEFB04E9-C339-43CA-8A92-8A9C175AA2E0}"/>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7" name="comparison-bullet-18-3-text-1">
            <a:extLst xmlns:a="http://schemas.openxmlformats.org/drawingml/2006/main">
              <a:ext uri="{FF2B5EF4-FFF2-40B4-BE49-F238E27FC236}">
                <a16:creationId xmlns:a16="http://schemas.microsoft.com/office/drawing/2014/main" id="{4E70C80D-0627-4B21-A6B6-A25731DAFB81}"/>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Minimax alternates maximizing and minimizing.</a:t>
            </a:r>
          </a:p>
        </p:txBody>
      </p:sp>
      <p:sp>
        <p:nvSpPr>
          <p:cNvPr id="28" name="comparison-bullet-18-3-marker-2">
            <a:extLst xmlns:a="http://schemas.openxmlformats.org/drawingml/2006/main">
              <a:ext uri="{FF2B5EF4-FFF2-40B4-BE49-F238E27FC236}">
                <a16:creationId xmlns:a16="http://schemas.microsoft.com/office/drawing/2014/main" id="{E1318A3E-552B-4A1A-87B5-5C528FDBEC76}"/>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9" name="comparison-bullet-18-3-text-2">
            <a:extLst xmlns:a="http://schemas.openxmlformats.org/drawingml/2006/main">
              <a:ext uri="{FF2B5EF4-FFF2-40B4-BE49-F238E27FC236}">
                <a16:creationId xmlns:a16="http://schemas.microsoft.com/office/drawing/2014/main" id="{68A34678-79F9-44B0-8ECA-8A8D5CE4FE1B}"/>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Alpha-beta changes expansion, not minimax value.</a:t>
            </a:r>
          </a:p>
        </p:txBody>
      </p:sp>
      <p:sp>
        <p:nvSpPr>
          <p:cNvPr id="30" name="comparison-bullet-18-3-marker-3">
            <a:extLst xmlns:a="http://schemas.openxmlformats.org/drawingml/2006/main">
              <a:ext uri="{FF2B5EF4-FFF2-40B4-BE49-F238E27FC236}">
                <a16:creationId xmlns:a16="http://schemas.microsoft.com/office/drawing/2014/main" id="{52CAD5DD-7FD7-4F3E-9236-422E781D9F2E}"/>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8-3-text-3">
            <a:extLst xmlns:a="http://schemas.openxmlformats.org/drawingml/2006/main">
              <a:ext uri="{FF2B5EF4-FFF2-40B4-BE49-F238E27FC236}">
                <a16:creationId xmlns:a16="http://schemas.microsoft.com/office/drawing/2014/main" id="{6451A4D0-44E3-4509-B001-F72DE8EB5BF3}"/>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Expectimax averages chance outcomes.</a:t>
            </a:r>
          </a:p>
        </p:txBody>
      </p:sp>
    </p:spTree>
    <p:extLst>
      <p:ext uri="{BB962C8B-B14F-4D97-AF65-F5344CB8AC3E}">
        <p14:creationId xmlns:p14="http://schemas.microsoft.com/office/powerpoint/2010/main" val="5788660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9">
            <a:extLst xmlns:a="http://schemas.openxmlformats.org/drawingml/2006/main">
              <a:ext uri="{FF2B5EF4-FFF2-40B4-BE49-F238E27FC236}">
                <a16:creationId xmlns:a16="http://schemas.microsoft.com/office/drawing/2014/main" id="{2FB2D8D1-1F91-47D7-BF81-19F253D864F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repair an incomplete formalization</a:t>
            </a:r>
          </a:p>
        </p:txBody>
      </p:sp>
      <p:sp>
        <p:nvSpPr>
          <p:cNvPr id="2" name="title-accent-19">
            <a:extLst xmlns:a="http://schemas.openxmlformats.org/drawingml/2006/main">
              <a:ext uri="{FF2B5EF4-FFF2-40B4-BE49-F238E27FC236}">
                <a16:creationId xmlns:a16="http://schemas.microsoft.com/office/drawing/2014/main" id="{4CABF0A9-D51E-4831-B1B6-BE7E5AE06E1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9">
            <a:extLst xmlns:a="http://schemas.openxmlformats.org/drawingml/2006/main">
              <a:ext uri="{FF2B5EF4-FFF2-40B4-BE49-F238E27FC236}">
                <a16:creationId xmlns:a16="http://schemas.microsoft.com/office/drawing/2014/main" id="{5F01C363-71F3-4F29-83D8-410BE0CE858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19">
            <a:extLst xmlns:a="http://schemas.openxmlformats.org/drawingml/2006/main">
              <a:ext uri="{FF2B5EF4-FFF2-40B4-BE49-F238E27FC236}">
                <a16:creationId xmlns:a16="http://schemas.microsoft.com/office/drawing/2014/main" id="{FE838424-9DE0-46BE-B398-DC1DFE11637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19</a:t>
            </a:r>
          </a:p>
        </p:txBody>
      </p:sp>
      <p:sp>
        <p:nvSpPr>
          <p:cNvPr id="6" name="checkpoint-label-19">
            <a:extLst xmlns:a="http://schemas.openxmlformats.org/drawingml/2006/main">
              <a:ext uri="{FF2B5EF4-FFF2-40B4-BE49-F238E27FC236}">
                <a16:creationId xmlns:a16="http://schemas.microsoft.com/office/drawing/2014/main" id="{CF9EF66C-91AC-409E-8323-3CFE48915C0A}"/>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9">
            <a:extLst xmlns:a="http://schemas.openxmlformats.org/drawingml/2006/main">
              <a:ext uri="{FF2B5EF4-FFF2-40B4-BE49-F238E27FC236}">
                <a16:creationId xmlns:a16="http://schemas.microsoft.com/office/drawing/2014/main" id="{02474303-02B2-43AA-9633-4A18C19923B1}"/>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625" b="1">
                <a:solidFill>
                  <a:srgbClr val="111111"/>
                </a:solidFill>
                <a:latin typeface="Arial"/>
                <a:ea typeface="Arial"/>
                <a:cs typeface="Arial"/>
              </a:defRPr>
            </a:pPr>
            <a:r>
              <a:rPr sz="2625" b="1">
                <a:solidFill>
                  <a:srgbClr val="111111"/>
                </a:solidFill>
                <a:latin typeface="Arial"/>
                <a:ea typeface="Arial"/>
                <a:cs typeface="Arial"/>
              </a:rPr>
              <a:t>A route state stores only location, but toll price depends on time and a battery constraint depends on remaining charge. Is location alone a valid state?</a:t>
            </a:r>
          </a:p>
        </p:txBody>
      </p:sp>
      <p:cxnSp>
        <p:nvCxnSpPr>
          <p:cNvPr id="22" name="checkpoint-rule-19"/>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9-1">
            <a:extLst xmlns:a="http://schemas.openxmlformats.org/drawingml/2006/main">
              <a:ext uri="{FF2B5EF4-FFF2-40B4-BE49-F238E27FC236}">
                <a16:creationId xmlns:a16="http://schemas.microsoft.com/office/drawing/2014/main" id="{92987FE9-6AE7-4578-81B2-57CC0BB26D6A}"/>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9-1">
            <a:extLst xmlns:a="http://schemas.openxmlformats.org/drawingml/2006/main">
              <a:ext uri="{FF2B5EF4-FFF2-40B4-BE49-F238E27FC236}">
                <a16:creationId xmlns:a16="http://schemas.microsoft.com/office/drawing/2014/main" id="{5E83A350-5C2E-4D4C-8AC4-61D599B01D5A}"/>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the missing variables.</a:t>
            </a:r>
          </a:p>
        </p:txBody>
      </p:sp>
      <p:sp>
        <p:nvSpPr>
          <p:cNvPr id="11" name="checkpoint-prompt-number-19-2">
            <a:extLst xmlns:a="http://schemas.openxmlformats.org/drawingml/2006/main">
              <a:ext uri="{FF2B5EF4-FFF2-40B4-BE49-F238E27FC236}">
                <a16:creationId xmlns:a16="http://schemas.microsoft.com/office/drawing/2014/main" id="{963EC54F-F9DF-4272-A8A0-9DD144A155C6}"/>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9-2">
            <a:extLst xmlns:a="http://schemas.openxmlformats.org/drawingml/2006/main">
              <a:ext uri="{FF2B5EF4-FFF2-40B4-BE49-F238E27FC236}">
                <a16:creationId xmlns:a16="http://schemas.microsoft.com/office/drawing/2014/main" id="{B5013BB9-7BCB-4459-B206-3EC5A3BBBA11}"/>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Explain which search functions become inconsistent.</a:t>
            </a:r>
          </a:p>
        </p:txBody>
      </p:sp>
      <p:sp>
        <p:nvSpPr>
          <p:cNvPr id="13" name="checkpoint-prompt-number-19-3">
            <a:extLst xmlns:a="http://schemas.openxmlformats.org/drawingml/2006/main">
              <a:ext uri="{FF2B5EF4-FFF2-40B4-BE49-F238E27FC236}">
                <a16:creationId xmlns:a16="http://schemas.microsoft.com/office/drawing/2014/main" id="{E95B455E-78AA-4C0A-961C-B3441FB4C477}"/>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9-3">
            <a:extLst xmlns:a="http://schemas.openxmlformats.org/drawingml/2006/main">
              <a:ext uri="{FF2B5EF4-FFF2-40B4-BE49-F238E27FC236}">
                <a16:creationId xmlns:a16="http://schemas.microsoft.com/office/drawing/2014/main" id="{FEA75EA8-AAE7-438E-BBEC-3B793D03B811}"/>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Propose a hashable state representation.</a:t>
            </a:r>
          </a:p>
        </p:txBody>
      </p:sp>
    </p:spTree>
    <p:extLst>
      <p:ext uri="{BB962C8B-B14F-4D97-AF65-F5344CB8AC3E}">
        <p14:creationId xmlns:p14="http://schemas.microsoft.com/office/powerpoint/2010/main" val="34311427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0">
            <a:extLst xmlns:a="http://schemas.openxmlformats.org/drawingml/2006/main">
              <a:ext uri="{FF2B5EF4-FFF2-40B4-BE49-F238E27FC236}">
                <a16:creationId xmlns:a16="http://schemas.microsoft.com/office/drawing/2014/main" id="{CD00FED5-38AE-48EC-9F1E-A023DD80C67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terms: behavior and environment</a:t>
            </a:r>
          </a:p>
        </p:txBody>
      </p:sp>
      <p:sp>
        <p:nvSpPr>
          <p:cNvPr id="2" name="title-accent-20">
            <a:extLst xmlns:a="http://schemas.openxmlformats.org/drawingml/2006/main">
              <a:ext uri="{FF2B5EF4-FFF2-40B4-BE49-F238E27FC236}">
                <a16:creationId xmlns:a16="http://schemas.microsoft.com/office/drawing/2014/main" id="{2F790DB0-1456-49F7-BEA7-62E99A6FE48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0">
            <a:extLst xmlns:a="http://schemas.openxmlformats.org/drawingml/2006/main">
              <a:ext uri="{FF2B5EF4-FFF2-40B4-BE49-F238E27FC236}">
                <a16:creationId xmlns:a16="http://schemas.microsoft.com/office/drawing/2014/main" id="{C85620AF-4809-42EC-BDC3-6A6A3FF3B6D9}"/>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20">
            <a:extLst xmlns:a="http://schemas.openxmlformats.org/drawingml/2006/main">
              <a:ext uri="{FF2B5EF4-FFF2-40B4-BE49-F238E27FC236}">
                <a16:creationId xmlns:a16="http://schemas.microsoft.com/office/drawing/2014/main" id="{E0C195BB-93AF-47DF-B039-72B6CB9F6A2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20</a:t>
            </a:r>
          </a:p>
        </p:txBody>
      </p:sp>
      <p:cxnSp>
        <p:nvCxnSpPr>
          <p:cNvPr id="30" name="column-divider-20"/>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20">
            <a:extLst xmlns:a="http://schemas.openxmlformats.org/drawingml/2006/main">
              <a:ext uri="{FF2B5EF4-FFF2-40B4-BE49-F238E27FC236}">
                <a16:creationId xmlns:a16="http://schemas.microsoft.com/office/drawing/2014/main" id="{6898A1FD-2966-4E0B-8FD9-3793CE04C90D}"/>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Agent vocabulary</a:t>
            </a:r>
          </a:p>
        </p:txBody>
      </p:sp>
      <p:sp>
        <p:nvSpPr>
          <p:cNvPr id="8" name="right-title-20">
            <a:extLst xmlns:a="http://schemas.openxmlformats.org/drawingml/2006/main">
              <a:ext uri="{FF2B5EF4-FFF2-40B4-BE49-F238E27FC236}">
                <a16:creationId xmlns:a16="http://schemas.microsoft.com/office/drawing/2014/main" id="{91BD7BB7-8724-4C7D-A221-CE1F5213FF09}"/>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Environment vocabulary</a:t>
            </a:r>
          </a:p>
        </p:txBody>
      </p:sp>
      <p:sp>
        <p:nvSpPr>
          <p:cNvPr id="9" name="left-bullet-20-marker-1">
            <a:extLst xmlns:a="http://schemas.openxmlformats.org/drawingml/2006/main">
              <a:ext uri="{FF2B5EF4-FFF2-40B4-BE49-F238E27FC236}">
                <a16:creationId xmlns:a16="http://schemas.microsoft.com/office/drawing/2014/main" id="{57FAF7D2-58B2-47A7-B276-0B0C4B08D789}"/>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20-text-1">
            <a:extLst xmlns:a="http://schemas.openxmlformats.org/drawingml/2006/main">
              <a:ext uri="{FF2B5EF4-FFF2-40B4-BE49-F238E27FC236}">
                <a16:creationId xmlns:a16="http://schemas.microsoft.com/office/drawing/2014/main" id="{4DB97CCA-9A45-4402-9029-49786129234E}"/>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Percept: one sensor input; percept sequence: observation history.</a:t>
            </a:r>
          </a:p>
        </p:txBody>
      </p:sp>
      <p:sp>
        <p:nvSpPr>
          <p:cNvPr id="11" name="left-bullet-20-marker-2">
            <a:extLst xmlns:a="http://schemas.openxmlformats.org/drawingml/2006/main">
              <a:ext uri="{FF2B5EF4-FFF2-40B4-BE49-F238E27FC236}">
                <a16:creationId xmlns:a16="http://schemas.microsoft.com/office/drawing/2014/main" id="{F6E4823B-FDFF-43A2-963B-A2156856B720}"/>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20-text-2">
            <a:extLst xmlns:a="http://schemas.openxmlformats.org/drawingml/2006/main">
              <a:ext uri="{FF2B5EF4-FFF2-40B4-BE49-F238E27FC236}">
                <a16:creationId xmlns:a16="http://schemas.microsoft.com/office/drawing/2014/main" id="{F82CFA5B-3ACE-416D-ABC1-894C2D1D574C}"/>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Agent function: mapping from percept histories to actions.</a:t>
            </a:r>
          </a:p>
        </p:txBody>
      </p:sp>
      <p:sp>
        <p:nvSpPr>
          <p:cNvPr id="13" name="left-bullet-20-marker-3">
            <a:extLst xmlns:a="http://schemas.openxmlformats.org/drawingml/2006/main">
              <a:ext uri="{FF2B5EF4-FFF2-40B4-BE49-F238E27FC236}">
                <a16:creationId xmlns:a16="http://schemas.microsoft.com/office/drawing/2014/main" id="{DA84069C-A9ED-497F-ADD1-E6C3B3FA030B}"/>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20-text-3">
            <a:extLst xmlns:a="http://schemas.openxmlformats.org/drawingml/2006/main">
              <a:ext uri="{FF2B5EF4-FFF2-40B4-BE49-F238E27FC236}">
                <a16:creationId xmlns:a16="http://schemas.microsoft.com/office/drawing/2014/main" id="{A8DF57AB-991C-4369-BF87-D697724CBA77}"/>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Rational action: maximizes expected performance under available evidence.</a:t>
            </a:r>
          </a:p>
        </p:txBody>
      </p:sp>
      <p:sp>
        <p:nvSpPr>
          <p:cNvPr id="15" name="left-bullet-20-marker-4">
            <a:extLst xmlns:a="http://schemas.openxmlformats.org/drawingml/2006/main">
              <a:ext uri="{FF2B5EF4-FFF2-40B4-BE49-F238E27FC236}">
                <a16:creationId xmlns:a16="http://schemas.microsoft.com/office/drawing/2014/main" id="{52045D84-09BB-4604-8A35-CA5A6CC8826F}"/>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20-text-4">
            <a:extLst xmlns:a="http://schemas.openxmlformats.org/drawingml/2006/main">
              <a:ext uri="{FF2B5EF4-FFF2-40B4-BE49-F238E27FC236}">
                <a16:creationId xmlns:a16="http://schemas.microsoft.com/office/drawing/2014/main" id="{744E8F86-23E7-4EF7-9A22-5D9F14A1D331}"/>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Utility: numeric preference over outcomes or histories.</a:t>
            </a:r>
          </a:p>
        </p:txBody>
      </p:sp>
      <p:sp>
        <p:nvSpPr>
          <p:cNvPr id="17" name="right-bullet-20-marker-1">
            <a:extLst xmlns:a="http://schemas.openxmlformats.org/drawingml/2006/main">
              <a:ext uri="{FF2B5EF4-FFF2-40B4-BE49-F238E27FC236}">
                <a16:creationId xmlns:a16="http://schemas.microsoft.com/office/drawing/2014/main" id="{D73AB2B6-5604-4936-8BAE-9A6F7D0ED324}"/>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20-text-1">
            <a:extLst xmlns:a="http://schemas.openxmlformats.org/drawingml/2006/main">
              <a:ext uri="{FF2B5EF4-FFF2-40B4-BE49-F238E27FC236}">
                <a16:creationId xmlns:a16="http://schemas.microsoft.com/office/drawing/2014/main" id="{784E511F-164F-4A85-B651-12E8268415BF}"/>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Observable: whether relevant state is available.</a:t>
            </a:r>
          </a:p>
        </p:txBody>
      </p:sp>
      <p:sp>
        <p:nvSpPr>
          <p:cNvPr id="19" name="right-bullet-20-marker-2">
            <a:extLst xmlns:a="http://schemas.openxmlformats.org/drawingml/2006/main">
              <a:ext uri="{FF2B5EF4-FFF2-40B4-BE49-F238E27FC236}">
                <a16:creationId xmlns:a16="http://schemas.microsoft.com/office/drawing/2014/main" id="{F90355CF-9A0D-48D9-9304-79FC26E24A34}"/>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20-text-2">
            <a:extLst xmlns:a="http://schemas.openxmlformats.org/drawingml/2006/main">
              <a:ext uri="{FF2B5EF4-FFF2-40B4-BE49-F238E27FC236}">
                <a16:creationId xmlns:a16="http://schemas.microsoft.com/office/drawing/2014/main" id="{ACABE630-CAB3-44E9-A839-54DAE5BB0BFE}"/>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Deterministic or stochastic: how actions determine outcomes.</a:t>
            </a:r>
          </a:p>
        </p:txBody>
      </p:sp>
      <p:sp>
        <p:nvSpPr>
          <p:cNvPr id="21" name="right-bullet-20-marker-3">
            <a:extLst xmlns:a="http://schemas.openxmlformats.org/drawingml/2006/main">
              <a:ext uri="{FF2B5EF4-FFF2-40B4-BE49-F238E27FC236}">
                <a16:creationId xmlns:a16="http://schemas.microsoft.com/office/drawing/2014/main" id="{EE3B41FC-1020-4597-8E2B-E29B9218ABE9}"/>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20-text-3">
            <a:extLst xmlns:a="http://schemas.openxmlformats.org/drawingml/2006/main">
              <a:ext uri="{FF2B5EF4-FFF2-40B4-BE49-F238E27FC236}">
                <a16:creationId xmlns:a16="http://schemas.microsoft.com/office/drawing/2014/main" id="{03707707-3759-4199-A777-631A9EEB0C30}"/>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Episodic or sequential: whether decisions affect later decisions.</a:t>
            </a:r>
          </a:p>
        </p:txBody>
      </p:sp>
      <p:sp>
        <p:nvSpPr>
          <p:cNvPr id="23" name="right-bullet-20-marker-4">
            <a:extLst xmlns:a="http://schemas.openxmlformats.org/drawingml/2006/main">
              <a:ext uri="{FF2B5EF4-FFF2-40B4-BE49-F238E27FC236}">
                <a16:creationId xmlns:a16="http://schemas.microsoft.com/office/drawing/2014/main" id="{D273C0AD-17C0-4189-BD4D-79B37BDEEB3F}"/>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20-text-4">
            <a:extLst xmlns:a="http://schemas.openxmlformats.org/drawingml/2006/main">
              <a:ext uri="{FF2B5EF4-FFF2-40B4-BE49-F238E27FC236}">
                <a16:creationId xmlns:a16="http://schemas.microsoft.com/office/drawing/2014/main" id="{35E77D86-1438-4FDB-A2CC-D50D02BE3F90}"/>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Static or dynamic: whether the world changes during deliberation.</a:t>
            </a:r>
          </a:p>
        </p:txBody>
      </p:sp>
    </p:spTree>
    <p:extLst>
      <p:ext uri="{BB962C8B-B14F-4D97-AF65-F5344CB8AC3E}">
        <p14:creationId xmlns:p14="http://schemas.microsoft.com/office/powerpoint/2010/main" val="78972805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21">
            <a:extLst xmlns:a="http://schemas.openxmlformats.org/drawingml/2006/main">
              <a:ext uri="{FF2B5EF4-FFF2-40B4-BE49-F238E27FC236}">
                <a16:creationId xmlns:a16="http://schemas.microsoft.com/office/drawing/2014/main" id="{076C0322-B945-4A8D-AC24-88763121F02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21">
            <a:extLst xmlns:a="http://schemas.openxmlformats.org/drawingml/2006/main">
              <a:ext uri="{FF2B5EF4-FFF2-40B4-BE49-F238E27FC236}">
                <a16:creationId xmlns:a16="http://schemas.microsoft.com/office/drawing/2014/main" id="{FEF9519A-CA03-41B5-A51C-45E5C4384DC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2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1">
            <a:extLst xmlns:a="http://schemas.openxmlformats.org/drawingml/2006/main">
              <a:ext uri="{FF2B5EF4-FFF2-40B4-BE49-F238E27FC236}">
                <a16:creationId xmlns:a16="http://schemas.microsoft.com/office/drawing/2014/main" id="{ABCA1E59-B55D-4D68-97FC-DB6ED4A7D7F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21">
            <a:extLst xmlns:a="http://schemas.openxmlformats.org/drawingml/2006/main">
              <a:ext uri="{FF2B5EF4-FFF2-40B4-BE49-F238E27FC236}">
                <a16:creationId xmlns:a16="http://schemas.microsoft.com/office/drawing/2014/main" id="{6C29FEAF-BEE5-40FE-9B36-F5B6EF38EB8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21</a:t>
            </a:r>
          </a:p>
        </p:txBody>
      </p:sp>
      <p:sp>
        <p:nvSpPr>
          <p:cNvPr id="6" name="summary-number-21-1">
            <a:extLst xmlns:a="http://schemas.openxmlformats.org/drawingml/2006/main">
              <a:ext uri="{FF2B5EF4-FFF2-40B4-BE49-F238E27FC236}">
                <a16:creationId xmlns:a16="http://schemas.microsoft.com/office/drawing/2014/main" id="{8C8EE580-69E4-48E0-B263-C3957688A034}"/>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21-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21-1">
            <a:extLst xmlns:a="http://schemas.openxmlformats.org/drawingml/2006/main">
              <a:ext uri="{FF2B5EF4-FFF2-40B4-BE49-F238E27FC236}">
                <a16:creationId xmlns:a16="http://schemas.microsoft.com/office/drawing/2014/main" id="{23F6F050-915B-49CF-B5CD-A3A44693E18E}"/>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Specify performance and interfaces with PEAS before selecting an algorithm.</a:t>
            </a:r>
          </a:p>
        </p:txBody>
      </p:sp>
      <p:sp>
        <p:nvSpPr>
          <p:cNvPr id="9" name="summary-number-21-2">
            <a:extLst xmlns:a="http://schemas.openxmlformats.org/drawingml/2006/main">
              <a:ext uri="{FF2B5EF4-FFF2-40B4-BE49-F238E27FC236}">
                <a16:creationId xmlns:a16="http://schemas.microsoft.com/office/drawing/2014/main" id="{1DF9F786-01D9-404D-91D6-C82CE075C0BC}"/>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21-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21-2">
            <a:extLst xmlns:a="http://schemas.openxmlformats.org/drawingml/2006/main">
              <a:ext uri="{FF2B5EF4-FFF2-40B4-BE49-F238E27FC236}">
                <a16:creationId xmlns:a16="http://schemas.microsoft.com/office/drawing/2014/main" id="{BFCE9165-C869-4D49-B96A-2BAFEB4F22CB}"/>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Rationality is expected-performance maximization under available evidence, not omniscience.</a:t>
            </a:r>
          </a:p>
        </p:txBody>
      </p:sp>
      <p:sp>
        <p:nvSpPr>
          <p:cNvPr id="12" name="summary-number-21-3">
            <a:extLst xmlns:a="http://schemas.openxmlformats.org/drawingml/2006/main">
              <a:ext uri="{FF2B5EF4-FFF2-40B4-BE49-F238E27FC236}">
                <a16:creationId xmlns:a16="http://schemas.microsoft.com/office/drawing/2014/main" id="{E20CBDE4-4B75-4022-9DF3-EC601415B412}"/>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21-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21-3">
            <a:extLst xmlns:a="http://schemas.openxmlformats.org/drawingml/2006/main">
              <a:ext uri="{FF2B5EF4-FFF2-40B4-BE49-F238E27FC236}">
                <a16:creationId xmlns:a16="http://schemas.microsoft.com/office/drawing/2014/main" id="{69FE4E00-5D13-455D-BFA6-51DE532F0165}"/>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A search state must be sufficient for actions, transitions, goals, and costs.</a:t>
            </a:r>
          </a:p>
        </p:txBody>
      </p:sp>
      <p:sp>
        <p:nvSpPr>
          <p:cNvPr id="15" name="summary-number-21-4">
            <a:extLst xmlns:a="http://schemas.openxmlformats.org/drawingml/2006/main">
              <a:ext uri="{FF2B5EF4-FFF2-40B4-BE49-F238E27FC236}">
                <a16:creationId xmlns:a16="http://schemas.microsoft.com/office/drawing/2014/main" id="{47BA2FDF-6349-48AF-A95A-260106F97031}"/>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21-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21-4">
            <a:extLst xmlns:a="http://schemas.openxmlformats.org/drawingml/2006/main">
              <a:ext uri="{FF2B5EF4-FFF2-40B4-BE49-F238E27FC236}">
                <a16:creationId xmlns:a16="http://schemas.microsoft.com/office/drawing/2014/main" id="{0B081C8D-FA8C-4006-909A-9F831D48966C}"/>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Search algorithms share a state-space abstraction but differ in ordering, backup, and duplicate policy.</a:t>
            </a:r>
          </a:p>
        </p:txBody>
      </p:sp>
      <p:sp>
        <p:nvSpPr>
          <p:cNvPr id="18" name="summary-next-21">
            <a:extLst xmlns:a="http://schemas.openxmlformats.org/drawingml/2006/main">
              <a:ext uri="{FF2B5EF4-FFF2-40B4-BE49-F238E27FC236}">
                <a16:creationId xmlns:a16="http://schemas.microsoft.com/office/drawing/2014/main" id="{D00B73B5-378C-4097-89B7-2E41265F894B}"/>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Week 2 begins with BFS, DFS, uniform-cost search, and their completeness, optimality, time, and space tradeoffs.</a:t>
            </a:r>
          </a:p>
        </p:txBody>
      </p:sp>
    </p:spTree>
    <p:extLst>
      <p:ext uri="{BB962C8B-B14F-4D97-AF65-F5344CB8AC3E}">
        <p14:creationId xmlns:p14="http://schemas.microsoft.com/office/powerpoint/2010/main" val="190987918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22">
            <a:extLst xmlns:a="http://schemas.openxmlformats.org/drawingml/2006/main">
              <a:ext uri="{FF2B5EF4-FFF2-40B4-BE49-F238E27FC236}">
                <a16:creationId xmlns:a16="http://schemas.microsoft.com/office/drawing/2014/main" id="{1100C192-8C06-412A-86B7-CD37F9E1AB5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22">
            <a:extLst xmlns:a="http://schemas.openxmlformats.org/drawingml/2006/main">
              <a:ext uri="{FF2B5EF4-FFF2-40B4-BE49-F238E27FC236}">
                <a16:creationId xmlns:a16="http://schemas.microsoft.com/office/drawing/2014/main" id="{C0E06956-E988-4FDB-B79D-521A7722C83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2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2">
            <a:extLst xmlns:a="http://schemas.openxmlformats.org/drawingml/2006/main">
              <a:ext uri="{FF2B5EF4-FFF2-40B4-BE49-F238E27FC236}">
                <a16:creationId xmlns:a16="http://schemas.microsoft.com/office/drawing/2014/main" id="{7B43E6D4-B9D8-49F6-80F4-485834C663D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2</a:t>
            </a:r>
          </a:p>
        </p:txBody>
      </p:sp>
      <p:sp>
        <p:nvSpPr>
          <p:cNvPr id="5" name="footer-number-22">
            <a:extLst xmlns:a="http://schemas.openxmlformats.org/drawingml/2006/main">
              <a:ext uri="{FF2B5EF4-FFF2-40B4-BE49-F238E27FC236}">
                <a16:creationId xmlns:a16="http://schemas.microsoft.com/office/drawing/2014/main" id="{07606CFC-E5A3-411B-913B-2B9EFBFC3AB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22</a:t>
            </a:r>
          </a:p>
        </p:txBody>
      </p:sp>
      <p:sp>
        <p:nvSpPr>
          <p:cNvPr id="6" name="question-number-22-1">
            <a:extLst xmlns:a="http://schemas.openxmlformats.org/drawingml/2006/main">
              <a:ext uri="{FF2B5EF4-FFF2-40B4-BE49-F238E27FC236}">
                <a16:creationId xmlns:a16="http://schemas.microsoft.com/office/drawing/2014/main" id="{D4AE4A96-8FF1-4514-97A2-1A48CC35258B}"/>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22-1">
            <a:extLst xmlns:a="http://schemas.openxmlformats.org/drawingml/2006/main">
              <a:ext uri="{FF2B5EF4-FFF2-40B4-BE49-F238E27FC236}">
                <a16:creationId xmlns:a16="http://schemas.microsoft.com/office/drawing/2014/main" id="{CB259C0A-E359-478F-8526-286B2D55A225}"/>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Why can a rational action lead to a poor outcome without contradicting rationality?</a:t>
            </a:r>
          </a:p>
        </p:txBody>
      </p:sp>
      <p:sp>
        <p:nvSpPr>
          <p:cNvPr id="8" name="question-number-22-2">
            <a:extLst xmlns:a="http://schemas.openxmlformats.org/drawingml/2006/main">
              <a:ext uri="{FF2B5EF4-FFF2-40B4-BE49-F238E27FC236}">
                <a16:creationId xmlns:a16="http://schemas.microsoft.com/office/drawing/2014/main" id="{1288589D-3662-4060-9674-1E8E8594BE9C}"/>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22-2">
            <a:extLst xmlns:a="http://schemas.openxmlformats.org/drawingml/2006/main">
              <a:ext uri="{FF2B5EF4-FFF2-40B4-BE49-F238E27FC236}">
                <a16:creationId xmlns:a16="http://schemas.microsoft.com/office/drawing/2014/main" id="{F55ECA30-B8FA-4161-8AC5-A51859151CEB}"/>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Write a PEAS specification for an automated code-review agent.</a:t>
            </a:r>
          </a:p>
        </p:txBody>
      </p:sp>
      <p:sp>
        <p:nvSpPr>
          <p:cNvPr id="10" name="question-number-22-3">
            <a:extLst xmlns:a="http://schemas.openxmlformats.org/drawingml/2006/main">
              <a:ext uri="{FF2B5EF4-FFF2-40B4-BE49-F238E27FC236}">
                <a16:creationId xmlns:a16="http://schemas.microsoft.com/office/drawing/2014/main" id="{EEA38658-A3D7-4A6D-9231-17FBBB23C1BD}"/>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22-3">
            <a:extLst xmlns:a="http://schemas.openxmlformats.org/drawingml/2006/main">
              <a:ext uri="{FF2B5EF4-FFF2-40B4-BE49-F238E27FC236}">
                <a16:creationId xmlns:a16="http://schemas.microsoft.com/office/drawing/2014/main" id="{42B5B9BB-A117-4D99-96A5-F8BAB1FE92C6}"/>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Classify online chess by observability, determinism, temporal coupling, dynamics, representation, and participants.</a:t>
            </a:r>
          </a:p>
        </p:txBody>
      </p:sp>
      <p:sp>
        <p:nvSpPr>
          <p:cNvPr id="12" name="question-number-22-4">
            <a:extLst xmlns:a="http://schemas.openxmlformats.org/drawingml/2006/main">
              <a:ext uri="{FF2B5EF4-FFF2-40B4-BE49-F238E27FC236}">
                <a16:creationId xmlns:a16="http://schemas.microsoft.com/office/drawing/2014/main" id="{D9818A2F-D35C-4DCB-BE29-B5D59ED266D7}"/>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22-4">
            <a:extLst xmlns:a="http://schemas.openxmlformats.org/drawingml/2006/main">
              <a:ext uri="{FF2B5EF4-FFF2-40B4-BE49-F238E27FC236}">
                <a16:creationId xmlns:a16="http://schemas.microsoft.com/office/drawing/2014/main" id="{6AAA9A3B-A5DC-4485-BC64-755D438C22BD}"/>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Formalize a two-room vacuum world as &lt;s0, ACTIONS, RESULT, GOAL-TEST, c&gt;.</a:t>
            </a:r>
          </a:p>
        </p:txBody>
      </p:sp>
      <p:sp>
        <p:nvSpPr>
          <p:cNvPr id="14" name="question-number-22-5">
            <a:extLst xmlns:a="http://schemas.openxmlformats.org/drawingml/2006/main">
              <a:ext uri="{FF2B5EF4-FFF2-40B4-BE49-F238E27FC236}">
                <a16:creationId xmlns:a16="http://schemas.microsoft.com/office/drawing/2014/main" id="{66F239E5-A831-493C-859A-45AA90BDF229}"/>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22-5">
            <a:extLst xmlns:a="http://schemas.openxmlformats.org/drawingml/2006/main">
              <a:ext uri="{FF2B5EF4-FFF2-40B4-BE49-F238E27FC236}">
                <a16:creationId xmlns:a16="http://schemas.microsoft.com/office/drawing/2014/main" id="{729B37B8-72F2-4AF7-952D-C343F105130D}"/>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Why can a finite graph induce an infinite search tree, and what makes an explored set safe?</a:t>
            </a:r>
          </a:p>
        </p:txBody>
      </p:sp>
    </p:spTree>
    <p:extLst>
      <p:ext uri="{BB962C8B-B14F-4D97-AF65-F5344CB8AC3E}">
        <p14:creationId xmlns:p14="http://schemas.microsoft.com/office/powerpoint/2010/main" val="6470333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2026-07-27T10:00:36.5830000Z</dcterms:created>
  <dcterms:modified xsi:type="dcterms:W3CDTF">2026-07-27T10:00:36.5830000Z</dcterms:modified>
</coreProperties>
</file>