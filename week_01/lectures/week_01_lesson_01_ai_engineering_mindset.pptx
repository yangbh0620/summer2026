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ec744f16634ea2" /><Relationship Type="http://schemas.openxmlformats.org/officeDocument/2006/relationships/extended-properties" Target="/docProps/app.xml" Id="Rc5ba34c6746b466f" /><Relationship Type="http://schemas.openxmlformats.org/officeDocument/2006/relationships/officeDocument" Target="/ppt/presentation.xml" Id="Rb617b972b9b2457a" /></Relationships>
</file>

<file path=ppt/presentation.xml><?xml version="1.0" encoding="utf-8"?>
<p:presentation xmlns:p="http://schemas.openxmlformats.org/presentationml/2006/main">
  <p:sldMasterIdLst>
    <p:sldMasterId xmlns:r="http://schemas.openxmlformats.org/officeDocument/2006/relationships" id="2147483648" r:id="Rb2d7a0c3d9a243ff"/>
  </p:sldMasterIdLst>
  <p:notesMasterIdLst>
    <p:notesMasterId xmlns:r="http://schemas.openxmlformats.org/officeDocument/2006/relationships" r:id="Rbd500e018d374ee4"/>
  </p:notesMasterIdLst>
  <p:sldIdLst>
    <p:sldId xmlns:r="http://schemas.openxmlformats.org/officeDocument/2006/relationships" id="256" r:id="Rf810b71245984085"/>
    <p:sldId xmlns:r="http://schemas.openxmlformats.org/officeDocument/2006/relationships" id="257" r:id="R96ab0b0e81e241a9"/>
    <p:sldId xmlns:r="http://schemas.openxmlformats.org/officeDocument/2006/relationships" id="258" r:id="R48270ef2da1c4a91"/>
    <p:sldId xmlns:r="http://schemas.openxmlformats.org/officeDocument/2006/relationships" id="259" r:id="R742f9c7035244fa9"/>
    <p:sldId xmlns:r="http://schemas.openxmlformats.org/officeDocument/2006/relationships" id="260" r:id="R1a920f2b99694d3d"/>
    <p:sldId xmlns:r="http://schemas.openxmlformats.org/officeDocument/2006/relationships" id="261" r:id="Rdc5d96ded9d349ac"/>
    <p:sldId xmlns:r="http://schemas.openxmlformats.org/officeDocument/2006/relationships" id="262" r:id="R7346eaf5ccef4540"/>
    <p:sldId xmlns:r="http://schemas.openxmlformats.org/officeDocument/2006/relationships" id="263" r:id="Refd4eb487d1242d7"/>
    <p:sldId xmlns:r="http://schemas.openxmlformats.org/officeDocument/2006/relationships" id="264" r:id="R50238dd3c23f48a3"/>
    <p:sldId xmlns:r="http://schemas.openxmlformats.org/officeDocument/2006/relationships" id="265" r:id="Rb357e3c52aa14b77"/>
    <p:sldId xmlns:r="http://schemas.openxmlformats.org/officeDocument/2006/relationships" id="266" r:id="Reda946f0eb2f4f88"/>
    <p:sldId xmlns:r="http://schemas.openxmlformats.org/officeDocument/2006/relationships" id="267" r:id="R3d8febb889c94df7"/>
    <p:sldId xmlns:r="http://schemas.openxmlformats.org/officeDocument/2006/relationships" id="268" r:id="R9aa8d6bdda7440d6"/>
    <p:sldId xmlns:r="http://schemas.openxmlformats.org/officeDocument/2006/relationships" id="269" r:id="Rf4c04c5022594528"/>
    <p:sldId xmlns:r="http://schemas.openxmlformats.org/officeDocument/2006/relationships" id="270" r:id="Rfff2e1ae98af45a2"/>
    <p:sldId xmlns:r="http://schemas.openxmlformats.org/officeDocument/2006/relationships" id="271" r:id="Rc2cae952cceb42e2"/>
    <p:sldId xmlns:r="http://schemas.openxmlformats.org/officeDocument/2006/relationships" id="272" r:id="R7ba1f7569e9148c4"/>
    <p:sldId xmlns:r="http://schemas.openxmlformats.org/officeDocument/2006/relationships" id="273" r:id="R3b92496db0bc4c0f"/>
    <p:sldId xmlns:r="http://schemas.openxmlformats.org/officeDocument/2006/relationships" id="274" r:id="R477afe7719a74c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97d25d9a5a40c9" /><Relationship Type="http://schemas.openxmlformats.org/officeDocument/2006/relationships/slideMaster" Target="/ppt/slideMasters/slideMaster1.xml" Id="Rb2d7a0c3d9a243ff" /><Relationship Type="http://schemas.openxmlformats.org/officeDocument/2006/relationships/notesMaster" Target="/ppt/notesMasters/notesMaster1.xml" Id="Rbd500e018d374ee4" /><Relationship Type="http://schemas.openxmlformats.org/officeDocument/2006/relationships/presProps" Target="/ppt/presProps.xml" Id="R5ace7cddc6c04f1e" /><Relationship Type="http://schemas.openxmlformats.org/officeDocument/2006/relationships/tableStyles" Target="/ppt/tableStyles.xml" Id="Rd808f0bf3af34306" /><Relationship Type="http://schemas.openxmlformats.org/officeDocument/2006/relationships/slide" Target="/ppt/slides/slide1.xml" Id="Rf810b71245984085" /><Relationship Type="http://schemas.openxmlformats.org/officeDocument/2006/relationships/slide" Target="/ppt/slides/slide2.xml" Id="R96ab0b0e81e241a9" /><Relationship Type="http://schemas.openxmlformats.org/officeDocument/2006/relationships/slide" Target="/ppt/slides/slide3.xml" Id="R48270ef2da1c4a91" /><Relationship Type="http://schemas.openxmlformats.org/officeDocument/2006/relationships/slide" Target="/ppt/slides/slide4.xml" Id="R742f9c7035244fa9" /><Relationship Type="http://schemas.openxmlformats.org/officeDocument/2006/relationships/slide" Target="/ppt/slides/slide5.xml" Id="R1a920f2b99694d3d" /><Relationship Type="http://schemas.openxmlformats.org/officeDocument/2006/relationships/slide" Target="/ppt/slides/slide6.xml" Id="Rdc5d96ded9d349ac" /><Relationship Type="http://schemas.openxmlformats.org/officeDocument/2006/relationships/slide" Target="/ppt/slides/slide7.xml" Id="R7346eaf5ccef4540" /><Relationship Type="http://schemas.openxmlformats.org/officeDocument/2006/relationships/slide" Target="/ppt/slides/slide8.xml" Id="Refd4eb487d1242d7" /><Relationship Type="http://schemas.openxmlformats.org/officeDocument/2006/relationships/slide" Target="/ppt/slides/slide9.xml" Id="R50238dd3c23f48a3" /><Relationship Type="http://schemas.openxmlformats.org/officeDocument/2006/relationships/slide" Target="/ppt/slides/slide10.xml" Id="Rb357e3c52aa14b77" /><Relationship Type="http://schemas.openxmlformats.org/officeDocument/2006/relationships/slide" Target="/ppt/slides/slide11.xml" Id="Reda946f0eb2f4f88" /><Relationship Type="http://schemas.openxmlformats.org/officeDocument/2006/relationships/slide" Target="/ppt/slides/slide12.xml" Id="R3d8febb889c94df7" /><Relationship Type="http://schemas.openxmlformats.org/officeDocument/2006/relationships/slide" Target="/ppt/slides/slide13.xml" Id="R9aa8d6bdda7440d6" /><Relationship Type="http://schemas.openxmlformats.org/officeDocument/2006/relationships/slide" Target="/ppt/slides/slide14.xml" Id="Rf4c04c5022594528" /><Relationship Type="http://schemas.openxmlformats.org/officeDocument/2006/relationships/slide" Target="/ppt/slides/slide15.xml" Id="Rfff2e1ae98af45a2" /><Relationship Type="http://schemas.openxmlformats.org/officeDocument/2006/relationships/slide" Target="/ppt/slides/slide16.xml" Id="Rc2cae952cceb42e2" /><Relationship Type="http://schemas.openxmlformats.org/officeDocument/2006/relationships/slide" Target="/ppt/slides/slide17.xml" Id="R7ba1f7569e9148c4" /><Relationship Type="http://schemas.openxmlformats.org/officeDocument/2006/relationships/slide" Target="/ppt/slides/slide18.xml" Id="R3b92496db0bc4c0f" /><Relationship Type="http://schemas.openxmlformats.org/officeDocument/2006/relationships/slide" Target="/ppt/slides/slide19.xml" Id="R477afe7719a74c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3be7dc505d41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53c2e986894820" /><Relationship Type="http://schemas.openxmlformats.org/officeDocument/2006/relationships/notesMaster" Target="/ppt/notesMasters/notesMaster1.xml" Id="Ra9bf3575097d4f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174278d5394755" /><Relationship Type="http://schemas.openxmlformats.org/officeDocument/2006/relationships/notesMaster" Target="/ppt/notesMasters/notesMaster1.xml" Id="R05eac0c8eb284d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452d2637944dbe" /><Relationship Type="http://schemas.openxmlformats.org/officeDocument/2006/relationships/notesMaster" Target="/ppt/notesMasters/notesMaster1.xml" Id="Rebe15744d80a49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51b4007d374a4c" /><Relationship Type="http://schemas.openxmlformats.org/officeDocument/2006/relationships/notesMaster" Target="/ppt/notesMasters/notesMaster1.xml" Id="R5af598e176234c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385938657649cf" /><Relationship Type="http://schemas.openxmlformats.org/officeDocument/2006/relationships/notesMaster" Target="/ppt/notesMasters/notesMaster1.xml" Id="R74344b60cea44a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5c1acb11934341" /><Relationship Type="http://schemas.openxmlformats.org/officeDocument/2006/relationships/notesMaster" Target="/ppt/notesMasters/notesMaster1.xml" Id="R4a6c24e4e4f549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4f980a466f4f2d" /><Relationship Type="http://schemas.openxmlformats.org/officeDocument/2006/relationships/notesMaster" Target="/ppt/notesMasters/notesMaster1.xml" Id="Rbd44e00255444e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6fae271a0d485f" /><Relationship Type="http://schemas.openxmlformats.org/officeDocument/2006/relationships/notesMaster" Target="/ppt/notesMasters/notesMaster1.xml" Id="Re7262ca04c0c4f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3afec245d14e74" /><Relationship Type="http://schemas.openxmlformats.org/officeDocument/2006/relationships/notesMaster" Target="/ppt/notesMasters/notesMaster1.xml" Id="Rd8080508b7aa4a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72a1dfc0fd40a7" /><Relationship Type="http://schemas.openxmlformats.org/officeDocument/2006/relationships/notesMaster" Target="/ppt/notesMasters/notesMaster1.xml" Id="R26d09939f1a94d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9d8487383fe4ae2" /><Relationship Type="http://schemas.openxmlformats.org/officeDocument/2006/relationships/notesMaster" Target="/ppt/notesMasters/notesMaster1.xml" Id="R670b1ea8156644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e624b8528b412c" /><Relationship Type="http://schemas.openxmlformats.org/officeDocument/2006/relationships/notesMaster" Target="/ppt/notesMasters/notesMaster1.xml" Id="R8eadc5bfbdb745b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6d97099822414e" /><Relationship Type="http://schemas.openxmlformats.org/officeDocument/2006/relationships/notesMaster" Target="/ppt/notesMasters/notesMaster1.xml" Id="R2db40367fdb545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51f140ec8964621" /><Relationship Type="http://schemas.openxmlformats.org/officeDocument/2006/relationships/notesMaster" Target="/ppt/notesMasters/notesMaster1.xml" Id="R770ca10c03774f3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845e4ed354446a6" /><Relationship Type="http://schemas.openxmlformats.org/officeDocument/2006/relationships/notesMaster" Target="/ppt/notesMasters/notesMaster1.xml" Id="R6b4c244612e742d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bca02b587894ded" /><Relationship Type="http://schemas.openxmlformats.org/officeDocument/2006/relationships/notesMaster" Target="/ppt/notesMasters/notesMaster1.xml" Id="Ra6a24c9b5f3241b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6e8a0ba1ab7423e" /><Relationship Type="http://schemas.openxmlformats.org/officeDocument/2006/relationships/notesMaster" Target="/ppt/notesMasters/notesMaster1.xml" Id="R834a83bd8fce421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d3e584b85da4836" /><Relationship Type="http://schemas.openxmlformats.org/officeDocument/2006/relationships/notesMaster" Target="/ppt/notesMasters/notesMaster1.xml" Id="Rb42ee25ff3c34d8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93b454345f24062" /><Relationship Type="http://schemas.openxmlformats.org/officeDocument/2006/relationships/notesMaster" Target="/ppt/notesMasters/notesMaster1.xml" Id="R1fd72a6c8c9a4c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CMPSC 480, AI Curriculum Engineering. This course begins from a premise that is easy to state but demanding to practice: knowing an algorithm is not the same as being able to engineer a reliable system from it. You already have the mathematical and programming prerequisites to read search procedures, probability models, and learning rules. Our work this semester is to close the gap between those formal descriptions and software that remains correct under unfamiliar inputs, hidden tests, performance constraints, and changing requirements. The central object of evaluation will therefore not be a clever demonstration that works once. It will be an implementation whose assumptions are explicit, whose invariants are preserved, whose failure behavior is deliberate, and whose evidence of correctness can survive independent testing. That shift in mindset connects every module in the course, from classical search through reinforcement learning and responsible machine-learning deployment.</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define the working contract for today's lesson. First, you should be able to separate a mathematical or conceptual claim from the additional evidence required of an engineered artifact. Second, you should be able to look at pseudocode and identify concrete representations, invariants, and tests rather than immediately typing a literal translation. Third, you should understand why an autograder's hidden cases and time limits are not arbitrary obstacles; they approximate independent production verification. Fourth, you should be able to reason about failure semantics, especially the difference between rejecting invalid input immediately and returning a safe degraded result. Fifth, you should be able to classify acceptable and unacceptable uses of generative AI under this course's learning policy. Finally, you should understand the progression of the semester well enough to allocate practice time before integration projects and exams. These are application objectives. Merely repeating definitions will not demonstrate them.</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theory-centered setting, success may be a proof that A-star is optimal under an admissible or consistent heuristic, or a derivation showing that a learning update is unbiased under specified assumptions. Those claims matter here, but they do not finish the engineering task. Code introduces representation choices, interfaces, mutation, numerical limits, exceptions, and resource constraints. A state that is mathematically well defined may be represented by a mutable list that cannot safely enter an explored set. An update equation may be correct on paper while a NumPy broadcast silently computes the wrong tensor. Engineering success therefore requires evidence at several levels: a clear behavioral contract, an implementation that preserves the relevant invariants, tests that would expose plausible faults, and performance measurements that show the design remains usable at the intended scale. The key shift is from believing an example to constructing independent evidence.</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these columns as one pipeline rather than competing philosophies. Theory specifies the assumptions and the property we want. Implementation chooses concrete structures and operations that either preserve or violate those assumptions. Verification asks what observations would distinguish a faithful implementation from a plausible-looking defect. Consider breadth-first search. Theory tells us when it is complete and optimal. Implementation must decide how states are hashed, when they enter the explored set, and how parent pointers reconstruct a path. Verification must include cycles, duplicate frontier entries, an unreachable goal, and a start state that is already a goal. If any one column is missing, the result is weak. Theory without implementation is not a working system. Implementation without theory has no justified guarantee. Testing without a contract can only show that selected executions happened, not that they were the right executions.</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literal line-by-line translation of pseudocode is tempting because pseudocode looks like code. The danger is that pseudocode deliberately omits representation and operational details. Begin by reading for the contract: what are the valid inputs, what must the output mean, and which assumptions support the guarantee? Then extract the invariants. In graph search, one invariant might state that every frontier node represents a discovered path and carries the correct accumulated cost for that path. Another might constrain when a state becomes closed. Representation follows from those invariants: a priority queue for cost order, immutable state keys for membership, and explicit parent references for reconstruction. Only then should implementation begin. The final stage challenges the translation with cases that target the invariant: duplicate discovery at a cheaper cost, an empty frontier, a malformed state, or a graph whose size exposes an inefficient membership test. This workflow scales beyond search to dynamic programming, Bayesian inference, gradient descent, and deployment monitoring.</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pseudocode communicates the common control structure of graph search, but it intentionally leaves several decisions open. REMOVE could mean FIFO order, LIFO order, or minimum priority; that single choice changes the algorithm and its guarantees. Membership in an explored set assumes states have stable equality and hashing semantics. The phrase not in the frontier hides an efficiency question: will the implementation scan a list, maintain an auxiliary set, or support a decrease-key operation? Uniform-cost search and A-star also need a policy for a state rediscovered through a cheaper path. Finally, failure must have an unambiguous representation that cannot be confused with a valid empty path. A production translation should make these decisions explicit in interfaces and tests. The lesson is not that pseudocode is deficient. Its abstraction is useful. Engineering begins precisely where the abstraction stops specifying operational behavior.</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expression is not a formal theorem, but it is a useful engineering checklist. The contract states what callers may provide and what they may observe. An invariant explains why intermediate operations remain meaningful. A termination argument explains why the computation reaches an allowed outcome rather than looping, exhausting memory, or waiting indefinitely. A screenshot of a path or a high accuracy number may be evidence that one execution finished, but it does not establish the contract on other inputs, invariant preservation during execution, or bounded behavior under stress. In later modules, the same conjunction will take different forms. For value iteration, we will connect updates to a Bellman operator and a convergence threshold. For gradient descent, we will monitor shapes, numerical values, and stopping criteria. For deployed models, the contract includes data schemas, metric definitions, and monitoring responses. The discipline remains stable even as the algorithms change.</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sometimes experience hidden tests as a negotiation with an unknown opponent. A better model is independent verification. Public tests reveal examples of the contract and help you establish a working feedback loop. Hidden tests then vary the input structure, edge conditions, and scale so that special-cased demonstrations do not masquerade as general solutions. Timeouts similarly make complexity visible. A breadth-first search that uses repeated linear membership scans may be logically correct on a tiny graph but fail the intended engineering requirement at scale. Deterministic tie-breaking and seeded randomness make these failures reproducible. A strong workflow does not guess the hidden inputs. It derives test partitions from the contract: minimum size, maximum practical size, empty or unreachable cases, duplicates, ties, invalid values, and performance boundaries. If your local tests represent those partitions, the hidden suite should feel like confirmation rather than surprise.</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column is necessary because it establishes a shared interface and a known starting point. The right column is where engineering confidence grows. Boundary tests examine the smallest legal structures and deliberately malformed input. Structural tests introduce cycles, duplicate states, equal priorities, or disconnected components. Scale tests reveal whether a theoretically reasonable algorithm was paired with an unsuitable data structure. Repeated executions expose dependence on unordered iteration, ambient random state, or hidden mutation. Notice that these are not random tests. Each corresponds to a specific risk derived from the contract or implementation. Before submitting an assignment, you should be able to name the risk addressed by every test. Conversely, for every important invariant or failure mode, you should be able to point to at least one test designed to challenge it. That traceability is a professional habit we will practice throughout the semester.</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is intentionally small because small counterexamples are powerful. The theoretical search problem allows the initial state to be a goal. The correct solution is then the empty action sequence with total cost zero. An implementation that expands first may take an unnecessary action, return failure when no actions exist, or produce a nonminimal path. The fix is not only to move a condition in the code. We should state the behavior in the contract and add a regression test so later refactoring cannot silently reintroduce the defect. This example also shows why edge cases are not cosmetic. They often sit exactly at the boundary where an invariant is initialized. Similar patterns recur in dynamic programming with terminal states, in learning loops with zero examples, and in evaluation code with a class absent from a fold. Boundary behavior deserves explicit design.</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Defensive programming is not the indiscriminate addition of checks everywhere. Its purpose is to turn assumptions into observable behavior at the correct boundary. A public function that expects a rectangular numeric matrix should verify dimensionality, finiteness, and compatible labels before training begins. A search problem should reject an action not returned by its legal-action function rather than mutating into an impossible state. Once those preconditions are established, the trusted core can operate under a smaller, clearer set of assumptions. Failure messages should name the violated condition and relevant value. A vague index error ten stack frames later is not an adequate contract. Defensive design also includes postconditions when practical: output shapes, probability normalization within tolerance, or a reconstructed path whose transitions are legal. The goal is not to prevent every imaginable problem. It is to make the most consequential assumptions explicit, local, testable, and diagnosable.</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Fail fast and fail safely are both deliberate strategies; neither means ignoring a problem. Fail fast is appropriate when invalid developer input, inconsistent state, or a broken invariant makes continued computation misleading. A precise exception close to the boundary shortens diagnosis and protects the rest of the system. Fail safely is appropriate when the contract explicitly defines a degraded result, such as declining to recommend when confidence is insufficient or using a conservative default policy while emitting an alert. The dangerous pattern is fail silently: swallowing an exception, returning an undocumented value, or continuing with corrupted data. In this course, you should state the chosen failure behavior in the interface documentation and test it directly. When you design a fallback, also define how operators or callers learn that it occurred. Reliability requires both behavior and observability.</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policy distinguishes the learning objective, not merely the tool. If the objective is to implement A-star, asking a model to generate that implementation replaces the practice being assessed. Asking for an explanation of a priority-queue exception can support debugging without supplying the algorithmic design. Syntax clarification and abstract conceptual discussion are similarly permitted, provided the resulting submission remains your own work and you follow any assignment-specific disclosure rule. Borderline cases should be judged by asking what cognitive work the assignment intends to measure. If the tool is making the representation, algorithm, invariant, or evaluation decision that you are supposed to demonstrate, stop and ask the instructor. Regardless of permission, you remain accountable for correctness. Generated explanations can be wrong, outdated, or mismatched to the contract. You must be able to explain, reproduce, and defend every submitted decision without relying on the tool's authority.</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defensible answer is that the request can be permitted if the student has already authored the core BFS logic and uses the tool to understand a runtime symptom and improve testing. The student should not ask the system to rewrite the search loop or provide a submission-ready explored-set implementation. The learning objective is the student's ability to construct graph search correctly. Diagnosis of a timeout and discussion of test categories can support that objective rather than replace it. The student must still determine whether the explanation fits the actual code, add tests based on the course contract, and be able to explain the final fix. If an assignment imposes a stricter rule, that local rule controls. The general method is to identify what is being assessed, identify which reasoning the tool would perform, and preserve the assessed reasoning as the student's own work.</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A begins with explicit state spaces and rational agents. You will implement uninformed and informed search, then extend the reasoning to adversarial game trees. Module B adds sequential uncertainty through Markov decision processes, reinforcement learning, function approximation, and Bayesian belief. Module C shifts to predictive learning, where you will build regression and neural models from first principles, evaluate them rigorously, and confront bias and deployment responsibility. The integration weeks ask you to choose among these paradigms rather than treating them as isolated chapters. Across all modules, the recurring engineering questions remain stable: What is the contract? Which assumptions support the method? What invariant or diagnostic should hold? Which test would expose a violation? What evidence justifies deployment? Recognizing that continuity will make the course feel like one discipline rather than a list of algorithms.</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published source prompt assigns 15 percent to weekly code labs and quizzes, 30 percent to the three module projects, 30 percent to the midterm category, and 20 percent to the comprehensive final. Those listed categories total 95 percent. This course package does not invent the missing allocation; the official syllabus must state the remaining 5 percent before grades are calculated. The important planning signal is still clear. Weekly practice provides fast feedback, projects require integration, and examinations ask you to reason without relying on a working codebase. Do not interpret the smaller weekly percentage as permission to skip practice. The projects and exams depend directly on the habits built there. Conversely, passing an autograder is not sufficient exam preparation. You must also trace algorithms, derive updates, compare guarantees, and explain failure modes in words and mathematics.</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technical page can feel obvious after several readings because recognition is easy. The exam, project, and hidden test require retrieval and transfer. A more effective routine is active. First, trace the algorithm on a deliberately small case and record each state change. Second, implement from the contract rather than copying the trace. Third, design a case that should break a naive implementation. Fourth, explain the relevant guarantee and its assumptions without notes. Finally, compare your result with tests and revise the model of the problem, not only the code. This routine turns mistakes into information. It also distributes effort: short, frequent practice reduces the risk of discovering a conceptual gap during a module project. The course will be demanding, but the difficulty is structured. Each week supplies a smaller system, vocabulary, and evidence pattern that feeds the next integration task.</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ideas should remain after this lesson. First, AI engineering is not theory with extra syntax. It is the discipline of carrying theoretical assumptions into executable contracts and observable evidence. Second, invariants are the bridge that helps us choose representations and tests rather than translating pseudocode mechanically. Third, an autograder is a form of independent verification that makes generality, complexity, determinism, and boundary behavior visible. Fourth, generative AI must support learning without performing the core reasoning that an assignment is designed to measure. These ideas will recur immediately in the next lesson, where we formalize rational agents, describe task environments with PEAS, and represent problem solving as search. As we introduce those abstractions, keep asking how each abstract component will become a data structure, interface, invariant, and test.</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questions to test whether you can apply the lesson rather than repeat its vocabulary. For the first, identify a concrete implementation choice that can violate a theoretical assumption. For the second, make the invariant precise enough that a test can challenge it. For the timeout question, connect runtime behavior to data structures and scale. For failure semantics, state both the user-visible behavior and the monitoring evidence. For the policy question, explain which reasoning belongs to the student. A strong answer names the contract, the risk, and the evidence. If an answer remains at the level of a slogan such as test more or use AI responsibly, make it operational: what exactly should the code do, which case should be run, and what observation would distinguish correct behavior from a defect?</a:t>
            </a:r>
          </a:p>
          <a:p xmlns:a="http://schemas.openxmlformats.org/drawingml/2006/main">
            <a:r>
              <a:t/>
            </a:r>
          </a:p>
          <a:p xmlns:a="http://schemas.openxmlformats.org/drawingml/2006/main">
            <a:r>
              <a:t>[Sources]</a:t>
            </a:r>
          </a:p>
          <a:p xmlns:a="http://schemas.openxmlformats.org/drawingml/2006/main">
            <a:r>
              <a:t>- Repository prompt: week_01/Week_1_Lesson_1_Course_Intro_and_AI_Engineering_Mindset.md</a:t>
            </a:r>
          </a:p>
          <a:p xmlns:a="http://schemas.openxmlformats.org/drawingml/2006/main">
            <a:r>
              <a:t>- Stuart Russell and Peter Norvig, Artificial Intelligence: A Modern Approach, 4th edition, Chapters 1-3.</a:t>
            </a:r>
          </a:p>
          <a:p xmlns:a="http://schemas.openxmlformats.org/drawingml/2006/main">
            <a:r>
              <a:t>- Python Software Foundation, Python 3 documentation: Errors and Exceptions; Data Model.</a:t>
            </a:r>
          </a:p>
          <a:p xmlns:a="http://schemas.openxmlformats.org/drawingml/2006/main">
            <a:r>
              <a:t>- Paul Ammann and Jeff Offutt, Introduction to Software Testing,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eeb290b1c84b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2bd6f15e5b41e8" /><Relationship Type="http://schemas.openxmlformats.org/officeDocument/2006/relationships/slideLayout" Target="/ppt/slideLayouts/slideLayout1.xml" Id="Ra93fe31773be42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3fe31773be42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2c4a908c764e45" /><Relationship Type="http://schemas.openxmlformats.org/officeDocument/2006/relationships/notesSlide" Target="/ppt/notesSlides/notesSlide1.xml" Id="R36067ce0e9564e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bab9156b694541" /><Relationship Type="http://schemas.openxmlformats.org/officeDocument/2006/relationships/notesSlide" Target="/ppt/notesSlides/notesSlide2.xml" Id="R49987b5559b141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fb5ae0027a4a45" /><Relationship Type="http://schemas.openxmlformats.org/officeDocument/2006/relationships/notesSlide" Target="/ppt/notesSlides/notesSlide3.xml" Id="Rd1e6f879ea4b4d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e90bd2bcaf4444" /><Relationship Type="http://schemas.openxmlformats.org/officeDocument/2006/relationships/notesSlide" Target="/ppt/notesSlides/notesSlide4.xml" Id="Rd574c1179ff949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c4e5559b684650" /><Relationship Type="http://schemas.openxmlformats.org/officeDocument/2006/relationships/notesSlide" Target="/ppt/notesSlides/notesSlide5.xml" Id="R5214a57173d54a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19aa012b22447b0" /><Relationship Type="http://schemas.openxmlformats.org/officeDocument/2006/relationships/notesSlide" Target="/ppt/notesSlides/notesSlide6.xml" Id="Rb81562b0cfd84a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6711ea52ce549a6" /><Relationship Type="http://schemas.openxmlformats.org/officeDocument/2006/relationships/notesSlide" Target="/ppt/notesSlides/notesSlide7.xml" Id="Raf95fca65b6640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7295207f5c1430f" /><Relationship Type="http://schemas.openxmlformats.org/officeDocument/2006/relationships/notesSlide" Target="/ppt/notesSlides/notesSlide8.xml" Id="R18e5d7dba7eb49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2ab8617ae6c4b9f" /><Relationship Type="http://schemas.openxmlformats.org/officeDocument/2006/relationships/notesSlide" Target="/ppt/notesSlides/notesSlide9.xml" Id="Rb854b875aa014aa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4b383c0bb6948f9" /><Relationship Type="http://schemas.openxmlformats.org/officeDocument/2006/relationships/notesSlide" Target="/ppt/notesSlides/notesSlide10.xml" Id="R76d06e3822914b7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c14f641dd284964" /><Relationship Type="http://schemas.openxmlformats.org/officeDocument/2006/relationships/notesSlide" Target="/ppt/notesSlides/notesSlide11.xml" Id="R6fd8e07a977341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68d16dfcc1346e5" /><Relationship Type="http://schemas.openxmlformats.org/officeDocument/2006/relationships/notesSlide" Target="/ppt/notesSlides/notesSlide12.xml" Id="R63a1df694e2a41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26f3bf9cb034320" /><Relationship Type="http://schemas.openxmlformats.org/officeDocument/2006/relationships/notesSlide" Target="/ppt/notesSlides/notesSlide13.xml" Id="R71c35e2307ad4c3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c97a5de639c4f1a" /><Relationship Type="http://schemas.openxmlformats.org/officeDocument/2006/relationships/notesSlide" Target="/ppt/notesSlides/notesSlide14.xml" Id="R3c6ab8d10bec4c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ed2ff9815484551" /><Relationship Type="http://schemas.openxmlformats.org/officeDocument/2006/relationships/notesSlide" Target="/ppt/notesSlides/notesSlide15.xml" Id="R2b355efa2ff74e4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efb7c7f421141fe" /><Relationship Type="http://schemas.openxmlformats.org/officeDocument/2006/relationships/notesSlide" Target="/ppt/notesSlides/notesSlide16.xml" Id="R057edc4967e043f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d9cb5eb6fa04ad3" /><Relationship Type="http://schemas.openxmlformats.org/officeDocument/2006/relationships/notesSlide" Target="/ppt/notesSlides/notesSlide17.xml" Id="R4a166970888548a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8c3902764e24532" /><Relationship Type="http://schemas.openxmlformats.org/officeDocument/2006/relationships/notesSlide" Target="/ppt/notesSlides/notesSlide18.xml" Id="Ra24c63f06ec7477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33098eb4a5f49a0" /><Relationship Type="http://schemas.openxmlformats.org/officeDocument/2006/relationships/notesSlide" Target="/ppt/notesSlides/notesSlide19.xml" Id="Rf87ac24e3c264a9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eyebrow">
            <a:extLst xmlns:a="http://schemas.openxmlformats.org/drawingml/2006/main">
              <a:ext uri="{FF2B5EF4-FFF2-40B4-BE49-F238E27FC236}">
                <a16:creationId xmlns:a16="http://schemas.microsoft.com/office/drawing/2014/main" id="{4C8BEE61-0F2D-4324-896E-C39DFB3C9BBB}"/>
              </a:ext>
            </a:extLst>
          </p:cNvPr>
          <p:cNvSpPr>
            <a:spLocks xmlns:a="http://schemas.openxmlformats.org/drawingml/2006/main" noGrp="1"/>
          </p:cNvSpPr>
          <p:nvPr/>
        </p:nvSpPr>
        <p:spPr>
          <a:xfrm xmlns:a="http://schemas.openxmlformats.org/drawingml/2006/main">
            <a:off x="400050" y="41910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C6470"/>
                </a:solidFill>
                <a:latin typeface="Arial"/>
                <a:ea typeface="Arial"/>
                <a:cs typeface="Arial"/>
              </a:defRPr>
            </a:pPr>
            <a:r>
              <a:rPr sz="1500" b="1">
                <a:solidFill>
                  <a:srgbClr val="5C6470"/>
                </a:solidFill>
                <a:latin typeface="Arial"/>
                <a:ea typeface="Arial"/>
                <a:cs typeface="Arial"/>
              </a:rPr>
              <a:t>CMPSC 480  |  WEEK 01  |  LESSON 1</a:t>
            </a:r>
          </a:p>
        </p:txBody>
      </p:sp>
      <p:sp>
        <p:nvSpPr>
          <p:cNvPr id="2" name="title-accent-field">
            <a:extLst xmlns:a="http://schemas.openxmlformats.org/drawingml/2006/main">
              <a:ext uri="{FF2B5EF4-FFF2-40B4-BE49-F238E27FC236}">
                <a16:creationId xmlns:a16="http://schemas.microsoft.com/office/drawing/2014/main" id="{F5339A2E-CCBF-4867-B1E3-1E34E9EBF107}"/>
              </a:ext>
            </a:extLst>
          </p:cNvPr>
          <p:cNvSpPr>
            <a:spLocks xmlns:a="http://schemas.openxmlformats.org/drawingml/2006/main" noGrp="1"/>
          </p:cNvSpPr>
          <p:nvPr/>
        </p:nvSpPr>
        <p:spPr>
          <a:xfrm xmlns:a="http://schemas.openxmlformats.org/drawingml/2006/main">
            <a:off x="400050" y="1266825"/>
            <a:ext cx="15240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deck-title">
            <a:extLst xmlns:a="http://schemas.openxmlformats.org/drawingml/2006/main">
              <a:ext uri="{FF2B5EF4-FFF2-40B4-BE49-F238E27FC236}">
                <a16:creationId xmlns:a16="http://schemas.microsoft.com/office/drawing/2014/main" id="{FE5E6D5F-6A0B-4D99-A7BE-31F028FE58BF}"/>
              </a:ext>
            </a:extLst>
          </p:cNvPr>
          <p:cNvSpPr>
            <a:spLocks xmlns:a="http://schemas.openxmlformats.org/drawingml/2006/main" noGrp="1"/>
          </p:cNvSpPr>
          <p:nvPr/>
        </p:nvSpPr>
        <p:spPr>
          <a:xfrm xmlns:a="http://schemas.openxmlformats.org/drawingml/2006/main">
            <a:off x="838200" y="1200150"/>
            <a:ext cx="10096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800" b="1">
                <a:solidFill>
                  <a:srgbClr val="111111"/>
                </a:solidFill>
                <a:latin typeface="Arial"/>
                <a:ea typeface="Arial"/>
                <a:cs typeface="Arial"/>
              </a:defRPr>
            </a:pPr>
            <a:r>
              <a:rPr sz="4800" b="1">
                <a:solidFill>
                  <a:srgbClr val="111111"/>
                </a:solidFill>
                <a:latin typeface="Arial"/>
                <a:ea typeface="Arial"/>
                <a:cs typeface="Arial"/>
              </a:rPr>
              <a:t>Course Introduction and the AI Engineering Mindset</a:t>
            </a:r>
          </a:p>
        </p:txBody>
      </p:sp>
      <p:sp>
        <p:nvSpPr>
          <p:cNvPr id="4" name="deck-subtitle">
            <a:extLst xmlns:a="http://schemas.openxmlformats.org/drawingml/2006/main">
              <a:ext uri="{FF2B5EF4-FFF2-40B4-BE49-F238E27FC236}">
                <a16:creationId xmlns:a16="http://schemas.microsoft.com/office/drawing/2014/main" id="{A25BA717-9B82-4C6E-AAAA-F22DBB7DD107}"/>
              </a:ext>
            </a:extLst>
          </p:cNvPr>
          <p:cNvSpPr>
            <a:spLocks xmlns:a="http://schemas.openxmlformats.org/drawingml/2006/main" noGrp="1"/>
          </p:cNvSpPr>
          <p:nvPr/>
        </p:nvSpPr>
        <p:spPr>
          <a:xfrm xmlns:a="http://schemas.openxmlformats.org/drawingml/2006/main">
            <a:off x="838200" y="4171950"/>
            <a:ext cx="762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5C6470"/>
                </a:solidFill>
                <a:latin typeface="Arial"/>
                <a:ea typeface="Arial"/>
                <a:cs typeface="Arial"/>
              </a:defRPr>
            </a:pPr>
            <a:r>
              <a:rPr sz="2100" b="0">
                <a:solidFill>
                  <a:srgbClr val="5C6470"/>
                </a:solidFill>
                <a:latin typeface="Arial"/>
                <a:ea typeface="Arial"/>
                <a:cs typeface="Arial"/>
              </a:rPr>
              <a:t>Turning formal algorithms into correct, testable, production-quality systems</a:t>
            </a:r>
          </a:p>
        </p:txBody>
      </p:sp>
      <p:cxnSp>
        <p:nvCxnSpPr>
          <p:cNvPr id="12" name="title-bottom-rule"/>
          <p:cNvCxnSpPr/>
          <p:nvPr/>
        </p:nvCxnSpPr>
        <p:spPr>
          <a:xfrm xmlns:a="http://schemas.openxmlformats.org/drawingml/2006/main">
            <a:off x="400050" y="59531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6" name="title-duration">
            <a:extLst xmlns:a="http://schemas.openxmlformats.org/drawingml/2006/main">
              <a:ext uri="{FF2B5EF4-FFF2-40B4-BE49-F238E27FC236}">
                <a16:creationId xmlns:a16="http://schemas.microsoft.com/office/drawing/2014/main" id="{3D489401-69EF-4C21-91A4-C8A2F2032347}"/>
              </a:ext>
            </a:extLst>
          </p:cNvPr>
          <p:cNvSpPr>
            <a:spLocks xmlns:a="http://schemas.openxmlformats.org/drawingml/2006/main" noGrp="1"/>
          </p:cNvSpPr>
          <p:nvPr/>
        </p:nvSpPr>
        <p:spPr>
          <a:xfrm xmlns:a="http://schemas.openxmlformats.org/drawingml/2006/main">
            <a:off x="400050" y="61341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470"/>
                </a:solidFill>
                <a:latin typeface="Arial"/>
                <a:ea typeface="Arial"/>
                <a:cs typeface="Arial"/>
              </a:defRPr>
            </a:pPr>
            <a:r>
              <a:rPr sz="1125" b="0">
                <a:solidFill>
                  <a:srgbClr val="5C6470"/>
                </a:solidFill>
                <a:latin typeface="Arial"/>
                <a:ea typeface="Arial"/>
                <a:cs typeface="Arial"/>
              </a:rPr>
              <a:t>Approximately 50 minutes</a:t>
            </a:r>
          </a:p>
        </p:txBody>
      </p:sp>
      <p:sp>
        <p:nvSpPr>
          <p:cNvPr id="7" name="title-slide-number">
            <a:extLst xmlns:a="http://schemas.openxmlformats.org/drawingml/2006/main">
              <a:ext uri="{FF2B5EF4-FFF2-40B4-BE49-F238E27FC236}">
                <a16:creationId xmlns:a16="http://schemas.microsoft.com/office/drawing/2014/main" id="{BF8EA9DB-BEC1-4C20-9F1F-2C85706D408D}"/>
              </a:ext>
            </a:extLst>
          </p:cNvPr>
          <p:cNvSpPr>
            <a:spLocks xmlns:a="http://schemas.openxmlformats.org/drawingml/2006/main" noGrp="1"/>
          </p:cNvSpPr>
          <p:nvPr/>
        </p:nvSpPr>
        <p:spPr>
          <a:xfrm xmlns:a="http://schemas.openxmlformats.org/drawingml/2006/main">
            <a:off x="11239500" y="61341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a:t>
            </a:r>
          </a:p>
        </p:txBody>
      </p:sp>
    </p:spTree>
    <p:extLst>
      <p:ext uri="{BB962C8B-B14F-4D97-AF65-F5344CB8AC3E}">
        <p14:creationId xmlns:p14="http://schemas.microsoft.com/office/powerpoint/2010/main" val="20403941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2">
            <a:extLst xmlns:a="http://schemas.openxmlformats.org/drawingml/2006/main">
              <a:ext uri="{FF2B5EF4-FFF2-40B4-BE49-F238E27FC236}">
                <a16:creationId xmlns:a16="http://schemas.microsoft.com/office/drawing/2014/main" id="{98942C6F-E0CB-4F10-82D6-96AD89EC4441}"/>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Learning objectives</a:t>
            </a:r>
          </a:p>
        </p:txBody>
      </p:sp>
      <p:sp>
        <p:nvSpPr>
          <p:cNvPr id="2" name="title-accent-2">
            <a:extLst xmlns:a="http://schemas.openxmlformats.org/drawingml/2006/main">
              <a:ext uri="{FF2B5EF4-FFF2-40B4-BE49-F238E27FC236}">
                <a16:creationId xmlns:a16="http://schemas.microsoft.com/office/drawing/2014/main" id="{2A26A1E0-25D5-4E1B-8127-605E90D8D97E}"/>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
            <a:extLst xmlns:a="http://schemas.openxmlformats.org/drawingml/2006/main">
              <a:ext uri="{FF2B5EF4-FFF2-40B4-BE49-F238E27FC236}">
                <a16:creationId xmlns:a16="http://schemas.microsoft.com/office/drawing/2014/main" id="{65004092-D5EC-44D7-A2EC-B1EB1DF53C4F}"/>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2">
            <a:extLst xmlns:a="http://schemas.openxmlformats.org/drawingml/2006/main">
              <a:ext uri="{FF2B5EF4-FFF2-40B4-BE49-F238E27FC236}">
                <a16:creationId xmlns:a16="http://schemas.microsoft.com/office/drawing/2014/main" id="{B27AC663-032C-40BA-BF29-7701E0DF2E4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a:t>
            </a:r>
          </a:p>
        </p:txBody>
      </p:sp>
      <p:sp>
        <p:nvSpPr>
          <p:cNvPr id="6" name="objective-intro-2">
            <a:extLst xmlns:a="http://schemas.openxmlformats.org/drawingml/2006/main">
              <a:ext uri="{FF2B5EF4-FFF2-40B4-BE49-F238E27FC236}">
                <a16:creationId xmlns:a16="http://schemas.microsoft.com/office/drawing/2014/main" id="{73BE7863-500F-4B22-9089-8C315C21A06D}"/>
              </a:ext>
            </a:extLst>
          </p:cNvPr>
          <p:cNvSpPr>
            <a:spLocks xmlns:a="http://schemas.openxmlformats.org/drawingml/2006/main" noGrp="1"/>
          </p:cNvSpPr>
          <p:nvPr/>
        </p:nvSpPr>
        <p:spPr>
          <a:xfrm xmlns:a="http://schemas.openxmlformats.org/drawingml/2006/main">
            <a:off x="400050" y="142875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C6470"/>
                </a:solidFill>
                <a:latin typeface="Arial"/>
                <a:ea typeface="Arial"/>
                <a:cs typeface="Arial"/>
              </a:defRPr>
            </a:pPr>
            <a:r>
              <a:rPr sz="1650" b="0">
                <a:solidFill>
                  <a:srgbClr val="5C6470"/>
                </a:solidFill>
                <a:latin typeface="Arial"/>
                <a:ea typeface="Arial"/>
                <a:cs typeface="Arial"/>
              </a:rPr>
              <a:t>By the end of this lesson, you should be able to:</a:t>
            </a:r>
          </a:p>
        </p:txBody>
      </p:sp>
      <p:sp>
        <p:nvSpPr>
          <p:cNvPr id="7" name="objective-number-1">
            <a:extLst xmlns:a="http://schemas.openxmlformats.org/drawingml/2006/main">
              <a:ext uri="{FF2B5EF4-FFF2-40B4-BE49-F238E27FC236}">
                <a16:creationId xmlns:a16="http://schemas.microsoft.com/office/drawing/2014/main" id="{25A83F8D-2609-4D6F-9AEE-5CE7B404F3AC}"/>
              </a:ext>
            </a:extLst>
          </p:cNvPr>
          <p:cNvSpPr>
            <a:spLocks xmlns:a="http://schemas.openxmlformats.org/drawingml/2006/main" noGrp="1"/>
          </p:cNvSpPr>
          <p:nvPr/>
        </p:nvSpPr>
        <p:spPr>
          <a:xfrm xmlns:a="http://schemas.openxmlformats.org/drawingml/2006/main">
            <a:off x="400050" y="20478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01</a:t>
            </a:r>
          </a:p>
        </p:txBody>
      </p:sp>
      <p:cxnSp>
        <p:nvCxnSpPr>
          <p:cNvPr id="32" name="objective-rule-1"/>
          <p:cNvCxnSpPr/>
          <p:nvPr/>
        </p:nvCxnSpPr>
        <p:spPr>
          <a:xfrm xmlns:a="http://schemas.openxmlformats.org/drawingml/2006/main">
            <a:off x="1076325" y="22764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objective-text-1">
            <a:extLst xmlns:a="http://schemas.openxmlformats.org/drawingml/2006/main">
              <a:ext uri="{FF2B5EF4-FFF2-40B4-BE49-F238E27FC236}">
                <a16:creationId xmlns:a16="http://schemas.microsoft.com/office/drawing/2014/main" id="{D2E1791F-4E1F-479E-B23F-836E5D63FBBD}"/>
              </a:ext>
            </a:extLst>
          </p:cNvPr>
          <p:cNvSpPr>
            <a:spLocks xmlns:a="http://schemas.openxmlformats.org/drawingml/2006/main" noGrp="1"/>
          </p:cNvSpPr>
          <p:nvPr/>
        </p:nvSpPr>
        <p:spPr>
          <a:xfrm xmlns:a="http://schemas.openxmlformats.org/drawingml/2006/main">
            <a:off x="2047875" y="20478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Distinguish an AI-theory claim from an AI-engineering deliverable.</a:t>
            </a:r>
          </a:p>
        </p:txBody>
      </p:sp>
      <p:sp>
        <p:nvSpPr>
          <p:cNvPr id="10" name="objective-number-2">
            <a:extLst xmlns:a="http://schemas.openxmlformats.org/drawingml/2006/main">
              <a:ext uri="{FF2B5EF4-FFF2-40B4-BE49-F238E27FC236}">
                <a16:creationId xmlns:a16="http://schemas.microsoft.com/office/drawing/2014/main" id="{B67C480A-1A92-4E51-B340-2A98317B094A}"/>
              </a:ext>
            </a:extLst>
          </p:cNvPr>
          <p:cNvSpPr>
            <a:spLocks xmlns:a="http://schemas.openxmlformats.org/drawingml/2006/main" noGrp="1"/>
          </p:cNvSpPr>
          <p:nvPr/>
        </p:nvSpPr>
        <p:spPr>
          <a:xfrm xmlns:a="http://schemas.openxmlformats.org/drawingml/2006/main">
            <a:off x="400050" y="27241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02</a:t>
            </a:r>
          </a:p>
        </p:txBody>
      </p:sp>
      <p:cxnSp>
        <p:nvCxnSpPr>
          <p:cNvPr id="35" name="objective-rule-2"/>
          <p:cNvCxnSpPr/>
          <p:nvPr/>
        </p:nvCxnSpPr>
        <p:spPr>
          <a:xfrm xmlns:a="http://schemas.openxmlformats.org/drawingml/2006/main">
            <a:off x="1076325" y="29527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objective-text-2">
            <a:extLst xmlns:a="http://schemas.openxmlformats.org/drawingml/2006/main">
              <a:ext uri="{FF2B5EF4-FFF2-40B4-BE49-F238E27FC236}">
                <a16:creationId xmlns:a16="http://schemas.microsoft.com/office/drawing/2014/main" id="{C31336A1-14E3-4B21-99B4-02DD86A67F58}"/>
              </a:ext>
            </a:extLst>
          </p:cNvPr>
          <p:cNvSpPr>
            <a:spLocks xmlns:a="http://schemas.openxmlformats.org/drawingml/2006/main" noGrp="1"/>
          </p:cNvSpPr>
          <p:nvPr/>
        </p:nvSpPr>
        <p:spPr>
          <a:xfrm xmlns:a="http://schemas.openxmlformats.org/drawingml/2006/main">
            <a:off x="2047875" y="27241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Translate formal pseudocode into data structures, invariants, and tests.</a:t>
            </a:r>
          </a:p>
        </p:txBody>
      </p:sp>
      <p:sp>
        <p:nvSpPr>
          <p:cNvPr id="13" name="objective-number-3">
            <a:extLst xmlns:a="http://schemas.openxmlformats.org/drawingml/2006/main">
              <a:ext uri="{FF2B5EF4-FFF2-40B4-BE49-F238E27FC236}">
                <a16:creationId xmlns:a16="http://schemas.microsoft.com/office/drawing/2014/main" id="{266136C7-EC58-4533-B725-AA6EC144B0FF}"/>
              </a:ext>
            </a:extLst>
          </p:cNvPr>
          <p:cNvSpPr>
            <a:spLocks xmlns:a="http://schemas.openxmlformats.org/drawingml/2006/main" noGrp="1"/>
          </p:cNvSpPr>
          <p:nvPr/>
        </p:nvSpPr>
        <p:spPr>
          <a:xfrm xmlns:a="http://schemas.openxmlformats.org/drawingml/2006/main">
            <a:off x="40005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03</a:t>
            </a:r>
          </a:p>
        </p:txBody>
      </p:sp>
      <p:cxnSp>
        <p:nvCxnSpPr>
          <p:cNvPr id="38" name="objective-rule-3"/>
          <p:cNvCxnSpPr/>
          <p:nvPr/>
        </p:nvCxnSpPr>
        <p:spPr>
          <a:xfrm xmlns:a="http://schemas.openxmlformats.org/drawingml/2006/main">
            <a:off x="1076325" y="362902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objective-text-3">
            <a:extLst xmlns:a="http://schemas.openxmlformats.org/drawingml/2006/main">
              <a:ext uri="{FF2B5EF4-FFF2-40B4-BE49-F238E27FC236}">
                <a16:creationId xmlns:a16="http://schemas.microsoft.com/office/drawing/2014/main" id="{EA35C3E3-FFB5-45CA-9A70-61FBDFC291B0}"/>
              </a:ext>
            </a:extLst>
          </p:cNvPr>
          <p:cNvSpPr>
            <a:spLocks xmlns:a="http://schemas.openxmlformats.org/drawingml/2006/main" noGrp="1"/>
          </p:cNvSpPr>
          <p:nvPr/>
        </p:nvSpPr>
        <p:spPr>
          <a:xfrm xmlns:a="http://schemas.openxmlformats.org/drawingml/2006/main">
            <a:off x="2047875" y="340042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Explain how hidden tests and performance limits change implementation choices.</a:t>
            </a:r>
          </a:p>
        </p:txBody>
      </p:sp>
      <p:sp>
        <p:nvSpPr>
          <p:cNvPr id="16" name="objective-number-4">
            <a:extLst xmlns:a="http://schemas.openxmlformats.org/drawingml/2006/main">
              <a:ext uri="{FF2B5EF4-FFF2-40B4-BE49-F238E27FC236}">
                <a16:creationId xmlns:a16="http://schemas.microsoft.com/office/drawing/2014/main" id="{531755DB-BEDB-491E-822C-557207B799FD}"/>
              </a:ext>
            </a:extLst>
          </p:cNvPr>
          <p:cNvSpPr>
            <a:spLocks xmlns:a="http://schemas.openxmlformats.org/drawingml/2006/main" noGrp="1"/>
          </p:cNvSpPr>
          <p:nvPr/>
        </p:nvSpPr>
        <p:spPr>
          <a:xfrm xmlns:a="http://schemas.openxmlformats.org/drawingml/2006/main">
            <a:off x="400050" y="407670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04</a:t>
            </a:r>
          </a:p>
        </p:txBody>
      </p:sp>
      <p:cxnSp>
        <p:nvCxnSpPr>
          <p:cNvPr id="41" name="objective-rule-4"/>
          <p:cNvCxnSpPr/>
          <p:nvPr/>
        </p:nvCxnSpPr>
        <p:spPr>
          <a:xfrm xmlns:a="http://schemas.openxmlformats.org/drawingml/2006/main">
            <a:off x="1076325" y="430530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8" name="objective-text-4">
            <a:extLst xmlns:a="http://schemas.openxmlformats.org/drawingml/2006/main">
              <a:ext uri="{FF2B5EF4-FFF2-40B4-BE49-F238E27FC236}">
                <a16:creationId xmlns:a16="http://schemas.microsoft.com/office/drawing/2014/main" id="{43C8142C-7937-4221-B2E4-F9607BAE6D05}"/>
              </a:ext>
            </a:extLst>
          </p:cNvPr>
          <p:cNvSpPr>
            <a:spLocks xmlns:a="http://schemas.openxmlformats.org/drawingml/2006/main" noGrp="1"/>
          </p:cNvSpPr>
          <p:nvPr/>
        </p:nvSpPr>
        <p:spPr>
          <a:xfrm xmlns:a="http://schemas.openxmlformats.org/drawingml/2006/main">
            <a:off x="2047875" y="407670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Select fail-fast or fail-silent behavior deliberately for a stated contract.</a:t>
            </a:r>
          </a:p>
        </p:txBody>
      </p:sp>
      <p:sp>
        <p:nvSpPr>
          <p:cNvPr id="19" name="objective-number-5">
            <a:extLst xmlns:a="http://schemas.openxmlformats.org/drawingml/2006/main">
              <a:ext uri="{FF2B5EF4-FFF2-40B4-BE49-F238E27FC236}">
                <a16:creationId xmlns:a16="http://schemas.microsoft.com/office/drawing/2014/main" id="{7CA5468D-22E3-43EA-9D4D-8FDCA44F2D2C}"/>
              </a:ext>
            </a:extLst>
          </p:cNvPr>
          <p:cNvSpPr>
            <a:spLocks xmlns:a="http://schemas.openxmlformats.org/drawingml/2006/main" noGrp="1"/>
          </p:cNvSpPr>
          <p:nvPr/>
        </p:nvSpPr>
        <p:spPr>
          <a:xfrm xmlns:a="http://schemas.openxmlformats.org/drawingml/2006/main">
            <a:off x="400050" y="47529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05</a:t>
            </a:r>
          </a:p>
        </p:txBody>
      </p:sp>
      <p:cxnSp>
        <p:nvCxnSpPr>
          <p:cNvPr id="44" name="objective-rule-5"/>
          <p:cNvCxnSpPr/>
          <p:nvPr/>
        </p:nvCxnSpPr>
        <p:spPr>
          <a:xfrm xmlns:a="http://schemas.openxmlformats.org/drawingml/2006/main">
            <a:off x="1076325" y="49815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1" name="objective-text-5">
            <a:extLst xmlns:a="http://schemas.openxmlformats.org/drawingml/2006/main">
              <a:ext uri="{FF2B5EF4-FFF2-40B4-BE49-F238E27FC236}">
                <a16:creationId xmlns:a16="http://schemas.microsoft.com/office/drawing/2014/main" id="{35041782-C9CB-4163-8D01-119935471F6E}"/>
              </a:ext>
            </a:extLst>
          </p:cNvPr>
          <p:cNvSpPr>
            <a:spLocks xmlns:a="http://schemas.openxmlformats.org/drawingml/2006/main" noGrp="1"/>
          </p:cNvSpPr>
          <p:nvPr/>
        </p:nvSpPr>
        <p:spPr>
          <a:xfrm xmlns:a="http://schemas.openxmlformats.org/drawingml/2006/main">
            <a:off x="2047875" y="47529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Apply the course generative-AI policy to realistic development scenarios.</a:t>
            </a:r>
          </a:p>
        </p:txBody>
      </p:sp>
      <p:sp>
        <p:nvSpPr>
          <p:cNvPr id="22" name="objective-number-6">
            <a:extLst xmlns:a="http://schemas.openxmlformats.org/drawingml/2006/main">
              <a:ext uri="{FF2B5EF4-FFF2-40B4-BE49-F238E27FC236}">
                <a16:creationId xmlns:a16="http://schemas.microsoft.com/office/drawing/2014/main" id="{F91B1A63-C7E0-4CFE-87C8-070A5803B0FC}"/>
              </a:ext>
            </a:extLst>
          </p:cNvPr>
          <p:cNvSpPr>
            <a:spLocks xmlns:a="http://schemas.openxmlformats.org/drawingml/2006/main" noGrp="1"/>
          </p:cNvSpPr>
          <p:nvPr/>
        </p:nvSpPr>
        <p:spPr>
          <a:xfrm xmlns:a="http://schemas.openxmlformats.org/drawingml/2006/main">
            <a:off x="400050" y="5429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06</a:t>
            </a:r>
          </a:p>
        </p:txBody>
      </p:sp>
      <p:cxnSp>
        <p:nvCxnSpPr>
          <p:cNvPr id="47" name="objective-rule-6"/>
          <p:cNvCxnSpPr/>
          <p:nvPr/>
        </p:nvCxnSpPr>
        <p:spPr>
          <a:xfrm xmlns:a="http://schemas.openxmlformats.org/drawingml/2006/main">
            <a:off x="1076325" y="56578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4" name="objective-text-6">
            <a:extLst xmlns:a="http://schemas.openxmlformats.org/drawingml/2006/main">
              <a:ext uri="{FF2B5EF4-FFF2-40B4-BE49-F238E27FC236}">
                <a16:creationId xmlns:a16="http://schemas.microsoft.com/office/drawing/2014/main" id="{B4C6ACE3-F0D4-4D81-804D-ABAC9BA3ACAE}"/>
              </a:ext>
            </a:extLst>
          </p:cNvPr>
          <p:cNvSpPr>
            <a:spLocks xmlns:a="http://schemas.openxmlformats.org/drawingml/2006/main" noGrp="1"/>
          </p:cNvSpPr>
          <p:nvPr/>
        </p:nvSpPr>
        <p:spPr>
          <a:xfrm xmlns:a="http://schemas.openxmlformats.org/drawingml/2006/main">
            <a:off x="2047875" y="54292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Plan effort across the course's modules, projects, and examinations.</a:t>
            </a:r>
          </a:p>
        </p:txBody>
      </p:sp>
    </p:spTree>
    <p:extLst>
      <p:ext uri="{BB962C8B-B14F-4D97-AF65-F5344CB8AC3E}">
        <p14:creationId xmlns:p14="http://schemas.microsoft.com/office/powerpoint/2010/main" val="17089065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3">
            <a:extLst xmlns:a="http://schemas.openxmlformats.org/drawingml/2006/main">
              <a:ext uri="{FF2B5EF4-FFF2-40B4-BE49-F238E27FC236}">
                <a16:creationId xmlns:a16="http://schemas.microsoft.com/office/drawing/2014/main" id="{05196DE9-1D0D-4807-B675-EEF9BE054B8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The unit of success changes in an engineering course</a:t>
            </a:r>
          </a:p>
        </p:txBody>
      </p:sp>
      <p:sp>
        <p:nvSpPr>
          <p:cNvPr id="2" name="title-accent-3">
            <a:extLst xmlns:a="http://schemas.openxmlformats.org/drawingml/2006/main">
              <a:ext uri="{FF2B5EF4-FFF2-40B4-BE49-F238E27FC236}">
                <a16:creationId xmlns:a16="http://schemas.microsoft.com/office/drawing/2014/main" id="{4126B594-581A-4C60-BD45-EDFFC8BE893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3">
            <a:extLst xmlns:a="http://schemas.openxmlformats.org/drawingml/2006/main">
              <a:ext uri="{FF2B5EF4-FFF2-40B4-BE49-F238E27FC236}">
                <a16:creationId xmlns:a16="http://schemas.microsoft.com/office/drawing/2014/main" id="{E5B8F824-7401-4C76-8C10-C3DDCEC2812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3">
            <a:extLst xmlns:a="http://schemas.openxmlformats.org/drawingml/2006/main">
              <a:ext uri="{FF2B5EF4-FFF2-40B4-BE49-F238E27FC236}">
                <a16:creationId xmlns:a16="http://schemas.microsoft.com/office/drawing/2014/main" id="{57B51D45-22C1-4888-9456-85041F754CFE}"/>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3</a:t>
            </a:r>
          </a:p>
        </p:txBody>
      </p:sp>
      <p:sp>
        <p:nvSpPr>
          <p:cNvPr id="6" name="claim-3">
            <a:extLst xmlns:a="http://schemas.openxmlformats.org/drawingml/2006/main">
              <a:ext uri="{FF2B5EF4-FFF2-40B4-BE49-F238E27FC236}">
                <a16:creationId xmlns:a16="http://schemas.microsoft.com/office/drawing/2014/main" id="{A3CAA172-509B-4999-A86F-09B5B8C4BC81}"/>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correct idea becomes an engineering result only when its behavior is specified, implemented, and independently verified.</a:t>
            </a:r>
          </a:p>
        </p:txBody>
      </p:sp>
      <p:sp>
        <p:nvSpPr>
          <p:cNvPr id="7" name="claim-panel-3">
            <a:extLst xmlns:a="http://schemas.openxmlformats.org/drawingml/2006/main">
              <a:ext uri="{FF2B5EF4-FFF2-40B4-BE49-F238E27FC236}">
                <a16:creationId xmlns:a16="http://schemas.microsoft.com/office/drawing/2014/main" id="{57D1858C-D435-48DB-BFE7-D89C81D18981}"/>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3">
            <a:extLst xmlns:a="http://schemas.openxmlformats.org/drawingml/2006/main">
              <a:ext uri="{FF2B5EF4-FFF2-40B4-BE49-F238E27FC236}">
                <a16:creationId xmlns:a16="http://schemas.microsoft.com/office/drawing/2014/main" id="{C53716B3-0BD8-4C64-89ED-0279B2EB383C}"/>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Evidence</a:t>
            </a:r>
          </a:p>
        </p:txBody>
      </p:sp>
      <p:sp>
        <p:nvSpPr>
          <p:cNvPr id="9" name="claim-keyword-detail-3">
            <a:extLst xmlns:a="http://schemas.openxmlformats.org/drawingml/2006/main">
              <a:ext uri="{FF2B5EF4-FFF2-40B4-BE49-F238E27FC236}">
                <a16:creationId xmlns:a16="http://schemas.microsoft.com/office/drawing/2014/main" id="{BEB2ECEF-6461-48C6-A66B-7F61242A8F4D}"/>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Correctness must be observable beyond the author's favorite example.</a:t>
            </a:r>
          </a:p>
        </p:txBody>
      </p:sp>
      <p:sp>
        <p:nvSpPr>
          <p:cNvPr id="10" name="claim-detail-3-marker-1">
            <a:extLst xmlns:a="http://schemas.openxmlformats.org/drawingml/2006/main">
              <a:ext uri="{FF2B5EF4-FFF2-40B4-BE49-F238E27FC236}">
                <a16:creationId xmlns:a16="http://schemas.microsoft.com/office/drawing/2014/main" id="{19527FB7-366C-46FC-970F-71A4F3E4ED86}"/>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3-text-1">
            <a:extLst xmlns:a="http://schemas.openxmlformats.org/drawingml/2006/main">
              <a:ext uri="{FF2B5EF4-FFF2-40B4-BE49-F238E27FC236}">
                <a16:creationId xmlns:a16="http://schemas.microsoft.com/office/drawing/2014/main" id="{EE4209BB-29B3-4FC5-8737-AB3990AC23C4}"/>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A proof addresses a model; software must also honor an executable contract.</a:t>
            </a:r>
          </a:p>
        </p:txBody>
      </p:sp>
      <p:sp>
        <p:nvSpPr>
          <p:cNvPr id="12" name="claim-detail-3-marker-2">
            <a:extLst xmlns:a="http://schemas.openxmlformats.org/drawingml/2006/main">
              <a:ext uri="{FF2B5EF4-FFF2-40B4-BE49-F238E27FC236}">
                <a16:creationId xmlns:a16="http://schemas.microsoft.com/office/drawing/2014/main" id="{537BBF74-06EA-4B46-860C-C975EACFE394}"/>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3-text-2">
            <a:extLst xmlns:a="http://schemas.openxmlformats.org/drawingml/2006/main">
              <a:ext uri="{FF2B5EF4-FFF2-40B4-BE49-F238E27FC236}">
                <a16:creationId xmlns:a16="http://schemas.microsoft.com/office/drawing/2014/main" id="{0E624318-6DC8-47C4-BFBC-3F88858120E6}"/>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Representations and interfaces determine which theoretical assumptions remain true.</a:t>
            </a:r>
          </a:p>
        </p:txBody>
      </p:sp>
      <p:sp>
        <p:nvSpPr>
          <p:cNvPr id="14" name="claim-detail-3-marker-3">
            <a:extLst xmlns:a="http://schemas.openxmlformats.org/drawingml/2006/main">
              <a:ext uri="{FF2B5EF4-FFF2-40B4-BE49-F238E27FC236}">
                <a16:creationId xmlns:a16="http://schemas.microsoft.com/office/drawing/2014/main" id="{56C5D57F-AF16-4D5B-AD19-6C11924C1797}"/>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3-text-3">
            <a:extLst xmlns:a="http://schemas.openxmlformats.org/drawingml/2006/main">
              <a:ext uri="{FF2B5EF4-FFF2-40B4-BE49-F238E27FC236}">
                <a16:creationId xmlns:a16="http://schemas.microsoft.com/office/drawing/2014/main" id="{AEFD5C8A-8EDF-4C73-A196-F58E44B5C527}"/>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Tests, complexity measurements, and failure behavior are part of the result.</a:t>
            </a:r>
          </a:p>
        </p:txBody>
      </p:sp>
    </p:spTree>
    <p:extLst>
      <p:ext uri="{BB962C8B-B14F-4D97-AF65-F5344CB8AC3E}">
        <p14:creationId xmlns:p14="http://schemas.microsoft.com/office/powerpoint/2010/main" val="14020225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4">
            <a:extLst xmlns:a="http://schemas.openxmlformats.org/drawingml/2006/main">
              <a:ext uri="{FF2B5EF4-FFF2-40B4-BE49-F238E27FC236}">
                <a16:creationId xmlns:a16="http://schemas.microsoft.com/office/drawing/2014/main" id="{947472C6-F008-497A-9899-1CF9DEFFA998}"/>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Theory, implementation, and verification form one pipeline</a:t>
            </a:r>
          </a:p>
        </p:txBody>
      </p:sp>
      <p:sp>
        <p:nvSpPr>
          <p:cNvPr id="2" name="title-accent-4">
            <a:extLst xmlns:a="http://schemas.openxmlformats.org/drawingml/2006/main">
              <a:ext uri="{FF2B5EF4-FFF2-40B4-BE49-F238E27FC236}">
                <a16:creationId xmlns:a16="http://schemas.microsoft.com/office/drawing/2014/main" id="{5ECDFED8-6C69-4A34-97AB-12FD661FF33B}"/>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4">
            <a:extLst xmlns:a="http://schemas.openxmlformats.org/drawingml/2006/main">
              <a:ext uri="{FF2B5EF4-FFF2-40B4-BE49-F238E27FC236}">
                <a16:creationId xmlns:a16="http://schemas.microsoft.com/office/drawing/2014/main" id="{7DE86D86-DAB4-4F92-A2F4-83DCDAF09A5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4">
            <a:extLst xmlns:a="http://schemas.openxmlformats.org/drawingml/2006/main">
              <a:ext uri="{FF2B5EF4-FFF2-40B4-BE49-F238E27FC236}">
                <a16:creationId xmlns:a16="http://schemas.microsoft.com/office/drawing/2014/main" id="{7DC1141B-04F0-43D7-9838-19E431034D3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4</a:t>
            </a:r>
          </a:p>
        </p:txBody>
      </p:sp>
      <p:sp>
        <p:nvSpPr>
          <p:cNvPr id="6" name="comparison-title-4-1">
            <a:extLst xmlns:a="http://schemas.openxmlformats.org/drawingml/2006/main">
              <a:ext uri="{FF2B5EF4-FFF2-40B4-BE49-F238E27FC236}">
                <a16:creationId xmlns:a16="http://schemas.microsoft.com/office/drawing/2014/main" id="{49DC8351-93C6-4DB0-914A-E3DAD4AE97C9}"/>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Theory</a:t>
            </a:r>
          </a:p>
        </p:txBody>
      </p:sp>
      <p:sp>
        <p:nvSpPr>
          <p:cNvPr id="7" name="comparison-tagline-4-1">
            <a:extLst xmlns:a="http://schemas.openxmlformats.org/drawingml/2006/main">
              <a:ext uri="{FF2B5EF4-FFF2-40B4-BE49-F238E27FC236}">
                <a16:creationId xmlns:a16="http://schemas.microsoft.com/office/drawing/2014/main" id="{9291B1B5-E524-477C-B091-2ED729B953BE}"/>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What follows from the formal assumptions?</a:t>
            </a:r>
          </a:p>
        </p:txBody>
      </p:sp>
      <p:sp>
        <p:nvSpPr>
          <p:cNvPr id="8" name="comparison-bullet-4-1-marker-1">
            <a:extLst xmlns:a="http://schemas.openxmlformats.org/drawingml/2006/main">
              <a:ext uri="{FF2B5EF4-FFF2-40B4-BE49-F238E27FC236}">
                <a16:creationId xmlns:a16="http://schemas.microsoft.com/office/drawing/2014/main" id="{1ACDB6AA-9B20-41C5-A1AF-E1DE1A204D6B}"/>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9" name="comparison-bullet-4-1-text-1">
            <a:extLst xmlns:a="http://schemas.openxmlformats.org/drawingml/2006/main">
              <a:ext uri="{FF2B5EF4-FFF2-40B4-BE49-F238E27FC236}">
                <a16:creationId xmlns:a16="http://schemas.microsoft.com/office/drawing/2014/main" id="{0329AB95-CFEE-4F6E-955E-9B1C38C85D34}"/>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Define the model and prove properties.</a:t>
            </a:r>
          </a:p>
        </p:txBody>
      </p:sp>
      <p:sp>
        <p:nvSpPr>
          <p:cNvPr id="10" name="comparison-bullet-4-1-marker-2">
            <a:extLst xmlns:a="http://schemas.openxmlformats.org/drawingml/2006/main">
              <a:ext uri="{FF2B5EF4-FFF2-40B4-BE49-F238E27FC236}">
                <a16:creationId xmlns:a16="http://schemas.microsoft.com/office/drawing/2014/main" id="{DA2F78AA-E3D8-4055-AA1F-961AAA3C0555}"/>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1" name="comparison-bullet-4-1-text-2">
            <a:extLst xmlns:a="http://schemas.openxmlformats.org/drawingml/2006/main">
              <a:ext uri="{FF2B5EF4-FFF2-40B4-BE49-F238E27FC236}">
                <a16:creationId xmlns:a16="http://schemas.microsoft.com/office/drawing/2014/main" id="{86BE4C5B-5D04-4B62-AAB6-C16EC7439615}"/>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Derive an update or decision rule.</a:t>
            </a:r>
          </a:p>
        </p:txBody>
      </p:sp>
      <p:sp>
        <p:nvSpPr>
          <p:cNvPr id="12" name="comparison-bullet-4-1-marker-3">
            <a:extLst xmlns:a="http://schemas.openxmlformats.org/drawingml/2006/main">
              <a:ext uri="{FF2B5EF4-FFF2-40B4-BE49-F238E27FC236}">
                <a16:creationId xmlns:a16="http://schemas.microsoft.com/office/drawing/2014/main" id="{9482C531-CBC0-4D0A-9BC4-00E764932A64}"/>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3" name="comparison-bullet-4-1-text-3">
            <a:extLst xmlns:a="http://schemas.openxmlformats.org/drawingml/2006/main">
              <a:ext uri="{FF2B5EF4-FFF2-40B4-BE49-F238E27FC236}">
                <a16:creationId xmlns:a16="http://schemas.microsoft.com/office/drawing/2014/main" id="{5F4F40E7-9E91-495D-ACD5-38CC3FED4BEC}"/>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Analyze asymptotic behavior.</a:t>
            </a:r>
          </a:p>
        </p:txBody>
      </p:sp>
      <p:sp>
        <p:nvSpPr>
          <p:cNvPr id="14" name="comparison-bullet-4-1-marker-4">
            <a:extLst xmlns:a="http://schemas.openxmlformats.org/drawingml/2006/main">
              <a:ext uri="{FF2B5EF4-FFF2-40B4-BE49-F238E27FC236}">
                <a16:creationId xmlns:a16="http://schemas.microsoft.com/office/drawing/2014/main" id="{A9CCBE3C-CF18-4CF1-905A-E77D69128DE2}"/>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5" name="comparison-bullet-4-1-text-4">
            <a:extLst xmlns:a="http://schemas.openxmlformats.org/drawingml/2006/main">
              <a:ext uri="{FF2B5EF4-FFF2-40B4-BE49-F238E27FC236}">
                <a16:creationId xmlns:a16="http://schemas.microsoft.com/office/drawing/2014/main" id="{49986CD5-B74B-4CC8-B57D-896E76D0C924}"/>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State conditions for guarantees.</a:t>
            </a:r>
          </a:p>
        </p:txBody>
      </p:sp>
      <p:cxnSp>
        <p:nvCxnSpPr>
          <p:cNvPr id="53" name="comparison-divider-4-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4-2">
            <a:extLst xmlns:a="http://schemas.openxmlformats.org/drawingml/2006/main">
              <a:ext uri="{FF2B5EF4-FFF2-40B4-BE49-F238E27FC236}">
                <a16:creationId xmlns:a16="http://schemas.microsoft.com/office/drawing/2014/main" id="{23CDEE79-D2BD-4780-8434-FDD090EF6F54}"/>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Implementation</a:t>
            </a:r>
          </a:p>
        </p:txBody>
      </p:sp>
      <p:sp>
        <p:nvSpPr>
          <p:cNvPr id="18" name="comparison-tagline-4-2">
            <a:extLst xmlns:a="http://schemas.openxmlformats.org/drawingml/2006/main">
              <a:ext uri="{FF2B5EF4-FFF2-40B4-BE49-F238E27FC236}">
                <a16:creationId xmlns:a16="http://schemas.microsoft.com/office/drawing/2014/main" id="{01733B13-3736-418D-BD20-4F39CD30C073}"/>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How will the model exist in software?</a:t>
            </a:r>
          </a:p>
        </p:txBody>
      </p:sp>
      <p:sp>
        <p:nvSpPr>
          <p:cNvPr id="19" name="comparison-bullet-4-2-marker-1">
            <a:extLst xmlns:a="http://schemas.openxmlformats.org/drawingml/2006/main">
              <a:ext uri="{FF2B5EF4-FFF2-40B4-BE49-F238E27FC236}">
                <a16:creationId xmlns:a16="http://schemas.microsoft.com/office/drawing/2014/main" id="{E9F73A36-564F-44E6-A921-B5FFC1AA07BE}"/>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comparison-bullet-4-2-text-1">
            <a:extLst xmlns:a="http://schemas.openxmlformats.org/drawingml/2006/main">
              <a:ext uri="{FF2B5EF4-FFF2-40B4-BE49-F238E27FC236}">
                <a16:creationId xmlns:a16="http://schemas.microsoft.com/office/drawing/2014/main" id="{C399A61A-5EF8-43E3-80E3-E0B1A57F3810}"/>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Choose representations and interfaces.</a:t>
            </a:r>
          </a:p>
        </p:txBody>
      </p:sp>
      <p:sp>
        <p:nvSpPr>
          <p:cNvPr id="21" name="comparison-bullet-4-2-marker-2">
            <a:extLst xmlns:a="http://schemas.openxmlformats.org/drawingml/2006/main">
              <a:ext uri="{FF2B5EF4-FFF2-40B4-BE49-F238E27FC236}">
                <a16:creationId xmlns:a16="http://schemas.microsoft.com/office/drawing/2014/main" id="{9E0B99CF-EB0A-4AA4-A9C5-7AC0942CE259}"/>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comparison-bullet-4-2-text-2">
            <a:extLst xmlns:a="http://schemas.openxmlformats.org/drawingml/2006/main">
              <a:ext uri="{FF2B5EF4-FFF2-40B4-BE49-F238E27FC236}">
                <a16:creationId xmlns:a16="http://schemas.microsoft.com/office/drawing/2014/main" id="{2F00EEE1-F41A-4907-A17B-119EB1197573}"/>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Preserve invariants under mutation.</a:t>
            </a:r>
          </a:p>
        </p:txBody>
      </p:sp>
      <p:sp>
        <p:nvSpPr>
          <p:cNvPr id="23" name="comparison-bullet-4-2-marker-3">
            <a:extLst xmlns:a="http://schemas.openxmlformats.org/drawingml/2006/main">
              <a:ext uri="{FF2B5EF4-FFF2-40B4-BE49-F238E27FC236}">
                <a16:creationId xmlns:a16="http://schemas.microsoft.com/office/drawing/2014/main" id="{EC82D035-05CA-4906-B8AF-F3C33B09AA28}"/>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comparison-bullet-4-2-text-3">
            <a:extLst xmlns:a="http://schemas.openxmlformats.org/drawingml/2006/main">
              <a:ext uri="{FF2B5EF4-FFF2-40B4-BE49-F238E27FC236}">
                <a16:creationId xmlns:a16="http://schemas.microsoft.com/office/drawing/2014/main" id="{33B3271E-F079-43CA-8DA4-FB84C668ABDC}"/>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Handle invalid and degenerate inputs.</a:t>
            </a:r>
          </a:p>
        </p:txBody>
      </p:sp>
      <p:sp>
        <p:nvSpPr>
          <p:cNvPr id="25" name="comparison-bullet-4-2-marker-4">
            <a:extLst xmlns:a="http://schemas.openxmlformats.org/drawingml/2006/main">
              <a:ext uri="{FF2B5EF4-FFF2-40B4-BE49-F238E27FC236}">
                <a16:creationId xmlns:a16="http://schemas.microsoft.com/office/drawing/2014/main" id="{502FF22B-5C4E-49DF-A301-C4B4309020C8}"/>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6" name="comparison-bullet-4-2-text-4">
            <a:extLst xmlns:a="http://schemas.openxmlformats.org/drawingml/2006/main">
              <a:ext uri="{FF2B5EF4-FFF2-40B4-BE49-F238E27FC236}">
                <a16:creationId xmlns:a16="http://schemas.microsoft.com/office/drawing/2014/main" id="{B3670722-AB35-44B1-B256-8081AA5F688A}"/>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Control time, space, and numerical cost.</a:t>
            </a:r>
          </a:p>
        </p:txBody>
      </p:sp>
      <p:cxnSp>
        <p:nvCxnSpPr>
          <p:cNvPr id="64" name="comparison-divider-4-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4-3">
            <a:extLst xmlns:a="http://schemas.openxmlformats.org/drawingml/2006/main">
              <a:ext uri="{FF2B5EF4-FFF2-40B4-BE49-F238E27FC236}">
                <a16:creationId xmlns:a16="http://schemas.microsoft.com/office/drawing/2014/main" id="{4FA966AC-3B41-43B9-89BC-6FDF73AA195A}"/>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Verification</a:t>
            </a:r>
          </a:p>
        </p:txBody>
      </p:sp>
      <p:sp>
        <p:nvSpPr>
          <p:cNvPr id="29" name="comparison-tagline-4-3">
            <a:extLst xmlns:a="http://schemas.openxmlformats.org/drawingml/2006/main">
              <a:ext uri="{FF2B5EF4-FFF2-40B4-BE49-F238E27FC236}">
                <a16:creationId xmlns:a16="http://schemas.microsoft.com/office/drawing/2014/main" id="{2AE1DD5C-6F5B-4494-BBEB-A3101A0AC0F4}"/>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What evidence would reveal a defect?</a:t>
            </a:r>
          </a:p>
        </p:txBody>
      </p:sp>
      <p:sp>
        <p:nvSpPr>
          <p:cNvPr id="30" name="comparison-bullet-4-3-marker-1">
            <a:extLst xmlns:a="http://schemas.openxmlformats.org/drawingml/2006/main">
              <a:ext uri="{FF2B5EF4-FFF2-40B4-BE49-F238E27FC236}">
                <a16:creationId xmlns:a16="http://schemas.microsoft.com/office/drawing/2014/main" id="{A79E6EB6-E1A9-4BF7-BD6B-1A24A21000F9}"/>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1" name="comparison-bullet-4-3-text-1">
            <a:extLst xmlns:a="http://schemas.openxmlformats.org/drawingml/2006/main">
              <a:ext uri="{FF2B5EF4-FFF2-40B4-BE49-F238E27FC236}">
                <a16:creationId xmlns:a16="http://schemas.microsoft.com/office/drawing/2014/main" id="{492B7588-CA8D-419A-B908-1E7FC3803652}"/>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Design unit and property tests.</a:t>
            </a:r>
          </a:p>
        </p:txBody>
      </p:sp>
      <p:sp>
        <p:nvSpPr>
          <p:cNvPr id="32" name="comparison-bullet-4-3-marker-2">
            <a:extLst xmlns:a="http://schemas.openxmlformats.org/drawingml/2006/main">
              <a:ext uri="{FF2B5EF4-FFF2-40B4-BE49-F238E27FC236}">
                <a16:creationId xmlns:a16="http://schemas.microsoft.com/office/drawing/2014/main" id="{9CCB579D-C602-4AFC-B084-04586266BD25}"/>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3" name="comparison-bullet-4-3-text-2">
            <a:extLst xmlns:a="http://schemas.openxmlformats.org/drawingml/2006/main">
              <a:ext uri="{FF2B5EF4-FFF2-40B4-BE49-F238E27FC236}">
                <a16:creationId xmlns:a16="http://schemas.microsoft.com/office/drawing/2014/main" id="{27D6B187-EAAF-4A26-AF1B-2F1EC1B618F2}"/>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Exercise boundaries and adversarial cases.</a:t>
            </a:r>
          </a:p>
        </p:txBody>
      </p:sp>
      <p:sp>
        <p:nvSpPr>
          <p:cNvPr id="34" name="comparison-bullet-4-3-marker-3">
            <a:extLst xmlns:a="http://schemas.openxmlformats.org/drawingml/2006/main">
              <a:ext uri="{FF2B5EF4-FFF2-40B4-BE49-F238E27FC236}">
                <a16:creationId xmlns:a16="http://schemas.microsoft.com/office/drawing/2014/main" id="{E72A0AF2-43BA-4BD4-89A2-E9E79D65E9AC}"/>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5" name="comparison-bullet-4-3-text-3">
            <a:extLst xmlns:a="http://schemas.openxmlformats.org/drawingml/2006/main">
              <a:ext uri="{FF2B5EF4-FFF2-40B4-BE49-F238E27FC236}">
                <a16:creationId xmlns:a16="http://schemas.microsoft.com/office/drawing/2014/main" id="{F3F4745E-02AE-4E6A-B9AD-25B16AFB5C05}"/>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Measure complexity-sensitive behavior.</a:t>
            </a:r>
          </a:p>
        </p:txBody>
      </p:sp>
      <p:sp>
        <p:nvSpPr>
          <p:cNvPr id="36" name="comparison-bullet-4-3-marker-4">
            <a:extLst xmlns:a="http://schemas.openxmlformats.org/drawingml/2006/main">
              <a:ext uri="{FF2B5EF4-FFF2-40B4-BE49-F238E27FC236}">
                <a16:creationId xmlns:a16="http://schemas.microsoft.com/office/drawing/2014/main" id="{F1162AE3-DDE7-4305-B524-3CD49C4694D9}"/>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7" name="comparison-bullet-4-3-text-4">
            <a:extLst xmlns:a="http://schemas.openxmlformats.org/drawingml/2006/main">
              <a:ext uri="{FF2B5EF4-FFF2-40B4-BE49-F238E27FC236}">
                <a16:creationId xmlns:a16="http://schemas.microsoft.com/office/drawing/2014/main" id="{68B894A5-748A-44F8-BD86-17D6EEB97608}"/>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Reproduce failures deterministically.</a:t>
            </a:r>
          </a:p>
        </p:txBody>
      </p:sp>
    </p:spTree>
    <p:extLst>
      <p:ext uri="{BB962C8B-B14F-4D97-AF65-F5344CB8AC3E}">
        <p14:creationId xmlns:p14="http://schemas.microsoft.com/office/powerpoint/2010/main" val="3321718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5">
            <a:extLst xmlns:a="http://schemas.openxmlformats.org/drawingml/2006/main">
              <a:ext uri="{FF2B5EF4-FFF2-40B4-BE49-F238E27FC236}">
                <a16:creationId xmlns:a16="http://schemas.microsoft.com/office/drawing/2014/main" id="{49CB6B48-6B3C-42A7-8720-4C6AD2345C3B}"/>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Translate pseudocode through invariants, not line by line</a:t>
            </a:r>
          </a:p>
        </p:txBody>
      </p:sp>
      <p:sp>
        <p:nvSpPr>
          <p:cNvPr id="2" name="title-accent-5">
            <a:extLst xmlns:a="http://schemas.openxmlformats.org/drawingml/2006/main">
              <a:ext uri="{FF2B5EF4-FFF2-40B4-BE49-F238E27FC236}">
                <a16:creationId xmlns:a16="http://schemas.microsoft.com/office/drawing/2014/main" id="{E4257416-3534-4C76-B1E7-1CB928B6D82D}"/>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3" name="title-rule-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5">
            <a:extLst xmlns:a="http://schemas.openxmlformats.org/drawingml/2006/main">
              <a:ext uri="{FF2B5EF4-FFF2-40B4-BE49-F238E27FC236}">
                <a16:creationId xmlns:a16="http://schemas.microsoft.com/office/drawing/2014/main" id="{DE7EDE32-0BF4-4A97-9A03-CC08A7052FE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5">
            <a:extLst xmlns:a="http://schemas.openxmlformats.org/drawingml/2006/main">
              <a:ext uri="{FF2B5EF4-FFF2-40B4-BE49-F238E27FC236}">
                <a16:creationId xmlns:a16="http://schemas.microsoft.com/office/drawing/2014/main" id="{B5DABA3D-CEF2-4C2E-8D21-0DDF33FA60D4}"/>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5</a:t>
            </a:r>
          </a:p>
        </p:txBody>
      </p:sp>
      <p:cxnSp>
        <p:nvCxnSpPr>
          <p:cNvPr id="36" name="process-connector-5-1"/>
          <p:cNvCxnSpPr/>
          <p:nvPr/>
        </p:nvCxnSpPr>
        <p:spPr>
          <a:xfrm xmlns:a="http://schemas.openxmlformats.org/drawingml/2006/main">
            <a:off x="25241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7" name="process-connector-5-2"/>
          <p:cNvCxnSpPr/>
          <p:nvPr/>
        </p:nvCxnSpPr>
        <p:spPr>
          <a:xfrm xmlns:a="http://schemas.openxmlformats.org/drawingml/2006/main">
            <a:off x="48482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8" name="process-connector-5-3"/>
          <p:cNvCxnSpPr/>
          <p:nvPr/>
        </p:nvCxnSpPr>
        <p:spPr>
          <a:xfrm xmlns:a="http://schemas.openxmlformats.org/drawingml/2006/main">
            <a:off x="71723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9" name="process-connector-5-4"/>
          <p:cNvCxnSpPr/>
          <p:nvPr/>
        </p:nvCxnSpPr>
        <p:spPr>
          <a:xfrm xmlns:a="http://schemas.openxmlformats.org/drawingml/2006/main">
            <a:off x="9496425" y="3114675"/>
            <a:ext cx="171450" cy="0"/>
          </a:xfrm>
          <a:prstGeom xmlns:a="http://schemas.openxmlformats.org/drawingml/2006/main" prst="straightConnector1">
            <a:avLst/>
          </a:prstGeom>
          <a:ln xmlns:a="http://schemas.openxmlformats.org/drawingml/2006/main" w="19050">
            <a:solidFill>
              <a:srgbClr val="3D8DFF"/>
            </a:solidFill>
            <a:prstDash val="solid"/>
          </a:ln>
        </p:spPr>
      </p:cxnSp>
      <p:sp>
        <p:nvSpPr>
          <p:cNvPr id="10" name="process-node-5-1">
            <a:extLst xmlns:a="http://schemas.openxmlformats.org/drawingml/2006/main">
              <a:ext uri="{FF2B5EF4-FFF2-40B4-BE49-F238E27FC236}">
                <a16:creationId xmlns:a16="http://schemas.microsoft.com/office/drawing/2014/main" id="{19977DBA-B8C2-41A3-92DE-2C2D32150D5C}"/>
              </a:ext>
            </a:extLst>
          </p:cNvPr>
          <p:cNvSpPr>
            <a:spLocks xmlns:a="http://schemas.openxmlformats.org/drawingml/2006/main" noGrp="1"/>
          </p:cNvSpPr>
          <p:nvPr/>
        </p:nvSpPr>
        <p:spPr>
          <a:xfrm xmlns:a="http://schemas.openxmlformats.org/drawingml/2006/main">
            <a:off x="4000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process-number-5-1">
            <a:extLst xmlns:a="http://schemas.openxmlformats.org/drawingml/2006/main">
              <a:ext uri="{FF2B5EF4-FFF2-40B4-BE49-F238E27FC236}">
                <a16:creationId xmlns:a16="http://schemas.microsoft.com/office/drawing/2014/main" id="{16706DF4-A510-46D5-B8D2-2121AC63572D}"/>
              </a:ext>
            </a:extLst>
          </p:cNvPr>
          <p:cNvSpPr>
            <a:spLocks xmlns:a="http://schemas.openxmlformats.org/drawingml/2006/main" noGrp="1"/>
          </p:cNvSpPr>
          <p:nvPr/>
        </p:nvSpPr>
        <p:spPr>
          <a:xfrm xmlns:a="http://schemas.openxmlformats.org/drawingml/2006/main">
            <a:off x="5715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2" name="process-title-5-1">
            <a:extLst xmlns:a="http://schemas.openxmlformats.org/drawingml/2006/main">
              <a:ext uri="{FF2B5EF4-FFF2-40B4-BE49-F238E27FC236}">
                <a16:creationId xmlns:a16="http://schemas.microsoft.com/office/drawing/2014/main" id="{F617025E-52E8-4B79-B8FB-67D5EFCF2657}"/>
              </a:ext>
            </a:extLst>
          </p:cNvPr>
          <p:cNvSpPr>
            <a:spLocks xmlns:a="http://schemas.openxmlformats.org/drawingml/2006/main" noGrp="1"/>
          </p:cNvSpPr>
          <p:nvPr/>
        </p:nvSpPr>
        <p:spPr>
          <a:xfrm xmlns:a="http://schemas.openxmlformats.org/drawingml/2006/main">
            <a:off x="5715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Read</a:t>
            </a:r>
          </a:p>
        </p:txBody>
      </p:sp>
      <p:sp>
        <p:nvSpPr>
          <p:cNvPr id="13" name="process-detail-5-1">
            <a:extLst xmlns:a="http://schemas.openxmlformats.org/drawingml/2006/main">
              <a:ext uri="{FF2B5EF4-FFF2-40B4-BE49-F238E27FC236}">
                <a16:creationId xmlns:a16="http://schemas.microsoft.com/office/drawing/2014/main" id="{56172E26-E018-4DDF-89BF-C9A80F970A19}"/>
              </a:ext>
            </a:extLst>
          </p:cNvPr>
          <p:cNvSpPr>
            <a:spLocks xmlns:a="http://schemas.openxmlformats.org/drawingml/2006/main" noGrp="1"/>
          </p:cNvSpPr>
          <p:nvPr/>
        </p:nvSpPr>
        <p:spPr>
          <a:xfrm xmlns:a="http://schemas.openxmlformats.org/drawingml/2006/main">
            <a:off x="5715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Identify inputs, outputs, assumptions, and the mathematical objective.</a:t>
            </a:r>
          </a:p>
        </p:txBody>
      </p:sp>
      <p:sp>
        <p:nvSpPr>
          <p:cNvPr id="14" name="process-node-5-2">
            <a:extLst xmlns:a="http://schemas.openxmlformats.org/drawingml/2006/main">
              <a:ext uri="{FF2B5EF4-FFF2-40B4-BE49-F238E27FC236}">
                <a16:creationId xmlns:a16="http://schemas.microsoft.com/office/drawing/2014/main" id="{A6CE556B-E22B-4112-B085-A7B1C198E440}"/>
              </a:ext>
            </a:extLst>
          </p:cNvPr>
          <p:cNvSpPr>
            <a:spLocks xmlns:a="http://schemas.openxmlformats.org/drawingml/2006/main" noGrp="1"/>
          </p:cNvSpPr>
          <p:nvPr/>
        </p:nvSpPr>
        <p:spPr>
          <a:xfrm xmlns:a="http://schemas.openxmlformats.org/drawingml/2006/main">
            <a:off x="2724150" y="2238375"/>
            <a:ext cx="2095500" cy="2381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process-number-5-2">
            <a:extLst xmlns:a="http://schemas.openxmlformats.org/drawingml/2006/main">
              <a:ext uri="{FF2B5EF4-FFF2-40B4-BE49-F238E27FC236}">
                <a16:creationId xmlns:a16="http://schemas.microsoft.com/office/drawing/2014/main" id="{06213538-0472-4CF2-A4AD-C9177C8B97A8}"/>
              </a:ext>
            </a:extLst>
          </p:cNvPr>
          <p:cNvSpPr>
            <a:spLocks xmlns:a="http://schemas.openxmlformats.org/drawingml/2006/main" noGrp="1"/>
          </p:cNvSpPr>
          <p:nvPr/>
        </p:nvSpPr>
        <p:spPr>
          <a:xfrm xmlns:a="http://schemas.openxmlformats.org/drawingml/2006/main">
            <a:off x="28956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6" name="process-title-5-2">
            <a:extLst xmlns:a="http://schemas.openxmlformats.org/drawingml/2006/main">
              <a:ext uri="{FF2B5EF4-FFF2-40B4-BE49-F238E27FC236}">
                <a16:creationId xmlns:a16="http://schemas.microsoft.com/office/drawing/2014/main" id="{51619D35-4FB9-4031-894A-8F217F4B13FC}"/>
              </a:ext>
            </a:extLst>
          </p:cNvPr>
          <p:cNvSpPr>
            <a:spLocks xmlns:a="http://schemas.openxmlformats.org/drawingml/2006/main" noGrp="1"/>
          </p:cNvSpPr>
          <p:nvPr/>
        </p:nvSpPr>
        <p:spPr>
          <a:xfrm xmlns:a="http://schemas.openxmlformats.org/drawingml/2006/main">
            <a:off x="28956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Extract</a:t>
            </a:r>
          </a:p>
        </p:txBody>
      </p:sp>
      <p:sp>
        <p:nvSpPr>
          <p:cNvPr id="17" name="process-detail-5-2">
            <a:extLst xmlns:a="http://schemas.openxmlformats.org/drawingml/2006/main">
              <a:ext uri="{FF2B5EF4-FFF2-40B4-BE49-F238E27FC236}">
                <a16:creationId xmlns:a16="http://schemas.microsoft.com/office/drawing/2014/main" id="{10FD17AA-012E-4DC7-8561-31A44E809981}"/>
              </a:ext>
            </a:extLst>
          </p:cNvPr>
          <p:cNvSpPr>
            <a:spLocks xmlns:a="http://schemas.openxmlformats.org/drawingml/2006/main" noGrp="1"/>
          </p:cNvSpPr>
          <p:nvPr/>
        </p:nvSpPr>
        <p:spPr>
          <a:xfrm xmlns:a="http://schemas.openxmlformats.org/drawingml/2006/main">
            <a:off x="28956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Write the state, loop, ordering, and termination invariants explicitly.</a:t>
            </a:r>
          </a:p>
        </p:txBody>
      </p:sp>
      <p:sp>
        <p:nvSpPr>
          <p:cNvPr id="18" name="process-node-5-3">
            <a:extLst xmlns:a="http://schemas.openxmlformats.org/drawingml/2006/main">
              <a:ext uri="{FF2B5EF4-FFF2-40B4-BE49-F238E27FC236}">
                <a16:creationId xmlns:a16="http://schemas.microsoft.com/office/drawing/2014/main" id="{583D67FE-3C84-4BB1-99ED-B8BC82EAB5BD}"/>
              </a:ext>
            </a:extLst>
          </p:cNvPr>
          <p:cNvSpPr>
            <a:spLocks xmlns:a="http://schemas.openxmlformats.org/drawingml/2006/main" noGrp="1"/>
          </p:cNvSpPr>
          <p:nvPr/>
        </p:nvSpPr>
        <p:spPr>
          <a:xfrm xmlns:a="http://schemas.openxmlformats.org/drawingml/2006/main">
            <a:off x="50482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process-number-5-3">
            <a:extLst xmlns:a="http://schemas.openxmlformats.org/drawingml/2006/main">
              <a:ext uri="{FF2B5EF4-FFF2-40B4-BE49-F238E27FC236}">
                <a16:creationId xmlns:a16="http://schemas.microsoft.com/office/drawing/2014/main" id="{AD8027B9-07BB-4C15-839A-1F69B2E2F824}"/>
              </a:ext>
            </a:extLst>
          </p:cNvPr>
          <p:cNvSpPr>
            <a:spLocks xmlns:a="http://schemas.openxmlformats.org/drawingml/2006/main" noGrp="1"/>
          </p:cNvSpPr>
          <p:nvPr/>
        </p:nvSpPr>
        <p:spPr>
          <a:xfrm xmlns:a="http://schemas.openxmlformats.org/drawingml/2006/main">
            <a:off x="52197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20" name="process-title-5-3">
            <a:extLst xmlns:a="http://schemas.openxmlformats.org/drawingml/2006/main">
              <a:ext uri="{FF2B5EF4-FFF2-40B4-BE49-F238E27FC236}">
                <a16:creationId xmlns:a16="http://schemas.microsoft.com/office/drawing/2014/main" id="{579D2198-C0AA-49A2-B904-F263683A5645}"/>
              </a:ext>
            </a:extLst>
          </p:cNvPr>
          <p:cNvSpPr>
            <a:spLocks xmlns:a="http://schemas.openxmlformats.org/drawingml/2006/main" noGrp="1"/>
          </p:cNvSpPr>
          <p:nvPr/>
        </p:nvSpPr>
        <p:spPr>
          <a:xfrm xmlns:a="http://schemas.openxmlformats.org/drawingml/2006/main">
            <a:off x="52197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Represent</a:t>
            </a:r>
          </a:p>
        </p:txBody>
      </p:sp>
      <p:sp>
        <p:nvSpPr>
          <p:cNvPr id="21" name="process-detail-5-3">
            <a:extLst xmlns:a="http://schemas.openxmlformats.org/drawingml/2006/main">
              <a:ext uri="{FF2B5EF4-FFF2-40B4-BE49-F238E27FC236}">
                <a16:creationId xmlns:a16="http://schemas.microsoft.com/office/drawing/2014/main" id="{68FA95AC-D2EA-4E46-8D52-F958B7D141D9}"/>
              </a:ext>
            </a:extLst>
          </p:cNvPr>
          <p:cNvSpPr>
            <a:spLocks xmlns:a="http://schemas.openxmlformats.org/drawingml/2006/main" noGrp="1"/>
          </p:cNvSpPr>
          <p:nvPr/>
        </p:nvSpPr>
        <p:spPr>
          <a:xfrm xmlns:a="http://schemas.openxmlformats.org/drawingml/2006/main">
            <a:off x="52197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Choose structures whose operations preserve those invariants.</a:t>
            </a:r>
          </a:p>
        </p:txBody>
      </p:sp>
      <p:sp>
        <p:nvSpPr>
          <p:cNvPr id="22" name="process-node-5-4">
            <a:extLst xmlns:a="http://schemas.openxmlformats.org/drawingml/2006/main">
              <a:ext uri="{FF2B5EF4-FFF2-40B4-BE49-F238E27FC236}">
                <a16:creationId xmlns:a16="http://schemas.microsoft.com/office/drawing/2014/main" id="{B35DB622-3C11-4805-82BF-7FFCAC33474D}"/>
              </a:ext>
            </a:extLst>
          </p:cNvPr>
          <p:cNvSpPr>
            <a:spLocks xmlns:a="http://schemas.openxmlformats.org/drawingml/2006/main" noGrp="1"/>
          </p:cNvSpPr>
          <p:nvPr/>
        </p:nvSpPr>
        <p:spPr>
          <a:xfrm xmlns:a="http://schemas.openxmlformats.org/drawingml/2006/main">
            <a:off x="73723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3" name="process-number-5-4">
            <a:extLst xmlns:a="http://schemas.openxmlformats.org/drawingml/2006/main">
              <a:ext uri="{FF2B5EF4-FFF2-40B4-BE49-F238E27FC236}">
                <a16:creationId xmlns:a16="http://schemas.microsoft.com/office/drawing/2014/main" id="{7BC02319-A36D-4402-8D9B-13DFF1E5F5A4}"/>
              </a:ext>
            </a:extLst>
          </p:cNvPr>
          <p:cNvSpPr>
            <a:spLocks xmlns:a="http://schemas.openxmlformats.org/drawingml/2006/main" noGrp="1"/>
          </p:cNvSpPr>
          <p:nvPr/>
        </p:nvSpPr>
        <p:spPr>
          <a:xfrm xmlns:a="http://schemas.openxmlformats.org/drawingml/2006/main">
            <a:off x="75438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24" name="process-title-5-4">
            <a:extLst xmlns:a="http://schemas.openxmlformats.org/drawingml/2006/main">
              <a:ext uri="{FF2B5EF4-FFF2-40B4-BE49-F238E27FC236}">
                <a16:creationId xmlns:a16="http://schemas.microsoft.com/office/drawing/2014/main" id="{28271E0E-C51B-4F9F-AB7D-C782482D5133}"/>
              </a:ext>
            </a:extLst>
          </p:cNvPr>
          <p:cNvSpPr>
            <a:spLocks xmlns:a="http://schemas.openxmlformats.org/drawingml/2006/main" noGrp="1"/>
          </p:cNvSpPr>
          <p:nvPr/>
        </p:nvSpPr>
        <p:spPr>
          <a:xfrm xmlns:a="http://schemas.openxmlformats.org/drawingml/2006/main">
            <a:off x="75438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Implement</a:t>
            </a:r>
          </a:p>
        </p:txBody>
      </p:sp>
      <p:sp>
        <p:nvSpPr>
          <p:cNvPr id="25" name="process-detail-5-4">
            <a:extLst xmlns:a="http://schemas.openxmlformats.org/drawingml/2006/main">
              <a:ext uri="{FF2B5EF4-FFF2-40B4-BE49-F238E27FC236}">
                <a16:creationId xmlns:a16="http://schemas.microsoft.com/office/drawing/2014/main" id="{BF60F1B0-7930-4C68-8CAA-0331B9D609D6}"/>
              </a:ext>
            </a:extLst>
          </p:cNvPr>
          <p:cNvSpPr>
            <a:spLocks xmlns:a="http://schemas.openxmlformats.org/drawingml/2006/main" noGrp="1"/>
          </p:cNvSpPr>
          <p:nvPr/>
        </p:nvSpPr>
        <p:spPr>
          <a:xfrm xmlns:a="http://schemas.openxmlformats.org/drawingml/2006/main">
            <a:off x="75438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Encode the contract with validation and clear interfaces.</a:t>
            </a:r>
          </a:p>
        </p:txBody>
      </p:sp>
      <p:sp>
        <p:nvSpPr>
          <p:cNvPr id="26" name="process-node-5-5">
            <a:extLst xmlns:a="http://schemas.openxmlformats.org/drawingml/2006/main">
              <a:ext uri="{FF2B5EF4-FFF2-40B4-BE49-F238E27FC236}">
                <a16:creationId xmlns:a16="http://schemas.microsoft.com/office/drawing/2014/main" id="{83AD5207-E6B8-4C0D-A20B-BAB0EA8A0DA0}"/>
              </a:ext>
            </a:extLst>
          </p:cNvPr>
          <p:cNvSpPr>
            <a:spLocks xmlns:a="http://schemas.openxmlformats.org/drawingml/2006/main" noGrp="1"/>
          </p:cNvSpPr>
          <p:nvPr/>
        </p:nvSpPr>
        <p:spPr>
          <a:xfrm xmlns:a="http://schemas.openxmlformats.org/drawingml/2006/main">
            <a:off x="96964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7" name="process-number-5-5">
            <a:extLst xmlns:a="http://schemas.openxmlformats.org/drawingml/2006/main">
              <a:ext uri="{FF2B5EF4-FFF2-40B4-BE49-F238E27FC236}">
                <a16:creationId xmlns:a16="http://schemas.microsoft.com/office/drawing/2014/main" id="{753B9BB5-ED1D-4B45-8DD7-0FC93237779A}"/>
              </a:ext>
            </a:extLst>
          </p:cNvPr>
          <p:cNvSpPr>
            <a:spLocks xmlns:a="http://schemas.openxmlformats.org/drawingml/2006/main" noGrp="1"/>
          </p:cNvSpPr>
          <p:nvPr/>
        </p:nvSpPr>
        <p:spPr>
          <a:xfrm xmlns:a="http://schemas.openxmlformats.org/drawingml/2006/main">
            <a:off x="98679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05</a:t>
            </a:r>
          </a:p>
        </p:txBody>
      </p:sp>
      <p:sp>
        <p:nvSpPr>
          <p:cNvPr id="28" name="process-title-5-5">
            <a:extLst xmlns:a="http://schemas.openxmlformats.org/drawingml/2006/main">
              <a:ext uri="{FF2B5EF4-FFF2-40B4-BE49-F238E27FC236}">
                <a16:creationId xmlns:a16="http://schemas.microsoft.com/office/drawing/2014/main" id="{D6DF0162-B174-4EA6-861A-B8CDB6C26033}"/>
              </a:ext>
            </a:extLst>
          </p:cNvPr>
          <p:cNvSpPr>
            <a:spLocks xmlns:a="http://schemas.openxmlformats.org/drawingml/2006/main" noGrp="1"/>
          </p:cNvSpPr>
          <p:nvPr/>
        </p:nvSpPr>
        <p:spPr>
          <a:xfrm xmlns:a="http://schemas.openxmlformats.org/drawingml/2006/main">
            <a:off x="98679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Challenge</a:t>
            </a:r>
          </a:p>
        </p:txBody>
      </p:sp>
      <p:sp>
        <p:nvSpPr>
          <p:cNvPr id="29" name="process-detail-5-5">
            <a:extLst xmlns:a="http://schemas.openxmlformats.org/drawingml/2006/main">
              <a:ext uri="{FF2B5EF4-FFF2-40B4-BE49-F238E27FC236}">
                <a16:creationId xmlns:a16="http://schemas.microsoft.com/office/drawing/2014/main" id="{3F1DFA43-6C8E-4746-A66F-0246775446F0}"/>
              </a:ext>
            </a:extLst>
          </p:cNvPr>
          <p:cNvSpPr>
            <a:spLocks xmlns:a="http://schemas.openxmlformats.org/drawingml/2006/main" noGrp="1"/>
          </p:cNvSpPr>
          <p:nvPr/>
        </p:nvSpPr>
        <p:spPr>
          <a:xfrm xmlns:a="http://schemas.openxmlformats.org/drawingml/2006/main">
            <a:off x="98679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Design tests that attack boundaries, duplicates, and resource limits.</a:t>
            </a:r>
          </a:p>
        </p:txBody>
      </p:sp>
      <p:sp>
        <p:nvSpPr>
          <p:cNvPr id="30" name="process-takeaway-5">
            <a:extLst xmlns:a="http://schemas.openxmlformats.org/drawingml/2006/main">
              <a:ext uri="{FF2B5EF4-FFF2-40B4-BE49-F238E27FC236}">
                <a16:creationId xmlns:a16="http://schemas.microsoft.com/office/drawing/2014/main" id="{C2888958-BDE1-402F-AE33-DDA326A54B48}"/>
              </a:ext>
            </a:extLst>
          </p:cNvPr>
          <p:cNvSpPr>
            <a:spLocks xmlns:a="http://schemas.openxmlformats.org/drawingml/2006/main" noGrp="1"/>
          </p:cNvSpPr>
          <p:nvPr/>
        </p:nvSpPr>
        <p:spPr>
          <a:xfrm xmlns:a="http://schemas.openxmlformats.org/drawingml/2006/main">
            <a:off x="400050" y="5095875"/>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The invariant is the bridge between a formal algorithm and trustworthy code.</a:t>
            </a:r>
          </a:p>
        </p:txBody>
      </p:sp>
    </p:spTree>
    <p:extLst>
      <p:ext uri="{BB962C8B-B14F-4D97-AF65-F5344CB8AC3E}">
        <p14:creationId xmlns:p14="http://schemas.microsoft.com/office/powerpoint/2010/main" val="14544568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6">
            <a:extLst xmlns:a="http://schemas.openxmlformats.org/drawingml/2006/main">
              <a:ext uri="{FF2B5EF4-FFF2-40B4-BE49-F238E27FC236}">
                <a16:creationId xmlns:a16="http://schemas.microsoft.com/office/drawing/2014/main" id="{02731F84-918C-41FB-BBC2-845E255D71B4}"/>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Pseudocode leaves engineering decisions unresolved</a:t>
            </a:r>
          </a:p>
        </p:txBody>
      </p:sp>
      <p:sp>
        <p:nvSpPr>
          <p:cNvPr id="2" name="title-accent-6">
            <a:extLst xmlns:a="http://schemas.openxmlformats.org/drawingml/2006/main">
              <a:ext uri="{FF2B5EF4-FFF2-40B4-BE49-F238E27FC236}">
                <a16:creationId xmlns:a16="http://schemas.microsoft.com/office/drawing/2014/main" id="{12E852DA-9D74-45DE-AE9E-203A8F2EB1E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9" name="title-rule-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6">
            <a:extLst xmlns:a="http://schemas.openxmlformats.org/drawingml/2006/main">
              <a:ext uri="{FF2B5EF4-FFF2-40B4-BE49-F238E27FC236}">
                <a16:creationId xmlns:a16="http://schemas.microsoft.com/office/drawing/2014/main" id="{F200765C-0654-4306-8FB6-AE1FE44C7B0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6">
            <a:extLst xmlns:a="http://schemas.openxmlformats.org/drawingml/2006/main">
              <a:ext uri="{FF2B5EF4-FFF2-40B4-BE49-F238E27FC236}">
                <a16:creationId xmlns:a16="http://schemas.microsoft.com/office/drawing/2014/main" id="{F4B343DA-6197-4AEE-9763-A7A25E42C810}"/>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6</a:t>
            </a:r>
          </a:p>
        </p:txBody>
      </p:sp>
      <p:sp>
        <p:nvSpPr>
          <p:cNvPr id="6" name="code-panel-6">
            <a:extLst xmlns:a="http://schemas.openxmlformats.org/drawingml/2006/main">
              <a:ext uri="{FF2B5EF4-FFF2-40B4-BE49-F238E27FC236}">
                <a16:creationId xmlns:a16="http://schemas.microsoft.com/office/drawing/2014/main" id="{F9FF3A7F-3781-49A6-AD1B-830DF9181B9A}"/>
              </a:ext>
            </a:extLst>
          </p:cNvPr>
          <p:cNvSpPr>
            <a:spLocks xmlns:a="http://schemas.openxmlformats.org/drawingml/2006/main" noGrp="1"/>
          </p:cNvSpPr>
          <p:nvPr/>
        </p:nvSpPr>
        <p:spPr>
          <a:xfrm xmlns:a="http://schemas.openxmlformats.org/drawingml/2006/main">
            <a:off x="400050" y="1600200"/>
            <a:ext cx="7410450" cy="4095750"/>
          </a:xfrm>
          <a:prstGeom xmlns:a="http://schemas.openxmlformats.org/drawingml/2006/main" prst="rect">
            <a:avLst/>
          </a:prstGeom>
          <a:solidFill xmlns:a="http://schemas.openxmlformats.org/drawingml/2006/main">
            <a:srgbClr val="F5F6F7"/>
          </a:solidFill>
          <a:ln xmlns:a="http://schemas.openxmlformats.org/drawingml/2006/main" w="9525">
            <a:solidFill>
              <a:srgbClr val="B8BCC4"/>
            </a:solidFill>
            <a:prstDash val="solid"/>
          </a:ln>
        </p:spPr>
      </p:sp>
      <p:sp>
        <p:nvSpPr>
          <p:cNvPr id="7" name="code-6">
            <a:extLst xmlns:a="http://schemas.openxmlformats.org/drawingml/2006/main">
              <a:ext uri="{FF2B5EF4-FFF2-40B4-BE49-F238E27FC236}">
                <a16:creationId xmlns:a16="http://schemas.microsoft.com/office/drawing/2014/main" id="{904BB7CC-23D8-4C69-8195-A1E3C0D0AF06}"/>
              </a:ext>
            </a:extLst>
          </p:cNvPr>
          <p:cNvSpPr>
            <a:spLocks xmlns:a="http://schemas.openxmlformats.org/drawingml/2006/main" noGrp="1"/>
          </p:cNvSpPr>
          <p:nvPr/>
        </p:nvSpPr>
        <p:spPr>
          <a:xfrm xmlns:a="http://schemas.openxmlformats.org/drawingml/2006/main">
            <a:off x="647700" y="1838325"/>
            <a:ext cx="69151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function GRAPH_SEARCH(problem):</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frontier &lt;- { NODE(problem.initial) }</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explored &lt;- empty set</a:t>
            </a:r>
          </a:p>
          <a:p xmlns:a="http://schemas.openxmlformats.org/drawingml/2006/main">
            <a:r>
              <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while frontier is not empty:</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node &lt;- REMOVE(frontier)</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if problem.goal_test(node.state):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return SOLUTION(node)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add node.state to explored</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for child in EXPAND(problem, node):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if child.state not in explored or frontier:</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add child to frontier</a:t>
            </a:r>
          </a:p>
          <a:p xmlns:a="http://schemas.openxmlformats.org/drawingml/2006/main">
            <a:r>
              <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return failure</a:t>
            </a:r>
          </a:p>
        </p:txBody>
      </p:sp>
      <p:sp>
        <p:nvSpPr>
          <p:cNvPr id="8" name="code-rail-title-6">
            <a:extLst xmlns:a="http://schemas.openxmlformats.org/drawingml/2006/main">
              <a:ext uri="{FF2B5EF4-FFF2-40B4-BE49-F238E27FC236}">
                <a16:creationId xmlns:a16="http://schemas.microsoft.com/office/drawing/2014/main" id="{8840054D-ADA4-472D-B3E4-67C24397F3DF}"/>
              </a:ext>
            </a:extLst>
          </p:cNvPr>
          <p:cNvSpPr>
            <a:spLocks xmlns:a="http://schemas.openxmlformats.org/drawingml/2006/main" noGrp="1"/>
          </p:cNvSpPr>
          <p:nvPr/>
        </p:nvSpPr>
        <p:spPr>
          <a:xfrm xmlns:a="http://schemas.openxmlformats.org/drawingml/2006/main">
            <a:off x="8191500" y="16859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Questions the code must answer</a:t>
            </a:r>
          </a:p>
        </p:txBody>
      </p:sp>
      <p:sp>
        <p:nvSpPr>
          <p:cNvPr id="9" name="code-rail-6-marker-1">
            <a:extLst xmlns:a="http://schemas.openxmlformats.org/drawingml/2006/main">
              <a:ext uri="{FF2B5EF4-FFF2-40B4-BE49-F238E27FC236}">
                <a16:creationId xmlns:a16="http://schemas.microsoft.com/office/drawing/2014/main" id="{D662F093-E8B3-46B4-AC47-E78EBBDBF923}"/>
              </a:ext>
            </a:extLst>
          </p:cNvPr>
          <p:cNvSpPr>
            <a:spLocks xmlns:a="http://schemas.openxmlformats.org/drawingml/2006/main" noGrp="1"/>
          </p:cNvSpPr>
          <p:nvPr/>
        </p:nvSpPr>
        <p:spPr>
          <a:xfrm xmlns:a="http://schemas.openxmlformats.org/drawingml/2006/main">
            <a:off x="8191500" y="24669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code-rail-6-text-1">
            <a:extLst xmlns:a="http://schemas.openxmlformats.org/drawingml/2006/main">
              <a:ext uri="{FF2B5EF4-FFF2-40B4-BE49-F238E27FC236}">
                <a16:creationId xmlns:a16="http://schemas.microsoft.com/office/drawing/2014/main" id="{30DB7A53-2F0D-4BAF-AE43-B75B565BB26D}"/>
              </a:ext>
            </a:extLst>
          </p:cNvPr>
          <p:cNvSpPr>
            <a:spLocks xmlns:a="http://schemas.openxmlformats.org/drawingml/2006/main" noGrp="1"/>
          </p:cNvSpPr>
          <p:nvPr/>
        </p:nvSpPr>
        <p:spPr>
          <a:xfrm xmlns:a="http://schemas.openxmlformats.org/drawingml/2006/main">
            <a:off x="8420100" y="23812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What ordering does REMOVE enforce?</a:t>
            </a:r>
          </a:p>
        </p:txBody>
      </p:sp>
      <p:sp>
        <p:nvSpPr>
          <p:cNvPr id="11" name="code-rail-6-marker-2">
            <a:extLst xmlns:a="http://schemas.openxmlformats.org/drawingml/2006/main">
              <a:ext uri="{FF2B5EF4-FFF2-40B4-BE49-F238E27FC236}">
                <a16:creationId xmlns:a16="http://schemas.microsoft.com/office/drawing/2014/main" id="{ECABAA7B-0B51-4748-AA51-3A94182BA4DB}"/>
              </a:ext>
            </a:extLst>
          </p:cNvPr>
          <p:cNvSpPr>
            <a:spLocks xmlns:a="http://schemas.openxmlformats.org/drawingml/2006/main" noGrp="1"/>
          </p:cNvSpPr>
          <p:nvPr/>
        </p:nvSpPr>
        <p:spPr>
          <a:xfrm xmlns:a="http://schemas.openxmlformats.org/drawingml/2006/main">
            <a:off x="8191500" y="32099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code-rail-6-text-2">
            <a:extLst xmlns:a="http://schemas.openxmlformats.org/drawingml/2006/main">
              <a:ext uri="{FF2B5EF4-FFF2-40B4-BE49-F238E27FC236}">
                <a16:creationId xmlns:a16="http://schemas.microsoft.com/office/drawing/2014/main" id="{0F605919-56A5-4815-8391-3E1330F4B389}"/>
              </a:ext>
            </a:extLst>
          </p:cNvPr>
          <p:cNvSpPr>
            <a:spLocks xmlns:a="http://schemas.openxmlformats.org/drawingml/2006/main" noGrp="1"/>
          </p:cNvSpPr>
          <p:nvPr/>
        </p:nvSpPr>
        <p:spPr>
          <a:xfrm xmlns:a="http://schemas.openxmlformats.org/drawingml/2006/main">
            <a:off x="8420100" y="31242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Are state keys immutable and hashable?</a:t>
            </a:r>
          </a:p>
        </p:txBody>
      </p:sp>
      <p:sp>
        <p:nvSpPr>
          <p:cNvPr id="13" name="code-rail-6-marker-3">
            <a:extLst xmlns:a="http://schemas.openxmlformats.org/drawingml/2006/main">
              <a:ext uri="{FF2B5EF4-FFF2-40B4-BE49-F238E27FC236}">
                <a16:creationId xmlns:a16="http://schemas.microsoft.com/office/drawing/2014/main" id="{65B14F05-2E24-4895-B363-280D72D1FD04}"/>
              </a:ext>
            </a:extLst>
          </p:cNvPr>
          <p:cNvSpPr>
            <a:spLocks xmlns:a="http://schemas.openxmlformats.org/drawingml/2006/main" noGrp="1"/>
          </p:cNvSpPr>
          <p:nvPr/>
        </p:nvSpPr>
        <p:spPr>
          <a:xfrm xmlns:a="http://schemas.openxmlformats.org/drawingml/2006/main">
            <a:off x="8191500" y="39528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code-rail-6-text-3">
            <a:extLst xmlns:a="http://schemas.openxmlformats.org/drawingml/2006/main">
              <a:ext uri="{FF2B5EF4-FFF2-40B4-BE49-F238E27FC236}">
                <a16:creationId xmlns:a16="http://schemas.microsoft.com/office/drawing/2014/main" id="{3039A8A8-040B-4077-A88C-9617DA4DD255}"/>
              </a:ext>
            </a:extLst>
          </p:cNvPr>
          <p:cNvSpPr>
            <a:spLocks xmlns:a="http://schemas.openxmlformats.org/drawingml/2006/main" noGrp="1"/>
          </p:cNvSpPr>
          <p:nvPr/>
        </p:nvSpPr>
        <p:spPr>
          <a:xfrm xmlns:a="http://schemas.openxmlformats.org/drawingml/2006/main">
            <a:off x="8420100" y="38671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When is a cheaper duplicate updated?</a:t>
            </a:r>
          </a:p>
        </p:txBody>
      </p:sp>
      <p:sp>
        <p:nvSpPr>
          <p:cNvPr id="15" name="code-rail-6-marker-4">
            <a:extLst xmlns:a="http://schemas.openxmlformats.org/drawingml/2006/main">
              <a:ext uri="{FF2B5EF4-FFF2-40B4-BE49-F238E27FC236}">
                <a16:creationId xmlns:a16="http://schemas.microsoft.com/office/drawing/2014/main" id="{A653277F-D60E-478B-8DFB-94EF8534BBD7}"/>
              </a:ext>
            </a:extLst>
          </p:cNvPr>
          <p:cNvSpPr>
            <a:spLocks xmlns:a="http://schemas.openxmlformats.org/drawingml/2006/main" noGrp="1"/>
          </p:cNvSpPr>
          <p:nvPr/>
        </p:nvSpPr>
        <p:spPr>
          <a:xfrm xmlns:a="http://schemas.openxmlformats.org/drawingml/2006/main">
            <a:off x="8191500" y="4695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code-rail-6-text-4">
            <a:extLst xmlns:a="http://schemas.openxmlformats.org/drawingml/2006/main">
              <a:ext uri="{FF2B5EF4-FFF2-40B4-BE49-F238E27FC236}">
                <a16:creationId xmlns:a16="http://schemas.microsoft.com/office/drawing/2014/main" id="{617C8319-C688-4377-8545-1B2EF975A72C}"/>
              </a:ext>
            </a:extLst>
          </p:cNvPr>
          <p:cNvSpPr>
            <a:spLocks xmlns:a="http://schemas.openxmlformats.org/drawingml/2006/main" noGrp="1"/>
          </p:cNvSpPr>
          <p:nvPr/>
        </p:nvSpPr>
        <p:spPr>
          <a:xfrm xmlns:a="http://schemas.openxmlformats.org/drawingml/2006/main">
            <a:off x="8420100" y="46101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What precise value represents failure?</a:t>
            </a:r>
          </a:p>
        </p:txBody>
      </p:sp>
    </p:spTree>
    <p:extLst>
      <p:ext uri="{BB962C8B-B14F-4D97-AF65-F5344CB8AC3E}">
        <p14:creationId xmlns:p14="http://schemas.microsoft.com/office/powerpoint/2010/main" val="2047141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7">
            <a:extLst xmlns:a="http://schemas.openxmlformats.org/drawingml/2006/main">
              <a:ext uri="{FF2B5EF4-FFF2-40B4-BE49-F238E27FC236}">
                <a16:creationId xmlns:a16="http://schemas.microsoft.com/office/drawing/2014/main" id="{144564B6-2A9C-4AC2-9893-56F502C092E7}"/>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Correctness is a conjunction, not a screenshot</a:t>
            </a:r>
          </a:p>
        </p:txBody>
      </p:sp>
      <p:sp>
        <p:nvSpPr>
          <p:cNvPr id="2" name="title-accent-7">
            <a:extLst xmlns:a="http://schemas.openxmlformats.org/drawingml/2006/main">
              <a:ext uri="{FF2B5EF4-FFF2-40B4-BE49-F238E27FC236}">
                <a16:creationId xmlns:a16="http://schemas.microsoft.com/office/drawing/2014/main" id="{2982DF1B-8061-4B70-86AA-FDBE7782328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9" name="title-rule-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7">
            <a:extLst xmlns:a="http://schemas.openxmlformats.org/drawingml/2006/main">
              <a:ext uri="{FF2B5EF4-FFF2-40B4-BE49-F238E27FC236}">
                <a16:creationId xmlns:a16="http://schemas.microsoft.com/office/drawing/2014/main" id="{10055D77-467E-4AA2-A26F-C3EEC96CE70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7">
            <a:extLst xmlns:a="http://schemas.openxmlformats.org/drawingml/2006/main">
              <a:ext uri="{FF2B5EF4-FFF2-40B4-BE49-F238E27FC236}">
                <a16:creationId xmlns:a16="http://schemas.microsoft.com/office/drawing/2014/main" id="{DD3B66C0-7CA5-4C37-91C7-C0E1E836D738}"/>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7</a:t>
            </a:r>
          </a:p>
        </p:txBody>
      </p:sp>
      <p:sp>
        <p:nvSpPr>
          <p:cNvPr id="6" name="formula-panel-7">
            <a:extLst xmlns:a="http://schemas.openxmlformats.org/drawingml/2006/main">
              <a:ext uri="{FF2B5EF4-FFF2-40B4-BE49-F238E27FC236}">
                <a16:creationId xmlns:a16="http://schemas.microsoft.com/office/drawing/2014/main" id="{CA05EB6B-1B9A-4F7F-920E-7D877DCAE277}"/>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7">
            <a:extLst xmlns:a="http://schemas.openxmlformats.org/drawingml/2006/main">
              <a:ext uri="{FF2B5EF4-FFF2-40B4-BE49-F238E27FC236}">
                <a16:creationId xmlns:a16="http://schemas.microsoft.com/office/drawing/2014/main" id="{72C219E9-37DC-4AFA-A7BA-8B9B01776A43}"/>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111111"/>
                </a:solidFill>
                <a:latin typeface="Cambria Math"/>
                <a:ea typeface="Cambria Math"/>
                <a:cs typeface="Cambria Math"/>
              </a:defRPr>
            </a:pPr>
            <a:r>
              <a:rPr sz="2550" b="1">
                <a:solidFill>
                  <a:srgbClr val="111111"/>
                </a:solidFill>
                <a:latin typeface="Cambria Math"/>
                <a:ea typeface="Cambria Math"/>
                <a:cs typeface="Cambria Math"/>
              </a:rPr>
              <a:t>correct result = contract satisfied AND invariants preserved AND termination justified</a:t>
            </a:r>
          </a:p>
        </p:txBody>
      </p:sp>
      <p:sp>
        <p:nvSpPr>
          <p:cNvPr id="8" name="formula-definition-7-marker-1">
            <a:extLst xmlns:a="http://schemas.openxmlformats.org/drawingml/2006/main">
              <a:ext uri="{FF2B5EF4-FFF2-40B4-BE49-F238E27FC236}">
                <a16:creationId xmlns:a16="http://schemas.microsoft.com/office/drawing/2014/main" id="{8771650A-515E-4AB0-8D9D-229589361284}"/>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7-text-1">
            <a:extLst xmlns:a="http://schemas.openxmlformats.org/drawingml/2006/main">
              <a:ext uri="{FF2B5EF4-FFF2-40B4-BE49-F238E27FC236}">
                <a16:creationId xmlns:a16="http://schemas.microsoft.com/office/drawing/2014/main" id="{2CBCF577-8A8E-4950-AA4A-D21555AABE9A}"/>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Contract: the observable relation between valid inputs, outputs, and errors.</a:t>
            </a:r>
          </a:p>
        </p:txBody>
      </p:sp>
      <p:sp>
        <p:nvSpPr>
          <p:cNvPr id="10" name="formula-definition-7-marker-2">
            <a:extLst xmlns:a="http://schemas.openxmlformats.org/drawingml/2006/main">
              <a:ext uri="{FF2B5EF4-FFF2-40B4-BE49-F238E27FC236}">
                <a16:creationId xmlns:a16="http://schemas.microsoft.com/office/drawing/2014/main" id="{82417D05-98C5-45C2-AF8D-0E1446E94522}"/>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7-text-2">
            <a:extLst xmlns:a="http://schemas.openxmlformats.org/drawingml/2006/main">
              <a:ext uri="{FF2B5EF4-FFF2-40B4-BE49-F238E27FC236}">
                <a16:creationId xmlns:a16="http://schemas.microsoft.com/office/drawing/2014/main" id="{66002880-B0AD-4B35-8809-EFCE12E830B9}"/>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Invariant: a property that remains true at every relevant program point.</a:t>
            </a:r>
          </a:p>
        </p:txBody>
      </p:sp>
      <p:sp>
        <p:nvSpPr>
          <p:cNvPr id="12" name="formula-definition-7-marker-3">
            <a:extLst xmlns:a="http://schemas.openxmlformats.org/drawingml/2006/main">
              <a:ext uri="{FF2B5EF4-FFF2-40B4-BE49-F238E27FC236}">
                <a16:creationId xmlns:a16="http://schemas.microsoft.com/office/drawing/2014/main" id="{3319C9A0-F9EC-467E-B281-49E301478787}"/>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7-text-3">
            <a:extLst xmlns:a="http://schemas.openxmlformats.org/drawingml/2006/main">
              <a:ext uri="{FF2B5EF4-FFF2-40B4-BE49-F238E27FC236}">
                <a16:creationId xmlns:a16="http://schemas.microsoft.com/office/drawing/2014/main" id="{08023CC2-80A3-4A26-86E4-38621B0D1C94}"/>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Termination: either a valid result or a specified failure occurs in finite work.</a:t>
            </a:r>
          </a:p>
        </p:txBody>
      </p:sp>
      <p:sp>
        <p:nvSpPr>
          <p:cNvPr id="14" name="formula-implication-panel-7">
            <a:extLst xmlns:a="http://schemas.openxmlformats.org/drawingml/2006/main">
              <a:ext uri="{FF2B5EF4-FFF2-40B4-BE49-F238E27FC236}">
                <a16:creationId xmlns:a16="http://schemas.microsoft.com/office/drawing/2014/main" id="{820A8128-DE60-463A-B822-8CEBC4C6E967}"/>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formula-implication-label-7">
            <a:extLst xmlns:a="http://schemas.openxmlformats.org/drawingml/2006/main">
              <a:ext uri="{FF2B5EF4-FFF2-40B4-BE49-F238E27FC236}">
                <a16:creationId xmlns:a16="http://schemas.microsoft.com/office/drawing/2014/main" id="{BB23EFF0-9BD6-42F2-96F4-CE69DB8C303B}"/>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6" name="formula-implication-7">
            <a:extLst xmlns:a="http://schemas.openxmlformats.org/drawingml/2006/main">
              <a:ext uri="{FF2B5EF4-FFF2-40B4-BE49-F238E27FC236}">
                <a16:creationId xmlns:a16="http://schemas.microsoft.com/office/drawing/2014/main" id="{FE9567E5-CA30-4082-998A-CCE28CA0E0A9}"/>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A passing example establishes none of these conditions by itself.</a:t>
            </a:r>
          </a:p>
        </p:txBody>
      </p:sp>
    </p:spTree>
    <p:extLst>
      <p:ext uri="{BB962C8B-B14F-4D97-AF65-F5344CB8AC3E}">
        <p14:creationId xmlns:p14="http://schemas.microsoft.com/office/powerpoint/2010/main" val="13411318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8">
            <a:extLst xmlns:a="http://schemas.openxmlformats.org/drawingml/2006/main">
              <a:ext uri="{FF2B5EF4-FFF2-40B4-BE49-F238E27FC236}">
                <a16:creationId xmlns:a16="http://schemas.microsoft.com/office/drawing/2014/main" id="{32A6BB43-0FC2-46CB-8E9D-8C5590BD6032}"/>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An autograder is an independent executable specification</a:t>
            </a:r>
          </a:p>
        </p:txBody>
      </p:sp>
      <p:sp>
        <p:nvSpPr>
          <p:cNvPr id="2" name="title-accent-8">
            <a:extLst xmlns:a="http://schemas.openxmlformats.org/drawingml/2006/main">
              <a:ext uri="{FF2B5EF4-FFF2-40B4-BE49-F238E27FC236}">
                <a16:creationId xmlns:a16="http://schemas.microsoft.com/office/drawing/2014/main" id="{5D20D181-B01D-4123-9C85-9FD13D4D07AF}"/>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8">
            <a:extLst xmlns:a="http://schemas.openxmlformats.org/drawingml/2006/main">
              <a:ext uri="{FF2B5EF4-FFF2-40B4-BE49-F238E27FC236}">
                <a16:creationId xmlns:a16="http://schemas.microsoft.com/office/drawing/2014/main" id="{BAE67695-060B-4969-9327-DC96DEC7425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8">
            <a:extLst xmlns:a="http://schemas.openxmlformats.org/drawingml/2006/main">
              <a:ext uri="{FF2B5EF4-FFF2-40B4-BE49-F238E27FC236}">
                <a16:creationId xmlns:a16="http://schemas.microsoft.com/office/drawing/2014/main" id="{EFCAA4D4-C963-4BC7-B5B6-AD3BC932A091}"/>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8</a:t>
            </a:r>
          </a:p>
        </p:txBody>
      </p:sp>
      <p:sp>
        <p:nvSpPr>
          <p:cNvPr id="6" name="claim-8">
            <a:extLst xmlns:a="http://schemas.openxmlformats.org/drawingml/2006/main">
              <a:ext uri="{FF2B5EF4-FFF2-40B4-BE49-F238E27FC236}">
                <a16:creationId xmlns:a16="http://schemas.microsoft.com/office/drawing/2014/main" id="{E8B94BBF-113C-4665-B562-00250F415D8C}"/>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Hidden tests ask whether your implementation obeys the contract when the author no longer controls the example.</a:t>
            </a:r>
          </a:p>
        </p:txBody>
      </p:sp>
      <p:sp>
        <p:nvSpPr>
          <p:cNvPr id="7" name="claim-panel-8">
            <a:extLst xmlns:a="http://schemas.openxmlformats.org/drawingml/2006/main">
              <a:ext uri="{FF2B5EF4-FFF2-40B4-BE49-F238E27FC236}">
                <a16:creationId xmlns:a16="http://schemas.microsoft.com/office/drawing/2014/main" id="{5B8C6BCB-A967-465D-BA53-684ED202E86A}"/>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8">
            <a:extLst xmlns:a="http://schemas.openxmlformats.org/drawingml/2006/main">
              <a:ext uri="{FF2B5EF4-FFF2-40B4-BE49-F238E27FC236}">
                <a16:creationId xmlns:a16="http://schemas.microsoft.com/office/drawing/2014/main" id="{88318048-DE80-454F-96BB-1D26F9A0E118}"/>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Independence</a:t>
            </a:r>
          </a:p>
        </p:txBody>
      </p:sp>
      <p:sp>
        <p:nvSpPr>
          <p:cNvPr id="9" name="claim-keyword-detail-8">
            <a:extLst xmlns:a="http://schemas.openxmlformats.org/drawingml/2006/main">
              <a:ext uri="{FF2B5EF4-FFF2-40B4-BE49-F238E27FC236}">
                <a16:creationId xmlns:a16="http://schemas.microsoft.com/office/drawing/2014/main" id="{9257C69F-677E-4E3B-8931-5108560281C7}"/>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The evaluator chooses inputs, scale, and failure conditions.</a:t>
            </a:r>
          </a:p>
        </p:txBody>
      </p:sp>
      <p:sp>
        <p:nvSpPr>
          <p:cNvPr id="10" name="claim-detail-8-marker-1">
            <a:extLst xmlns:a="http://schemas.openxmlformats.org/drawingml/2006/main">
              <a:ext uri="{FF2B5EF4-FFF2-40B4-BE49-F238E27FC236}">
                <a16:creationId xmlns:a16="http://schemas.microsoft.com/office/drawing/2014/main" id="{1300A8DD-81B8-4B05-BE1F-E25159A9A21C}"/>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8-text-1">
            <a:extLst xmlns:a="http://schemas.openxmlformats.org/drawingml/2006/main">
              <a:ext uri="{FF2B5EF4-FFF2-40B4-BE49-F238E27FC236}">
                <a16:creationId xmlns:a16="http://schemas.microsoft.com/office/drawing/2014/main" id="{212214D2-4DAC-47CA-A047-3F61179F5386}"/>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Public tests teach the interface; hidden tests probe generality.</a:t>
            </a:r>
          </a:p>
        </p:txBody>
      </p:sp>
      <p:sp>
        <p:nvSpPr>
          <p:cNvPr id="12" name="claim-detail-8-marker-2">
            <a:extLst xmlns:a="http://schemas.openxmlformats.org/drawingml/2006/main">
              <a:ext uri="{FF2B5EF4-FFF2-40B4-BE49-F238E27FC236}">
                <a16:creationId xmlns:a16="http://schemas.microsoft.com/office/drawing/2014/main" id="{621B40CD-C6A5-43C5-A8AB-11EDDA3E6AD2}"/>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8-text-2">
            <a:extLst xmlns:a="http://schemas.openxmlformats.org/drawingml/2006/main">
              <a:ext uri="{FF2B5EF4-FFF2-40B4-BE49-F238E27FC236}">
                <a16:creationId xmlns:a16="http://schemas.microsoft.com/office/drawing/2014/main" id="{8455B9E4-CFDF-4E75-A1C8-32A36A6DE752}"/>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Timeouts make complexity and data-structure choices observable.</a:t>
            </a:r>
          </a:p>
        </p:txBody>
      </p:sp>
      <p:sp>
        <p:nvSpPr>
          <p:cNvPr id="14" name="claim-detail-8-marker-3">
            <a:extLst xmlns:a="http://schemas.openxmlformats.org/drawingml/2006/main">
              <a:ext uri="{FF2B5EF4-FFF2-40B4-BE49-F238E27FC236}">
                <a16:creationId xmlns:a16="http://schemas.microsoft.com/office/drawing/2014/main" id="{D631F603-DFC9-431E-AADA-19AB35000ADE}"/>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8-text-3">
            <a:extLst xmlns:a="http://schemas.openxmlformats.org/drawingml/2006/main">
              <a:ext uri="{FF2B5EF4-FFF2-40B4-BE49-F238E27FC236}">
                <a16:creationId xmlns:a16="http://schemas.microsoft.com/office/drawing/2014/main" id="{F34B034E-61AE-43E6-ABA9-958A3ACA6994}"/>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Deterministic outputs make failures reproducible and gradable.</a:t>
            </a:r>
          </a:p>
        </p:txBody>
      </p:sp>
    </p:spTree>
    <p:extLst>
      <p:ext uri="{BB962C8B-B14F-4D97-AF65-F5344CB8AC3E}">
        <p14:creationId xmlns:p14="http://schemas.microsoft.com/office/powerpoint/2010/main" val="69356949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9">
            <a:extLst xmlns:a="http://schemas.openxmlformats.org/drawingml/2006/main">
              <a:ext uri="{FF2B5EF4-FFF2-40B4-BE49-F238E27FC236}">
                <a16:creationId xmlns:a16="http://schemas.microsoft.com/office/drawing/2014/main" id="{AC879B28-E71B-4465-80F9-8B465427E9A5}"/>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Public examples start the test design; they do not finish it</a:t>
            </a:r>
          </a:p>
        </p:txBody>
      </p:sp>
      <p:sp>
        <p:nvSpPr>
          <p:cNvPr id="2" name="title-accent-9">
            <a:extLst xmlns:a="http://schemas.openxmlformats.org/drawingml/2006/main">
              <a:ext uri="{FF2B5EF4-FFF2-40B4-BE49-F238E27FC236}">
                <a16:creationId xmlns:a16="http://schemas.microsoft.com/office/drawing/2014/main" id="{C764F73C-4349-4355-9A9A-8E836CBFE901}"/>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9"/>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9">
            <a:extLst xmlns:a="http://schemas.openxmlformats.org/drawingml/2006/main">
              <a:ext uri="{FF2B5EF4-FFF2-40B4-BE49-F238E27FC236}">
                <a16:creationId xmlns:a16="http://schemas.microsoft.com/office/drawing/2014/main" id="{9FE3796F-5FA6-4498-A5E7-7D1AFA6A0EC2}"/>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9">
            <a:extLst xmlns:a="http://schemas.openxmlformats.org/drawingml/2006/main">
              <a:ext uri="{FF2B5EF4-FFF2-40B4-BE49-F238E27FC236}">
                <a16:creationId xmlns:a16="http://schemas.microsoft.com/office/drawing/2014/main" id="{A8553B53-D8D1-4D6D-B64D-93BE8ABC9FBB}"/>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9</a:t>
            </a:r>
          </a:p>
        </p:txBody>
      </p:sp>
      <p:cxnSp>
        <p:nvCxnSpPr>
          <p:cNvPr id="30" name="column-divider-9"/>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9">
            <a:extLst xmlns:a="http://schemas.openxmlformats.org/drawingml/2006/main">
              <a:ext uri="{FF2B5EF4-FFF2-40B4-BE49-F238E27FC236}">
                <a16:creationId xmlns:a16="http://schemas.microsoft.com/office/drawing/2014/main" id="{9B5C1510-4E5E-4556-A5F1-D9CEB3800199}"/>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Visible evidence</a:t>
            </a:r>
          </a:p>
        </p:txBody>
      </p:sp>
      <p:sp>
        <p:nvSpPr>
          <p:cNvPr id="8" name="right-title-9">
            <a:extLst xmlns:a="http://schemas.openxmlformats.org/drawingml/2006/main">
              <a:ext uri="{FF2B5EF4-FFF2-40B4-BE49-F238E27FC236}">
                <a16:creationId xmlns:a16="http://schemas.microsoft.com/office/drawing/2014/main" id="{B0703020-3224-470A-9951-2FB8D48FED63}"/>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3D8DFF"/>
                </a:solidFill>
                <a:latin typeface="Arial"/>
                <a:ea typeface="Arial"/>
                <a:cs typeface="Arial"/>
              </a:defRPr>
            </a:pPr>
            <a:r>
              <a:rPr sz="2100" b="1">
                <a:solidFill>
                  <a:srgbClr val="3D8DFF"/>
                </a:solidFill>
                <a:latin typeface="Arial"/>
                <a:ea typeface="Arial"/>
                <a:cs typeface="Arial"/>
              </a:rPr>
              <a:t>Independent probes</a:t>
            </a:r>
          </a:p>
        </p:txBody>
      </p:sp>
      <p:sp>
        <p:nvSpPr>
          <p:cNvPr id="9" name="left-bullet-9-marker-1">
            <a:extLst xmlns:a="http://schemas.openxmlformats.org/drawingml/2006/main">
              <a:ext uri="{FF2B5EF4-FFF2-40B4-BE49-F238E27FC236}">
                <a16:creationId xmlns:a16="http://schemas.microsoft.com/office/drawing/2014/main" id="{121EAC59-DAB9-4F0C-B3F8-C16C6AD6D47A}"/>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9-text-1">
            <a:extLst xmlns:a="http://schemas.openxmlformats.org/drawingml/2006/main">
              <a:ext uri="{FF2B5EF4-FFF2-40B4-BE49-F238E27FC236}">
                <a16:creationId xmlns:a16="http://schemas.microsoft.com/office/drawing/2014/main" id="{7ED9FB69-BE12-4B3F-8E6D-C4E55EF26784}"/>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Nominal example from the assignment.</a:t>
            </a:r>
          </a:p>
        </p:txBody>
      </p:sp>
      <p:sp>
        <p:nvSpPr>
          <p:cNvPr id="11" name="left-bullet-9-marker-2">
            <a:extLst xmlns:a="http://schemas.openxmlformats.org/drawingml/2006/main">
              <a:ext uri="{FF2B5EF4-FFF2-40B4-BE49-F238E27FC236}">
                <a16:creationId xmlns:a16="http://schemas.microsoft.com/office/drawing/2014/main" id="{F43546B4-4256-4E8D-A5A4-158B04144010}"/>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9-text-2">
            <a:extLst xmlns:a="http://schemas.openxmlformats.org/drawingml/2006/main">
              <a:ext uri="{FF2B5EF4-FFF2-40B4-BE49-F238E27FC236}">
                <a16:creationId xmlns:a16="http://schemas.microsoft.com/office/drawing/2014/main" id="{EFFA7720-F07D-46DE-87A6-DB1411D7F06C}"/>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Expected function signature and return type.</a:t>
            </a:r>
          </a:p>
        </p:txBody>
      </p:sp>
      <p:sp>
        <p:nvSpPr>
          <p:cNvPr id="13" name="left-bullet-9-marker-3">
            <a:extLst xmlns:a="http://schemas.openxmlformats.org/drawingml/2006/main">
              <a:ext uri="{FF2B5EF4-FFF2-40B4-BE49-F238E27FC236}">
                <a16:creationId xmlns:a16="http://schemas.microsoft.com/office/drawing/2014/main" id="{56D94A1E-196F-4A6B-B1A2-E565EC74DA30}"/>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9-text-3">
            <a:extLst xmlns:a="http://schemas.openxmlformats.org/drawingml/2006/main">
              <a:ext uri="{FF2B5EF4-FFF2-40B4-BE49-F238E27FC236}">
                <a16:creationId xmlns:a16="http://schemas.microsoft.com/office/drawing/2014/main" id="{42E69028-5323-41ED-9714-98AF051A1541}"/>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One representative path or numerical result.</a:t>
            </a:r>
          </a:p>
        </p:txBody>
      </p:sp>
      <p:sp>
        <p:nvSpPr>
          <p:cNvPr id="15" name="left-bullet-9-marker-4">
            <a:extLst xmlns:a="http://schemas.openxmlformats.org/drawingml/2006/main">
              <a:ext uri="{FF2B5EF4-FFF2-40B4-BE49-F238E27FC236}">
                <a16:creationId xmlns:a16="http://schemas.microsoft.com/office/drawing/2014/main" id="{502D237B-E25A-4429-B51C-8E9B803EF8EF}"/>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9-text-4">
            <a:extLst xmlns:a="http://schemas.openxmlformats.org/drawingml/2006/main">
              <a:ext uri="{FF2B5EF4-FFF2-40B4-BE49-F238E27FC236}">
                <a16:creationId xmlns:a16="http://schemas.microsoft.com/office/drawing/2014/main" id="{B22C8E35-378C-4A49-B982-E259187EE01D}"/>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 local smoke test for the submission workflow.</a:t>
            </a:r>
          </a:p>
        </p:txBody>
      </p:sp>
      <p:sp>
        <p:nvSpPr>
          <p:cNvPr id="17" name="right-bullet-9-marker-1">
            <a:extLst xmlns:a="http://schemas.openxmlformats.org/drawingml/2006/main">
              <a:ext uri="{FF2B5EF4-FFF2-40B4-BE49-F238E27FC236}">
                <a16:creationId xmlns:a16="http://schemas.microsoft.com/office/drawing/2014/main" id="{C97319BD-EAB8-48CB-B145-332700E0860E}"/>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9-text-1">
            <a:extLst xmlns:a="http://schemas.openxmlformats.org/drawingml/2006/main">
              <a:ext uri="{FF2B5EF4-FFF2-40B4-BE49-F238E27FC236}">
                <a16:creationId xmlns:a16="http://schemas.microsoft.com/office/drawing/2014/main" id="{968A5ACB-7F9F-4962-882E-850343C3F2C9}"/>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Empty, singleton, and malformed inputs.</a:t>
            </a:r>
          </a:p>
        </p:txBody>
      </p:sp>
      <p:sp>
        <p:nvSpPr>
          <p:cNvPr id="19" name="right-bullet-9-marker-2">
            <a:extLst xmlns:a="http://schemas.openxmlformats.org/drawingml/2006/main">
              <a:ext uri="{FF2B5EF4-FFF2-40B4-BE49-F238E27FC236}">
                <a16:creationId xmlns:a16="http://schemas.microsoft.com/office/drawing/2014/main" id="{66608F0E-25FF-410D-9EAE-4280D0CBD77F}"/>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9-text-2">
            <a:extLst xmlns:a="http://schemas.openxmlformats.org/drawingml/2006/main">
              <a:ext uri="{FF2B5EF4-FFF2-40B4-BE49-F238E27FC236}">
                <a16:creationId xmlns:a16="http://schemas.microsoft.com/office/drawing/2014/main" id="{5F8F3EDD-5D1B-44B2-8B22-2B936CDE1741}"/>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Cycles, duplicates, ties, and unreachable goals.</a:t>
            </a:r>
          </a:p>
        </p:txBody>
      </p:sp>
      <p:sp>
        <p:nvSpPr>
          <p:cNvPr id="21" name="right-bullet-9-marker-3">
            <a:extLst xmlns:a="http://schemas.openxmlformats.org/drawingml/2006/main">
              <a:ext uri="{FF2B5EF4-FFF2-40B4-BE49-F238E27FC236}">
                <a16:creationId xmlns:a16="http://schemas.microsoft.com/office/drawing/2014/main" id="{C371E7AF-7896-4D89-8ABC-12F9CC114DB4}"/>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9-text-3">
            <a:extLst xmlns:a="http://schemas.openxmlformats.org/drawingml/2006/main">
              <a:ext uri="{FF2B5EF4-FFF2-40B4-BE49-F238E27FC236}">
                <a16:creationId xmlns:a16="http://schemas.microsoft.com/office/drawing/2014/main" id="{95194FDD-4B08-46CF-BC46-A04F382AF37E}"/>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Large instances that expose complexity.</a:t>
            </a:r>
          </a:p>
        </p:txBody>
      </p:sp>
      <p:sp>
        <p:nvSpPr>
          <p:cNvPr id="23" name="right-bullet-9-marker-4">
            <a:extLst xmlns:a="http://schemas.openxmlformats.org/drawingml/2006/main">
              <a:ext uri="{FF2B5EF4-FFF2-40B4-BE49-F238E27FC236}">
                <a16:creationId xmlns:a16="http://schemas.microsoft.com/office/drawing/2014/main" id="{96A9353D-C50F-4C57-AE8C-25A1E0D450E0}"/>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9-text-4">
            <a:extLst xmlns:a="http://schemas.openxmlformats.org/drawingml/2006/main">
              <a:ext uri="{FF2B5EF4-FFF2-40B4-BE49-F238E27FC236}">
                <a16:creationId xmlns:a16="http://schemas.microsoft.com/office/drawing/2014/main" id="{12BE2EC1-A14E-410A-A591-98E7EA6D4FAC}"/>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Repeated runs that expose nondeterminism.</a:t>
            </a:r>
          </a:p>
        </p:txBody>
      </p:sp>
    </p:spTree>
    <p:extLst>
      <p:ext uri="{BB962C8B-B14F-4D97-AF65-F5344CB8AC3E}">
        <p14:creationId xmlns:p14="http://schemas.microsoft.com/office/powerpoint/2010/main" val="73870402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0">
            <a:extLst xmlns:a="http://schemas.openxmlformats.org/drawingml/2006/main">
              <a:ext uri="{FF2B5EF4-FFF2-40B4-BE49-F238E27FC236}">
                <a16:creationId xmlns:a16="http://schemas.microsoft.com/office/drawing/2014/main" id="{AEE7D70E-8063-4876-BECE-9A22A343B8E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 zero-length solution exposes a search-agent defect</a:t>
            </a:r>
          </a:p>
        </p:txBody>
      </p:sp>
      <p:sp>
        <p:nvSpPr>
          <p:cNvPr id="2" name="title-accent-10">
            <a:extLst xmlns:a="http://schemas.openxmlformats.org/drawingml/2006/main">
              <a:ext uri="{FF2B5EF4-FFF2-40B4-BE49-F238E27FC236}">
                <a16:creationId xmlns:a16="http://schemas.microsoft.com/office/drawing/2014/main" id="{CD8F46A9-F7E2-4E76-8924-5B4D51C6AFA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0"/>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0">
            <a:extLst xmlns:a="http://schemas.openxmlformats.org/drawingml/2006/main">
              <a:ext uri="{FF2B5EF4-FFF2-40B4-BE49-F238E27FC236}">
                <a16:creationId xmlns:a16="http://schemas.microsoft.com/office/drawing/2014/main" id="{A395E8D3-91FD-4902-8D5F-2C7722A6937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10">
            <a:extLst xmlns:a="http://schemas.openxmlformats.org/drawingml/2006/main">
              <a:ext uri="{FF2B5EF4-FFF2-40B4-BE49-F238E27FC236}">
                <a16:creationId xmlns:a16="http://schemas.microsoft.com/office/drawing/2014/main" id="{5111A52F-CDE3-4732-86A2-655C0789830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10</a:t>
            </a:r>
          </a:p>
        </p:txBody>
      </p:sp>
      <p:sp>
        <p:nvSpPr>
          <p:cNvPr id="6" name="example-label-10">
            <a:extLst xmlns:a="http://schemas.openxmlformats.org/drawingml/2006/main">
              <a:ext uri="{FF2B5EF4-FFF2-40B4-BE49-F238E27FC236}">
                <a16:creationId xmlns:a16="http://schemas.microsoft.com/office/drawing/2014/main" id="{AAA5D0B2-7219-4411-80A5-8516B2442539}"/>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10">
            <a:extLst xmlns:a="http://schemas.openxmlformats.org/drawingml/2006/main">
              <a:ext uri="{FF2B5EF4-FFF2-40B4-BE49-F238E27FC236}">
                <a16:creationId xmlns:a16="http://schemas.microsoft.com/office/drawing/2014/main" id="{560355B0-61E5-4050-8259-70260A7E345D}"/>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A start state already satisfies the goal test, but the implementation expands successors before checking the goal.</a:t>
            </a:r>
          </a:p>
        </p:txBody>
      </p:sp>
      <p:cxnSp>
        <p:nvCxnSpPr>
          <p:cNvPr id="26" name="example-divider-10"/>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10-marker-1">
            <a:extLst xmlns:a="http://schemas.openxmlformats.org/drawingml/2006/main">
              <a:ext uri="{FF2B5EF4-FFF2-40B4-BE49-F238E27FC236}">
                <a16:creationId xmlns:a16="http://schemas.microsoft.com/office/drawing/2014/main" id="{EA3D2A4D-3123-4C09-9C6C-42D10491AF3D}"/>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10-text-1">
            <a:extLst xmlns:a="http://schemas.openxmlformats.org/drawingml/2006/main">
              <a:ext uri="{FF2B5EF4-FFF2-40B4-BE49-F238E27FC236}">
                <a16:creationId xmlns:a16="http://schemas.microsoft.com/office/drawing/2014/main" id="{B8C1ABF6-E93F-49CA-8522-B49A2133558E}"/>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 returned path may contain an unnecessary move.</a:t>
            </a:r>
          </a:p>
        </p:txBody>
      </p:sp>
      <p:sp>
        <p:nvSpPr>
          <p:cNvPr id="11" name="example-step-10-marker-2">
            <a:extLst xmlns:a="http://schemas.openxmlformats.org/drawingml/2006/main">
              <a:ext uri="{FF2B5EF4-FFF2-40B4-BE49-F238E27FC236}">
                <a16:creationId xmlns:a16="http://schemas.microsoft.com/office/drawing/2014/main" id="{E97EAEF7-0AD8-431A-8B17-3E415F66E88A}"/>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10-text-2">
            <a:extLst xmlns:a="http://schemas.openxmlformats.org/drawingml/2006/main">
              <a:ext uri="{FF2B5EF4-FFF2-40B4-BE49-F238E27FC236}">
                <a16:creationId xmlns:a16="http://schemas.microsoft.com/office/drawing/2014/main" id="{C1EF751F-045B-4DB5-A307-A4838883CD34}"/>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 state with no legal actions may incorrectly report failure.</a:t>
            </a:r>
          </a:p>
        </p:txBody>
      </p:sp>
      <p:sp>
        <p:nvSpPr>
          <p:cNvPr id="13" name="example-step-10-marker-3">
            <a:extLst xmlns:a="http://schemas.openxmlformats.org/drawingml/2006/main">
              <a:ext uri="{FF2B5EF4-FFF2-40B4-BE49-F238E27FC236}">
                <a16:creationId xmlns:a16="http://schemas.microsoft.com/office/drawing/2014/main" id="{F2AD20AB-4DC3-41BE-BD29-C7D604F751D4}"/>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10-text-3">
            <a:extLst xmlns:a="http://schemas.openxmlformats.org/drawingml/2006/main">
              <a:ext uri="{FF2B5EF4-FFF2-40B4-BE49-F238E27FC236}">
                <a16:creationId xmlns:a16="http://schemas.microsoft.com/office/drawing/2014/main" id="{0C64C903-FA23-4543-9912-99D172DDF1D0}"/>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 algorithm violates the shortest-path contract for zero-length solutions.</a:t>
            </a:r>
          </a:p>
        </p:txBody>
      </p:sp>
      <p:sp>
        <p:nvSpPr>
          <p:cNvPr id="15" name="example-step-10-marker-4">
            <a:extLst xmlns:a="http://schemas.openxmlformats.org/drawingml/2006/main">
              <a:ext uri="{FF2B5EF4-FFF2-40B4-BE49-F238E27FC236}">
                <a16:creationId xmlns:a16="http://schemas.microsoft.com/office/drawing/2014/main" id="{8A658FBA-64F9-4C98-8212-531C615061C8}"/>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10-text-4">
            <a:extLst xmlns:a="http://schemas.openxmlformats.org/drawingml/2006/main">
              <a:ext uri="{FF2B5EF4-FFF2-40B4-BE49-F238E27FC236}">
                <a16:creationId xmlns:a16="http://schemas.microsoft.com/office/drawing/2014/main" id="{9F0F5F07-DC9E-4985-849C-9D37FF9FBBAF}"/>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 direct unit test should assert an empty action sequence and zero cost.</a:t>
            </a:r>
          </a:p>
        </p:txBody>
      </p:sp>
      <p:sp>
        <p:nvSpPr>
          <p:cNvPr id="17" name="example-result-panel-10">
            <a:extLst xmlns:a="http://schemas.openxmlformats.org/drawingml/2006/main">
              <a:ext uri="{FF2B5EF4-FFF2-40B4-BE49-F238E27FC236}">
                <a16:creationId xmlns:a16="http://schemas.microsoft.com/office/drawing/2014/main" id="{B96683AF-99D1-4A09-85E5-B4E151AE9443}"/>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10">
            <a:extLst xmlns:a="http://schemas.openxmlformats.org/drawingml/2006/main">
              <a:ext uri="{FF2B5EF4-FFF2-40B4-BE49-F238E27FC236}">
                <a16:creationId xmlns:a16="http://schemas.microsoft.com/office/drawing/2014/main" id="{D1CA69BA-2B5F-4931-8512-4886BBFF82BA}"/>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Engineering fix: check the initial node against the goal contract before expansion, then lock the behavior with a regression test.</a:t>
            </a:r>
          </a:p>
        </p:txBody>
      </p:sp>
    </p:spTree>
    <p:extLst>
      <p:ext uri="{BB962C8B-B14F-4D97-AF65-F5344CB8AC3E}">
        <p14:creationId xmlns:p14="http://schemas.microsoft.com/office/powerpoint/2010/main" val="183351111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1">
            <a:extLst xmlns:a="http://schemas.openxmlformats.org/drawingml/2006/main">
              <a:ext uri="{FF2B5EF4-FFF2-40B4-BE49-F238E27FC236}">
                <a16:creationId xmlns:a16="http://schemas.microsoft.com/office/drawing/2014/main" id="{A0E693F5-A210-4425-A179-5B9B9C14CA5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Defensive programming makes assumptions executable</a:t>
            </a:r>
          </a:p>
        </p:txBody>
      </p:sp>
      <p:sp>
        <p:nvSpPr>
          <p:cNvPr id="2" name="title-accent-11">
            <a:extLst xmlns:a="http://schemas.openxmlformats.org/drawingml/2006/main">
              <a:ext uri="{FF2B5EF4-FFF2-40B4-BE49-F238E27FC236}">
                <a16:creationId xmlns:a16="http://schemas.microsoft.com/office/drawing/2014/main" id="{A7AA1A08-B8EE-4BC4-9DAA-393B0BCB0BD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1"/>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1">
            <a:extLst xmlns:a="http://schemas.openxmlformats.org/drawingml/2006/main">
              <a:ext uri="{FF2B5EF4-FFF2-40B4-BE49-F238E27FC236}">
                <a16:creationId xmlns:a16="http://schemas.microsoft.com/office/drawing/2014/main" id="{30D3A268-9AA9-4D6E-B15D-F831B68FCC9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11">
            <a:extLst xmlns:a="http://schemas.openxmlformats.org/drawingml/2006/main">
              <a:ext uri="{FF2B5EF4-FFF2-40B4-BE49-F238E27FC236}">
                <a16:creationId xmlns:a16="http://schemas.microsoft.com/office/drawing/2014/main" id="{5397922F-FD9E-4210-8387-00B49E02EB08}"/>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11</a:t>
            </a:r>
          </a:p>
        </p:txBody>
      </p:sp>
      <p:sp>
        <p:nvSpPr>
          <p:cNvPr id="6" name="claim-11">
            <a:extLst xmlns:a="http://schemas.openxmlformats.org/drawingml/2006/main">
              <a:ext uri="{FF2B5EF4-FFF2-40B4-BE49-F238E27FC236}">
                <a16:creationId xmlns:a16="http://schemas.microsoft.com/office/drawing/2014/main" id="{1C5D4967-73F9-4A54-BB4E-CB13D0C9FF81}"/>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Validate the boundary once, fail with useful information, and keep the trusted core simple.</a:t>
            </a:r>
          </a:p>
        </p:txBody>
      </p:sp>
      <p:sp>
        <p:nvSpPr>
          <p:cNvPr id="7" name="claim-panel-11">
            <a:extLst xmlns:a="http://schemas.openxmlformats.org/drawingml/2006/main">
              <a:ext uri="{FF2B5EF4-FFF2-40B4-BE49-F238E27FC236}">
                <a16:creationId xmlns:a16="http://schemas.microsoft.com/office/drawing/2014/main" id="{3BCF563E-BFD4-496A-BBF2-1ACA38AD466A}"/>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11">
            <a:extLst xmlns:a="http://schemas.openxmlformats.org/drawingml/2006/main">
              <a:ext uri="{FF2B5EF4-FFF2-40B4-BE49-F238E27FC236}">
                <a16:creationId xmlns:a16="http://schemas.microsoft.com/office/drawing/2014/main" id="{1CDE95C3-2FCD-41E7-9680-BAA8888CE92A}"/>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Contract</a:t>
            </a:r>
          </a:p>
        </p:txBody>
      </p:sp>
      <p:sp>
        <p:nvSpPr>
          <p:cNvPr id="9" name="claim-keyword-detail-11">
            <a:extLst xmlns:a="http://schemas.openxmlformats.org/drawingml/2006/main">
              <a:ext uri="{FF2B5EF4-FFF2-40B4-BE49-F238E27FC236}">
                <a16:creationId xmlns:a16="http://schemas.microsoft.com/office/drawing/2014/main" id="{E1B7AC9A-FEC6-4EAC-BF78-C534EC5966B9}"/>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Invalid data should not drift into the algorithm as corrupted state.</a:t>
            </a:r>
          </a:p>
        </p:txBody>
      </p:sp>
      <p:sp>
        <p:nvSpPr>
          <p:cNvPr id="10" name="claim-detail-11-marker-1">
            <a:extLst xmlns:a="http://schemas.openxmlformats.org/drawingml/2006/main">
              <a:ext uri="{FF2B5EF4-FFF2-40B4-BE49-F238E27FC236}">
                <a16:creationId xmlns:a16="http://schemas.microsoft.com/office/drawing/2014/main" id="{FF22B056-5786-467C-87A0-D0332CF3449F}"/>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11-text-1">
            <a:extLst xmlns:a="http://schemas.openxmlformats.org/drawingml/2006/main">
              <a:ext uri="{FF2B5EF4-FFF2-40B4-BE49-F238E27FC236}">
                <a16:creationId xmlns:a16="http://schemas.microsoft.com/office/drawing/2014/main" id="{9EDFA51B-12C2-4279-ACAA-6C952D19D11B}"/>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Check shapes, ranges, types, and domain constraints at public interfaces.</a:t>
            </a:r>
          </a:p>
        </p:txBody>
      </p:sp>
      <p:sp>
        <p:nvSpPr>
          <p:cNvPr id="12" name="claim-detail-11-marker-2">
            <a:extLst xmlns:a="http://schemas.openxmlformats.org/drawingml/2006/main">
              <a:ext uri="{FF2B5EF4-FFF2-40B4-BE49-F238E27FC236}">
                <a16:creationId xmlns:a16="http://schemas.microsoft.com/office/drawing/2014/main" id="{1299BAA7-97B5-4BDF-B13B-39948BB201D6}"/>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11-text-2">
            <a:extLst xmlns:a="http://schemas.openxmlformats.org/drawingml/2006/main">
              <a:ext uri="{FF2B5EF4-FFF2-40B4-BE49-F238E27FC236}">
                <a16:creationId xmlns:a16="http://schemas.microsoft.com/office/drawing/2014/main" id="{B6ECA6E8-244F-42E9-943A-4BF1CAFFE13B}"/>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Use precise exceptions or documented sentinel values, never accidental behavior.</a:t>
            </a:r>
          </a:p>
        </p:txBody>
      </p:sp>
      <p:sp>
        <p:nvSpPr>
          <p:cNvPr id="14" name="claim-detail-11-marker-3">
            <a:extLst xmlns:a="http://schemas.openxmlformats.org/drawingml/2006/main">
              <a:ext uri="{FF2B5EF4-FFF2-40B4-BE49-F238E27FC236}">
                <a16:creationId xmlns:a16="http://schemas.microsoft.com/office/drawing/2014/main" id="{546E8766-4E9F-49D4-ACDE-FD5B3BF0332C}"/>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11-text-3">
            <a:extLst xmlns:a="http://schemas.openxmlformats.org/drawingml/2006/main">
              <a:ext uri="{FF2B5EF4-FFF2-40B4-BE49-F238E27FC236}">
                <a16:creationId xmlns:a16="http://schemas.microsoft.com/office/drawing/2014/main" id="{A1668080-6488-4A94-BF00-96DAC687A55A}"/>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Avoid redundant checks inside a core whose preconditions are already established.</a:t>
            </a:r>
          </a:p>
        </p:txBody>
      </p:sp>
    </p:spTree>
    <p:extLst>
      <p:ext uri="{BB962C8B-B14F-4D97-AF65-F5344CB8AC3E}">
        <p14:creationId xmlns:p14="http://schemas.microsoft.com/office/powerpoint/2010/main" val="53596076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12">
            <a:extLst xmlns:a="http://schemas.openxmlformats.org/drawingml/2006/main">
              <a:ext uri="{FF2B5EF4-FFF2-40B4-BE49-F238E27FC236}">
                <a16:creationId xmlns:a16="http://schemas.microsoft.com/office/drawing/2014/main" id="{353B71E0-7EF8-418E-89FB-6BE070D4B5C0}"/>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Choose failure semantics from the system contract</a:t>
            </a:r>
          </a:p>
        </p:txBody>
      </p:sp>
      <p:sp>
        <p:nvSpPr>
          <p:cNvPr id="2" name="title-accent-12">
            <a:extLst xmlns:a="http://schemas.openxmlformats.org/drawingml/2006/main">
              <a:ext uri="{FF2B5EF4-FFF2-40B4-BE49-F238E27FC236}">
                <a16:creationId xmlns:a16="http://schemas.microsoft.com/office/drawing/2014/main" id="{68FDB682-70BF-4E3B-AA8B-8787244DF488}"/>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1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2">
            <a:extLst xmlns:a="http://schemas.openxmlformats.org/drawingml/2006/main">
              <a:ext uri="{FF2B5EF4-FFF2-40B4-BE49-F238E27FC236}">
                <a16:creationId xmlns:a16="http://schemas.microsoft.com/office/drawing/2014/main" id="{859EBD90-A2F6-4FF7-B851-5FAA0F0C6BCD}"/>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12">
            <a:extLst xmlns:a="http://schemas.openxmlformats.org/drawingml/2006/main">
              <a:ext uri="{FF2B5EF4-FFF2-40B4-BE49-F238E27FC236}">
                <a16:creationId xmlns:a16="http://schemas.microsoft.com/office/drawing/2014/main" id="{BA17373F-0274-4528-8710-6998095BD361}"/>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12</a:t>
            </a:r>
          </a:p>
        </p:txBody>
      </p:sp>
      <p:cxnSp>
        <p:nvCxnSpPr>
          <p:cNvPr id="30" name="column-divider-12"/>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12">
            <a:extLst xmlns:a="http://schemas.openxmlformats.org/drawingml/2006/main">
              <a:ext uri="{FF2B5EF4-FFF2-40B4-BE49-F238E27FC236}">
                <a16:creationId xmlns:a16="http://schemas.microsoft.com/office/drawing/2014/main" id="{3520E8A6-78BB-4360-A872-A9DCC809EE09}"/>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B3261E"/>
                </a:solidFill>
                <a:latin typeface="Arial"/>
                <a:ea typeface="Arial"/>
                <a:cs typeface="Arial"/>
              </a:defRPr>
            </a:pPr>
            <a:r>
              <a:rPr sz="2100" b="1">
                <a:solidFill>
                  <a:srgbClr val="B3261E"/>
                </a:solidFill>
                <a:latin typeface="Arial"/>
                <a:ea typeface="Arial"/>
                <a:cs typeface="Arial"/>
              </a:rPr>
              <a:t>Fail fast</a:t>
            </a:r>
          </a:p>
        </p:txBody>
      </p:sp>
      <p:sp>
        <p:nvSpPr>
          <p:cNvPr id="8" name="right-title-12">
            <a:extLst xmlns:a="http://schemas.openxmlformats.org/drawingml/2006/main">
              <a:ext uri="{FF2B5EF4-FFF2-40B4-BE49-F238E27FC236}">
                <a16:creationId xmlns:a16="http://schemas.microsoft.com/office/drawing/2014/main" id="{B13DB01B-2080-44C2-8F15-C35253F57401}"/>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B7A53"/>
                </a:solidFill>
                <a:latin typeface="Arial"/>
                <a:ea typeface="Arial"/>
                <a:cs typeface="Arial"/>
              </a:defRPr>
            </a:pPr>
            <a:r>
              <a:rPr sz="2100" b="1">
                <a:solidFill>
                  <a:srgbClr val="0B7A53"/>
                </a:solidFill>
                <a:latin typeface="Arial"/>
                <a:ea typeface="Arial"/>
                <a:cs typeface="Arial"/>
              </a:rPr>
              <a:t>Fail safely</a:t>
            </a:r>
          </a:p>
        </p:txBody>
      </p:sp>
      <p:sp>
        <p:nvSpPr>
          <p:cNvPr id="9" name="left-bullet-12-marker-1">
            <a:extLst xmlns:a="http://schemas.openxmlformats.org/drawingml/2006/main">
              <a:ext uri="{FF2B5EF4-FFF2-40B4-BE49-F238E27FC236}">
                <a16:creationId xmlns:a16="http://schemas.microsoft.com/office/drawing/2014/main" id="{CB24033F-8281-4E86-8545-104806B7E322}"/>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12-text-1">
            <a:extLst xmlns:a="http://schemas.openxmlformats.org/drawingml/2006/main">
              <a:ext uri="{FF2B5EF4-FFF2-40B4-BE49-F238E27FC236}">
                <a16:creationId xmlns:a16="http://schemas.microsoft.com/office/drawing/2014/main" id="{DB53448F-BB84-4133-8B5D-CC34E495DCF4}"/>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Reject invalid developer input immediately.</a:t>
            </a:r>
          </a:p>
        </p:txBody>
      </p:sp>
      <p:sp>
        <p:nvSpPr>
          <p:cNvPr id="11" name="left-bullet-12-marker-2">
            <a:extLst xmlns:a="http://schemas.openxmlformats.org/drawingml/2006/main">
              <a:ext uri="{FF2B5EF4-FFF2-40B4-BE49-F238E27FC236}">
                <a16:creationId xmlns:a16="http://schemas.microsoft.com/office/drawing/2014/main" id="{9E3EEA83-2009-4AFA-BF52-046C452184FF}"/>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12-text-2">
            <a:extLst xmlns:a="http://schemas.openxmlformats.org/drawingml/2006/main">
              <a:ext uri="{FF2B5EF4-FFF2-40B4-BE49-F238E27FC236}">
                <a16:creationId xmlns:a16="http://schemas.microsoft.com/office/drawing/2014/main" id="{34646ACE-25A7-4FE1-BCD4-2916FFE34E28}"/>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Raise a precise exception near the boundary.</a:t>
            </a:r>
          </a:p>
        </p:txBody>
      </p:sp>
      <p:sp>
        <p:nvSpPr>
          <p:cNvPr id="13" name="left-bullet-12-marker-3">
            <a:extLst xmlns:a="http://schemas.openxmlformats.org/drawingml/2006/main">
              <a:ext uri="{FF2B5EF4-FFF2-40B4-BE49-F238E27FC236}">
                <a16:creationId xmlns:a16="http://schemas.microsoft.com/office/drawing/2014/main" id="{CE715AB1-A706-4D6D-B548-4E657697AC9C}"/>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12-text-3">
            <a:extLst xmlns:a="http://schemas.openxmlformats.org/drawingml/2006/main">
              <a:ext uri="{FF2B5EF4-FFF2-40B4-BE49-F238E27FC236}">
                <a16:creationId xmlns:a16="http://schemas.microsoft.com/office/drawing/2014/main" id="{8580D631-2AA0-4424-A1A9-E21CC8180DCE}"/>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Protect invariants from corrupted internal state.</a:t>
            </a:r>
          </a:p>
        </p:txBody>
      </p:sp>
      <p:sp>
        <p:nvSpPr>
          <p:cNvPr id="15" name="left-bullet-12-marker-4">
            <a:extLst xmlns:a="http://schemas.openxmlformats.org/drawingml/2006/main">
              <a:ext uri="{FF2B5EF4-FFF2-40B4-BE49-F238E27FC236}">
                <a16:creationId xmlns:a16="http://schemas.microsoft.com/office/drawing/2014/main" id="{0172577C-B44B-487C-9C95-A5DBF4B92A47}"/>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12-text-4">
            <a:extLst xmlns:a="http://schemas.openxmlformats.org/drawingml/2006/main">
              <a:ext uri="{FF2B5EF4-FFF2-40B4-BE49-F238E27FC236}">
                <a16:creationId xmlns:a16="http://schemas.microsoft.com/office/drawing/2014/main" id="{A4E7DAE4-7442-44CA-A747-2621E920118A}"/>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Best when silent recovery would hide a defect.</a:t>
            </a:r>
          </a:p>
        </p:txBody>
      </p:sp>
      <p:sp>
        <p:nvSpPr>
          <p:cNvPr id="17" name="right-bullet-12-marker-1">
            <a:extLst xmlns:a="http://schemas.openxmlformats.org/drawingml/2006/main">
              <a:ext uri="{FF2B5EF4-FFF2-40B4-BE49-F238E27FC236}">
                <a16:creationId xmlns:a16="http://schemas.microsoft.com/office/drawing/2014/main" id="{4313611A-5E6C-4A43-9DC6-1CCE4B0BA06D}"/>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18" name="right-bullet-12-text-1">
            <a:extLst xmlns:a="http://schemas.openxmlformats.org/drawingml/2006/main">
              <a:ext uri="{FF2B5EF4-FFF2-40B4-BE49-F238E27FC236}">
                <a16:creationId xmlns:a16="http://schemas.microsoft.com/office/drawing/2014/main" id="{706DCC95-8627-4340-BCC7-7661A5C29801}"/>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Return a documented degraded result.</a:t>
            </a:r>
          </a:p>
        </p:txBody>
      </p:sp>
      <p:sp>
        <p:nvSpPr>
          <p:cNvPr id="19" name="right-bullet-12-marker-2">
            <a:extLst xmlns:a="http://schemas.openxmlformats.org/drawingml/2006/main">
              <a:ext uri="{FF2B5EF4-FFF2-40B4-BE49-F238E27FC236}">
                <a16:creationId xmlns:a16="http://schemas.microsoft.com/office/drawing/2014/main" id="{3D412820-FBC6-44E2-8923-106FF3BC532B}"/>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0" name="right-bullet-12-text-2">
            <a:extLst xmlns:a="http://schemas.openxmlformats.org/drawingml/2006/main">
              <a:ext uri="{FF2B5EF4-FFF2-40B4-BE49-F238E27FC236}">
                <a16:creationId xmlns:a16="http://schemas.microsoft.com/office/drawing/2014/main" id="{3FF11073-2DC7-4694-B446-83A1B3956281}"/>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Preserve service continuity when policy allows.</a:t>
            </a:r>
          </a:p>
        </p:txBody>
      </p:sp>
      <p:sp>
        <p:nvSpPr>
          <p:cNvPr id="21" name="right-bullet-12-marker-3">
            <a:extLst xmlns:a="http://schemas.openxmlformats.org/drawingml/2006/main">
              <a:ext uri="{FF2B5EF4-FFF2-40B4-BE49-F238E27FC236}">
                <a16:creationId xmlns:a16="http://schemas.microsoft.com/office/drawing/2014/main" id="{32023E9F-75CE-4CDB-A19E-BFAAF398DB65}"/>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2" name="right-bullet-12-text-3">
            <a:extLst xmlns:a="http://schemas.openxmlformats.org/drawingml/2006/main">
              <a:ext uri="{FF2B5EF4-FFF2-40B4-BE49-F238E27FC236}">
                <a16:creationId xmlns:a16="http://schemas.microsoft.com/office/drawing/2014/main" id="{4D1F215F-8284-4A3C-9E98-454B56211691}"/>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Emit monitoring evidence for later diagnosis.</a:t>
            </a:r>
          </a:p>
        </p:txBody>
      </p:sp>
      <p:sp>
        <p:nvSpPr>
          <p:cNvPr id="23" name="right-bullet-12-marker-4">
            <a:extLst xmlns:a="http://schemas.openxmlformats.org/drawingml/2006/main">
              <a:ext uri="{FF2B5EF4-FFF2-40B4-BE49-F238E27FC236}">
                <a16:creationId xmlns:a16="http://schemas.microsoft.com/office/drawing/2014/main" id="{D635ED79-745C-4C2F-AFC8-30EC8326CB5F}"/>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4" name="right-bullet-12-text-4">
            <a:extLst xmlns:a="http://schemas.openxmlformats.org/drawingml/2006/main">
              <a:ext uri="{FF2B5EF4-FFF2-40B4-BE49-F238E27FC236}">
                <a16:creationId xmlns:a16="http://schemas.microsoft.com/office/drawing/2014/main" id="{50704B03-5BBC-4CA5-863C-A8CBB9295E78}"/>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Best when a safe fallback is part of the contract.</a:t>
            </a:r>
          </a:p>
        </p:txBody>
      </p:sp>
    </p:spTree>
    <p:extLst>
      <p:ext uri="{BB962C8B-B14F-4D97-AF65-F5344CB8AC3E}">
        <p14:creationId xmlns:p14="http://schemas.microsoft.com/office/powerpoint/2010/main" val="213882319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13">
            <a:extLst xmlns:a="http://schemas.openxmlformats.org/drawingml/2006/main">
              <a:ext uri="{FF2B5EF4-FFF2-40B4-BE49-F238E27FC236}">
                <a16:creationId xmlns:a16="http://schemas.microsoft.com/office/drawing/2014/main" id="{D1E9F3C0-9834-45C3-87CC-FE09D46FDF4A}"/>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The AI-use policy protects the learning objective</a:t>
            </a:r>
          </a:p>
        </p:txBody>
      </p:sp>
      <p:sp>
        <p:nvSpPr>
          <p:cNvPr id="2" name="title-accent-13">
            <a:extLst xmlns:a="http://schemas.openxmlformats.org/drawingml/2006/main">
              <a:ext uri="{FF2B5EF4-FFF2-40B4-BE49-F238E27FC236}">
                <a16:creationId xmlns:a16="http://schemas.microsoft.com/office/drawing/2014/main" id="{59BE4DF4-588F-47D0-BA85-541E8974C813}"/>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1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3">
            <a:extLst xmlns:a="http://schemas.openxmlformats.org/drawingml/2006/main">
              <a:ext uri="{FF2B5EF4-FFF2-40B4-BE49-F238E27FC236}">
                <a16:creationId xmlns:a16="http://schemas.microsoft.com/office/drawing/2014/main" id="{A62B0B52-0E88-4768-B383-FDF3A1C5001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13">
            <a:extLst xmlns:a="http://schemas.openxmlformats.org/drawingml/2006/main">
              <a:ext uri="{FF2B5EF4-FFF2-40B4-BE49-F238E27FC236}">
                <a16:creationId xmlns:a16="http://schemas.microsoft.com/office/drawing/2014/main" id="{EBFE42FE-8337-4AD9-A5AB-00719233AD8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13</a:t>
            </a:r>
          </a:p>
        </p:txBody>
      </p:sp>
      <p:sp>
        <p:nvSpPr>
          <p:cNvPr id="6" name="comparison-title-13-1">
            <a:extLst xmlns:a="http://schemas.openxmlformats.org/drawingml/2006/main">
              <a:ext uri="{FF2B5EF4-FFF2-40B4-BE49-F238E27FC236}">
                <a16:creationId xmlns:a16="http://schemas.microsoft.com/office/drawing/2014/main" id="{8B2FA2A7-A11E-4225-ABB8-82E3C5BA6D1B}"/>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Permitted</a:t>
            </a:r>
          </a:p>
        </p:txBody>
      </p:sp>
      <p:sp>
        <p:nvSpPr>
          <p:cNvPr id="7" name="comparison-tagline-13-1">
            <a:extLst xmlns:a="http://schemas.openxmlformats.org/drawingml/2006/main">
              <a:ext uri="{FF2B5EF4-FFF2-40B4-BE49-F238E27FC236}">
                <a16:creationId xmlns:a16="http://schemas.microsoft.com/office/drawing/2014/main" id="{7B67D54A-E521-4F5E-A684-B07FC105C6DD}"/>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Support understanding without replacing the core work.</a:t>
            </a:r>
          </a:p>
        </p:txBody>
      </p:sp>
      <p:sp>
        <p:nvSpPr>
          <p:cNvPr id="8" name="comparison-bullet-13-1-marker-1">
            <a:extLst xmlns:a="http://schemas.openxmlformats.org/drawingml/2006/main">
              <a:ext uri="{FF2B5EF4-FFF2-40B4-BE49-F238E27FC236}">
                <a16:creationId xmlns:a16="http://schemas.microsoft.com/office/drawing/2014/main" id="{258234F1-63A3-4208-856E-7838A25CF797}"/>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9" name="comparison-bullet-13-1-text-1">
            <a:extLst xmlns:a="http://schemas.openxmlformats.org/drawingml/2006/main">
              <a:ext uri="{FF2B5EF4-FFF2-40B4-BE49-F238E27FC236}">
                <a16:creationId xmlns:a16="http://schemas.microsoft.com/office/drawing/2014/main" id="{B8EC161F-4482-44D4-AFB4-165579F833B3}"/>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Explain an error message.</a:t>
            </a:r>
          </a:p>
        </p:txBody>
      </p:sp>
      <p:sp>
        <p:nvSpPr>
          <p:cNvPr id="10" name="comparison-bullet-13-1-marker-2">
            <a:extLst xmlns:a="http://schemas.openxmlformats.org/drawingml/2006/main">
              <a:ext uri="{FF2B5EF4-FFF2-40B4-BE49-F238E27FC236}">
                <a16:creationId xmlns:a16="http://schemas.microsoft.com/office/drawing/2014/main" id="{7FBDBB31-5296-404D-9690-1A96284FC5AF}"/>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11" name="comparison-bullet-13-1-text-2">
            <a:extLst xmlns:a="http://schemas.openxmlformats.org/drawingml/2006/main">
              <a:ext uri="{FF2B5EF4-FFF2-40B4-BE49-F238E27FC236}">
                <a16:creationId xmlns:a16="http://schemas.microsoft.com/office/drawing/2014/main" id="{32BDB2B9-D980-49F3-8938-89777B357174}"/>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Clarify Python or NumPy syntax.</a:t>
            </a:r>
          </a:p>
        </p:txBody>
      </p:sp>
      <p:sp>
        <p:nvSpPr>
          <p:cNvPr id="12" name="comparison-bullet-13-1-marker-3">
            <a:extLst xmlns:a="http://schemas.openxmlformats.org/drawingml/2006/main">
              <a:ext uri="{FF2B5EF4-FFF2-40B4-BE49-F238E27FC236}">
                <a16:creationId xmlns:a16="http://schemas.microsoft.com/office/drawing/2014/main" id="{39089E5F-E819-440F-9CAB-8902CDE75198}"/>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13" name="comparison-bullet-13-1-text-3">
            <a:extLst xmlns:a="http://schemas.openxmlformats.org/drawingml/2006/main">
              <a:ext uri="{FF2B5EF4-FFF2-40B4-BE49-F238E27FC236}">
                <a16:creationId xmlns:a16="http://schemas.microsoft.com/office/drawing/2014/main" id="{31420136-3692-4DC4-A84B-43EA45942E14}"/>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Discuss a concept abstractly.</a:t>
            </a:r>
          </a:p>
        </p:txBody>
      </p:sp>
      <p:sp>
        <p:nvSpPr>
          <p:cNvPr id="14" name="comparison-bullet-13-1-marker-4">
            <a:extLst xmlns:a="http://schemas.openxmlformats.org/drawingml/2006/main">
              <a:ext uri="{FF2B5EF4-FFF2-40B4-BE49-F238E27FC236}">
                <a16:creationId xmlns:a16="http://schemas.microsoft.com/office/drawing/2014/main" id="{DFF96C60-94BC-439F-BF1A-1EC5A1CB257B}"/>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15" name="comparison-bullet-13-1-text-4">
            <a:extLst xmlns:a="http://schemas.openxmlformats.org/drawingml/2006/main">
              <a:ext uri="{FF2B5EF4-FFF2-40B4-BE49-F238E27FC236}">
                <a16:creationId xmlns:a16="http://schemas.microsoft.com/office/drawing/2014/main" id="{165DF46A-F88E-4540-BC1F-01BBD68B63E3}"/>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Suggest test categories after your design.</a:t>
            </a:r>
          </a:p>
        </p:txBody>
      </p:sp>
      <p:cxnSp>
        <p:nvCxnSpPr>
          <p:cNvPr id="53" name="comparison-divider-13-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13-2">
            <a:extLst xmlns:a="http://schemas.openxmlformats.org/drawingml/2006/main">
              <a:ext uri="{FF2B5EF4-FFF2-40B4-BE49-F238E27FC236}">
                <a16:creationId xmlns:a16="http://schemas.microsoft.com/office/drawing/2014/main" id="{F12E9838-F811-454D-AF57-BC31ABF4A06A}"/>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B3261E"/>
                </a:solidFill>
                <a:latin typeface="Arial"/>
                <a:ea typeface="Arial"/>
                <a:cs typeface="Arial"/>
              </a:defRPr>
            </a:pPr>
            <a:r>
              <a:rPr sz="2025" b="1">
                <a:solidFill>
                  <a:srgbClr val="B3261E"/>
                </a:solidFill>
                <a:latin typeface="Arial"/>
                <a:ea typeface="Arial"/>
                <a:cs typeface="Arial"/>
              </a:rPr>
              <a:t>Prohibited</a:t>
            </a:r>
          </a:p>
        </p:txBody>
      </p:sp>
      <p:sp>
        <p:nvSpPr>
          <p:cNvPr id="18" name="comparison-tagline-13-2">
            <a:extLst xmlns:a="http://schemas.openxmlformats.org/drawingml/2006/main">
              <a:ext uri="{FF2B5EF4-FFF2-40B4-BE49-F238E27FC236}">
                <a16:creationId xmlns:a16="http://schemas.microsoft.com/office/drawing/2014/main" id="{3974EE83-BB62-4401-ADD5-1C5022CA87AA}"/>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Outsource the algorithm students must learn to construct.</a:t>
            </a:r>
          </a:p>
        </p:txBody>
      </p:sp>
      <p:sp>
        <p:nvSpPr>
          <p:cNvPr id="19" name="comparison-bullet-13-2-marker-1">
            <a:extLst xmlns:a="http://schemas.openxmlformats.org/drawingml/2006/main">
              <a:ext uri="{FF2B5EF4-FFF2-40B4-BE49-F238E27FC236}">
                <a16:creationId xmlns:a16="http://schemas.microsoft.com/office/drawing/2014/main" id="{D927819B-671A-4117-A515-36D225E3C8F7}"/>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20" name="comparison-bullet-13-2-text-1">
            <a:extLst xmlns:a="http://schemas.openxmlformats.org/drawingml/2006/main">
              <a:ext uri="{FF2B5EF4-FFF2-40B4-BE49-F238E27FC236}">
                <a16:creationId xmlns:a16="http://schemas.microsoft.com/office/drawing/2014/main" id="{CFF696D7-E356-4815-B6C2-E9C3937A2B4A}"/>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Generate the assignment's core algorithm.</a:t>
            </a:r>
          </a:p>
        </p:txBody>
      </p:sp>
      <p:sp>
        <p:nvSpPr>
          <p:cNvPr id="21" name="comparison-bullet-13-2-marker-2">
            <a:extLst xmlns:a="http://schemas.openxmlformats.org/drawingml/2006/main">
              <a:ext uri="{FF2B5EF4-FFF2-40B4-BE49-F238E27FC236}">
                <a16:creationId xmlns:a16="http://schemas.microsoft.com/office/drawing/2014/main" id="{954CBB40-DF5D-416F-975D-9A5680F69098}"/>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22" name="comparison-bullet-13-2-text-2">
            <a:extLst xmlns:a="http://schemas.openxmlformats.org/drawingml/2006/main">
              <a:ext uri="{FF2B5EF4-FFF2-40B4-BE49-F238E27FC236}">
                <a16:creationId xmlns:a16="http://schemas.microsoft.com/office/drawing/2014/main" id="{8CEAE1A3-368F-4DED-8A66-DB86AB76D26E}"/>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Produce a submission-ready implementation.</a:t>
            </a:r>
          </a:p>
        </p:txBody>
      </p:sp>
      <p:sp>
        <p:nvSpPr>
          <p:cNvPr id="23" name="comparison-bullet-13-2-marker-3">
            <a:extLst xmlns:a="http://schemas.openxmlformats.org/drawingml/2006/main">
              <a:ext uri="{FF2B5EF4-FFF2-40B4-BE49-F238E27FC236}">
                <a16:creationId xmlns:a16="http://schemas.microsoft.com/office/drawing/2014/main" id="{357A4C17-3FAB-486E-9CB2-304E54DBA4E8}"/>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24" name="comparison-bullet-13-2-text-3">
            <a:extLst xmlns:a="http://schemas.openxmlformats.org/drawingml/2006/main">
              <a:ext uri="{FF2B5EF4-FFF2-40B4-BE49-F238E27FC236}">
                <a16:creationId xmlns:a16="http://schemas.microsoft.com/office/drawing/2014/main" id="{286FE84B-3796-4ABB-AB70-D4E1EAB76D32}"/>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Rewrite hidden-test failures into a solution.</a:t>
            </a:r>
          </a:p>
        </p:txBody>
      </p:sp>
      <p:sp>
        <p:nvSpPr>
          <p:cNvPr id="25" name="comparison-bullet-13-2-marker-4">
            <a:extLst xmlns:a="http://schemas.openxmlformats.org/drawingml/2006/main">
              <a:ext uri="{FF2B5EF4-FFF2-40B4-BE49-F238E27FC236}">
                <a16:creationId xmlns:a16="http://schemas.microsoft.com/office/drawing/2014/main" id="{07213E4E-3CD7-42EC-90FF-61981EC34E33}"/>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26" name="comparison-bullet-13-2-text-4">
            <a:extLst xmlns:a="http://schemas.openxmlformats.org/drawingml/2006/main">
              <a:ext uri="{FF2B5EF4-FFF2-40B4-BE49-F238E27FC236}">
                <a16:creationId xmlns:a16="http://schemas.microsoft.com/office/drawing/2014/main" id="{1D0B1EA0-71DC-4E4D-8644-20A1859292C1}"/>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Present generated reasoning as personal work.</a:t>
            </a:r>
          </a:p>
        </p:txBody>
      </p:sp>
      <p:cxnSp>
        <p:nvCxnSpPr>
          <p:cNvPr id="64" name="comparison-divider-13-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13-3">
            <a:extLst xmlns:a="http://schemas.openxmlformats.org/drawingml/2006/main">
              <a:ext uri="{FF2B5EF4-FFF2-40B4-BE49-F238E27FC236}">
                <a16:creationId xmlns:a16="http://schemas.microsoft.com/office/drawing/2014/main" id="{D8B38187-2B98-444C-B9FB-0EDCE40B7102}"/>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Your responsibility</a:t>
            </a:r>
          </a:p>
        </p:txBody>
      </p:sp>
      <p:sp>
        <p:nvSpPr>
          <p:cNvPr id="29" name="comparison-tagline-13-3">
            <a:extLst xmlns:a="http://schemas.openxmlformats.org/drawingml/2006/main">
              <a:ext uri="{FF2B5EF4-FFF2-40B4-BE49-F238E27FC236}">
                <a16:creationId xmlns:a16="http://schemas.microsoft.com/office/drawing/2014/main" id="{ECD63997-C409-498F-A757-96CFBF1B6587}"/>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Be able to explain, defend, and reproduce every submitted decision.</a:t>
            </a:r>
          </a:p>
        </p:txBody>
      </p:sp>
      <p:sp>
        <p:nvSpPr>
          <p:cNvPr id="30" name="comparison-bullet-13-3-marker-1">
            <a:extLst xmlns:a="http://schemas.openxmlformats.org/drawingml/2006/main">
              <a:ext uri="{FF2B5EF4-FFF2-40B4-BE49-F238E27FC236}">
                <a16:creationId xmlns:a16="http://schemas.microsoft.com/office/drawing/2014/main" id="{098D4109-2991-48E6-AA86-5A5ACEAAAB8B}"/>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1" name="comparison-bullet-13-3-text-1">
            <a:extLst xmlns:a="http://schemas.openxmlformats.org/drawingml/2006/main">
              <a:ext uri="{FF2B5EF4-FFF2-40B4-BE49-F238E27FC236}">
                <a16:creationId xmlns:a16="http://schemas.microsoft.com/office/drawing/2014/main" id="{33E74AAF-E948-4923-AB58-923A4FC8B330}"/>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Follow the assignment-specific policy.</a:t>
            </a:r>
          </a:p>
        </p:txBody>
      </p:sp>
      <p:sp>
        <p:nvSpPr>
          <p:cNvPr id="32" name="comparison-bullet-13-3-marker-2">
            <a:extLst xmlns:a="http://schemas.openxmlformats.org/drawingml/2006/main">
              <a:ext uri="{FF2B5EF4-FFF2-40B4-BE49-F238E27FC236}">
                <a16:creationId xmlns:a16="http://schemas.microsoft.com/office/drawing/2014/main" id="{7464A3A3-87E5-4F92-ABF2-FD120E136C72}"/>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3" name="comparison-bullet-13-3-text-2">
            <a:extLst xmlns:a="http://schemas.openxmlformats.org/drawingml/2006/main">
              <a:ext uri="{FF2B5EF4-FFF2-40B4-BE49-F238E27FC236}">
                <a16:creationId xmlns:a16="http://schemas.microsoft.com/office/drawing/2014/main" id="{851A2975-942F-4663-895D-462BA3D179B6}"/>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Disclose assistance when required.</a:t>
            </a:r>
          </a:p>
        </p:txBody>
      </p:sp>
      <p:sp>
        <p:nvSpPr>
          <p:cNvPr id="34" name="comparison-bullet-13-3-marker-3">
            <a:extLst xmlns:a="http://schemas.openxmlformats.org/drawingml/2006/main">
              <a:ext uri="{FF2B5EF4-FFF2-40B4-BE49-F238E27FC236}">
                <a16:creationId xmlns:a16="http://schemas.microsoft.com/office/drawing/2014/main" id="{7690C463-1304-4410-A52F-5AF978AF5724}"/>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5" name="comparison-bullet-13-3-text-3">
            <a:extLst xmlns:a="http://schemas.openxmlformats.org/drawingml/2006/main">
              <a:ext uri="{FF2B5EF4-FFF2-40B4-BE49-F238E27FC236}">
                <a16:creationId xmlns:a16="http://schemas.microsoft.com/office/drawing/2014/main" id="{57433C4A-462D-4068-B4D9-9703F2C2C4FE}"/>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Verify every factual and technical claim.</a:t>
            </a:r>
          </a:p>
        </p:txBody>
      </p:sp>
      <p:sp>
        <p:nvSpPr>
          <p:cNvPr id="36" name="comparison-bullet-13-3-marker-4">
            <a:extLst xmlns:a="http://schemas.openxmlformats.org/drawingml/2006/main">
              <a:ext uri="{FF2B5EF4-FFF2-40B4-BE49-F238E27FC236}">
                <a16:creationId xmlns:a16="http://schemas.microsoft.com/office/drawing/2014/main" id="{09948BBC-7F8F-411C-9649-55807064B6EB}"/>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7" name="comparison-bullet-13-3-text-4">
            <a:extLst xmlns:a="http://schemas.openxmlformats.org/drawingml/2006/main">
              <a:ext uri="{FF2B5EF4-FFF2-40B4-BE49-F238E27FC236}">
                <a16:creationId xmlns:a16="http://schemas.microsoft.com/office/drawing/2014/main" id="{F09411FB-83A9-41C8-B4E6-931E9006CCD1}"/>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Ask before using a borderline workflow.</a:t>
            </a:r>
          </a:p>
        </p:txBody>
      </p:sp>
    </p:spTree>
    <p:extLst>
      <p:ext uri="{BB962C8B-B14F-4D97-AF65-F5344CB8AC3E}">
        <p14:creationId xmlns:p14="http://schemas.microsoft.com/office/powerpoint/2010/main" val="8079799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4">
            <a:extLst xmlns:a="http://schemas.openxmlformats.org/drawingml/2006/main">
              <a:ext uri="{FF2B5EF4-FFF2-40B4-BE49-F238E27FC236}">
                <a16:creationId xmlns:a16="http://schemas.microsoft.com/office/drawing/2014/main" id="{091D0F2D-FD33-445C-87D2-F15B89A4328D}"/>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Policy checkpoint</a:t>
            </a:r>
          </a:p>
        </p:txBody>
      </p:sp>
      <p:sp>
        <p:nvSpPr>
          <p:cNvPr id="2" name="title-accent-14">
            <a:extLst xmlns:a="http://schemas.openxmlformats.org/drawingml/2006/main">
              <a:ext uri="{FF2B5EF4-FFF2-40B4-BE49-F238E27FC236}">
                <a16:creationId xmlns:a16="http://schemas.microsoft.com/office/drawing/2014/main" id="{5700008A-9DE9-4C04-9888-6F76EE1E806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4">
            <a:extLst xmlns:a="http://schemas.openxmlformats.org/drawingml/2006/main">
              <a:ext uri="{FF2B5EF4-FFF2-40B4-BE49-F238E27FC236}">
                <a16:creationId xmlns:a16="http://schemas.microsoft.com/office/drawing/2014/main" id="{7259C921-4247-4F91-8F21-8A912BF244C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14">
            <a:extLst xmlns:a="http://schemas.openxmlformats.org/drawingml/2006/main">
              <a:ext uri="{FF2B5EF4-FFF2-40B4-BE49-F238E27FC236}">
                <a16:creationId xmlns:a16="http://schemas.microsoft.com/office/drawing/2014/main" id="{CDA025C5-9806-4F10-A72E-F12365450486}"/>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14</a:t>
            </a:r>
          </a:p>
        </p:txBody>
      </p:sp>
      <p:sp>
        <p:nvSpPr>
          <p:cNvPr id="6" name="checkpoint-label-14">
            <a:extLst xmlns:a="http://schemas.openxmlformats.org/drawingml/2006/main">
              <a:ext uri="{FF2B5EF4-FFF2-40B4-BE49-F238E27FC236}">
                <a16:creationId xmlns:a16="http://schemas.microsoft.com/office/drawing/2014/main" id="{CEBC77D5-0366-41DD-80E2-46088F4D1305}"/>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4">
            <a:extLst xmlns:a="http://schemas.openxmlformats.org/drawingml/2006/main">
              <a:ext uri="{FF2B5EF4-FFF2-40B4-BE49-F238E27FC236}">
                <a16:creationId xmlns:a16="http://schemas.microsoft.com/office/drawing/2014/main" id="{1F39C821-6982-4392-937C-F20063928155}"/>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student writes BFS, then asks an AI system to explain why a cyclic graph causes a timeout and to list possible test cases. Is that use permitted?</a:t>
            </a:r>
          </a:p>
        </p:txBody>
      </p:sp>
      <p:cxnSp>
        <p:nvCxnSpPr>
          <p:cNvPr id="22" name="checkpoint-rule-14"/>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4-1">
            <a:extLst xmlns:a="http://schemas.openxmlformats.org/drawingml/2006/main">
              <a:ext uri="{FF2B5EF4-FFF2-40B4-BE49-F238E27FC236}">
                <a16:creationId xmlns:a16="http://schemas.microsoft.com/office/drawing/2014/main" id="{516F1276-9491-4AA8-A75D-22DF38C2D0D1}"/>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4-1">
            <a:extLst xmlns:a="http://schemas.openxmlformats.org/drawingml/2006/main">
              <a:ext uri="{FF2B5EF4-FFF2-40B4-BE49-F238E27FC236}">
                <a16:creationId xmlns:a16="http://schemas.microsoft.com/office/drawing/2014/main" id="{DB96149B-EA69-44F2-9E41-7E2984B8FB53}"/>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Identify the assignment's core learning objective.</a:t>
            </a:r>
          </a:p>
        </p:txBody>
      </p:sp>
      <p:sp>
        <p:nvSpPr>
          <p:cNvPr id="11" name="checkpoint-prompt-number-14-2">
            <a:extLst xmlns:a="http://schemas.openxmlformats.org/drawingml/2006/main">
              <a:ext uri="{FF2B5EF4-FFF2-40B4-BE49-F238E27FC236}">
                <a16:creationId xmlns:a16="http://schemas.microsoft.com/office/drawing/2014/main" id="{7ABB160A-2FC1-4779-A4E1-6FF5BB6C34DB}"/>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4-2">
            <a:extLst xmlns:a="http://schemas.openxmlformats.org/drawingml/2006/main">
              <a:ext uri="{FF2B5EF4-FFF2-40B4-BE49-F238E27FC236}">
                <a16:creationId xmlns:a16="http://schemas.microsoft.com/office/drawing/2014/main" id="{FF0574EC-BB49-4E5B-A0B0-D78D040840E9}"/>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Separate diagnosis from algorithm generation.</a:t>
            </a:r>
          </a:p>
        </p:txBody>
      </p:sp>
      <p:sp>
        <p:nvSpPr>
          <p:cNvPr id="13" name="checkpoint-prompt-number-14-3">
            <a:extLst xmlns:a="http://schemas.openxmlformats.org/drawingml/2006/main">
              <a:ext uri="{FF2B5EF4-FFF2-40B4-BE49-F238E27FC236}">
                <a16:creationId xmlns:a16="http://schemas.microsoft.com/office/drawing/2014/main" id="{586BF60F-DD9B-4C07-997F-168DD447C8CF}"/>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4-3">
            <a:extLst xmlns:a="http://schemas.openxmlformats.org/drawingml/2006/main">
              <a:ext uri="{FF2B5EF4-FFF2-40B4-BE49-F238E27FC236}">
                <a16:creationId xmlns:a16="http://schemas.microsoft.com/office/drawing/2014/main" id="{3784A560-4480-458B-ABA3-369EAB4D3F61}"/>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State what the student must verify independently.</a:t>
            </a:r>
          </a:p>
        </p:txBody>
      </p:sp>
    </p:spTree>
    <p:extLst>
      <p:ext uri="{BB962C8B-B14F-4D97-AF65-F5344CB8AC3E}">
        <p14:creationId xmlns:p14="http://schemas.microsoft.com/office/powerpoint/2010/main" val="68184545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lide-title-15">
            <a:extLst xmlns:a="http://schemas.openxmlformats.org/drawingml/2006/main">
              <a:ext uri="{FF2B5EF4-FFF2-40B4-BE49-F238E27FC236}">
                <a16:creationId xmlns:a16="http://schemas.microsoft.com/office/drawing/2014/main" id="{E78FC967-78C0-489B-B7DE-37266E1F281D}"/>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Three modules expand one engineering discipline</a:t>
            </a:r>
          </a:p>
        </p:txBody>
      </p:sp>
      <p:sp>
        <p:nvSpPr>
          <p:cNvPr id="2" name="title-accent-15">
            <a:extLst xmlns:a="http://schemas.openxmlformats.org/drawingml/2006/main">
              <a:ext uri="{FF2B5EF4-FFF2-40B4-BE49-F238E27FC236}">
                <a16:creationId xmlns:a16="http://schemas.microsoft.com/office/drawing/2014/main" id="{D847AE8D-4024-4913-A9EE-9E69F5A190F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8" name="title-rule-1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5">
            <a:extLst xmlns:a="http://schemas.openxmlformats.org/drawingml/2006/main">
              <a:ext uri="{FF2B5EF4-FFF2-40B4-BE49-F238E27FC236}">
                <a16:creationId xmlns:a16="http://schemas.microsoft.com/office/drawing/2014/main" id="{65E7D4D6-5187-4039-BF33-16731ABF586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15">
            <a:extLst xmlns:a="http://schemas.openxmlformats.org/drawingml/2006/main">
              <a:ext uri="{FF2B5EF4-FFF2-40B4-BE49-F238E27FC236}">
                <a16:creationId xmlns:a16="http://schemas.microsoft.com/office/drawing/2014/main" id="{90BE139B-FB05-4671-AD46-7E64E49C07F9}"/>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15</a:t>
            </a:r>
          </a:p>
        </p:txBody>
      </p:sp>
      <p:cxnSp>
        <p:nvCxnSpPr>
          <p:cNvPr id="31" name="process-connector-15-1"/>
          <p:cNvCxnSpPr/>
          <p:nvPr/>
        </p:nvCxnSpPr>
        <p:spPr>
          <a:xfrm xmlns:a="http://schemas.openxmlformats.org/drawingml/2006/main">
            <a:off x="3105150"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2" name="process-connector-15-2"/>
          <p:cNvCxnSpPr/>
          <p:nvPr/>
        </p:nvCxnSpPr>
        <p:spPr>
          <a:xfrm xmlns:a="http://schemas.openxmlformats.org/drawingml/2006/main">
            <a:off x="601027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3" name="process-connector-15-3"/>
          <p:cNvCxnSpPr/>
          <p:nvPr/>
        </p:nvCxnSpPr>
        <p:spPr>
          <a:xfrm xmlns:a="http://schemas.openxmlformats.org/drawingml/2006/main">
            <a:off x="8915400" y="3114675"/>
            <a:ext cx="171450" cy="0"/>
          </a:xfrm>
          <a:prstGeom xmlns:a="http://schemas.openxmlformats.org/drawingml/2006/main" prst="straightConnector1">
            <a:avLst/>
          </a:prstGeom>
          <a:ln xmlns:a="http://schemas.openxmlformats.org/drawingml/2006/main" w="19050">
            <a:solidFill>
              <a:srgbClr val="3D8DFF"/>
            </a:solidFill>
            <a:prstDash val="solid"/>
          </a:ln>
        </p:spPr>
      </p:cxnSp>
      <p:sp>
        <p:nvSpPr>
          <p:cNvPr id="9" name="process-node-15-1">
            <a:extLst xmlns:a="http://schemas.openxmlformats.org/drawingml/2006/main">
              <a:ext uri="{FF2B5EF4-FFF2-40B4-BE49-F238E27FC236}">
                <a16:creationId xmlns:a16="http://schemas.microsoft.com/office/drawing/2014/main" id="{F4DFF867-C1B7-4BDE-B7D0-0752456F69F6}"/>
              </a:ext>
            </a:extLst>
          </p:cNvPr>
          <p:cNvSpPr>
            <a:spLocks xmlns:a="http://schemas.openxmlformats.org/drawingml/2006/main" noGrp="1"/>
          </p:cNvSpPr>
          <p:nvPr/>
        </p:nvSpPr>
        <p:spPr>
          <a:xfrm xmlns:a="http://schemas.openxmlformats.org/drawingml/2006/main">
            <a:off x="400050" y="2238375"/>
            <a:ext cx="2676525"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process-number-15-1">
            <a:extLst xmlns:a="http://schemas.openxmlformats.org/drawingml/2006/main">
              <a:ext uri="{FF2B5EF4-FFF2-40B4-BE49-F238E27FC236}">
                <a16:creationId xmlns:a16="http://schemas.microsoft.com/office/drawing/2014/main" id="{70B2D076-5742-41C0-A078-B8AD68285EF3}"/>
              </a:ext>
            </a:extLst>
          </p:cNvPr>
          <p:cNvSpPr>
            <a:spLocks xmlns:a="http://schemas.openxmlformats.org/drawingml/2006/main" noGrp="1"/>
          </p:cNvSpPr>
          <p:nvPr/>
        </p:nvSpPr>
        <p:spPr>
          <a:xfrm xmlns:a="http://schemas.openxmlformats.org/drawingml/2006/main">
            <a:off x="5715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1" name="process-title-15-1">
            <a:extLst xmlns:a="http://schemas.openxmlformats.org/drawingml/2006/main">
              <a:ext uri="{FF2B5EF4-FFF2-40B4-BE49-F238E27FC236}">
                <a16:creationId xmlns:a16="http://schemas.microsoft.com/office/drawing/2014/main" id="{AE2361A6-5425-441E-9BE8-9A6FCE442624}"/>
              </a:ext>
            </a:extLst>
          </p:cNvPr>
          <p:cNvSpPr>
            <a:spLocks xmlns:a="http://schemas.openxmlformats.org/drawingml/2006/main" noGrp="1"/>
          </p:cNvSpPr>
          <p:nvPr/>
        </p:nvSpPr>
        <p:spPr>
          <a:xfrm xmlns:a="http://schemas.openxmlformats.org/drawingml/2006/main">
            <a:off x="571500" y="2886075"/>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Agents</a:t>
            </a:r>
          </a:p>
        </p:txBody>
      </p:sp>
      <p:sp>
        <p:nvSpPr>
          <p:cNvPr id="12" name="process-detail-15-1">
            <a:extLst xmlns:a="http://schemas.openxmlformats.org/drawingml/2006/main">
              <a:ext uri="{FF2B5EF4-FFF2-40B4-BE49-F238E27FC236}">
                <a16:creationId xmlns:a16="http://schemas.microsoft.com/office/drawing/2014/main" id="{676BB8F6-EE07-4903-80B7-9E6A4740A9B5}"/>
              </a:ext>
            </a:extLst>
          </p:cNvPr>
          <p:cNvSpPr>
            <a:spLocks xmlns:a="http://schemas.openxmlformats.org/drawingml/2006/main" noGrp="1"/>
          </p:cNvSpPr>
          <p:nvPr/>
        </p:nvSpPr>
        <p:spPr>
          <a:xfrm xmlns:a="http://schemas.openxmlformats.org/drawingml/2006/main">
            <a:off x="571500" y="3590925"/>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Model goals, state, actions, search, and adversarial decisions.</a:t>
            </a:r>
          </a:p>
        </p:txBody>
      </p:sp>
      <p:sp>
        <p:nvSpPr>
          <p:cNvPr id="13" name="process-node-15-2">
            <a:extLst xmlns:a="http://schemas.openxmlformats.org/drawingml/2006/main">
              <a:ext uri="{FF2B5EF4-FFF2-40B4-BE49-F238E27FC236}">
                <a16:creationId xmlns:a16="http://schemas.microsoft.com/office/drawing/2014/main" id="{D716BC24-347A-4E66-B391-0E2A7F1987D6}"/>
              </a:ext>
            </a:extLst>
          </p:cNvPr>
          <p:cNvSpPr>
            <a:spLocks xmlns:a="http://schemas.openxmlformats.org/drawingml/2006/main" noGrp="1"/>
          </p:cNvSpPr>
          <p:nvPr/>
        </p:nvSpPr>
        <p:spPr>
          <a:xfrm xmlns:a="http://schemas.openxmlformats.org/drawingml/2006/main">
            <a:off x="3305175" y="2238375"/>
            <a:ext cx="2676525"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4" name="process-number-15-2">
            <a:extLst xmlns:a="http://schemas.openxmlformats.org/drawingml/2006/main">
              <a:ext uri="{FF2B5EF4-FFF2-40B4-BE49-F238E27FC236}">
                <a16:creationId xmlns:a16="http://schemas.microsoft.com/office/drawing/2014/main" id="{EA3FB9A5-8516-4525-9D69-C8524F14E034}"/>
              </a:ext>
            </a:extLst>
          </p:cNvPr>
          <p:cNvSpPr>
            <a:spLocks xmlns:a="http://schemas.openxmlformats.org/drawingml/2006/main" noGrp="1"/>
          </p:cNvSpPr>
          <p:nvPr/>
        </p:nvSpPr>
        <p:spPr>
          <a:xfrm xmlns:a="http://schemas.openxmlformats.org/drawingml/2006/main">
            <a:off x="3476625"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5" name="process-title-15-2">
            <a:extLst xmlns:a="http://schemas.openxmlformats.org/drawingml/2006/main">
              <a:ext uri="{FF2B5EF4-FFF2-40B4-BE49-F238E27FC236}">
                <a16:creationId xmlns:a16="http://schemas.microsoft.com/office/drawing/2014/main" id="{82A095D9-43F0-4941-990C-819AB6C47CA1}"/>
              </a:ext>
            </a:extLst>
          </p:cNvPr>
          <p:cNvSpPr>
            <a:spLocks xmlns:a="http://schemas.openxmlformats.org/drawingml/2006/main" noGrp="1"/>
          </p:cNvSpPr>
          <p:nvPr/>
        </p:nvSpPr>
        <p:spPr>
          <a:xfrm xmlns:a="http://schemas.openxmlformats.org/drawingml/2006/main">
            <a:off x="3476625" y="2886075"/>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Uncertainty</a:t>
            </a:r>
          </a:p>
        </p:txBody>
      </p:sp>
      <p:sp>
        <p:nvSpPr>
          <p:cNvPr id="16" name="process-detail-15-2">
            <a:extLst xmlns:a="http://schemas.openxmlformats.org/drawingml/2006/main">
              <a:ext uri="{FF2B5EF4-FFF2-40B4-BE49-F238E27FC236}">
                <a16:creationId xmlns:a16="http://schemas.microsoft.com/office/drawing/2014/main" id="{0B798AAD-E5A1-49A1-B8BB-FEED756DFECC}"/>
              </a:ext>
            </a:extLst>
          </p:cNvPr>
          <p:cNvSpPr>
            <a:spLocks xmlns:a="http://schemas.openxmlformats.org/drawingml/2006/main" noGrp="1"/>
          </p:cNvSpPr>
          <p:nvPr/>
        </p:nvSpPr>
        <p:spPr>
          <a:xfrm xmlns:a="http://schemas.openxmlformats.org/drawingml/2006/main">
            <a:off x="3476625" y="3590925"/>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Reason with MDPs, reinforcement learning, and Bayesian belief.</a:t>
            </a:r>
          </a:p>
        </p:txBody>
      </p:sp>
      <p:sp>
        <p:nvSpPr>
          <p:cNvPr id="17" name="process-node-15-3">
            <a:extLst xmlns:a="http://schemas.openxmlformats.org/drawingml/2006/main">
              <a:ext uri="{FF2B5EF4-FFF2-40B4-BE49-F238E27FC236}">
                <a16:creationId xmlns:a16="http://schemas.microsoft.com/office/drawing/2014/main" id="{02DB3531-FC4D-4700-9923-31B563F7B33E}"/>
              </a:ext>
            </a:extLst>
          </p:cNvPr>
          <p:cNvSpPr>
            <a:spLocks xmlns:a="http://schemas.openxmlformats.org/drawingml/2006/main" noGrp="1"/>
          </p:cNvSpPr>
          <p:nvPr/>
        </p:nvSpPr>
        <p:spPr>
          <a:xfrm xmlns:a="http://schemas.openxmlformats.org/drawingml/2006/main">
            <a:off x="6210300" y="2238375"/>
            <a:ext cx="2676525"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8" name="process-number-15-3">
            <a:extLst xmlns:a="http://schemas.openxmlformats.org/drawingml/2006/main">
              <a:ext uri="{FF2B5EF4-FFF2-40B4-BE49-F238E27FC236}">
                <a16:creationId xmlns:a16="http://schemas.microsoft.com/office/drawing/2014/main" id="{9A6C5388-3654-413E-8A1D-24D825B08CC0}"/>
              </a:ext>
            </a:extLst>
          </p:cNvPr>
          <p:cNvSpPr>
            <a:spLocks xmlns:a="http://schemas.openxmlformats.org/drawingml/2006/main" noGrp="1"/>
          </p:cNvSpPr>
          <p:nvPr/>
        </p:nvSpPr>
        <p:spPr>
          <a:xfrm xmlns:a="http://schemas.openxmlformats.org/drawingml/2006/main">
            <a:off x="638175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9" name="process-title-15-3">
            <a:extLst xmlns:a="http://schemas.openxmlformats.org/drawingml/2006/main">
              <a:ext uri="{FF2B5EF4-FFF2-40B4-BE49-F238E27FC236}">
                <a16:creationId xmlns:a16="http://schemas.microsoft.com/office/drawing/2014/main" id="{2DD0017D-DC5D-461A-B509-8F39054DD2C8}"/>
              </a:ext>
            </a:extLst>
          </p:cNvPr>
          <p:cNvSpPr>
            <a:spLocks xmlns:a="http://schemas.openxmlformats.org/drawingml/2006/main" noGrp="1"/>
          </p:cNvSpPr>
          <p:nvPr/>
        </p:nvSpPr>
        <p:spPr>
          <a:xfrm xmlns:a="http://schemas.openxmlformats.org/drawingml/2006/main">
            <a:off x="6381750" y="2886075"/>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Learning</a:t>
            </a:r>
          </a:p>
        </p:txBody>
      </p:sp>
      <p:sp>
        <p:nvSpPr>
          <p:cNvPr id="20" name="process-detail-15-3">
            <a:extLst xmlns:a="http://schemas.openxmlformats.org/drawingml/2006/main">
              <a:ext uri="{FF2B5EF4-FFF2-40B4-BE49-F238E27FC236}">
                <a16:creationId xmlns:a16="http://schemas.microsoft.com/office/drawing/2014/main" id="{5E8B1855-9891-4064-A6C1-EE34C50E5E1D}"/>
              </a:ext>
            </a:extLst>
          </p:cNvPr>
          <p:cNvSpPr>
            <a:spLocks xmlns:a="http://schemas.openxmlformats.org/drawingml/2006/main" noGrp="1"/>
          </p:cNvSpPr>
          <p:nvPr/>
        </p:nvSpPr>
        <p:spPr>
          <a:xfrm xmlns:a="http://schemas.openxmlformats.org/drawingml/2006/main">
            <a:off x="6381750" y="3590925"/>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Fit, evaluate, regularize, and audit predictive models.</a:t>
            </a:r>
          </a:p>
        </p:txBody>
      </p:sp>
      <p:sp>
        <p:nvSpPr>
          <p:cNvPr id="21" name="process-node-15-4">
            <a:extLst xmlns:a="http://schemas.openxmlformats.org/drawingml/2006/main">
              <a:ext uri="{FF2B5EF4-FFF2-40B4-BE49-F238E27FC236}">
                <a16:creationId xmlns:a16="http://schemas.microsoft.com/office/drawing/2014/main" id="{DAF90AB2-FBFC-48F0-93B0-4BC40A27C151}"/>
              </a:ext>
            </a:extLst>
          </p:cNvPr>
          <p:cNvSpPr>
            <a:spLocks xmlns:a="http://schemas.openxmlformats.org/drawingml/2006/main" noGrp="1"/>
          </p:cNvSpPr>
          <p:nvPr/>
        </p:nvSpPr>
        <p:spPr>
          <a:xfrm xmlns:a="http://schemas.openxmlformats.org/drawingml/2006/main">
            <a:off x="9115425" y="2238375"/>
            <a:ext cx="2676525" cy="2381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2" name="process-number-15-4">
            <a:extLst xmlns:a="http://schemas.openxmlformats.org/drawingml/2006/main">
              <a:ext uri="{FF2B5EF4-FFF2-40B4-BE49-F238E27FC236}">
                <a16:creationId xmlns:a16="http://schemas.microsoft.com/office/drawing/2014/main" id="{1DC8B9CB-3BD5-4C5B-A25D-66E83246A524}"/>
              </a:ext>
            </a:extLst>
          </p:cNvPr>
          <p:cNvSpPr>
            <a:spLocks xmlns:a="http://schemas.openxmlformats.org/drawingml/2006/main" noGrp="1"/>
          </p:cNvSpPr>
          <p:nvPr/>
        </p:nvSpPr>
        <p:spPr>
          <a:xfrm xmlns:a="http://schemas.openxmlformats.org/drawingml/2006/main">
            <a:off x="9286875"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23" name="process-title-15-4">
            <a:extLst xmlns:a="http://schemas.openxmlformats.org/drawingml/2006/main">
              <a:ext uri="{FF2B5EF4-FFF2-40B4-BE49-F238E27FC236}">
                <a16:creationId xmlns:a16="http://schemas.microsoft.com/office/drawing/2014/main" id="{7E7212D5-7309-41F4-BA61-9200348F5CEB}"/>
              </a:ext>
            </a:extLst>
          </p:cNvPr>
          <p:cNvSpPr>
            <a:spLocks xmlns:a="http://schemas.openxmlformats.org/drawingml/2006/main" noGrp="1"/>
          </p:cNvSpPr>
          <p:nvPr/>
        </p:nvSpPr>
        <p:spPr>
          <a:xfrm xmlns:a="http://schemas.openxmlformats.org/drawingml/2006/main">
            <a:off x="9286875" y="2886075"/>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Integration</a:t>
            </a:r>
          </a:p>
        </p:txBody>
      </p:sp>
      <p:sp>
        <p:nvSpPr>
          <p:cNvPr id="24" name="process-detail-15-4">
            <a:extLst xmlns:a="http://schemas.openxmlformats.org/drawingml/2006/main">
              <a:ext uri="{FF2B5EF4-FFF2-40B4-BE49-F238E27FC236}">
                <a16:creationId xmlns:a16="http://schemas.microsoft.com/office/drawing/2014/main" id="{4D7FC97A-E898-4BAC-8AB1-FBB10BDC2754}"/>
              </a:ext>
            </a:extLst>
          </p:cNvPr>
          <p:cNvSpPr>
            <a:spLocks xmlns:a="http://schemas.openxmlformats.org/drawingml/2006/main" noGrp="1"/>
          </p:cNvSpPr>
          <p:nvPr/>
        </p:nvSpPr>
        <p:spPr>
          <a:xfrm xmlns:a="http://schemas.openxmlformats.org/drawingml/2006/main">
            <a:off x="9286875" y="3590925"/>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Select methods by assumptions, evidence, and deployment risk.</a:t>
            </a:r>
          </a:p>
        </p:txBody>
      </p:sp>
      <p:sp>
        <p:nvSpPr>
          <p:cNvPr id="25" name="process-takeaway-15">
            <a:extLst xmlns:a="http://schemas.openxmlformats.org/drawingml/2006/main">
              <a:ext uri="{FF2B5EF4-FFF2-40B4-BE49-F238E27FC236}">
                <a16:creationId xmlns:a16="http://schemas.microsoft.com/office/drawing/2014/main" id="{1D35CC03-4122-4F59-9BB0-7B65E3CC5564}"/>
              </a:ext>
            </a:extLst>
          </p:cNvPr>
          <p:cNvSpPr>
            <a:spLocks xmlns:a="http://schemas.openxmlformats.org/drawingml/2006/main" noGrp="1"/>
          </p:cNvSpPr>
          <p:nvPr/>
        </p:nvSpPr>
        <p:spPr>
          <a:xfrm xmlns:a="http://schemas.openxmlformats.org/drawingml/2006/main">
            <a:off x="400050" y="5095875"/>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The algorithms change; contracts, invariants, tests, and responsible evidence remain.</a:t>
            </a:r>
          </a:p>
        </p:txBody>
      </p:sp>
    </p:spTree>
    <p:extLst>
      <p:ext uri="{BB962C8B-B14F-4D97-AF65-F5344CB8AC3E}">
        <p14:creationId xmlns:p14="http://schemas.microsoft.com/office/powerpoint/2010/main" val="103817223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slide-title-16">
            <a:extLst xmlns:a="http://schemas.openxmlformats.org/drawingml/2006/main">
              <a:ext uri="{FF2B5EF4-FFF2-40B4-BE49-F238E27FC236}">
                <a16:creationId xmlns:a16="http://schemas.microsoft.com/office/drawing/2014/main" id="{2F129722-7FB9-4856-B7EF-75F715EE2AD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Assessment rewards both repeated practice and integration</a:t>
            </a:r>
          </a:p>
        </p:txBody>
      </p:sp>
      <p:sp>
        <p:nvSpPr>
          <p:cNvPr id="2" name="title-accent-16">
            <a:extLst xmlns:a="http://schemas.openxmlformats.org/drawingml/2006/main">
              <a:ext uri="{FF2B5EF4-FFF2-40B4-BE49-F238E27FC236}">
                <a16:creationId xmlns:a16="http://schemas.microsoft.com/office/drawing/2014/main" id="{DDEB9214-859D-4619-AD30-424E492411E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4" name="title-rule-1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6">
            <a:extLst xmlns:a="http://schemas.openxmlformats.org/drawingml/2006/main">
              <a:ext uri="{FF2B5EF4-FFF2-40B4-BE49-F238E27FC236}">
                <a16:creationId xmlns:a16="http://schemas.microsoft.com/office/drawing/2014/main" id="{E0D02FA0-AC3A-432A-B05C-1EE4BB910C1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16">
            <a:extLst xmlns:a="http://schemas.openxmlformats.org/drawingml/2006/main">
              <a:ext uri="{FF2B5EF4-FFF2-40B4-BE49-F238E27FC236}">
                <a16:creationId xmlns:a16="http://schemas.microsoft.com/office/drawing/2014/main" id="{161DE66A-B8AF-4168-8C9A-0D0ED6604E2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16</a:t>
            </a:r>
          </a:p>
        </p:txBody>
      </p:sp>
      <p:sp>
        <p:nvSpPr>
          <p:cNvPr id="6" name="comparison-title-16-1">
            <a:extLst xmlns:a="http://schemas.openxmlformats.org/drawingml/2006/main">
              <a:ext uri="{FF2B5EF4-FFF2-40B4-BE49-F238E27FC236}">
                <a16:creationId xmlns:a16="http://schemas.microsoft.com/office/drawing/2014/main" id="{D09AE2FD-9D5D-41CD-A855-BF24C001B9F8}"/>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Weekly work - 15%</a:t>
            </a:r>
          </a:p>
        </p:txBody>
      </p:sp>
      <p:sp>
        <p:nvSpPr>
          <p:cNvPr id="7" name="comparison-tagline-16-1">
            <a:extLst xmlns:a="http://schemas.openxmlformats.org/drawingml/2006/main">
              <a:ext uri="{FF2B5EF4-FFF2-40B4-BE49-F238E27FC236}">
                <a16:creationId xmlns:a16="http://schemas.microsoft.com/office/drawing/2014/main" id="{30AA4794-17DB-421A-947F-1C8616F0C224}"/>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Code labs and quizzes create short feedback cycles.</a:t>
            </a:r>
          </a:p>
        </p:txBody>
      </p:sp>
      <p:sp>
        <p:nvSpPr>
          <p:cNvPr id="8" name="comparison-bullet-16-1-marker-1">
            <a:extLst xmlns:a="http://schemas.openxmlformats.org/drawingml/2006/main">
              <a:ext uri="{FF2B5EF4-FFF2-40B4-BE49-F238E27FC236}">
                <a16:creationId xmlns:a16="http://schemas.microsoft.com/office/drawing/2014/main" id="{9A407937-FB88-4276-A8DE-E4AA15A5A19F}"/>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16-1-text-1">
            <a:extLst xmlns:a="http://schemas.openxmlformats.org/drawingml/2006/main">
              <a:ext uri="{FF2B5EF4-FFF2-40B4-BE49-F238E27FC236}">
                <a16:creationId xmlns:a16="http://schemas.microsoft.com/office/drawing/2014/main" id="{DB5189B6-B5DE-4C13-AD89-34DF3B335EC5}"/>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Practice before integration.</a:t>
            </a:r>
          </a:p>
        </p:txBody>
      </p:sp>
      <p:sp>
        <p:nvSpPr>
          <p:cNvPr id="10" name="comparison-bullet-16-1-marker-2">
            <a:extLst xmlns:a="http://schemas.openxmlformats.org/drawingml/2006/main">
              <a:ext uri="{FF2B5EF4-FFF2-40B4-BE49-F238E27FC236}">
                <a16:creationId xmlns:a16="http://schemas.microsoft.com/office/drawing/2014/main" id="{8323CB83-2504-45E2-877C-69E43C9A3299}"/>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16-1-text-2">
            <a:extLst xmlns:a="http://schemas.openxmlformats.org/drawingml/2006/main">
              <a:ext uri="{FF2B5EF4-FFF2-40B4-BE49-F238E27FC236}">
                <a16:creationId xmlns:a16="http://schemas.microsoft.com/office/drawing/2014/main" id="{26B59007-1864-49B3-8DED-4B0E3B8AA255}"/>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Treat tests as design feedback.</a:t>
            </a:r>
          </a:p>
        </p:txBody>
      </p:sp>
      <p:sp>
        <p:nvSpPr>
          <p:cNvPr id="12" name="comparison-bullet-16-1-marker-3">
            <a:extLst xmlns:a="http://schemas.openxmlformats.org/drawingml/2006/main">
              <a:ext uri="{FF2B5EF4-FFF2-40B4-BE49-F238E27FC236}">
                <a16:creationId xmlns:a16="http://schemas.microsoft.com/office/drawing/2014/main" id="{03E5A2E6-0ACA-49F6-87D2-607DF2E2B23A}"/>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16-1-text-3">
            <a:extLst xmlns:a="http://schemas.openxmlformats.org/drawingml/2006/main">
              <a:ext uri="{FF2B5EF4-FFF2-40B4-BE49-F238E27FC236}">
                <a16:creationId xmlns:a16="http://schemas.microsoft.com/office/drawing/2014/main" id="{27246F3E-C2D8-4C68-B700-8FF245D6570C}"/>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Repair misconceptions early.</a:t>
            </a:r>
          </a:p>
        </p:txBody>
      </p:sp>
      <p:cxnSp>
        <p:nvCxnSpPr>
          <p:cNvPr id="45" name="comparison-divider-16-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5" name="comparison-title-16-2">
            <a:extLst xmlns:a="http://schemas.openxmlformats.org/drawingml/2006/main">
              <a:ext uri="{FF2B5EF4-FFF2-40B4-BE49-F238E27FC236}">
                <a16:creationId xmlns:a16="http://schemas.microsoft.com/office/drawing/2014/main" id="{54797A19-3D2B-4F40-AD72-65EBE757664B}"/>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Module projects - 30%</a:t>
            </a:r>
          </a:p>
        </p:txBody>
      </p:sp>
      <p:sp>
        <p:nvSpPr>
          <p:cNvPr id="16" name="comparison-tagline-16-2">
            <a:extLst xmlns:a="http://schemas.openxmlformats.org/drawingml/2006/main">
              <a:ext uri="{FF2B5EF4-FFF2-40B4-BE49-F238E27FC236}">
                <a16:creationId xmlns:a16="http://schemas.microsoft.com/office/drawing/2014/main" id="{4CBEE20F-6097-4F9D-A312-83F951EDD021}"/>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Three projects combine each module's full algorithmic arc.</a:t>
            </a:r>
          </a:p>
        </p:txBody>
      </p:sp>
      <p:sp>
        <p:nvSpPr>
          <p:cNvPr id="17" name="comparison-bullet-16-2-marker-1">
            <a:extLst xmlns:a="http://schemas.openxmlformats.org/drawingml/2006/main">
              <a:ext uri="{FF2B5EF4-FFF2-40B4-BE49-F238E27FC236}">
                <a16:creationId xmlns:a16="http://schemas.microsoft.com/office/drawing/2014/main" id="{EE829A3D-C816-4F8F-81CF-C60A1DED6EA1}"/>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18" name="comparison-bullet-16-2-text-1">
            <a:extLst xmlns:a="http://schemas.openxmlformats.org/drawingml/2006/main">
              <a:ext uri="{FF2B5EF4-FFF2-40B4-BE49-F238E27FC236}">
                <a16:creationId xmlns:a16="http://schemas.microsoft.com/office/drawing/2014/main" id="{F18F3E20-0BBE-4252-8728-9EA594F70AC0}"/>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Integrate multiple components.</a:t>
            </a:r>
          </a:p>
        </p:txBody>
      </p:sp>
      <p:sp>
        <p:nvSpPr>
          <p:cNvPr id="19" name="comparison-bullet-16-2-marker-2">
            <a:extLst xmlns:a="http://schemas.openxmlformats.org/drawingml/2006/main">
              <a:ext uri="{FF2B5EF4-FFF2-40B4-BE49-F238E27FC236}">
                <a16:creationId xmlns:a16="http://schemas.microsoft.com/office/drawing/2014/main" id="{EA9B6999-00FD-4FC4-9F28-EC4D62A875E1}"/>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0" name="comparison-bullet-16-2-text-2">
            <a:extLst xmlns:a="http://schemas.openxmlformats.org/drawingml/2006/main">
              <a:ext uri="{FF2B5EF4-FFF2-40B4-BE49-F238E27FC236}">
                <a16:creationId xmlns:a16="http://schemas.microsoft.com/office/drawing/2014/main" id="{65BB4E1F-DC3E-4CF1-8158-04E82A026850}"/>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Defend design decisions.</a:t>
            </a:r>
          </a:p>
        </p:txBody>
      </p:sp>
      <p:sp>
        <p:nvSpPr>
          <p:cNvPr id="21" name="comparison-bullet-16-2-marker-3">
            <a:extLst xmlns:a="http://schemas.openxmlformats.org/drawingml/2006/main">
              <a:ext uri="{FF2B5EF4-FFF2-40B4-BE49-F238E27FC236}">
                <a16:creationId xmlns:a16="http://schemas.microsoft.com/office/drawing/2014/main" id="{8B8E89AE-3B6E-4C54-8470-227E64716B2B}"/>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2" name="comparison-bullet-16-2-text-3">
            <a:extLst xmlns:a="http://schemas.openxmlformats.org/drawingml/2006/main">
              <a:ext uri="{FF2B5EF4-FFF2-40B4-BE49-F238E27FC236}">
                <a16:creationId xmlns:a16="http://schemas.microsoft.com/office/drawing/2014/main" id="{B76E6476-1526-4DA3-95DC-C6426E25F935}"/>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Demonstrate robust behavior.</a:t>
            </a:r>
          </a:p>
        </p:txBody>
      </p:sp>
      <p:cxnSp>
        <p:nvCxnSpPr>
          <p:cNvPr id="54" name="comparison-divider-16-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4" name="comparison-title-16-3">
            <a:extLst xmlns:a="http://schemas.openxmlformats.org/drawingml/2006/main">
              <a:ext uri="{FF2B5EF4-FFF2-40B4-BE49-F238E27FC236}">
                <a16:creationId xmlns:a16="http://schemas.microsoft.com/office/drawing/2014/main" id="{580FB5BA-7566-47C6-9F1B-94BFB2E7F49D}"/>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Examinations - 50%</a:t>
            </a:r>
          </a:p>
        </p:txBody>
      </p:sp>
      <p:sp>
        <p:nvSpPr>
          <p:cNvPr id="25" name="comparison-tagline-16-3">
            <a:extLst xmlns:a="http://schemas.openxmlformats.org/drawingml/2006/main">
              <a:ext uri="{FF2B5EF4-FFF2-40B4-BE49-F238E27FC236}">
                <a16:creationId xmlns:a16="http://schemas.microsoft.com/office/drawing/2014/main" id="{550F4E5B-46A1-4E2A-BCA3-75D00C9FBB7C}"/>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The source lists a 30% midterm category and a 20% final.</a:t>
            </a:r>
          </a:p>
        </p:txBody>
      </p:sp>
      <p:sp>
        <p:nvSpPr>
          <p:cNvPr id="26" name="comparison-bullet-16-3-marker-1">
            <a:extLst xmlns:a="http://schemas.openxmlformats.org/drawingml/2006/main">
              <a:ext uri="{FF2B5EF4-FFF2-40B4-BE49-F238E27FC236}">
                <a16:creationId xmlns:a16="http://schemas.microsoft.com/office/drawing/2014/main" id="{C980DD3B-BC23-4ED5-8103-2A8B41497E66}"/>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7" name="comparison-bullet-16-3-text-1">
            <a:extLst xmlns:a="http://schemas.openxmlformats.org/drawingml/2006/main">
              <a:ext uri="{FF2B5EF4-FFF2-40B4-BE49-F238E27FC236}">
                <a16:creationId xmlns:a16="http://schemas.microsoft.com/office/drawing/2014/main" id="{05509759-AF23-41FC-B0DB-10374A8106EF}"/>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Trace and derive without a codebase.</a:t>
            </a:r>
          </a:p>
        </p:txBody>
      </p:sp>
      <p:sp>
        <p:nvSpPr>
          <p:cNvPr id="28" name="comparison-bullet-16-3-marker-2">
            <a:extLst xmlns:a="http://schemas.openxmlformats.org/drawingml/2006/main">
              <a:ext uri="{FF2B5EF4-FFF2-40B4-BE49-F238E27FC236}">
                <a16:creationId xmlns:a16="http://schemas.microsoft.com/office/drawing/2014/main" id="{E503CED5-8A2C-45B0-8685-B926820122BA}"/>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9" name="comparison-bullet-16-3-text-2">
            <a:extLst xmlns:a="http://schemas.openxmlformats.org/drawingml/2006/main">
              <a:ext uri="{FF2B5EF4-FFF2-40B4-BE49-F238E27FC236}">
                <a16:creationId xmlns:a16="http://schemas.microsoft.com/office/drawing/2014/main" id="{01EBF2A8-C6E6-40D5-A4CD-0F8D00B159AB}"/>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Explain guarantees and failure modes.</a:t>
            </a:r>
          </a:p>
        </p:txBody>
      </p:sp>
      <p:sp>
        <p:nvSpPr>
          <p:cNvPr id="30" name="comparison-bullet-16-3-marker-3">
            <a:extLst xmlns:a="http://schemas.openxmlformats.org/drawingml/2006/main">
              <a:ext uri="{FF2B5EF4-FFF2-40B4-BE49-F238E27FC236}">
                <a16:creationId xmlns:a16="http://schemas.microsoft.com/office/drawing/2014/main" id="{E1A62D9D-892D-436D-97F7-F4BEAC468E29}"/>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comparison-bullet-16-3-text-3">
            <a:extLst xmlns:a="http://schemas.openxmlformats.org/drawingml/2006/main">
              <a:ext uri="{FF2B5EF4-FFF2-40B4-BE49-F238E27FC236}">
                <a16:creationId xmlns:a16="http://schemas.microsoft.com/office/drawing/2014/main" id="{2D5EDE70-C359-43A8-A92D-AF56DA38CDBA}"/>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Transfer ideas to unfamiliar cases.</a:t>
            </a:r>
          </a:p>
        </p:txBody>
      </p:sp>
    </p:spTree>
    <p:extLst>
      <p:ext uri="{BB962C8B-B14F-4D97-AF65-F5344CB8AC3E}">
        <p14:creationId xmlns:p14="http://schemas.microsoft.com/office/powerpoint/2010/main" val="181070573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7">
            <a:extLst xmlns:a="http://schemas.openxmlformats.org/drawingml/2006/main">
              <a:ext uri="{FF2B5EF4-FFF2-40B4-BE49-F238E27FC236}">
                <a16:creationId xmlns:a16="http://schemas.microsoft.com/office/drawing/2014/main" id="{CA7C8E76-9EAE-4EF0-A0C5-314565700B53}"/>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Passive familiarity will not survive an unfamiliar test</a:t>
            </a:r>
          </a:p>
        </p:txBody>
      </p:sp>
      <p:sp>
        <p:nvSpPr>
          <p:cNvPr id="2" name="title-accent-17">
            <a:extLst xmlns:a="http://schemas.openxmlformats.org/drawingml/2006/main">
              <a:ext uri="{FF2B5EF4-FFF2-40B4-BE49-F238E27FC236}">
                <a16:creationId xmlns:a16="http://schemas.microsoft.com/office/drawing/2014/main" id="{9F165684-CB8C-461D-A72B-DC90E46E842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7">
            <a:extLst xmlns:a="http://schemas.openxmlformats.org/drawingml/2006/main">
              <a:ext uri="{FF2B5EF4-FFF2-40B4-BE49-F238E27FC236}">
                <a16:creationId xmlns:a16="http://schemas.microsoft.com/office/drawing/2014/main" id="{901BE1B3-7BB8-4C2A-A5AE-ADD17DD4C76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17">
            <a:extLst xmlns:a="http://schemas.openxmlformats.org/drawingml/2006/main">
              <a:ext uri="{FF2B5EF4-FFF2-40B4-BE49-F238E27FC236}">
                <a16:creationId xmlns:a16="http://schemas.microsoft.com/office/drawing/2014/main" id="{0E6F1AB9-F62A-4B3D-9911-BA615C8F5B4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17</a:t>
            </a:r>
          </a:p>
        </p:txBody>
      </p:sp>
      <p:sp>
        <p:nvSpPr>
          <p:cNvPr id="6" name="claim-17">
            <a:extLst xmlns:a="http://schemas.openxmlformats.org/drawingml/2006/main">
              <a:ext uri="{FF2B5EF4-FFF2-40B4-BE49-F238E27FC236}">
                <a16:creationId xmlns:a16="http://schemas.microsoft.com/office/drawing/2014/main" id="{84864E17-75BE-4845-BD0B-D258572010E0}"/>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Prepare by constructing, tracing, breaking, and explaining systems - not by rereading until the notation looks familiar.</a:t>
            </a:r>
          </a:p>
        </p:txBody>
      </p:sp>
      <p:sp>
        <p:nvSpPr>
          <p:cNvPr id="7" name="claim-panel-17">
            <a:extLst xmlns:a="http://schemas.openxmlformats.org/drawingml/2006/main">
              <a:ext uri="{FF2B5EF4-FFF2-40B4-BE49-F238E27FC236}">
                <a16:creationId xmlns:a16="http://schemas.microsoft.com/office/drawing/2014/main" id="{10E5B2EB-57D1-4AEF-AA13-C8049ADB4719}"/>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17">
            <a:extLst xmlns:a="http://schemas.openxmlformats.org/drawingml/2006/main">
              <a:ext uri="{FF2B5EF4-FFF2-40B4-BE49-F238E27FC236}">
                <a16:creationId xmlns:a16="http://schemas.microsoft.com/office/drawing/2014/main" id="{BCA11352-E9B3-466B-A838-084D119A600B}"/>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Practice</a:t>
            </a:r>
          </a:p>
        </p:txBody>
      </p:sp>
      <p:sp>
        <p:nvSpPr>
          <p:cNvPr id="9" name="claim-keyword-detail-17">
            <a:extLst xmlns:a="http://schemas.openxmlformats.org/drawingml/2006/main">
              <a:ext uri="{FF2B5EF4-FFF2-40B4-BE49-F238E27FC236}">
                <a16:creationId xmlns:a16="http://schemas.microsoft.com/office/drawing/2014/main" id="{992DB65B-DA99-4041-8B73-C2ED83A1D049}"/>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Retrieval and implementation expose gaps that recognition conceals.</a:t>
            </a:r>
          </a:p>
        </p:txBody>
      </p:sp>
      <p:sp>
        <p:nvSpPr>
          <p:cNvPr id="10" name="claim-detail-17-marker-1">
            <a:extLst xmlns:a="http://schemas.openxmlformats.org/drawingml/2006/main">
              <a:ext uri="{FF2B5EF4-FFF2-40B4-BE49-F238E27FC236}">
                <a16:creationId xmlns:a16="http://schemas.microsoft.com/office/drawing/2014/main" id="{C80B0835-D59A-4325-A46F-46276A145D1B}"/>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17-text-1">
            <a:extLst xmlns:a="http://schemas.openxmlformats.org/drawingml/2006/main">
              <a:ext uri="{FF2B5EF4-FFF2-40B4-BE49-F238E27FC236}">
                <a16:creationId xmlns:a16="http://schemas.microsoft.com/office/drawing/2014/main" id="{59F65AD0-ADA2-4226-9CFC-0D0698CCECC8}"/>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Trace algorithms on small examples before coding.</a:t>
            </a:r>
          </a:p>
        </p:txBody>
      </p:sp>
      <p:sp>
        <p:nvSpPr>
          <p:cNvPr id="12" name="claim-detail-17-marker-2">
            <a:extLst xmlns:a="http://schemas.openxmlformats.org/drawingml/2006/main">
              <a:ext uri="{FF2B5EF4-FFF2-40B4-BE49-F238E27FC236}">
                <a16:creationId xmlns:a16="http://schemas.microsoft.com/office/drawing/2014/main" id="{B7D677D4-4513-4693-BF0E-30D63C40161F}"/>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17-text-2">
            <a:extLst xmlns:a="http://schemas.openxmlformats.org/drawingml/2006/main">
              <a:ext uri="{FF2B5EF4-FFF2-40B4-BE49-F238E27FC236}">
                <a16:creationId xmlns:a16="http://schemas.microsoft.com/office/drawing/2014/main" id="{D296805F-6839-418A-8ECD-5A4DB37010D2}"/>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Write tests from the contract before seeing a failure.</a:t>
            </a:r>
          </a:p>
        </p:txBody>
      </p:sp>
      <p:sp>
        <p:nvSpPr>
          <p:cNvPr id="14" name="claim-detail-17-marker-3">
            <a:extLst xmlns:a="http://schemas.openxmlformats.org/drawingml/2006/main">
              <a:ext uri="{FF2B5EF4-FFF2-40B4-BE49-F238E27FC236}">
                <a16:creationId xmlns:a16="http://schemas.microsoft.com/office/drawing/2014/main" id="{8A6BC199-EF46-42BF-9396-A4AB9F068221}"/>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17-text-3">
            <a:extLst xmlns:a="http://schemas.openxmlformats.org/drawingml/2006/main">
              <a:ext uri="{FF2B5EF4-FFF2-40B4-BE49-F238E27FC236}">
                <a16:creationId xmlns:a16="http://schemas.microsoft.com/office/drawing/2014/main" id="{659C60C8-3F2B-4561-92B8-8F3FFB943C26}"/>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Explain guarantees and counterexamples without notes.</a:t>
            </a:r>
          </a:p>
        </p:txBody>
      </p:sp>
    </p:spTree>
    <p:extLst>
      <p:ext uri="{BB962C8B-B14F-4D97-AF65-F5344CB8AC3E}">
        <p14:creationId xmlns:p14="http://schemas.microsoft.com/office/powerpoint/2010/main" val="70983490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8">
            <a:extLst xmlns:a="http://schemas.openxmlformats.org/drawingml/2006/main">
              <a:ext uri="{FF2B5EF4-FFF2-40B4-BE49-F238E27FC236}">
                <a16:creationId xmlns:a16="http://schemas.microsoft.com/office/drawing/2014/main" id="{25598B97-7936-43E9-8615-015CC6637EE5}"/>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Key takeaways</a:t>
            </a:r>
          </a:p>
        </p:txBody>
      </p:sp>
      <p:sp>
        <p:nvSpPr>
          <p:cNvPr id="2" name="title-accent-18">
            <a:extLst xmlns:a="http://schemas.openxmlformats.org/drawingml/2006/main">
              <a:ext uri="{FF2B5EF4-FFF2-40B4-BE49-F238E27FC236}">
                <a16:creationId xmlns:a16="http://schemas.microsoft.com/office/drawing/2014/main" id="{59EEE60A-8AA3-4BB6-AB88-E3761720733D}"/>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8">
            <a:extLst xmlns:a="http://schemas.openxmlformats.org/drawingml/2006/main">
              <a:ext uri="{FF2B5EF4-FFF2-40B4-BE49-F238E27FC236}">
                <a16:creationId xmlns:a16="http://schemas.microsoft.com/office/drawing/2014/main" id="{175511DF-82A9-4D78-B05D-53E81BDEE15E}"/>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18">
            <a:extLst xmlns:a="http://schemas.openxmlformats.org/drawingml/2006/main">
              <a:ext uri="{FF2B5EF4-FFF2-40B4-BE49-F238E27FC236}">
                <a16:creationId xmlns:a16="http://schemas.microsoft.com/office/drawing/2014/main" id="{47CA7EE1-84C1-473F-808B-5B54F6F71170}"/>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18</a:t>
            </a:r>
          </a:p>
        </p:txBody>
      </p:sp>
      <p:sp>
        <p:nvSpPr>
          <p:cNvPr id="6" name="summary-number-18-1">
            <a:extLst xmlns:a="http://schemas.openxmlformats.org/drawingml/2006/main">
              <a:ext uri="{FF2B5EF4-FFF2-40B4-BE49-F238E27FC236}">
                <a16:creationId xmlns:a16="http://schemas.microsoft.com/office/drawing/2014/main" id="{0A3F3890-EE3C-4178-A164-716864AD5920}"/>
              </a:ext>
            </a:extLst>
          </p:cNvPr>
          <p:cNvSpPr>
            <a:spLocks xmlns:a="http://schemas.openxmlformats.org/drawingml/2006/main" noGrp="1"/>
          </p:cNvSpPr>
          <p:nvPr/>
        </p:nvSpPr>
        <p:spPr>
          <a:xfrm xmlns:a="http://schemas.openxmlformats.org/drawingml/2006/main">
            <a:off x="400050" y="16192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01</a:t>
            </a:r>
          </a:p>
        </p:txBody>
      </p:sp>
      <p:cxnSp>
        <p:nvCxnSpPr>
          <p:cNvPr id="25" name="summary-rule-18-1"/>
          <p:cNvCxnSpPr/>
          <p:nvPr/>
        </p:nvCxnSpPr>
        <p:spPr>
          <a:xfrm xmlns:a="http://schemas.openxmlformats.org/drawingml/2006/main">
            <a:off x="1123950" y="19240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summary-text-18-1">
            <a:extLst xmlns:a="http://schemas.openxmlformats.org/drawingml/2006/main">
              <a:ext uri="{FF2B5EF4-FFF2-40B4-BE49-F238E27FC236}">
                <a16:creationId xmlns:a16="http://schemas.microsoft.com/office/drawing/2014/main" id="{B88DC661-9FBE-40B0-86F3-BA08840340A2}"/>
              </a:ext>
            </a:extLst>
          </p:cNvPr>
          <p:cNvSpPr>
            <a:spLocks xmlns:a="http://schemas.openxmlformats.org/drawingml/2006/main" noGrp="1"/>
          </p:cNvSpPr>
          <p:nvPr/>
        </p:nvSpPr>
        <p:spPr>
          <a:xfrm xmlns:a="http://schemas.openxmlformats.org/drawingml/2006/main">
            <a:off x="2324100" y="16192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AI engineering connects formal guarantees to executable contracts and independent evidence.</a:t>
            </a:r>
          </a:p>
        </p:txBody>
      </p:sp>
      <p:sp>
        <p:nvSpPr>
          <p:cNvPr id="9" name="summary-number-18-2">
            <a:extLst xmlns:a="http://schemas.openxmlformats.org/drawingml/2006/main">
              <a:ext uri="{FF2B5EF4-FFF2-40B4-BE49-F238E27FC236}">
                <a16:creationId xmlns:a16="http://schemas.microsoft.com/office/drawing/2014/main" id="{3079EC2B-977A-403A-AA90-7FF3278304BE}"/>
              </a:ext>
            </a:extLst>
          </p:cNvPr>
          <p:cNvSpPr>
            <a:spLocks xmlns:a="http://schemas.openxmlformats.org/drawingml/2006/main" noGrp="1"/>
          </p:cNvSpPr>
          <p:nvPr/>
        </p:nvSpPr>
        <p:spPr>
          <a:xfrm xmlns:a="http://schemas.openxmlformats.org/drawingml/2006/main">
            <a:off x="400050" y="26098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02</a:t>
            </a:r>
          </a:p>
        </p:txBody>
      </p:sp>
      <p:cxnSp>
        <p:nvCxnSpPr>
          <p:cNvPr id="28" name="summary-rule-18-2"/>
          <p:cNvCxnSpPr/>
          <p:nvPr/>
        </p:nvCxnSpPr>
        <p:spPr>
          <a:xfrm xmlns:a="http://schemas.openxmlformats.org/drawingml/2006/main">
            <a:off x="1123950" y="29146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summary-text-18-2">
            <a:extLst xmlns:a="http://schemas.openxmlformats.org/drawingml/2006/main">
              <a:ext uri="{FF2B5EF4-FFF2-40B4-BE49-F238E27FC236}">
                <a16:creationId xmlns:a16="http://schemas.microsoft.com/office/drawing/2014/main" id="{BADF05F8-EF5E-4BC4-BC03-6B2081B77C5C}"/>
              </a:ext>
            </a:extLst>
          </p:cNvPr>
          <p:cNvSpPr>
            <a:spLocks xmlns:a="http://schemas.openxmlformats.org/drawingml/2006/main" noGrp="1"/>
          </p:cNvSpPr>
          <p:nvPr/>
        </p:nvSpPr>
        <p:spPr>
          <a:xfrm xmlns:a="http://schemas.openxmlformats.org/drawingml/2006/main">
            <a:off x="2324100" y="26098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Invariants guide representation, implementation, and test design.</a:t>
            </a:r>
          </a:p>
        </p:txBody>
      </p:sp>
      <p:sp>
        <p:nvSpPr>
          <p:cNvPr id="12" name="summary-number-18-3">
            <a:extLst xmlns:a="http://schemas.openxmlformats.org/drawingml/2006/main">
              <a:ext uri="{FF2B5EF4-FFF2-40B4-BE49-F238E27FC236}">
                <a16:creationId xmlns:a16="http://schemas.microsoft.com/office/drawing/2014/main" id="{783CE7EA-8C22-4BF5-AF77-0B6719EF5AB3}"/>
              </a:ext>
            </a:extLst>
          </p:cNvPr>
          <p:cNvSpPr>
            <a:spLocks xmlns:a="http://schemas.openxmlformats.org/drawingml/2006/main" noGrp="1"/>
          </p:cNvSpPr>
          <p:nvPr/>
        </p:nvSpPr>
        <p:spPr>
          <a:xfrm xmlns:a="http://schemas.openxmlformats.org/drawingml/2006/main">
            <a:off x="400050" y="36004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03</a:t>
            </a:r>
          </a:p>
        </p:txBody>
      </p:sp>
      <p:cxnSp>
        <p:nvCxnSpPr>
          <p:cNvPr id="31" name="summary-rule-18-3"/>
          <p:cNvCxnSpPr/>
          <p:nvPr/>
        </p:nvCxnSpPr>
        <p:spPr>
          <a:xfrm xmlns:a="http://schemas.openxmlformats.org/drawingml/2006/main">
            <a:off x="1123950" y="39052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summary-text-18-3">
            <a:extLst xmlns:a="http://schemas.openxmlformats.org/drawingml/2006/main">
              <a:ext uri="{FF2B5EF4-FFF2-40B4-BE49-F238E27FC236}">
                <a16:creationId xmlns:a16="http://schemas.microsoft.com/office/drawing/2014/main" id="{FA402D69-863D-47BA-AD8E-70D2B04A9F57}"/>
              </a:ext>
            </a:extLst>
          </p:cNvPr>
          <p:cNvSpPr>
            <a:spLocks xmlns:a="http://schemas.openxmlformats.org/drawingml/2006/main" noGrp="1"/>
          </p:cNvSpPr>
          <p:nvPr/>
        </p:nvSpPr>
        <p:spPr>
          <a:xfrm xmlns:a="http://schemas.openxmlformats.org/drawingml/2006/main">
            <a:off x="2324100" y="36004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Autograders expose generality, complexity, determinism, and edge-case behavior.</a:t>
            </a:r>
          </a:p>
        </p:txBody>
      </p:sp>
      <p:sp>
        <p:nvSpPr>
          <p:cNvPr id="15" name="summary-number-18-4">
            <a:extLst xmlns:a="http://schemas.openxmlformats.org/drawingml/2006/main">
              <a:ext uri="{FF2B5EF4-FFF2-40B4-BE49-F238E27FC236}">
                <a16:creationId xmlns:a16="http://schemas.microsoft.com/office/drawing/2014/main" id="{1B89A324-D93D-41ED-BF33-C74970F71632}"/>
              </a:ext>
            </a:extLst>
          </p:cNvPr>
          <p:cNvSpPr>
            <a:spLocks xmlns:a="http://schemas.openxmlformats.org/drawingml/2006/main" noGrp="1"/>
          </p:cNvSpPr>
          <p:nvPr/>
        </p:nvSpPr>
        <p:spPr>
          <a:xfrm xmlns:a="http://schemas.openxmlformats.org/drawingml/2006/main">
            <a:off x="400050" y="45910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04</a:t>
            </a:r>
          </a:p>
        </p:txBody>
      </p:sp>
      <p:cxnSp>
        <p:nvCxnSpPr>
          <p:cNvPr id="34" name="summary-rule-18-4"/>
          <p:cNvCxnSpPr/>
          <p:nvPr/>
        </p:nvCxnSpPr>
        <p:spPr>
          <a:xfrm xmlns:a="http://schemas.openxmlformats.org/drawingml/2006/main">
            <a:off x="1123950" y="48958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summary-text-18-4">
            <a:extLst xmlns:a="http://schemas.openxmlformats.org/drawingml/2006/main">
              <a:ext uri="{FF2B5EF4-FFF2-40B4-BE49-F238E27FC236}">
                <a16:creationId xmlns:a16="http://schemas.microsoft.com/office/drawing/2014/main" id="{19C223E3-3283-427F-82EB-927F4A8C936A}"/>
              </a:ext>
            </a:extLst>
          </p:cNvPr>
          <p:cNvSpPr>
            <a:spLocks xmlns:a="http://schemas.openxmlformats.org/drawingml/2006/main" noGrp="1"/>
          </p:cNvSpPr>
          <p:nvPr/>
        </p:nvSpPr>
        <p:spPr>
          <a:xfrm xmlns:a="http://schemas.openxmlformats.org/drawingml/2006/main">
            <a:off x="2324100" y="4591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Responsible tool use preserves the reasoning that an assignment is designed to assess.</a:t>
            </a:r>
          </a:p>
        </p:txBody>
      </p:sp>
      <p:sp>
        <p:nvSpPr>
          <p:cNvPr id="18" name="summary-next-18">
            <a:extLst xmlns:a="http://schemas.openxmlformats.org/drawingml/2006/main">
              <a:ext uri="{FF2B5EF4-FFF2-40B4-BE49-F238E27FC236}">
                <a16:creationId xmlns:a16="http://schemas.microsoft.com/office/drawing/2014/main" id="{AB851927-6587-4751-B62A-FC24D12D3911}"/>
              </a:ext>
            </a:extLst>
          </p:cNvPr>
          <p:cNvSpPr>
            <a:spLocks xmlns:a="http://schemas.openxmlformats.org/drawingml/2006/main" noGrp="1"/>
          </p:cNvSpPr>
          <p:nvPr/>
        </p:nvSpPr>
        <p:spPr>
          <a:xfrm xmlns:a="http://schemas.openxmlformats.org/drawingml/2006/main">
            <a:off x="400050" y="56673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Next: Rational agents, PEAS descriptions, and formal search problems</a:t>
            </a:r>
          </a:p>
        </p:txBody>
      </p:sp>
    </p:spTree>
    <p:extLst>
      <p:ext uri="{BB962C8B-B14F-4D97-AF65-F5344CB8AC3E}">
        <p14:creationId xmlns:p14="http://schemas.microsoft.com/office/powerpoint/2010/main" val="13886838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9">
            <a:extLst xmlns:a="http://schemas.openxmlformats.org/drawingml/2006/main">
              <a:ext uri="{FF2B5EF4-FFF2-40B4-BE49-F238E27FC236}">
                <a16:creationId xmlns:a16="http://schemas.microsoft.com/office/drawing/2014/main" id="{BA8E202E-473E-4DA2-B86A-C473900E2503}"/>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 your understanding</a:t>
            </a:r>
          </a:p>
        </p:txBody>
      </p:sp>
      <p:sp>
        <p:nvSpPr>
          <p:cNvPr id="2" name="title-accent-19">
            <a:extLst xmlns:a="http://schemas.openxmlformats.org/drawingml/2006/main">
              <a:ext uri="{FF2B5EF4-FFF2-40B4-BE49-F238E27FC236}">
                <a16:creationId xmlns:a16="http://schemas.microsoft.com/office/drawing/2014/main" id="{E201A8A1-D0A5-4497-A120-DCC8F4203B41}"/>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9"/>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9">
            <a:extLst xmlns:a="http://schemas.openxmlformats.org/drawingml/2006/main">
              <a:ext uri="{FF2B5EF4-FFF2-40B4-BE49-F238E27FC236}">
                <a16:creationId xmlns:a16="http://schemas.microsoft.com/office/drawing/2014/main" id="{AF1184B0-92DE-4634-8255-F61FBC82023D}"/>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1  |  Lesson 1</a:t>
            </a:r>
          </a:p>
        </p:txBody>
      </p:sp>
      <p:sp>
        <p:nvSpPr>
          <p:cNvPr id="5" name="footer-number-19">
            <a:extLst xmlns:a="http://schemas.openxmlformats.org/drawingml/2006/main">
              <a:ext uri="{FF2B5EF4-FFF2-40B4-BE49-F238E27FC236}">
                <a16:creationId xmlns:a16="http://schemas.microsoft.com/office/drawing/2014/main" id="{8BEEC247-3596-4331-BB7D-EE9F086B7F88}"/>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19</a:t>
            </a:r>
          </a:p>
        </p:txBody>
      </p:sp>
      <p:sp>
        <p:nvSpPr>
          <p:cNvPr id="6" name="question-number-19-1">
            <a:extLst xmlns:a="http://schemas.openxmlformats.org/drawingml/2006/main">
              <a:ext uri="{FF2B5EF4-FFF2-40B4-BE49-F238E27FC236}">
                <a16:creationId xmlns:a16="http://schemas.microsoft.com/office/drawing/2014/main" id="{5A35544A-EEB7-4ACB-8489-87BAB8E0B660}"/>
              </a:ext>
            </a:extLst>
          </p:cNvPr>
          <p:cNvSpPr>
            <a:spLocks xmlns:a="http://schemas.openxmlformats.org/drawingml/2006/main" noGrp="1"/>
          </p:cNvSpPr>
          <p:nvPr/>
        </p:nvSpPr>
        <p:spPr>
          <a:xfrm xmlns:a="http://schemas.openxmlformats.org/drawingml/2006/main">
            <a:off x="400050" y="15716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Q1</a:t>
            </a:r>
          </a:p>
        </p:txBody>
      </p:sp>
      <p:sp>
        <p:nvSpPr>
          <p:cNvPr id="7" name="question-text-19-1">
            <a:extLst xmlns:a="http://schemas.openxmlformats.org/drawingml/2006/main">
              <a:ext uri="{FF2B5EF4-FFF2-40B4-BE49-F238E27FC236}">
                <a16:creationId xmlns:a16="http://schemas.microsoft.com/office/drawing/2014/main" id="{133502E5-C1ED-48A6-A51A-A02C7DF5E467}"/>
              </a:ext>
            </a:extLst>
          </p:cNvPr>
          <p:cNvSpPr>
            <a:spLocks xmlns:a="http://schemas.openxmlformats.org/drawingml/2006/main" noGrp="1"/>
          </p:cNvSpPr>
          <p:nvPr/>
        </p:nvSpPr>
        <p:spPr>
          <a:xfrm xmlns:a="http://schemas.openxmlformats.org/drawingml/2006/main">
            <a:off x="1257300" y="15716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Why can a theoretically correct algorithm still be an incorrect engineering submission?</a:t>
            </a:r>
          </a:p>
        </p:txBody>
      </p:sp>
      <p:sp>
        <p:nvSpPr>
          <p:cNvPr id="8" name="question-number-19-2">
            <a:extLst xmlns:a="http://schemas.openxmlformats.org/drawingml/2006/main">
              <a:ext uri="{FF2B5EF4-FFF2-40B4-BE49-F238E27FC236}">
                <a16:creationId xmlns:a16="http://schemas.microsoft.com/office/drawing/2014/main" id="{F79E1C86-38C7-4B3F-9C0C-FF1E1CDA8A7E}"/>
              </a:ext>
            </a:extLst>
          </p:cNvPr>
          <p:cNvSpPr>
            <a:spLocks xmlns:a="http://schemas.openxmlformats.org/drawingml/2006/main" noGrp="1"/>
          </p:cNvSpPr>
          <p:nvPr/>
        </p:nvSpPr>
        <p:spPr>
          <a:xfrm xmlns:a="http://schemas.openxmlformats.org/drawingml/2006/main">
            <a:off x="400050" y="243840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Q2</a:t>
            </a:r>
          </a:p>
        </p:txBody>
      </p:sp>
      <p:sp>
        <p:nvSpPr>
          <p:cNvPr id="9" name="question-text-19-2">
            <a:extLst xmlns:a="http://schemas.openxmlformats.org/drawingml/2006/main">
              <a:ext uri="{FF2B5EF4-FFF2-40B4-BE49-F238E27FC236}">
                <a16:creationId xmlns:a16="http://schemas.microsoft.com/office/drawing/2014/main" id="{D6EC87FF-7322-424C-BD3D-AED4D109EAD4}"/>
              </a:ext>
            </a:extLst>
          </p:cNvPr>
          <p:cNvSpPr>
            <a:spLocks xmlns:a="http://schemas.openxmlformats.org/drawingml/2006/main" noGrp="1"/>
          </p:cNvSpPr>
          <p:nvPr/>
        </p:nvSpPr>
        <p:spPr>
          <a:xfrm xmlns:a="http://schemas.openxmlformats.org/drawingml/2006/main">
            <a:off x="1257300" y="243840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Name one invariant and one edge-case test for a graph-search implementation.</a:t>
            </a:r>
          </a:p>
        </p:txBody>
      </p:sp>
      <p:sp>
        <p:nvSpPr>
          <p:cNvPr id="10" name="question-number-19-3">
            <a:extLst xmlns:a="http://schemas.openxmlformats.org/drawingml/2006/main">
              <a:ext uri="{FF2B5EF4-FFF2-40B4-BE49-F238E27FC236}">
                <a16:creationId xmlns:a16="http://schemas.microsoft.com/office/drawing/2014/main" id="{BE7CBDE2-AF09-4A84-AB3D-A2A004CEED12}"/>
              </a:ext>
            </a:extLst>
          </p:cNvPr>
          <p:cNvSpPr>
            <a:spLocks xmlns:a="http://schemas.openxmlformats.org/drawingml/2006/main" noGrp="1"/>
          </p:cNvSpPr>
          <p:nvPr/>
        </p:nvSpPr>
        <p:spPr>
          <a:xfrm xmlns:a="http://schemas.openxmlformats.org/drawingml/2006/main">
            <a:off x="400050" y="330517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Q3</a:t>
            </a:r>
          </a:p>
        </p:txBody>
      </p:sp>
      <p:sp>
        <p:nvSpPr>
          <p:cNvPr id="11" name="question-text-19-3">
            <a:extLst xmlns:a="http://schemas.openxmlformats.org/drawingml/2006/main">
              <a:ext uri="{FF2B5EF4-FFF2-40B4-BE49-F238E27FC236}">
                <a16:creationId xmlns:a16="http://schemas.microsoft.com/office/drawing/2014/main" id="{8962DFC4-F990-441F-BF6D-9072DAC0E54A}"/>
              </a:ext>
            </a:extLst>
          </p:cNvPr>
          <p:cNvSpPr>
            <a:spLocks xmlns:a="http://schemas.openxmlformats.org/drawingml/2006/main" noGrp="1"/>
          </p:cNvSpPr>
          <p:nvPr/>
        </p:nvSpPr>
        <p:spPr>
          <a:xfrm xmlns:a="http://schemas.openxmlformats.org/drawingml/2006/main">
            <a:off x="1257300" y="330517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How does a timeout communicate a requirement beyond functional correctness?</a:t>
            </a:r>
          </a:p>
        </p:txBody>
      </p:sp>
      <p:sp>
        <p:nvSpPr>
          <p:cNvPr id="12" name="question-number-19-4">
            <a:extLst xmlns:a="http://schemas.openxmlformats.org/drawingml/2006/main">
              <a:ext uri="{FF2B5EF4-FFF2-40B4-BE49-F238E27FC236}">
                <a16:creationId xmlns:a16="http://schemas.microsoft.com/office/drawing/2014/main" id="{1EAF54B4-A256-4E04-988E-8529359EB67B}"/>
              </a:ext>
            </a:extLst>
          </p:cNvPr>
          <p:cNvSpPr>
            <a:spLocks xmlns:a="http://schemas.openxmlformats.org/drawingml/2006/main" noGrp="1"/>
          </p:cNvSpPr>
          <p:nvPr/>
        </p:nvSpPr>
        <p:spPr>
          <a:xfrm xmlns:a="http://schemas.openxmlformats.org/drawingml/2006/main">
            <a:off x="400050" y="417195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Q4</a:t>
            </a:r>
          </a:p>
        </p:txBody>
      </p:sp>
      <p:sp>
        <p:nvSpPr>
          <p:cNvPr id="13" name="question-text-19-4">
            <a:extLst xmlns:a="http://schemas.openxmlformats.org/drawingml/2006/main">
              <a:ext uri="{FF2B5EF4-FFF2-40B4-BE49-F238E27FC236}">
                <a16:creationId xmlns:a16="http://schemas.microsoft.com/office/drawing/2014/main" id="{D39A3105-E763-478A-B9FE-CD5CE9F77373}"/>
              </a:ext>
            </a:extLst>
          </p:cNvPr>
          <p:cNvSpPr>
            <a:spLocks xmlns:a="http://schemas.openxmlformats.org/drawingml/2006/main" noGrp="1"/>
          </p:cNvSpPr>
          <p:nvPr/>
        </p:nvSpPr>
        <p:spPr>
          <a:xfrm xmlns:a="http://schemas.openxmlformats.org/drawingml/2006/main">
            <a:off x="1257300" y="417195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When is a safe fallback preferable to an exception, and what observability is required?</a:t>
            </a:r>
          </a:p>
        </p:txBody>
      </p:sp>
      <p:sp>
        <p:nvSpPr>
          <p:cNvPr id="14" name="question-number-19-5">
            <a:extLst xmlns:a="http://schemas.openxmlformats.org/drawingml/2006/main">
              <a:ext uri="{FF2B5EF4-FFF2-40B4-BE49-F238E27FC236}">
                <a16:creationId xmlns:a16="http://schemas.microsoft.com/office/drawing/2014/main" id="{B2CEF4B8-77FA-46C3-8572-65C76208C626}"/>
              </a:ext>
            </a:extLst>
          </p:cNvPr>
          <p:cNvSpPr>
            <a:spLocks xmlns:a="http://schemas.openxmlformats.org/drawingml/2006/main" noGrp="1"/>
          </p:cNvSpPr>
          <p:nvPr/>
        </p:nvSpPr>
        <p:spPr>
          <a:xfrm xmlns:a="http://schemas.openxmlformats.org/drawingml/2006/main">
            <a:off x="400050" y="50387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Q5</a:t>
            </a:r>
          </a:p>
        </p:txBody>
      </p:sp>
      <p:sp>
        <p:nvSpPr>
          <p:cNvPr id="15" name="question-text-19-5">
            <a:extLst xmlns:a="http://schemas.openxmlformats.org/drawingml/2006/main">
              <a:ext uri="{FF2B5EF4-FFF2-40B4-BE49-F238E27FC236}">
                <a16:creationId xmlns:a16="http://schemas.microsoft.com/office/drawing/2014/main" id="{BEEB5AA5-7B52-4884-9808-6AAAA68788D9}"/>
              </a:ext>
            </a:extLst>
          </p:cNvPr>
          <p:cNvSpPr>
            <a:spLocks xmlns:a="http://schemas.openxmlformats.org/drawingml/2006/main" noGrp="1"/>
          </p:cNvSpPr>
          <p:nvPr/>
        </p:nvSpPr>
        <p:spPr>
          <a:xfrm xmlns:a="http://schemas.openxmlformats.org/drawingml/2006/main">
            <a:off x="1257300" y="50387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Classify one permitted and one prohibited use of generative AI in a search lab.</a:t>
            </a:r>
          </a:p>
        </p:txBody>
      </p:sp>
    </p:spTree>
    <p:extLst>
      <p:ext uri="{BB962C8B-B14F-4D97-AF65-F5344CB8AC3E}">
        <p14:creationId xmlns:p14="http://schemas.microsoft.com/office/powerpoint/2010/main" val="19962365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2026-07-27T09:39:22.0600000Z</dcterms:created>
  <dcterms:modified xsi:type="dcterms:W3CDTF">2026-07-27T09:39:22.0600000Z</dcterms:modified>
</coreProperties>
</file>